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83" r:id="rId25"/>
    <p:sldId id="278" r:id="rId26"/>
    <p:sldId id="279" r:id="rId27"/>
    <p:sldId id="280" r:id="rId28"/>
    <p:sldId id="28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526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MobilityAPI is an OGC API – Moving Features server over MobilityDB: a thin compiled tier that keeps every temporal computation in the database and ships as a single static binary. This deck walks the implemented surface against a day of Danish AIS ship-trajectory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Positioning: a thin HTTP/OGC facade in front of MobilityDB. Reads stream asMFJSON assembled in SQL; writes call tgeompointFromMFJSON. The only application logic is a small crs and interpolation adapter.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division of labour: the tier routes, pools and streams; MobilityDB does all temporal work and (de)serialization. No MEOS runs in the tier.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OGC data model maps one to one onto MobilityAPI's REST resources.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Zoomed view of the OGC API – Moving Features class diagram for class-level detail.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Zoomed view of the OGC API – Moving Features class diagram for class-level detail.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Stored versus served: the two tables hold the columns; every other OGC field (the collection extent, and the feature bbox, time, geometry, crs, trs and links) is derived O(1) from the tgeompoint and its inline STBOX, or generated per request.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loaded ships collection: 2,833 vessel trajectories from 1,878 MMSI over one day, 6.2 million observed instants, in EPSG:25832.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standard endpoint surface, full paths. Beyond-standard features (the lakehouse export and in-place replace) are on the Additional features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the live walkthrough against the ships collection.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 /collections lists every registered collection from the registry; GET /collections/{id} returns one collection's metadata.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 items streams a FeatureCollection from a cursor and pages by keyset. The temporalGeometry is MovingFeaturesJSON produced by asMFJSON.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bbox query is a spatial pre-filter executed by MobilityDB's GiST index over the inline STBOX.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Writes: POST creates, DELETE removes, and POST tgsequence appends a temporally-disjoint sub-trajectory via merge (overlap returns 409). In-place replace (PUT) is an extension, shown on the Additional features slide. Derived-property writes and primitive deletes return 501 with the reason.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distance and velocity are exact MobilityDB functions. Acceleration returns 501 because the derivative of a piecewise-constant speed is zero within segments and undefined at the vertices; the server does not fabricate it by resampling speed to linear.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 tproperties lists the derived temporal properties; GET tproperties/{name} returns its valueSequence. The leaf selector returns Discrete values at given instants.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server declares the three Moving Features conformance classes plus OGC Common core and collections, serves an OpenAPI definition at /api, and returns the OGC exception schema on errors.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Scale and the lakehouse on one slide. The standard items resource streams from a cursor with keyset pagination and index-using filters, so a 393 MB response holds about 18 MB resident. Beyond the standard and excluded from conformsTo: a bulk export (NDJSON, or Parquet with trajectory WKB plus a bbox and time sidecar, advertised via the enclosure link) and an in-place replace (PUT).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thin-tier pattern generalises across the MEOS ecosystem: the tier speaks MF-JSON and WKB and keeps all temporal work in the engine, so the storage and compute engine becomes a configuration choice. MobilityDB is implemented today; MobilityDuck (embedded lakehouse), MobilitySpark (distributed batch) and MobilityFlink (streaming, real time) reuse the same surface.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ogc.org/is/22-003r3/22-003r3.html" TargetMode="External"/><Relationship Id="rId3" Type="http://schemas.openxmlformats.org/officeDocument/2006/relationships/hyperlink" Target="https://github.com/MobilityDB/MobilityDB" TargetMode="External"/><Relationship Id="rId4" Type="http://schemas.openxmlformats.org/officeDocument/2006/relationships/hyperlink" Target="https://mobilitydb.com" TargetMode="External"/><Relationship Id="rId5" Type="http://schemas.openxmlformats.org/officeDocument/2006/relationships/hyperlink" Target="https://libmeos.org" TargetMode="External"/><Relationship Id="rId6" Type="http://schemas.openxmlformats.org/officeDocument/2006/relationships/hyperlink" Target="http://aisdata.ais.dk" TargetMode="External"/><Relationship Id="rId7" Type="http://schemas.openxmlformats.org/officeDocument/2006/relationships/hyperlink" Target="https://github.com/MobilityDB/MobilityAPI/blob/master/tutorial/tutorial.ipyn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965960"/>
            <a:ext cx="8686800" cy="1097280"/>
          </a:xfrm>
          <a:prstGeom prst="rect">
            <a:avLst/>
          </a:prstGeom>
          <a:noFill/>
        </p:spPr>
        <p:txBody>
          <a:bodyPr wrap="square" lIns="0" tIns="0" rIns="0" bIns="0" anchor="t">
            <a:noAutofit/>
          </a:bodyPr>
          <a:lstStyle/>
          <a:p>
            <a:pPr algn="l">
              <a:spcBef>
                <a:spcPts val="0"/>
              </a:spcBef>
              <a:spcAft>
                <a:spcPts val="200"/>
              </a:spcAft>
            </a:pPr>
            <a:r>
              <a:rPr sz="6600" b="1" i="0">
                <a:solidFill>
                  <a:srgbClr val="FFFFFF"/>
                </a:solidFill>
                <a:latin typeface="Calibri Light"/>
              </a:rPr>
              <a:t>MobilityAPI</a:t>
            </a:r>
          </a:p>
        </p:txBody>
      </p:sp>
      <p:sp>
        <p:nvSpPr>
          <p:cNvPr id="5" name="TextBox 4"/>
          <p:cNvSpPr txBox="1"/>
          <p:nvPr/>
        </p:nvSpPr>
        <p:spPr>
          <a:xfrm>
            <a:off x="566928" y="3127248"/>
            <a:ext cx="8961120" cy="731520"/>
          </a:xfrm>
          <a:prstGeom prst="rect">
            <a:avLst/>
          </a:prstGeom>
          <a:noFill/>
        </p:spPr>
        <p:txBody>
          <a:bodyPr wrap="square" lIns="0" tIns="0" rIns="0" bIns="0" anchor="t">
            <a:noAutofit/>
          </a:bodyPr>
          <a:lstStyle/>
          <a:p>
            <a:pPr algn="l">
              <a:spcBef>
                <a:spcPts val="0"/>
              </a:spcBef>
              <a:spcAft>
                <a:spcPts val="200"/>
              </a:spcAft>
            </a:pPr>
            <a:r>
              <a:rPr sz="2000" b="0" i="0">
                <a:solidFill>
                  <a:srgbClr val="BFD6E2"/>
                </a:solidFill>
                <a:latin typeface="Calibri"/>
              </a:rPr>
              <a:t>An OGC API – Moving Features server over MobilityDB</a:t>
            </a:r>
          </a:p>
        </p:txBody>
      </p:sp>
      <p:sp>
        <p:nvSpPr>
          <p:cNvPr id="6" name="Rectangle 5"/>
          <p:cNvSpPr/>
          <p:nvPr/>
        </p:nvSpPr>
        <p:spPr>
          <a:xfrm>
            <a:off x="566928" y="3913632"/>
            <a:ext cx="182880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096512"/>
            <a:ext cx="9326880" cy="457200"/>
          </a:xfrm>
          <a:prstGeom prst="rect">
            <a:avLst/>
          </a:prstGeom>
          <a:noFill/>
        </p:spPr>
        <p:txBody>
          <a:bodyPr wrap="square" lIns="0" tIns="0" rIns="0" bIns="0" anchor="t">
            <a:noAutofit/>
          </a:bodyPr>
          <a:lstStyle/>
          <a:p>
            <a:pPr algn="l">
              <a:spcBef>
                <a:spcPts val="0"/>
              </a:spcBef>
              <a:spcAft>
                <a:spcPts val="200"/>
              </a:spcAft>
            </a:pPr>
            <a:r>
              <a:rPr sz="1400" b="0" i="0">
                <a:solidFill>
                  <a:srgbClr val="9EB8C8"/>
                </a:solidFill>
                <a:latin typeface="Calibri"/>
              </a:rPr>
              <a:t>A thin compiled tier over MobilityDB  ·  canonical Danish AIS example</a:t>
            </a:r>
          </a:p>
        </p:txBody>
      </p:sp>
      <p:pic>
        <p:nvPicPr>
          <p:cNvPr id="8" name="Picture 7" descr="mobilitydb-logo.png"/>
          <p:cNvPicPr>
            <a:picLocks noChangeAspect="1"/>
          </p:cNvPicPr>
          <p:nvPr/>
        </p:nvPicPr>
        <p:blipFill>
          <a:blip r:embed="rId3"/>
          <a:stretch>
            <a:fillRect/>
          </a:stretch>
        </p:blipFill>
        <p:spPr>
          <a:xfrm>
            <a:off x="10414833" y="457200"/>
            <a:ext cx="1289486" cy="1371600"/>
          </a:xfrm>
          <a:prstGeom prst="rect">
            <a:avLst/>
          </a:prstGeom>
        </p:spPr>
      </p:pic>
      <p:pic>
        <p:nvPicPr>
          <p:cNvPr id="9" name="Picture 8" descr="OGC_navy.png"/>
          <p:cNvPicPr>
            <a:picLocks noChangeAspect="1"/>
          </p:cNvPicPr>
          <p:nvPr/>
        </p:nvPicPr>
        <p:blipFill>
          <a:blip r:embed="rId4"/>
          <a:stretch>
            <a:fillRect/>
          </a:stretch>
        </p:blipFill>
        <p:spPr>
          <a:xfrm>
            <a:off x="10058400" y="5166359"/>
            <a:ext cx="1645920" cy="1234440"/>
          </a:xfrm>
          <a:prstGeom prst="rect">
            <a:avLst/>
          </a:prstGeom>
        </p:spPr>
      </p:pic>
      <p:sp>
        <p:nvSpPr>
          <p:cNvPr id="10" name="TextBox 9"/>
          <p:cNvSpPr txBox="1"/>
          <p:nvPr/>
        </p:nvSpPr>
        <p:spPr>
          <a:xfrm>
            <a:off x="566928" y="5943600"/>
            <a:ext cx="9144000" cy="274320"/>
          </a:xfrm>
          <a:prstGeom prst="rect">
            <a:avLst/>
          </a:prstGeom>
          <a:noFill/>
        </p:spPr>
        <p:txBody>
          <a:bodyPr wrap="square" lIns="0" tIns="0" rIns="0" bIns="0" anchor="t">
            <a:noAutofit/>
          </a:bodyPr>
          <a:lstStyle/>
          <a:p>
            <a:pPr algn="l">
              <a:spcBef>
                <a:spcPts val="0"/>
              </a:spcBef>
              <a:spcAft>
                <a:spcPts val="200"/>
              </a:spcAft>
            </a:pPr>
            <a:r>
              <a:rPr sz="1200" b="0" i="0">
                <a:solidFill>
                  <a:srgbClr val="7F9BAD"/>
                </a:solidFill>
                <a:latin typeface="Consolas"/>
              </a:rPr>
              <a:t>net/http + pgxpool  ·  single static binary  ·  no MEOS in the tier</a:t>
            </a:r>
          </a:p>
        </p:txBody>
      </p:sp>
      <p:sp>
        <p:nvSpPr>
          <p:cNvPr id="11" name="TextBox 10"/>
          <p:cNvSpPr txBox="1"/>
          <p:nvPr/>
        </p:nvSpPr>
        <p:spPr>
          <a:xfrm>
            <a:off x="10908792" y="6510528"/>
            <a:ext cx="731520" cy="274320"/>
          </a:xfrm>
          <a:prstGeom prst="rect">
            <a:avLst/>
          </a:prstGeom>
          <a:noFill/>
        </p:spPr>
        <p:txBody>
          <a:bodyPr wrap="none">
            <a:spAutoFit/>
          </a:bodyPr>
          <a:lstStyle/>
          <a:p>
            <a:pPr algn="r"/>
            <a:r>
              <a:rPr sz="1200">
                <a:solidFill>
                  <a:srgbClr val="5B6B78"/>
                </a:solidFill>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WHAT IT IS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A Thin Tier over MobilityDB, Fat Database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645920"/>
            <a:ext cx="6400800" cy="4206240"/>
          </a:xfrm>
          <a:prstGeom prst="rect">
            <a:avLst/>
          </a:prstGeom>
          <a:noFill/>
        </p:spPr>
        <p:txBody>
          <a:bodyPr wrap="square" lIns="0" tIns="0" rIns="0" bIns="0">
            <a:noAutofit/>
          </a:bodyPr>
          <a:lstStyle/>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OGC-compliant:  </a:t>
            </a:r>
            <a:r>
              <a:rPr sz="1400">
                <a:solidFill>
                  <a:srgbClr val="1E2B36"/>
                </a:solidFill>
                <a:latin typeface="Calibri"/>
              </a:rPr>
              <a:t>implements OGC API – Moving Features – Part 1: Core (collections, items, temporal geometry, derived queries, temporal properties)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Thin compiled tier:  </a:t>
            </a:r>
            <a:r>
              <a:rPr sz="1400">
                <a:solidFill>
                  <a:srgbClr val="1E2B36"/>
                </a:solidFill>
                <a:latin typeface="Calibri"/>
              </a:rPr>
              <a:t>net/http and a pgx connection pool; a single static binary, no cgo and no MEOS in the process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Fat database:  </a:t>
            </a:r>
            <a:r>
              <a:rPr sz="1400">
                <a:solidFill>
                  <a:srgbClr val="1E2B36"/>
                </a:solidFill>
                <a:latin typeface="Calibri"/>
              </a:rPr>
              <a:t>every temporal computation stays in MobilityDB; the tier never parses or transforms a trajectory in memory</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REST for any client:  </a:t>
            </a:r>
            <a:r>
              <a:rPr sz="1400">
                <a:solidFill>
                  <a:srgbClr val="1E2B36"/>
                </a:solidFill>
                <a:latin typeface="Calibri"/>
              </a:rPr>
              <a:t>browsers, mobile, microservices and ETL consume mobility data without SQL or the PostgreSQL wire protocol</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Bounded as data grows:  </a:t>
            </a:r>
            <a:r>
              <a:rPr sz="1400">
                <a:solidFill>
                  <a:srgbClr val="1E2B36"/>
                </a:solidFill>
                <a:latin typeface="Calibri"/>
              </a:rPr>
              <a:t>streaming responses, keyset pagination and index-using filters keep memory and paging bounded as collections grow</a:t>
            </a:r>
          </a:p>
        </p:txBody>
      </p:sp>
      <p:sp>
        <p:nvSpPr>
          <p:cNvPr id="6" name="Rounded Rectangle 5"/>
          <p:cNvSpPr/>
          <p:nvPr/>
        </p:nvSpPr>
        <p:spPr>
          <a:xfrm>
            <a:off x="7589520" y="1627632"/>
            <a:ext cx="4069080" cy="3566160"/>
          </a:xfrm>
          <a:prstGeom prst="roundRect">
            <a:avLst>
              <a:gd name="adj" fmla="val 4000"/>
            </a:avLst>
          </a:prstGeom>
          <a:solidFill>
            <a:srgbClr val="F1F5F8"/>
          </a:solidFill>
          <a:ln>
            <a:noFill/>
          </a:ln>
          <a:effectLst/>
        </p:spPr>
        <p:txBody>
          <a:bodyPr rtlCol="0" anchor="ctr"/>
          <a:lstStyle/>
          <a:p>
            <a:pPr algn="ctr"/>
            <a:endParaRPr/>
          </a:p>
        </p:txBody>
      </p:sp>
      <p:sp>
        <p:nvSpPr>
          <p:cNvPr id="7" name="TextBox 6"/>
          <p:cNvSpPr txBox="1"/>
          <p:nvPr/>
        </p:nvSpPr>
        <p:spPr>
          <a:xfrm>
            <a:off x="7863840" y="1773936"/>
            <a:ext cx="352044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REQUEST FLOW</a:t>
            </a:r>
          </a:p>
        </p:txBody>
      </p:sp>
      <p:sp>
        <p:nvSpPr>
          <p:cNvPr id="8" name="Rounded Rectangle 7"/>
          <p:cNvSpPr/>
          <p:nvPr/>
        </p:nvSpPr>
        <p:spPr>
          <a:xfrm>
            <a:off x="7909560" y="2121408"/>
            <a:ext cx="1057655" cy="457200"/>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9" name="TextBox 8"/>
          <p:cNvSpPr txBox="1"/>
          <p:nvPr/>
        </p:nvSpPr>
        <p:spPr>
          <a:xfrm>
            <a:off x="7909560" y="2231136"/>
            <a:ext cx="1057655" cy="274320"/>
          </a:xfrm>
          <a:prstGeom prst="rect">
            <a:avLst/>
          </a:prstGeom>
          <a:noFill/>
        </p:spPr>
        <p:txBody>
          <a:bodyPr wrap="square" lIns="0" tIns="0" rIns="0" bIns="0" anchor="t">
            <a:noAutofit/>
          </a:bodyPr>
          <a:lstStyle/>
          <a:p>
            <a:pPr algn="ctr">
              <a:spcBef>
                <a:spcPts val="0"/>
              </a:spcBef>
              <a:spcAft>
                <a:spcPts val="200"/>
              </a:spcAft>
            </a:pPr>
            <a:r>
              <a:rPr sz="1200" b="1" i="0">
                <a:solidFill>
                  <a:srgbClr val="0E2841"/>
                </a:solidFill>
                <a:latin typeface="Calibri"/>
              </a:rPr>
              <a:t>Browser</a:t>
            </a:r>
          </a:p>
        </p:txBody>
      </p:sp>
      <p:sp>
        <p:nvSpPr>
          <p:cNvPr id="10" name="Rounded Rectangle 9"/>
          <p:cNvSpPr/>
          <p:nvPr/>
        </p:nvSpPr>
        <p:spPr>
          <a:xfrm>
            <a:off x="9095232" y="2121408"/>
            <a:ext cx="1057655" cy="457200"/>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11" name="TextBox 10"/>
          <p:cNvSpPr txBox="1"/>
          <p:nvPr/>
        </p:nvSpPr>
        <p:spPr>
          <a:xfrm>
            <a:off x="9095232" y="2231136"/>
            <a:ext cx="1057655" cy="274320"/>
          </a:xfrm>
          <a:prstGeom prst="rect">
            <a:avLst/>
          </a:prstGeom>
          <a:noFill/>
        </p:spPr>
        <p:txBody>
          <a:bodyPr wrap="square" lIns="0" tIns="0" rIns="0" bIns="0" anchor="t">
            <a:noAutofit/>
          </a:bodyPr>
          <a:lstStyle/>
          <a:p>
            <a:pPr algn="ctr">
              <a:spcBef>
                <a:spcPts val="0"/>
              </a:spcBef>
              <a:spcAft>
                <a:spcPts val="200"/>
              </a:spcAft>
            </a:pPr>
            <a:r>
              <a:rPr sz="1200" b="1" i="0">
                <a:solidFill>
                  <a:srgbClr val="0E2841"/>
                </a:solidFill>
                <a:latin typeface="Calibri"/>
              </a:rPr>
              <a:t>Mobile</a:t>
            </a:r>
          </a:p>
        </p:txBody>
      </p:sp>
      <p:sp>
        <p:nvSpPr>
          <p:cNvPr id="12" name="Rounded Rectangle 11"/>
          <p:cNvSpPr/>
          <p:nvPr/>
        </p:nvSpPr>
        <p:spPr>
          <a:xfrm>
            <a:off x="10280903" y="2121408"/>
            <a:ext cx="1057655" cy="457200"/>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13" name="TextBox 12"/>
          <p:cNvSpPr txBox="1"/>
          <p:nvPr/>
        </p:nvSpPr>
        <p:spPr>
          <a:xfrm>
            <a:off x="10280903" y="2231136"/>
            <a:ext cx="1057655" cy="274320"/>
          </a:xfrm>
          <a:prstGeom prst="rect">
            <a:avLst/>
          </a:prstGeom>
          <a:noFill/>
        </p:spPr>
        <p:txBody>
          <a:bodyPr wrap="square" lIns="0" tIns="0" rIns="0" bIns="0" anchor="t">
            <a:noAutofit/>
          </a:bodyPr>
          <a:lstStyle/>
          <a:p>
            <a:pPr algn="ctr">
              <a:spcBef>
                <a:spcPts val="0"/>
              </a:spcBef>
              <a:spcAft>
                <a:spcPts val="200"/>
              </a:spcAft>
            </a:pPr>
            <a:r>
              <a:rPr sz="1200" b="1" i="0">
                <a:solidFill>
                  <a:srgbClr val="0E2841"/>
                </a:solidFill>
                <a:latin typeface="Calibri"/>
              </a:rPr>
              <a:t>ETL / lake</a:t>
            </a:r>
          </a:p>
        </p:txBody>
      </p:sp>
      <p:sp>
        <p:nvSpPr>
          <p:cNvPr id="14" name="TextBox 13"/>
          <p:cNvSpPr txBox="1"/>
          <p:nvPr/>
        </p:nvSpPr>
        <p:spPr>
          <a:xfrm>
            <a:off x="7909560" y="2615184"/>
            <a:ext cx="3429000" cy="219456"/>
          </a:xfrm>
          <a:prstGeom prst="rect">
            <a:avLst/>
          </a:prstGeom>
          <a:noFill/>
        </p:spPr>
        <p:txBody>
          <a:bodyPr wrap="square" lIns="0" tIns="0" rIns="0" bIns="0" anchor="t">
            <a:noAutofit/>
          </a:bodyPr>
          <a:lstStyle/>
          <a:p>
            <a:pPr algn="ctr">
              <a:spcBef>
                <a:spcPts val="0"/>
              </a:spcBef>
              <a:spcAft>
                <a:spcPts val="200"/>
              </a:spcAft>
            </a:pPr>
            <a:r>
              <a:rPr sz="1200" b="1" i="0">
                <a:solidFill>
                  <a:srgbClr val="156082"/>
                </a:solidFill>
                <a:latin typeface="Calibri"/>
              </a:rPr>
              <a:t>▼  HTTP</a:t>
            </a:r>
          </a:p>
        </p:txBody>
      </p:sp>
      <p:sp>
        <p:nvSpPr>
          <p:cNvPr id="15" name="TextBox 14"/>
          <p:cNvSpPr txBox="1"/>
          <p:nvPr/>
        </p:nvSpPr>
        <p:spPr>
          <a:xfrm>
            <a:off x="7909560" y="2825496"/>
            <a:ext cx="3429000" cy="201168"/>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onsolas"/>
              </a:rPr>
              <a:t>OGC API – Moving Features · MF-JSON</a:t>
            </a:r>
          </a:p>
        </p:txBody>
      </p:sp>
      <p:sp>
        <p:nvSpPr>
          <p:cNvPr id="16" name="Rounded Rectangle 15"/>
          <p:cNvSpPr/>
          <p:nvPr/>
        </p:nvSpPr>
        <p:spPr>
          <a:xfrm>
            <a:off x="7909560" y="3108960"/>
            <a:ext cx="3429000" cy="603504"/>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17" name="TextBox 16"/>
          <p:cNvSpPr txBox="1"/>
          <p:nvPr/>
        </p:nvSpPr>
        <p:spPr>
          <a:xfrm>
            <a:off x="8092440" y="3191256"/>
            <a:ext cx="3063240"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MobilityAPI (Go)</a:t>
            </a:r>
          </a:p>
        </p:txBody>
      </p:sp>
      <p:sp>
        <p:nvSpPr>
          <p:cNvPr id="18" name="TextBox 17"/>
          <p:cNvSpPr txBox="1"/>
          <p:nvPr/>
        </p:nvSpPr>
        <p:spPr>
          <a:xfrm>
            <a:off x="8092440" y="3456432"/>
            <a:ext cx="3063240" cy="22860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onsolas"/>
              </a:rPr>
              <a:t>net/http + pgxpool</a:t>
            </a:r>
          </a:p>
        </p:txBody>
      </p:sp>
      <p:sp>
        <p:nvSpPr>
          <p:cNvPr id="19" name="TextBox 18"/>
          <p:cNvSpPr txBox="1"/>
          <p:nvPr/>
        </p:nvSpPr>
        <p:spPr>
          <a:xfrm>
            <a:off x="7909560" y="3749040"/>
            <a:ext cx="3429000" cy="219456"/>
          </a:xfrm>
          <a:prstGeom prst="rect">
            <a:avLst/>
          </a:prstGeom>
          <a:noFill/>
        </p:spPr>
        <p:txBody>
          <a:bodyPr wrap="square" lIns="0" tIns="0" rIns="0" bIns="0" anchor="t">
            <a:noAutofit/>
          </a:bodyPr>
          <a:lstStyle/>
          <a:p>
            <a:pPr algn="ctr">
              <a:spcBef>
                <a:spcPts val="0"/>
              </a:spcBef>
              <a:spcAft>
                <a:spcPts val="200"/>
              </a:spcAft>
            </a:pPr>
            <a:r>
              <a:rPr sz="1200" b="1" i="0">
                <a:solidFill>
                  <a:srgbClr val="E97132"/>
                </a:solidFill>
                <a:latin typeface="Calibri"/>
              </a:rPr>
              <a:t>▼  SQL</a:t>
            </a:r>
          </a:p>
        </p:txBody>
      </p:sp>
      <p:sp>
        <p:nvSpPr>
          <p:cNvPr id="20" name="TextBox 19"/>
          <p:cNvSpPr txBox="1"/>
          <p:nvPr/>
        </p:nvSpPr>
        <p:spPr>
          <a:xfrm>
            <a:off x="7909560" y="3959352"/>
            <a:ext cx="3429000" cy="201168"/>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onsolas"/>
              </a:rPr>
              <a:t>PostgreSQL wire · pgx</a:t>
            </a:r>
          </a:p>
        </p:txBody>
      </p:sp>
      <p:sp>
        <p:nvSpPr>
          <p:cNvPr id="21" name="Rounded Rectangle 20"/>
          <p:cNvSpPr/>
          <p:nvPr/>
        </p:nvSpPr>
        <p:spPr>
          <a:xfrm>
            <a:off x="7909560" y="4242816"/>
            <a:ext cx="3429000" cy="621792"/>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22" name="TextBox 21"/>
          <p:cNvSpPr txBox="1"/>
          <p:nvPr/>
        </p:nvSpPr>
        <p:spPr>
          <a:xfrm>
            <a:off x="8092440" y="4334256"/>
            <a:ext cx="3063240"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MobilityDB / PostgreSQL</a:t>
            </a:r>
          </a:p>
        </p:txBody>
      </p:sp>
      <p:sp>
        <p:nvSpPr>
          <p:cNvPr id="23" name="TextBox 22"/>
          <p:cNvSpPr txBox="1"/>
          <p:nvPr/>
        </p:nvSpPr>
        <p:spPr>
          <a:xfrm>
            <a:off x="8092440" y="4599432"/>
            <a:ext cx="3063240" cy="22860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onsolas"/>
              </a:rPr>
              <a:t>tgeompoint · STBOX · TSTZSPAN</a:t>
            </a:r>
          </a:p>
        </p:txBody>
      </p:sp>
      <p:sp>
        <p:nvSpPr>
          <p:cNvPr id="24" name="Rectangle 2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6" name="TextBox 2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ARCHITECTURE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Where the Work Happens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In the tier (Go)</a:t>
            </a:r>
          </a:p>
        </p:txBody>
      </p:sp>
      <p:sp>
        <p:nvSpPr>
          <p:cNvPr id="6" name="TextBox 5"/>
          <p:cNvSpPr txBox="1"/>
          <p:nvPr/>
        </p:nvSpPr>
        <p:spPr>
          <a:xfrm>
            <a:off x="566928" y="1920240"/>
            <a:ext cx="5346039" cy="2377440"/>
          </a:xfrm>
          <a:prstGeom prst="rect">
            <a:avLst/>
          </a:prstGeom>
          <a:noFill/>
        </p:spPr>
        <p:txBody>
          <a:bodyPr wrap="square" lIns="0" tIns="0" rIns="0" bIns="0">
            <a:noAutofit/>
          </a:bodyPr>
          <a:lstStyle/>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Routing:  </a:t>
            </a:r>
            <a:r>
              <a:rPr sz="1400">
                <a:solidFill>
                  <a:srgbClr val="1E2B36"/>
                </a:solidFill>
                <a:latin typeface="Calibri"/>
              </a:rPr>
              <a:t>net/http with the Go 1.22 pattern mux; one handler per OGC resource</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Pooling:  </a:t>
            </a:r>
            <a:r>
              <a:rPr sz="1400">
                <a:solidFill>
                  <a:srgbClr val="1E2B36"/>
                </a:solidFill>
                <a:latin typeface="Calibri"/>
              </a:rPr>
              <a:t>a pgx pool multiplexes requests onto a bounded set of database connections</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Adapter:  </a:t>
            </a:r>
            <a:r>
              <a:rPr sz="1400">
                <a:solidFill>
                  <a:srgbClr val="1E2B36"/>
                </a:solidFill>
                <a:latin typeface="Calibri"/>
              </a:rPr>
              <a:t>crs URN to EPSG and interpolation Stepwise to Step, roughly fifty lines</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Streaming:  </a:t>
            </a:r>
            <a:r>
              <a:rPr sz="1400">
                <a:solidFill>
                  <a:srgbClr val="1E2B36"/>
                </a:solidFill>
                <a:latin typeface="Calibri"/>
              </a:rPr>
              <a:t>responses are written row by row from a server-side cursor</a:t>
            </a:r>
          </a:p>
        </p:txBody>
      </p:sp>
      <p:sp>
        <p:nvSpPr>
          <p:cNvPr id="7" name="TextBox 6"/>
          <p:cNvSpPr txBox="1"/>
          <p:nvPr/>
        </p:nvSpPr>
        <p:spPr>
          <a:xfrm>
            <a:off x="6278727" y="1572768"/>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E97132"/>
                </a:solidFill>
                <a:latin typeface="Calibri"/>
              </a:rPr>
              <a:t>In the database (MobilityDB)</a:t>
            </a:r>
          </a:p>
        </p:txBody>
      </p:sp>
      <p:sp>
        <p:nvSpPr>
          <p:cNvPr id="8" name="TextBox 7"/>
          <p:cNvSpPr txBox="1"/>
          <p:nvPr/>
        </p:nvSpPr>
        <p:spPr>
          <a:xfrm>
            <a:off x="6278727" y="1920240"/>
            <a:ext cx="5346039" cy="2377440"/>
          </a:xfrm>
          <a:prstGeom prst="rect">
            <a:avLst/>
          </a:prstGeom>
          <a:noFill/>
        </p:spPr>
        <p:txBody>
          <a:bodyPr wrap="square" lIns="0" tIns="0" rIns="0" bIns="0">
            <a:noAutofit/>
          </a:bodyPr>
          <a:lstStyle/>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Reads:  </a:t>
            </a:r>
            <a:r>
              <a:rPr sz="1400">
                <a:solidFill>
                  <a:srgbClr val="1E2B36"/>
                </a:solidFill>
                <a:latin typeface="Calibri"/>
              </a:rPr>
              <a:t>asMFJSON assembles MovingFeaturesJSON in SQL; the tier streams the text</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Writes:  </a:t>
            </a:r>
            <a:r>
              <a:rPr sz="1400">
                <a:solidFill>
                  <a:srgbClr val="1E2B36"/>
                </a:solidFill>
                <a:latin typeface="Calibri"/>
              </a:rPr>
              <a:t>tgeompointFromMFJSON parses the payload into a tgeompoint</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Filters:  </a:t>
            </a:r>
            <a:r>
              <a:rPr sz="1400">
                <a:solidFill>
                  <a:srgbClr val="1E2B36"/>
                </a:solidFill>
                <a:latin typeface="Calibri"/>
              </a:rPr>
              <a:t>bbox and datetime push to the GiST index; atTime clips</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Measures:  </a:t>
            </a:r>
            <a:r>
              <a:rPr sz="1400">
                <a:solidFill>
                  <a:srgbClr val="1E2B36"/>
                </a:solidFill>
                <a:latin typeface="Calibri"/>
              </a:rPr>
              <a:t>speed, cumulativeLength and azimuth compute the derived properties</a:t>
            </a:r>
          </a:p>
        </p:txBody>
      </p:sp>
      <p:sp>
        <p:nvSpPr>
          <p:cNvPr id="9" name="Rounded Rectangle 8"/>
          <p:cNvSpPr/>
          <p:nvPr/>
        </p:nvSpPr>
        <p:spPr>
          <a:xfrm>
            <a:off x="566928" y="4572000"/>
            <a:ext cx="11057839" cy="155448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4681728"/>
            <a:ext cx="5486400" cy="32004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No MEOS in the tier</a:t>
            </a:r>
          </a:p>
        </p:txBody>
      </p:sp>
      <p:sp>
        <p:nvSpPr>
          <p:cNvPr id="11" name="TextBox 10"/>
          <p:cNvSpPr txBox="1"/>
          <p:nvPr/>
        </p:nvSpPr>
        <p:spPr>
          <a:xfrm>
            <a:off x="841247" y="4992624"/>
            <a:ext cx="10509199" cy="1051560"/>
          </a:xfrm>
          <a:prstGeom prst="rect">
            <a:avLst/>
          </a:prstGeom>
          <a:noFill/>
        </p:spPr>
        <p:txBody>
          <a:bodyPr wrap="square" lIns="0" tIns="0" rIns="0" bIns="0">
            <a:noAutofit/>
          </a:bodyPr>
          <a:lstStyle/>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The trajectory is never materialised or parsed in the tier</a:t>
            </a:r>
          </a:p>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It travels as MF-JSON text on the way out, MovingFeaturesJSON on the way in</a:t>
            </a:r>
          </a:p>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MobilityDB does the parsing, the geometry algebra and the temporal computations</a:t>
            </a:r>
          </a:p>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A single static binary, no cgo dependency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SAME DATA, TWO INTERFACES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MobilityDB SQL  vs  MobilityAPI REST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600200"/>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PostgreSQL / MobilityDB</a:t>
            </a:r>
          </a:p>
        </p:txBody>
      </p:sp>
      <p:sp>
        <p:nvSpPr>
          <p:cNvPr id="6" name="Rounded Rectangle 5"/>
          <p:cNvSpPr/>
          <p:nvPr/>
        </p:nvSpPr>
        <p:spPr>
          <a:xfrm>
            <a:off x="566928" y="1920240"/>
            <a:ext cx="5346039" cy="24688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PANEL"/>
          <p:cNvSpPr txBox="1"/>
          <p:nvPr/>
        </p:nvSpPr>
        <p:spPr>
          <a:xfrm>
            <a:off x="694944" y="2011680"/>
            <a:ext cx="5090007" cy="22860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INSERT INTO ships (id, mmsi, name, trip)</a:t>
            </a:r>
          </a:p>
          <a:p>
            <a:pPr>
              <a:lnSpc>
                <a:spcPct val="102000"/>
              </a:lnSpc>
              <a:spcBef>
                <a:spcPts val="0"/>
              </a:spcBef>
              <a:spcAft>
                <a:spcPts val="0"/>
              </a:spcAft>
            </a:pPr>
            <a:r>
              <a:rPr sz="1200">
                <a:solidFill>
                  <a:srgbClr val="C2D0DA"/>
                </a:solidFill>
                <a:latin typeface="Consolas"/>
              </a:rPr>
              <a:t>VALUES (</a:t>
            </a:r>
            <a:r>
              <a:rPr sz="1200">
                <a:solidFill>
                  <a:srgbClr val="C9E08A"/>
                </a:solidFill>
                <a:latin typeface="Consolas"/>
              </a:rPr>
              <a:t>205106000</a:t>
            </a:r>
            <a:r>
              <a:rPr sz="1200">
                <a:solidFill>
                  <a:srgbClr val="C2D0DA"/>
                </a:solidFill>
                <a:latin typeface="Consolas"/>
              </a:rPr>
              <a:t>, </a:t>
            </a:r>
            <a:r>
              <a:rPr sz="1200">
                <a:solidFill>
                  <a:srgbClr val="C9E08A"/>
                </a:solidFill>
                <a:latin typeface="Consolas"/>
              </a:rPr>
              <a:t>205106000</a:t>
            </a:r>
            <a:r>
              <a:rPr sz="1200">
                <a:solidFill>
                  <a:srgbClr val="C2D0DA"/>
                </a:solidFill>
                <a:latin typeface="Consolas"/>
              </a:rPr>
              <a:t>, 'MARCUS',</a:t>
            </a:r>
          </a:p>
          <a:p>
            <a:pPr>
              <a:lnSpc>
                <a:spcPct val="102000"/>
              </a:lnSpc>
              <a:spcBef>
                <a:spcPts val="0"/>
              </a:spcBef>
              <a:spcAft>
                <a:spcPts val="0"/>
              </a:spcAft>
            </a:pPr>
            <a:r>
              <a:rPr sz="1200">
                <a:solidFill>
                  <a:srgbClr val="C2D0DA"/>
                </a:solidFill>
                <a:latin typeface="Consolas"/>
              </a:rPr>
              <a:t>  tgeompoint '[</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a:t>
            </a:r>
            <a:r>
              <a:rPr sz="1200">
                <a:solidFill>
                  <a:srgbClr val="C9E08A"/>
                </a:solidFill>
                <a:latin typeface="Consolas"/>
              </a:rPr>
              <a:t>2026-02-26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651280</a:t>
            </a:r>
            <a:r>
              <a:rPr sz="1200">
                <a:solidFill>
                  <a:srgbClr val="C2D0DA"/>
                </a:solidFill>
                <a:latin typeface="Consolas"/>
              </a:rPr>
              <a:t> </a:t>
            </a:r>
            <a:r>
              <a:rPr sz="1200">
                <a:solidFill>
                  <a:srgbClr val="C9E08A"/>
                </a:solidFill>
                <a:latin typeface="Consolas"/>
              </a:rPr>
              <a:t>6058390</a:t>
            </a:r>
            <a:r>
              <a:rPr sz="1200">
                <a:solidFill>
                  <a:srgbClr val="C2D0DA"/>
                </a:solidFill>
                <a:latin typeface="Consolas"/>
              </a:rPr>
              <a:t>)@</a:t>
            </a:r>
            <a:r>
              <a:rPr sz="1200">
                <a:solidFill>
                  <a:srgbClr val="C9E08A"/>
                </a:solidFill>
                <a:latin typeface="Consolas"/>
              </a:rPr>
              <a:t>2026-02-26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25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656731</a:t>
            </a:r>
            <a:r>
              <a:rPr sz="1200">
                <a:solidFill>
                  <a:srgbClr val="C2D0DA"/>
                </a:solidFill>
                <a:latin typeface="Consolas"/>
              </a:rPr>
              <a:t> </a:t>
            </a:r>
            <a:r>
              <a:rPr sz="1200">
                <a:solidFill>
                  <a:srgbClr val="C9E08A"/>
                </a:solidFill>
                <a:latin typeface="Consolas"/>
              </a:rPr>
              <a:t>6058670</a:t>
            </a:r>
            <a:r>
              <a:rPr sz="1200">
                <a:solidFill>
                  <a:srgbClr val="C2D0DA"/>
                </a:solidFill>
                <a:latin typeface="Consolas"/>
              </a:rPr>
              <a:t>)@</a:t>
            </a:r>
            <a:r>
              <a:rPr sz="1200">
                <a:solidFill>
                  <a:srgbClr val="C9E08A"/>
                </a:solidFill>
                <a:latin typeface="Consolas"/>
              </a:rPr>
              <a:t>2026-02-26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50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a:t>
            </a:r>
          </a:p>
        </p:txBody>
      </p:sp>
      <p:sp>
        <p:nvSpPr>
          <p:cNvPr id="8" name="TextBox 7"/>
          <p:cNvSpPr txBox="1"/>
          <p:nvPr/>
        </p:nvSpPr>
        <p:spPr>
          <a:xfrm>
            <a:off x="6278727" y="1600200"/>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E97132"/>
                </a:solidFill>
                <a:latin typeface="Calibri"/>
              </a:rPr>
              <a:t>MobilityAPI</a:t>
            </a:r>
          </a:p>
        </p:txBody>
      </p:sp>
      <p:sp>
        <p:nvSpPr>
          <p:cNvPr id="9" name="Rounded Rectangle 8"/>
          <p:cNvSpPr/>
          <p:nvPr/>
        </p:nvSpPr>
        <p:spPr>
          <a:xfrm>
            <a:off x="6278727" y="1920240"/>
            <a:ext cx="5346039" cy="35204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DEPANEL"/>
          <p:cNvSpPr txBox="1"/>
          <p:nvPr/>
        </p:nvSpPr>
        <p:spPr>
          <a:xfrm>
            <a:off x="6406743" y="2011680"/>
            <a:ext cx="5090007" cy="333756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POST /collections/ships/items</a:t>
            </a:r>
          </a:p>
          <a:p>
            <a:pPr>
              <a:lnSpc>
                <a:spcPct val="102000"/>
              </a:lnSpc>
              <a:spcBef>
                <a:spcPts val="0"/>
              </a:spcBef>
              <a:spcAft>
                <a:spcPts val="0"/>
              </a:spcAft>
            </a:pPr>
            <a:r>
              <a:rPr sz="1200">
                <a:solidFill>
                  <a:srgbClr val="C2D0DA"/>
                </a:solidFill>
                <a:latin typeface="Consolas"/>
              </a:rPr>
              <a:t>Content-Type: application/json</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"205106000"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"MARCUS"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"2026-02-26T06:00:00+00"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1" name="Rectangle 10"/>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3" name="TextBox 12"/>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STANDARD</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OGC API – Moving Features Data Model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gc-moving-features-class-diagram.png"/>
          <p:cNvPicPr>
            <a:picLocks noChangeAspect="1"/>
          </p:cNvPicPr>
          <p:nvPr/>
        </p:nvPicPr>
        <p:blipFill>
          <a:blip r:embed="rId3"/>
          <a:stretch>
            <a:fillRect/>
          </a:stretch>
        </p:blipFill>
        <p:spPr>
          <a:xfrm>
            <a:off x="2471471" y="1600200"/>
            <a:ext cx="3579265" cy="4526280"/>
          </a:xfrm>
          <a:prstGeom prst="rect">
            <a:avLst/>
          </a:prstGeom>
        </p:spPr>
      </p:pic>
      <p:sp>
        <p:nvSpPr>
          <p:cNvPr id="6" name="TextBox 5"/>
          <p:cNvSpPr txBox="1"/>
          <p:nvPr/>
        </p:nvSpPr>
        <p:spPr>
          <a:xfrm>
            <a:off x="7955279" y="1828800"/>
            <a:ext cx="3749039" cy="4206240"/>
          </a:xfrm>
          <a:prstGeom prst="rect">
            <a:avLst/>
          </a:prstGeom>
          <a:noFill/>
        </p:spPr>
        <p:txBody>
          <a:bodyPr wrap="square" lIns="0" tIns="0" r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Collection:  </a:t>
            </a:r>
            <a:r>
              <a:rPr sz="1400">
                <a:solidFill>
                  <a:srgbClr val="1E2B36"/>
                </a:solidFill>
                <a:latin typeface="Calibri"/>
              </a:rPr>
              <a:t>a named group of moving features (itemType movingfeature)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MovingFeature:  </a:t>
            </a:r>
            <a:r>
              <a:rPr sz="1400">
                <a:solidFill>
                  <a:srgbClr val="1E2B36"/>
                </a:solidFill>
                <a:latin typeface="Calibri"/>
              </a:rPr>
              <a:t>an item with id, properties, crs and trs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TemporalGeometry:  </a:t>
            </a:r>
            <a:r>
              <a:rPr sz="1400">
                <a:solidFill>
                  <a:srgbClr val="1E2B36"/>
                </a:solidFill>
                <a:latin typeface="Calibri"/>
              </a:rPr>
              <a:t>a MovingPoint with parallel coordinates and datetimes plus interpolation</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Derived queries:  </a:t>
            </a:r>
            <a:r>
              <a:rPr sz="1400">
                <a:solidFill>
                  <a:srgbClr val="1E2B36"/>
                </a:solidFill>
                <a:latin typeface="Calibri"/>
              </a:rPr>
              <a:t>distance and velocity over a temporal geometry</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TemporalProperties:  </a:t>
            </a:r>
            <a:r>
              <a:rPr sz="1400">
                <a:solidFill>
                  <a:srgbClr val="1E2B36"/>
                </a:solidFill>
                <a:latin typeface="Calibri"/>
              </a:rPr>
              <a:t>time-varying attributes derived from the trajectory</a:t>
            </a:r>
          </a:p>
        </p:txBody>
      </p:sp>
      <p:sp>
        <p:nvSpPr>
          <p:cNvPr id="7" name="TextBox 6"/>
          <p:cNvSpPr txBox="1"/>
          <p:nvPr/>
        </p:nvSpPr>
        <p:spPr>
          <a:xfrm>
            <a:off x="566928" y="6163056"/>
            <a:ext cx="7388352"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Class diagram — OGC API – Moving Features – Part 1: Core (fig. 1)</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822960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lIns="0" tIns="0" rIns="0" bIns="0" anchor="t">
            <a:noAutofit/>
          </a:bodyPr>
          <a:lstStyle/>
          <a:p>
            <a:pPr algn="r">
              <a:spcBef>
                <a:spcPts val="0"/>
              </a:spcBef>
              <a:spcAft>
                <a:spcPts val="200"/>
              </a:spcAft>
            </a:pPr>
            <a:r>
              <a:rPr sz="1200" b="1" i="0">
                <a:solidFill>
                  <a:srgbClr val="5B6B78"/>
                </a:solidFill>
                <a:latin typeface="Calibri"/>
              </a:rPr>
              <a:t>upper half · 1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gc_top.png"/>
          <p:cNvPicPr>
            <a:picLocks noChangeAspect="1"/>
          </p:cNvPicPr>
          <p:nvPr/>
        </p:nvPicPr>
        <p:blipFill>
          <a:blip r:embed="rId3"/>
          <a:stretch>
            <a:fillRect/>
          </a:stretch>
        </p:blipFill>
        <p:spPr>
          <a:xfrm>
            <a:off x="1888257" y="749808"/>
            <a:ext cx="8415180"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822960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lIns="0" tIns="0" rIns="0" bIns="0" anchor="t">
            <a:noAutofit/>
          </a:bodyPr>
          <a:lstStyle/>
          <a:p>
            <a:pPr algn="r">
              <a:spcBef>
                <a:spcPts val="0"/>
              </a:spcBef>
              <a:spcAft>
                <a:spcPts val="200"/>
              </a:spcAft>
            </a:pPr>
            <a:r>
              <a:rPr sz="1200" b="1" i="0">
                <a:solidFill>
                  <a:srgbClr val="5B6B78"/>
                </a:solidFill>
                <a:latin typeface="Calibri"/>
              </a:rPr>
              <a:t>lower half · 2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gc_bot.png"/>
          <p:cNvPicPr>
            <a:picLocks noChangeAspect="1"/>
          </p:cNvPicPr>
          <p:nvPr/>
        </p:nvPicPr>
        <p:blipFill>
          <a:blip r:embed="rId3"/>
          <a:stretch>
            <a:fillRect/>
          </a:stretch>
        </p:blipFill>
        <p:spPr>
          <a:xfrm>
            <a:off x="1895000" y="749808"/>
            <a:ext cx="8401694"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UNDER THE HOOD</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How MobilityAPI Persists Moving Features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44752"/>
            <a:ext cx="420624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STORED COLUMNS</a:t>
            </a:r>
          </a:p>
        </p:txBody>
      </p:sp>
      <p:sp>
        <p:nvSpPr>
          <p:cNvPr id="6" name="Rounded Rectangle 5"/>
          <p:cNvSpPr/>
          <p:nvPr/>
        </p:nvSpPr>
        <p:spPr>
          <a:xfrm>
            <a:off x="566928" y="1737360"/>
            <a:ext cx="4206240" cy="1901952"/>
          </a:xfrm>
          <a:prstGeom prst="roundRect">
            <a:avLst>
              <a:gd name="adj" fmla="val 4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37360"/>
            <a:ext cx="4206240" cy="402336"/>
          </a:xfrm>
          <a:prstGeom prst="roundRect">
            <a:avLst>
              <a:gd name="adj" fmla="val 7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55648"/>
            <a:ext cx="3931920" cy="402336"/>
          </a:xfrm>
          <a:prstGeom prst="rect">
            <a:avLst/>
          </a:prstGeom>
          <a:noFill/>
        </p:spPr>
        <p:txBody>
          <a:bodyPr wrap="square" lIns="0" tIns="0" rIns="0" bIns="0" anchor="ctr">
            <a:noAutofit/>
          </a:bodyPr>
          <a:lstStyle/>
          <a:p>
            <a:pPr algn="l">
              <a:spcBef>
                <a:spcPts val="0"/>
              </a:spcBef>
              <a:spcAft>
                <a:spcPts val="200"/>
              </a:spcAft>
            </a:pPr>
            <a:r>
              <a:rPr sz="1600" b="1" i="0">
                <a:solidFill>
                  <a:srgbClr val="FFFFFF"/>
                </a:solidFill>
                <a:latin typeface="Consolas"/>
              </a:rPr>
              <a:t>collections</a:t>
            </a:r>
          </a:p>
        </p:txBody>
      </p:sp>
      <p:sp>
        <p:nvSpPr>
          <p:cNvPr id="9" name="TextBox 8"/>
          <p:cNvSpPr txBox="1"/>
          <p:nvPr/>
        </p:nvSpPr>
        <p:spPr>
          <a:xfrm>
            <a:off x="731520" y="2194560"/>
            <a:ext cx="3913631" cy="1463040"/>
          </a:xfrm>
          <a:prstGeom prst="rect">
            <a:avLst/>
          </a:prstGeom>
          <a:noFill/>
        </p:spPr>
        <p:txBody>
          <a:bodyPr wrap="none" lIns="0" tIns="0" rIns="0" bIns="0">
            <a:noAutofit/>
          </a:bodyPr>
          <a:lstStyle/>
          <a:p>
            <a:pPr>
              <a:lnSpc>
                <a:spcPct val="100000"/>
              </a:lnSpc>
              <a:spcBef>
                <a:spcPts val="0"/>
              </a:spcBef>
              <a:spcAft>
                <a:spcPts val="300"/>
              </a:spcAft>
            </a:pPr>
            <a:r>
              <a:rPr sz="1200" b="1">
                <a:solidFill>
                  <a:srgbClr val="156082"/>
                </a:solidFill>
                <a:latin typeface="Calibri"/>
              </a:rPr>
              <a:t>PK </a:t>
            </a:r>
            <a:r>
              <a:rPr sz="1400" b="1">
                <a:solidFill>
                  <a:srgbClr val="1E2B36"/>
                </a:solidFill>
                <a:latin typeface="Consolas"/>
              </a:rPr>
              <a:t>id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title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description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itemType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crs   </a:t>
            </a:r>
            <a:r>
              <a:rPr sz="1400">
                <a:solidFill>
                  <a:srgbClr val="5B6B78"/>
                </a:solidFill>
                <a:latin typeface="Consolas"/>
              </a:rPr>
              <a:t>INTEGER</a:t>
            </a:r>
          </a:p>
        </p:txBody>
      </p:sp>
      <p:sp>
        <p:nvSpPr>
          <p:cNvPr id="10" name="Rounded Rectangle 9"/>
          <p:cNvSpPr/>
          <p:nvPr/>
        </p:nvSpPr>
        <p:spPr>
          <a:xfrm>
            <a:off x="566928" y="3950208"/>
            <a:ext cx="4206240" cy="1627631"/>
          </a:xfrm>
          <a:prstGeom prst="roundRect">
            <a:avLst>
              <a:gd name="adj" fmla="val 4000"/>
            </a:avLst>
          </a:prstGeom>
          <a:solidFill>
            <a:srgbClr val="FFFFFF"/>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66928" y="3950208"/>
            <a:ext cx="4206240" cy="402336"/>
          </a:xfrm>
          <a:prstGeom prst="roundRect">
            <a:avLst>
              <a:gd name="adj" fmla="val 7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968496"/>
            <a:ext cx="3931920" cy="402336"/>
          </a:xfrm>
          <a:prstGeom prst="rect">
            <a:avLst/>
          </a:prstGeom>
          <a:noFill/>
        </p:spPr>
        <p:txBody>
          <a:bodyPr wrap="square" lIns="0" tIns="0" rIns="0" bIns="0" anchor="ctr">
            <a:noAutofit/>
          </a:bodyPr>
          <a:lstStyle/>
          <a:p>
            <a:pPr algn="l">
              <a:spcBef>
                <a:spcPts val="0"/>
              </a:spcBef>
              <a:spcAft>
                <a:spcPts val="200"/>
              </a:spcAft>
            </a:pPr>
            <a:r>
              <a:rPr sz="1600" b="1" i="0">
                <a:solidFill>
                  <a:srgbClr val="FFFFFF"/>
                </a:solidFill>
                <a:latin typeface="Consolas"/>
              </a:rPr>
              <a:t>ships</a:t>
            </a:r>
          </a:p>
        </p:txBody>
      </p:sp>
      <p:sp>
        <p:nvSpPr>
          <p:cNvPr id="13" name="TextBox 12"/>
          <p:cNvSpPr txBox="1"/>
          <p:nvPr/>
        </p:nvSpPr>
        <p:spPr>
          <a:xfrm>
            <a:off x="731520" y="4407408"/>
            <a:ext cx="3913631" cy="1188720"/>
          </a:xfrm>
          <a:prstGeom prst="rect">
            <a:avLst/>
          </a:prstGeom>
          <a:noFill/>
        </p:spPr>
        <p:txBody>
          <a:bodyPr wrap="none" lIns="0" tIns="0" rIns="0" bIns="0">
            <a:noAutofit/>
          </a:bodyPr>
          <a:lstStyle/>
          <a:p>
            <a:pPr>
              <a:lnSpc>
                <a:spcPct val="100000"/>
              </a:lnSpc>
              <a:spcBef>
                <a:spcPts val="0"/>
              </a:spcBef>
              <a:spcAft>
                <a:spcPts val="300"/>
              </a:spcAft>
            </a:pPr>
            <a:r>
              <a:rPr sz="1200" b="1">
                <a:solidFill>
                  <a:srgbClr val="E97132"/>
                </a:solidFill>
                <a:latin typeface="Calibri"/>
              </a:rPr>
              <a:t>PK </a:t>
            </a:r>
            <a:r>
              <a:rPr sz="1400" b="1">
                <a:solidFill>
                  <a:srgbClr val="1E2B36"/>
                </a:solidFill>
                <a:latin typeface="Consolas"/>
              </a:rPr>
              <a:t>id   </a:t>
            </a:r>
            <a:r>
              <a:rPr sz="1400">
                <a:solidFill>
                  <a:srgbClr val="5B6B78"/>
                </a:solidFill>
                <a:latin typeface="Consolas"/>
              </a:rPr>
              <a:t>INTEGER</a:t>
            </a:r>
          </a:p>
          <a:p>
            <a:pPr>
              <a:lnSpc>
                <a:spcPct val="100000"/>
              </a:lnSpc>
              <a:spcBef>
                <a:spcPts val="0"/>
              </a:spcBef>
              <a:spcAft>
                <a:spcPts val="300"/>
              </a:spcAft>
            </a:pPr>
            <a:r>
              <a:rPr sz="1400" b="1">
                <a:solidFill>
                  <a:srgbClr val="1E2B36"/>
                </a:solidFill>
                <a:latin typeface="Consolas"/>
              </a:rPr>
              <a:t>mmsi   </a:t>
            </a:r>
            <a:r>
              <a:rPr sz="1400">
                <a:solidFill>
                  <a:srgbClr val="5B6B78"/>
                </a:solidFill>
                <a:latin typeface="Consolas"/>
              </a:rPr>
              <a:t>BIGINT</a:t>
            </a:r>
          </a:p>
          <a:p>
            <a:pPr>
              <a:lnSpc>
                <a:spcPct val="100000"/>
              </a:lnSpc>
              <a:spcBef>
                <a:spcPts val="0"/>
              </a:spcBef>
              <a:spcAft>
                <a:spcPts val="300"/>
              </a:spcAft>
            </a:pPr>
            <a:r>
              <a:rPr sz="1400" b="1">
                <a:solidFill>
                  <a:srgbClr val="1E2B36"/>
                </a:solidFill>
                <a:latin typeface="Consolas"/>
              </a:rPr>
              <a:t>name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trip   </a:t>
            </a:r>
            <a:r>
              <a:rPr sz="1400">
                <a:solidFill>
                  <a:srgbClr val="E97132"/>
                </a:solidFill>
                <a:latin typeface="Consolas"/>
              </a:rPr>
              <a:t>tgeompoint</a:t>
            </a:r>
          </a:p>
        </p:txBody>
      </p:sp>
      <p:sp>
        <p:nvSpPr>
          <p:cNvPr id="14" name="TextBox 13"/>
          <p:cNvSpPr txBox="1"/>
          <p:nvPr/>
        </p:nvSpPr>
        <p:spPr>
          <a:xfrm>
            <a:off x="566928" y="5641848"/>
            <a:ext cx="4206240" cy="274320"/>
          </a:xfrm>
          <a:prstGeom prst="rect">
            <a:avLst/>
          </a:prstGeom>
          <a:noFill/>
        </p:spPr>
        <p:txBody>
          <a:bodyPr wrap="square" lIns="0" tIns="0" rIns="0" bIns="0" anchor="t">
            <a:noAutofit/>
          </a:bodyPr>
          <a:lstStyle/>
          <a:p>
            <a:pPr algn="l">
              <a:spcBef>
                <a:spcPts val="0"/>
              </a:spcBef>
              <a:spcAft>
                <a:spcPts val="200"/>
              </a:spcAft>
            </a:pPr>
            <a:r>
              <a:rPr sz="1200" b="0" i="1">
                <a:solidFill>
                  <a:srgbClr val="5B6B78"/>
                </a:solidFill>
                <a:latin typeface="Calibri"/>
              </a:rPr>
              <a:t>one feature table per collection</a:t>
            </a:r>
          </a:p>
        </p:txBody>
      </p:sp>
      <p:sp>
        <p:nvSpPr>
          <p:cNvPr id="15" name="TextBox 14"/>
          <p:cNvSpPr txBox="1"/>
          <p:nvPr/>
        </p:nvSpPr>
        <p:spPr>
          <a:xfrm>
            <a:off x="5138928" y="1444752"/>
            <a:ext cx="6485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STANDARD FIELDS SERVED</a:t>
            </a:r>
          </a:p>
        </p:txBody>
      </p:sp>
      <p:sp>
        <p:nvSpPr>
          <p:cNvPr id="16" name="TextBox 15"/>
          <p:cNvSpPr txBox="1"/>
          <p:nvPr/>
        </p:nvSpPr>
        <p:spPr>
          <a:xfrm>
            <a:off x="5138928" y="1773936"/>
            <a:ext cx="6485839"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Collection</a:t>
            </a:r>
          </a:p>
        </p:txBody>
      </p:sp>
      <p:sp>
        <p:nvSpPr>
          <p:cNvPr id="17" name="TextBox 16"/>
          <p:cNvSpPr txBox="1"/>
          <p:nvPr/>
        </p:nvSpPr>
        <p:spPr>
          <a:xfrm>
            <a:off x="5138928" y="2084831"/>
            <a:ext cx="6485839" cy="1097280"/>
          </a:xfrm>
          <a:prstGeom prst="rect">
            <a:avLst/>
          </a:prstGeom>
          <a:noFill/>
        </p:spPr>
        <p:txBody>
          <a:bodyPr wrap="square" lIns="0" tIns="0" rIns="0" bIns="0">
            <a:noAutofit/>
          </a:bodyPr>
          <a:lstStyle/>
          <a:p>
            <a:pPr>
              <a:lnSpc>
                <a:spcPct val="106000"/>
              </a:lnSpc>
              <a:spcBef>
                <a:spcPts val="0"/>
              </a:spcBef>
              <a:spcAft>
                <a:spcPts val="500"/>
              </a:spcAft>
            </a:pPr>
            <a:r>
              <a:rPr sz="1200" b="1">
                <a:solidFill>
                  <a:srgbClr val="156082"/>
                </a:solidFill>
                <a:latin typeface="Calibri"/>
              </a:rPr>
              <a:t>▸  </a:t>
            </a:r>
            <a:r>
              <a:rPr sz="1200" b="1">
                <a:solidFill>
                  <a:srgbClr val="0E2841"/>
                </a:solidFill>
                <a:latin typeface="Calibri"/>
              </a:rPr>
              <a:t>Stored:  </a:t>
            </a:r>
            <a:r>
              <a:rPr sz="1200">
                <a:solidFill>
                  <a:srgbClr val="1E2B36"/>
                </a:solidFill>
                <a:latin typeface="Calibri"/>
              </a:rPr>
              <a:t>id, title, description, itemType, crs</a:t>
            </a:r>
          </a:p>
          <a:p>
            <a:pPr>
              <a:lnSpc>
                <a:spcPct val="106000"/>
              </a:lnSpc>
              <a:spcBef>
                <a:spcPts val="0"/>
              </a:spcBef>
              <a:spcAft>
                <a:spcPts val="500"/>
              </a:spcAft>
            </a:pPr>
            <a:r>
              <a:rPr sz="1200" b="1">
                <a:solidFill>
                  <a:srgbClr val="156082"/>
                </a:solidFill>
                <a:latin typeface="Calibri"/>
              </a:rPr>
              <a:t>▸  </a:t>
            </a:r>
            <a:r>
              <a:rPr sz="1200" b="1">
                <a:solidFill>
                  <a:srgbClr val="0E2841"/>
                </a:solidFill>
                <a:latin typeface="Calibri"/>
              </a:rPr>
              <a:t>Derived:  </a:t>
            </a:r>
            <a:r>
              <a:rPr sz="1200">
                <a:solidFill>
                  <a:srgbClr val="1E2B36"/>
                </a:solidFill>
                <a:latin typeface="Calibri"/>
              </a:rPr>
              <a:t>extent (spatial bbox and time interval)</a:t>
            </a:r>
          </a:p>
          <a:p>
            <a:pPr>
              <a:lnSpc>
                <a:spcPct val="106000"/>
              </a:lnSpc>
              <a:spcBef>
                <a:spcPts val="0"/>
              </a:spcBef>
              <a:spcAft>
                <a:spcPts val="500"/>
              </a:spcAft>
            </a:pPr>
            <a:r>
              <a:rPr sz="1200" b="1">
                <a:solidFill>
                  <a:srgbClr val="156082"/>
                </a:solidFill>
                <a:latin typeface="Calibri"/>
              </a:rPr>
              <a:t>▸  </a:t>
            </a:r>
            <a:r>
              <a:rPr sz="1200" b="1">
                <a:solidFill>
                  <a:srgbClr val="0E2841"/>
                </a:solidFill>
                <a:latin typeface="Calibri"/>
              </a:rPr>
              <a:t>Generated:  </a:t>
            </a:r>
            <a:r>
              <a:rPr sz="1200">
                <a:solidFill>
                  <a:srgbClr val="1E2B36"/>
                </a:solidFill>
                <a:latin typeface="Calibri"/>
              </a:rPr>
              <a:t>links</a:t>
            </a:r>
          </a:p>
        </p:txBody>
      </p:sp>
      <p:sp>
        <p:nvSpPr>
          <p:cNvPr id="18" name="TextBox 17"/>
          <p:cNvSpPr txBox="1"/>
          <p:nvPr/>
        </p:nvSpPr>
        <p:spPr>
          <a:xfrm>
            <a:off x="5138928" y="3255264"/>
            <a:ext cx="6485839" cy="274320"/>
          </a:xfrm>
          <a:prstGeom prst="rect">
            <a:avLst/>
          </a:prstGeom>
          <a:noFill/>
        </p:spPr>
        <p:txBody>
          <a:bodyPr wrap="square" lIns="0" tIns="0" rIns="0" bIns="0" anchor="t">
            <a:noAutofit/>
          </a:bodyPr>
          <a:lstStyle/>
          <a:p>
            <a:pPr algn="l">
              <a:spcBef>
                <a:spcPts val="0"/>
              </a:spcBef>
              <a:spcAft>
                <a:spcPts val="200"/>
              </a:spcAft>
            </a:pPr>
            <a:r>
              <a:rPr sz="1400" b="1" i="0">
                <a:solidFill>
                  <a:srgbClr val="E97132"/>
                </a:solidFill>
                <a:latin typeface="Calibri"/>
              </a:rPr>
              <a:t>MovingFeature</a:t>
            </a:r>
          </a:p>
        </p:txBody>
      </p:sp>
      <p:sp>
        <p:nvSpPr>
          <p:cNvPr id="19" name="TextBox 18"/>
          <p:cNvSpPr txBox="1"/>
          <p:nvPr/>
        </p:nvSpPr>
        <p:spPr>
          <a:xfrm>
            <a:off x="5138928" y="3566160"/>
            <a:ext cx="6485839" cy="1828800"/>
          </a:xfrm>
          <a:prstGeom prst="rect">
            <a:avLst/>
          </a:prstGeom>
          <a:noFill/>
        </p:spPr>
        <p:txBody>
          <a:bodyPr wrap="square" lIns="0" tIns="0" rIns="0" bIns="0">
            <a:noAutofit/>
          </a:bodyPr>
          <a:lstStyle/>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Stored:  </a:t>
            </a:r>
            <a:r>
              <a:rPr sz="1200">
                <a:solidFill>
                  <a:srgbClr val="1E2B36"/>
                </a:solidFill>
                <a:latin typeface="Calibri"/>
              </a:rPr>
              <a:t>id, properties (mmsi, name)</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Derived from trip:  </a:t>
            </a:r>
            <a:r>
              <a:rPr sz="1200">
                <a:solidFill>
                  <a:srgbClr val="1E2B36"/>
                </a:solidFill>
                <a:latin typeface="Calibri"/>
              </a:rPr>
              <a:t>temporalGeometry, bbox, time, geometry</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From the registry:  </a:t>
            </a:r>
            <a:r>
              <a:rPr sz="1200">
                <a:solidFill>
                  <a:srgbClr val="1E2B36"/>
                </a:solidFill>
                <a:latin typeface="Calibri"/>
              </a:rPr>
              <a:t>crs</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Constant:  </a:t>
            </a:r>
            <a:r>
              <a:rPr sz="1200">
                <a:solidFill>
                  <a:srgbClr val="1E2B36"/>
                </a:solidFill>
                <a:latin typeface="Calibri"/>
              </a:rPr>
              <a:t>trs</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Generated:  </a:t>
            </a:r>
            <a:r>
              <a:rPr sz="1200">
                <a:solidFill>
                  <a:srgbClr val="1E2B36"/>
                </a:solidFill>
                <a:latin typeface="Calibri"/>
              </a:rPr>
              <a:t>links</a:t>
            </a:r>
          </a:p>
        </p:txBody>
      </p:sp>
      <p:sp>
        <p:nvSpPr>
          <p:cNvPr id="20" name="Rounded Rectangle 19"/>
          <p:cNvSpPr/>
          <p:nvPr/>
        </p:nvSpPr>
        <p:spPr>
          <a:xfrm>
            <a:off x="5138928" y="5376672"/>
            <a:ext cx="6485839" cy="969264"/>
          </a:xfrm>
          <a:prstGeom prst="roundRect">
            <a:avLst>
              <a:gd name="adj" fmla="val 4000"/>
            </a:avLst>
          </a:prstGeom>
          <a:solidFill>
            <a:srgbClr val="F1F5F8"/>
          </a:solidFill>
          <a:ln>
            <a:noFill/>
          </a:ln>
          <a:effectLst/>
        </p:spPr>
        <p:txBody>
          <a:bodyPr rtlCol="0" anchor="ctr"/>
          <a:lstStyle/>
          <a:p>
            <a:pPr algn="ctr"/>
            <a:endParaRPr/>
          </a:p>
        </p:txBody>
      </p:sp>
      <p:sp>
        <p:nvSpPr>
          <p:cNvPr id="21" name="TextBox 20"/>
          <p:cNvSpPr txBox="1"/>
          <p:nvPr/>
        </p:nvSpPr>
        <p:spPr>
          <a:xfrm>
            <a:off x="5394960" y="5468112"/>
            <a:ext cx="5973775"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How fields are provided</a:t>
            </a:r>
          </a:p>
        </p:txBody>
      </p:sp>
      <p:sp>
        <p:nvSpPr>
          <p:cNvPr id="22" name="TextBox 21"/>
          <p:cNvSpPr txBox="1"/>
          <p:nvPr/>
        </p:nvSpPr>
        <p:spPr>
          <a:xfrm>
            <a:off x="5394960" y="5760720"/>
            <a:ext cx="5973775" cy="530352"/>
          </a:xfrm>
          <a:prstGeom prst="rect">
            <a:avLst/>
          </a:prstGeom>
          <a:noFill/>
        </p:spPr>
        <p:txBody>
          <a:bodyPr wrap="square" lIns="0" tIns="0" rIns="0" bIns="0">
            <a:noAutofit/>
          </a:bodyPr>
          <a:lstStyle/>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Derived fields come O(1) from the tgeompoint and its inline STBOX</a:t>
            </a:r>
          </a:p>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Links are generated per request</a:t>
            </a:r>
          </a:p>
        </p:txBody>
      </p:sp>
      <p:sp>
        <p:nvSpPr>
          <p:cNvPr id="23" name="Rectangle 2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5" name="TextBox 24"/>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CANONICAL EXAMPLE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A Day of Danish AIS Ship Traffic</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_overview_real.png"/>
          <p:cNvPicPr>
            <a:picLocks noChangeAspect="1"/>
          </p:cNvPicPr>
          <p:nvPr/>
        </p:nvPicPr>
        <p:blipFill>
          <a:blip r:embed="rId3"/>
          <a:stretch>
            <a:fillRect/>
          </a:stretch>
        </p:blipFill>
        <p:spPr>
          <a:xfrm>
            <a:off x="6400800" y="1554480"/>
            <a:ext cx="5394960" cy="4046220"/>
          </a:xfrm>
          <a:prstGeom prst="rect">
            <a:avLst/>
          </a:prstGeom>
        </p:spPr>
      </p:pic>
      <p:sp>
        <p:nvSpPr>
          <p:cNvPr id="6" name="TextBox 5"/>
          <p:cNvSpPr txBox="1"/>
          <p:nvPr/>
        </p:nvSpPr>
        <p:spPr>
          <a:xfrm>
            <a:off x="566928" y="1828800"/>
            <a:ext cx="5486400" cy="4023360"/>
          </a:xfrm>
          <a:prstGeom prst="rect">
            <a:avLst/>
          </a:prstGeom>
          <a:noFill/>
        </p:spPr>
        <p:txBody>
          <a:bodyPr wrap="square" lIns="0" tIns="0" rIns="0" bIns="0">
            <a:noAutofit/>
          </a:bodyPr>
          <a:lstStyle/>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Source:  </a:t>
            </a:r>
            <a:r>
              <a:rPr sz="1400">
                <a:solidFill>
                  <a:srgbClr val="1E2B36"/>
                </a:solidFill>
                <a:latin typeface="Calibri"/>
              </a:rPr>
              <a:t>Danish Maritime Authority AIS feed (aisdata.ais.dk)</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Window:  </a:t>
            </a:r>
            <a:r>
              <a:rPr sz="1400">
                <a:solidFill>
                  <a:srgbClr val="1E2B36"/>
                </a:solidFill>
                <a:latin typeface="Calibri"/>
              </a:rPr>
              <a:t>2026-02-26 to 2026-02-27</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2,833 trajectories:  </a:t>
            </a:r>
            <a:r>
              <a:rPr sz="1400">
                <a:solidFill>
                  <a:srgbClr val="1E2B36"/>
                </a:solidFill>
                <a:latin typeface="Calibri"/>
              </a:rPr>
              <a:t>1,878 distinct vessels (MMSI), each a MovingPoint</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6.2 million instants:  </a:t>
            </a:r>
            <a:r>
              <a:rPr sz="1400">
                <a:solidFill>
                  <a:srgbClr val="1E2B36"/>
                </a:solidFill>
                <a:latin typeface="Calibri"/>
              </a:rPr>
              <a:t>observed position across the collection</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EPSG:25832 (ETRS89 / UTM 32N, metres)</a:t>
            </a:r>
          </a:p>
        </p:txBody>
      </p:sp>
      <p:sp>
        <p:nvSpPr>
          <p:cNvPr id="7" name="TextBox 6"/>
          <p:cNvSpPr txBox="1"/>
          <p:nvPr/>
        </p:nvSpPr>
        <p:spPr>
          <a:xfrm>
            <a:off x="6035040" y="5692140"/>
            <a:ext cx="6126480"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Danish AIS vessel trajectories, 2026-02-26</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REFERENCE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The OGC Endpoint Surface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9562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Rounded Rectangle 5"/>
          <p:cNvSpPr/>
          <p:nvPr/>
        </p:nvSpPr>
        <p:spPr>
          <a:xfrm>
            <a:off x="1280160" y="159562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7" name="TextBox 6"/>
          <p:cNvSpPr txBox="1"/>
          <p:nvPr/>
        </p:nvSpPr>
        <p:spPr>
          <a:xfrm>
            <a:off x="2139696" y="1591056"/>
            <a:ext cx="9466783"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a:t>
            </a:r>
          </a:p>
        </p:txBody>
      </p:sp>
      <p:sp>
        <p:nvSpPr>
          <p:cNvPr id="8" name="Rounded Rectangle 7"/>
          <p:cNvSpPr/>
          <p:nvPr/>
        </p:nvSpPr>
        <p:spPr>
          <a:xfrm>
            <a:off x="566928" y="196138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9" name="TextBox 8"/>
          <p:cNvSpPr txBox="1"/>
          <p:nvPr/>
        </p:nvSpPr>
        <p:spPr>
          <a:xfrm>
            <a:off x="1353312" y="195681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a:t>
            </a:r>
          </a:p>
        </p:txBody>
      </p:sp>
      <p:sp>
        <p:nvSpPr>
          <p:cNvPr id="10" name="Rounded Rectangle 9"/>
          <p:cNvSpPr/>
          <p:nvPr/>
        </p:nvSpPr>
        <p:spPr>
          <a:xfrm>
            <a:off x="566928" y="232714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1" name="Rounded Rectangle 10"/>
          <p:cNvSpPr/>
          <p:nvPr/>
        </p:nvSpPr>
        <p:spPr>
          <a:xfrm>
            <a:off x="1280160" y="232714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12" name="TextBox 11"/>
          <p:cNvSpPr txBox="1"/>
          <p:nvPr/>
        </p:nvSpPr>
        <p:spPr>
          <a:xfrm>
            <a:off x="2139696" y="2322576"/>
            <a:ext cx="9466783"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a:t>
            </a:r>
          </a:p>
        </p:txBody>
      </p:sp>
      <p:sp>
        <p:nvSpPr>
          <p:cNvPr id="13" name="Rounded Rectangle 12"/>
          <p:cNvSpPr/>
          <p:nvPr/>
        </p:nvSpPr>
        <p:spPr>
          <a:xfrm>
            <a:off x="566928" y="269290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4" name="Rounded Rectangle 13"/>
          <p:cNvSpPr/>
          <p:nvPr/>
        </p:nvSpPr>
        <p:spPr>
          <a:xfrm>
            <a:off x="1280160" y="2692908"/>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DELETE</a:t>
            </a:r>
          </a:p>
        </p:txBody>
      </p:sp>
      <p:sp>
        <p:nvSpPr>
          <p:cNvPr id="15" name="TextBox 14"/>
          <p:cNvSpPr txBox="1"/>
          <p:nvPr/>
        </p:nvSpPr>
        <p:spPr>
          <a:xfrm>
            <a:off x="2359152" y="2688336"/>
            <a:ext cx="924732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a:t>
            </a:r>
          </a:p>
        </p:txBody>
      </p:sp>
      <p:sp>
        <p:nvSpPr>
          <p:cNvPr id="16" name="Rounded Rectangle 15"/>
          <p:cNvSpPr/>
          <p:nvPr/>
        </p:nvSpPr>
        <p:spPr>
          <a:xfrm>
            <a:off x="566928" y="30586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7" name="Rounded Rectangle 16"/>
          <p:cNvSpPr/>
          <p:nvPr/>
        </p:nvSpPr>
        <p:spPr>
          <a:xfrm>
            <a:off x="1280160" y="305866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18" name="TextBox 17"/>
          <p:cNvSpPr txBox="1"/>
          <p:nvPr/>
        </p:nvSpPr>
        <p:spPr>
          <a:xfrm>
            <a:off x="2139696" y="3054096"/>
            <a:ext cx="9466783"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/collections/{collectionId}/items/{mFeatureId}/tgsequence</a:t>
            </a:r>
          </a:p>
        </p:txBody>
      </p:sp>
      <p:sp>
        <p:nvSpPr>
          <p:cNvPr id="19" name="Rounded Rectangle 18"/>
          <p:cNvSpPr/>
          <p:nvPr/>
        </p:nvSpPr>
        <p:spPr>
          <a:xfrm>
            <a:off x="566928" y="3424427"/>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0" name="TextBox 19"/>
          <p:cNvSpPr txBox="1"/>
          <p:nvPr/>
        </p:nvSpPr>
        <p:spPr>
          <a:xfrm>
            <a:off x="1353312" y="341985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/collections/{collectionId}/items/{mFeatureId}/tgsequence/{tGeometryId}/distance</a:t>
            </a:r>
          </a:p>
        </p:txBody>
      </p:sp>
      <p:sp>
        <p:nvSpPr>
          <p:cNvPr id="21" name="Rounded Rectangle 20"/>
          <p:cNvSpPr/>
          <p:nvPr/>
        </p:nvSpPr>
        <p:spPr>
          <a:xfrm>
            <a:off x="566928" y="3790187"/>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2" name="TextBox 21"/>
          <p:cNvSpPr txBox="1"/>
          <p:nvPr/>
        </p:nvSpPr>
        <p:spPr>
          <a:xfrm>
            <a:off x="1353312" y="3785615"/>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/collections/{collectionId}/items/{mFeatureId}/tgsequence/{tGeometryId}/velocity</a:t>
            </a:r>
          </a:p>
        </p:txBody>
      </p:sp>
      <p:sp>
        <p:nvSpPr>
          <p:cNvPr id="23" name="Rounded Rectangle 22"/>
          <p:cNvSpPr/>
          <p:nvPr/>
        </p:nvSpPr>
        <p:spPr>
          <a:xfrm>
            <a:off x="566928" y="415594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4" name="TextBox 23"/>
          <p:cNvSpPr txBox="1"/>
          <p:nvPr/>
        </p:nvSpPr>
        <p:spPr>
          <a:xfrm>
            <a:off x="1353312" y="415137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/collections/{collectionId}/items/{mFeatureId}/tproperties</a:t>
            </a:r>
          </a:p>
        </p:txBody>
      </p:sp>
      <p:sp>
        <p:nvSpPr>
          <p:cNvPr id="25" name="Rounded Rectangle 24"/>
          <p:cNvSpPr/>
          <p:nvPr/>
        </p:nvSpPr>
        <p:spPr>
          <a:xfrm>
            <a:off x="566928" y="452170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6" name="TextBox 25"/>
          <p:cNvSpPr txBox="1"/>
          <p:nvPr/>
        </p:nvSpPr>
        <p:spPr>
          <a:xfrm>
            <a:off x="1353312" y="451713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/collections/{collectionId}/items/{mFeatureId}/tproperties/{tPropertyName}</a:t>
            </a:r>
          </a:p>
        </p:txBody>
      </p:sp>
      <p:sp>
        <p:nvSpPr>
          <p:cNvPr id="27" name="Rounded Rectangle 26"/>
          <p:cNvSpPr/>
          <p:nvPr/>
        </p:nvSpPr>
        <p:spPr>
          <a:xfrm>
            <a:off x="566928" y="48874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8" name="TextBox 27"/>
          <p:cNvSpPr txBox="1"/>
          <p:nvPr/>
        </p:nvSpPr>
        <p:spPr>
          <a:xfrm>
            <a:off x="1353312" y="488289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   ·   /api   ·   /conformance</a:t>
            </a:r>
          </a:p>
        </p:txBody>
      </p:sp>
      <p:sp>
        <p:nvSpPr>
          <p:cNvPr id="29" name="Rounded Rectangle 28"/>
          <p:cNvSpPr/>
          <p:nvPr/>
        </p:nvSpPr>
        <p:spPr>
          <a:xfrm>
            <a:off x="566928" y="5358384"/>
            <a:ext cx="11057839" cy="969264"/>
          </a:xfrm>
          <a:prstGeom prst="roundRect">
            <a:avLst>
              <a:gd name="adj" fmla="val 4000"/>
            </a:avLst>
          </a:prstGeom>
          <a:solidFill>
            <a:srgbClr val="F1F5F8"/>
          </a:solidFill>
          <a:ln>
            <a:noFill/>
          </a:ln>
          <a:effectLst/>
        </p:spPr>
        <p:txBody>
          <a:bodyPr rtlCol="0" anchor="ctr"/>
          <a:lstStyle/>
          <a:p>
            <a:pPr algn="ctr"/>
            <a:endParaRPr/>
          </a:p>
        </p:txBody>
      </p:sp>
      <p:sp>
        <p:nvSpPr>
          <p:cNvPr id="30" name="TextBox 29"/>
          <p:cNvSpPr txBox="1"/>
          <p:nvPr/>
        </p:nvSpPr>
        <p:spPr>
          <a:xfrm>
            <a:off x="822960" y="5449824"/>
            <a:ext cx="10545775"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Notes</a:t>
            </a:r>
          </a:p>
        </p:txBody>
      </p:sp>
      <p:sp>
        <p:nvSpPr>
          <p:cNvPr id="31" name="TextBox 30"/>
          <p:cNvSpPr txBox="1"/>
          <p:nvPr/>
        </p:nvSpPr>
        <p:spPr>
          <a:xfrm>
            <a:off x="822960" y="5742432"/>
            <a:ext cx="10545775" cy="530352"/>
          </a:xfrm>
          <a:prstGeom prst="rect">
            <a:avLst/>
          </a:prstGeom>
          <a:noFill/>
        </p:spPr>
        <p:txBody>
          <a:bodyPr wrap="square" lIns="0" tIns="0" rIns="0" bIns="0">
            <a:noAutofit/>
          </a:bodyPr>
          <a:lstStyle/>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Every path above is OGC API – Moving Features – Part 1: Core; acceleration returns 501 (not derivable)</a:t>
            </a:r>
          </a:p>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Items query parameters: bbox, datetime, subtrajectory, leaf, limit, page cursor</a:t>
            </a:r>
          </a:p>
        </p:txBody>
      </p:sp>
      <p:sp>
        <p:nvSpPr>
          <p:cNvPr id="32" name="Rectangle 3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4" name="TextBox 3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240280"/>
            <a:ext cx="8229600" cy="365760"/>
          </a:xfrm>
          <a:prstGeom prst="rect">
            <a:avLst/>
          </a:prstGeom>
          <a:noFill/>
        </p:spPr>
        <p:txBody>
          <a:bodyPr wrap="square" lIns="0" tIns="0" rIns="0" bIns="0" anchor="t">
            <a:noAutofit/>
          </a:bodyPr>
          <a:lstStyle/>
          <a:p>
            <a:pPr algn="l">
              <a:spcBef>
                <a:spcPts val="0"/>
              </a:spcBef>
              <a:spcAft>
                <a:spcPts val="200"/>
              </a:spcAft>
            </a:pPr>
            <a:r>
              <a:rPr sz="1600" b="1" i="0">
                <a:solidFill>
                  <a:srgbClr val="156082"/>
                </a:solidFill>
                <a:latin typeface="Calibri"/>
              </a:rPr>
              <a:t>WALKTHROUGH</a:t>
            </a:r>
          </a:p>
        </p:txBody>
      </p:sp>
      <p:sp>
        <p:nvSpPr>
          <p:cNvPr id="5" name="TextBox 4"/>
          <p:cNvSpPr txBox="1"/>
          <p:nvPr/>
        </p:nvSpPr>
        <p:spPr>
          <a:xfrm>
            <a:off x="566928" y="2697480"/>
            <a:ext cx="10515600" cy="914400"/>
          </a:xfrm>
          <a:prstGeom prst="rect">
            <a:avLst/>
          </a:prstGeom>
          <a:noFill/>
        </p:spPr>
        <p:txBody>
          <a:bodyPr wrap="square" lIns="0" tIns="0" rIns="0" bIns="0" anchor="t">
            <a:noAutofit/>
          </a:bodyPr>
          <a:lstStyle/>
          <a:p>
            <a:pPr algn="l">
              <a:spcBef>
                <a:spcPts val="0"/>
              </a:spcBef>
              <a:spcAft>
                <a:spcPts val="200"/>
              </a:spcAft>
            </a:pPr>
            <a:r>
              <a:rPr sz="4400" b="1" i="0">
                <a:solidFill>
                  <a:srgbClr val="FFFFFF"/>
                </a:solidFill>
                <a:latin typeface="Calibri Light"/>
              </a:rPr>
              <a:t>The Ships Collection, End to End</a:t>
            </a:r>
          </a:p>
        </p:txBody>
      </p:sp>
      <p:sp>
        <p:nvSpPr>
          <p:cNvPr id="6" name="TextBox 5"/>
          <p:cNvSpPr txBox="1"/>
          <p:nvPr/>
        </p:nvSpPr>
        <p:spPr>
          <a:xfrm>
            <a:off x="566928" y="3794760"/>
            <a:ext cx="10058400" cy="457200"/>
          </a:xfrm>
          <a:prstGeom prst="rect">
            <a:avLst/>
          </a:prstGeom>
          <a:noFill/>
        </p:spPr>
        <p:txBody>
          <a:bodyPr wrap="square" lIns="0" tIns="0" rIns="0" bIns="0" anchor="t">
            <a:noAutofit/>
          </a:bodyPr>
          <a:lstStyle/>
          <a:p>
            <a:pPr algn="l">
              <a:spcBef>
                <a:spcPts val="0"/>
              </a:spcBef>
              <a:spcAft>
                <a:spcPts val="200"/>
              </a:spcAft>
            </a:pPr>
            <a:r>
              <a:rPr sz="1600" b="0" i="0">
                <a:solidFill>
                  <a:srgbClr val="9EB8C8"/>
                </a:solidFill>
                <a:latin typeface="Calibri"/>
              </a:rPr>
              <a:t>List  →  filter  →  retrieve  →  derive  →  write, all over HTTP</a:t>
            </a:r>
          </a:p>
        </p:txBody>
      </p:sp>
      <p:sp>
        <p:nvSpPr>
          <p:cNvPr id="7" name="TextBox 6"/>
          <p:cNvSpPr txBox="1"/>
          <p:nvPr/>
        </p:nvSpPr>
        <p:spPr>
          <a:xfrm>
            <a:off x="10908792" y="6510528"/>
            <a:ext cx="731520" cy="274320"/>
          </a:xfrm>
          <a:prstGeom prst="rect">
            <a:avLst/>
          </a:prstGeom>
          <a:noFill/>
        </p:spPr>
        <p:txBody>
          <a:bodyPr wrap="none">
            <a:spAutoFit/>
          </a:bodyPr>
          <a:lstStyle/>
          <a:p>
            <a:pPr algn="r"/>
            <a:r>
              <a:rPr sz="1200">
                <a:solidFill>
                  <a:srgbClr val="5B6B78"/>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COLLECTIONS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List Collections · Retrieve One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a:t>
            </a:r>
          </a:p>
        </p:txBody>
      </p:sp>
      <p:sp>
        <p:nvSpPr>
          <p:cNvPr id="7" name="TextBox 6"/>
          <p:cNvSpPr txBox="1"/>
          <p:nvPr/>
        </p:nvSpPr>
        <p:spPr>
          <a:xfrm>
            <a:off x="566928" y="1883664"/>
            <a:ext cx="5486400"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200 OK</a:t>
            </a:r>
          </a:p>
        </p:txBody>
      </p:sp>
      <p:sp>
        <p:nvSpPr>
          <p:cNvPr id="8" name="Rounded Rectangle 7"/>
          <p:cNvSpPr/>
          <p:nvPr/>
        </p:nvSpPr>
        <p:spPr>
          <a:xfrm>
            <a:off x="566928" y="2194560"/>
            <a:ext cx="5486400" cy="39319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DEPANEL"/>
          <p:cNvSpPr txBox="1"/>
          <p:nvPr/>
        </p:nvSpPr>
        <p:spPr>
          <a:xfrm>
            <a:off x="694944" y="2286000"/>
            <a:ext cx="5230368" cy="3749039"/>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"collections"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"Danish AIS vessel trajectories"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"enclosure"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"/collections/ships/export"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"application/x-ndjson"</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0" name="Rounded Rectangle 9"/>
          <p:cNvSpPr/>
          <p:nvPr/>
        </p:nvSpPr>
        <p:spPr>
          <a:xfrm>
            <a:off x="6281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1" name="TextBox 10"/>
          <p:cNvSpPr txBox="1"/>
          <p:nvPr/>
        </p:nvSpPr>
        <p:spPr>
          <a:xfrm>
            <a:off x="7031736" y="1545336"/>
            <a:ext cx="4593031"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a:t>
            </a:r>
          </a:p>
        </p:txBody>
      </p:sp>
      <p:sp>
        <p:nvSpPr>
          <p:cNvPr id="12" name="TextBox 11"/>
          <p:cNvSpPr txBox="1"/>
          <p:nvPr/>
        </p:nvSpPr>
        <p:spPr>
          <a:xfrm>
            <a:off x="6281928" y="1883664"/>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200 OK</a:t>
            </a:r>
          </a:p>
        </p:txBody>
      </p:sp>
      <p:sp>
        <p:nvSpPr>
          <p:cNvPr id="13" name="Rounded Rectangle 12"/>
          <p:cNvSpPr/>
          <p:nvPr/>
        </p:nvSpPr>
        <p:spPr>
          <a:xfrm>
            <a:off x="6281928" y="2194560"/>
            <a:ext cx="5342839" cy="27432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ODEPANEL"/>
          <p:cNvSpPr txBox="1"/>
          <p:nvPr/>
        </p:nvSpPr>
        <p:spPr>
          <a:xfrm>
            <a:off x="6409944" y="2286000"/>
            <a:ext cx="5086807" cy="25603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"Danish AIS vessel trajectories"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a:t>
            </a:r>
            <a:r>
              <a:rPr sz="1200">
                <a:solidFill>
                  <a:srgbClr val="E6A36A"/>
                </a:solidFill>
                <a:latin typeface="Consolas"/>
              </a:rPr>
              <a:t>".../def/crs/EPSG/0/25832"</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"extent"</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"spatial"</a:t>
            </a:r>
            <a:r>
              <a:rPr sz="1200">
                <a:solidFill>
                  <a:srgbClr val="C2D0DA"/>
                </a:solidFill>
                <a:latin typeface="Consolas"/>
              </a:rPr>
              <a:t>:  {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152625</a:t>
            </a:r>
            <a:r>
              <a:rPr sz="1200">
                <a:solidFill>
                  <a:srgbClr val="C2D0DA"/>
                </a:solidFill>
                <a:latin typeface="Consolas"/>
              </a:rPr>
              <a:t>, </a:t>
            </a:r>
            <a:r>
              <a:rPr sz="1200">
                <a:solidFill>
                  <a:srgbClr val="C9E08A"/>
                </a:solidFill>
                <a:latin typeface="Consolas"/>
              </a:rPr>
              <a:t>5942006</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1020003</a:t>
            </a:r>
            <a:r>
              <a:rPr sz="1200">
                <a:solidFill>
                  <a:srgbClr val="C2D0DA"/>
                </a:solidFill>
                <a:latin typeface="Consolas"/>
              </a:rPr>
              <a:t>, </a:t>
            </a:r>
            <a:r>
              <a:rPr sz="1200">
                <a:solidFill>
                  <a:srgbClr val="C9E08A"/>
                </a:solidFill>
                <a:latin typeface="Consolas"/>
              </a:rPr>
              <a:t>6545239</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a:t>
            </a:r>
            <a:r>
              <a:rPr sz="1200">
                <a:solidFill>
                  <a:srgbClr val="C2D0DA"/>
                </a:solidFill>
                <a:latin typeface="Consolas"/>
              </a:rPr>
              <a:t>: { </a:t>
            </a:r>
            <a:r>
              <a:rPr sz="1200">
                <a:solidFill>
                  <a:srgbClr val="6FC3E0"/>
                </a:solidFill>
                <a:latin typeface="Consolas"/>
              </a:rPr>
              <a:t>"interval"</a:t>
            </a:r>
            <a:r>
              <a:rPr sz="1200">
                <a:solidFill>
                  <a:srgbClr val="C2D0DA"/>
                </a:solidFill>
                <a:latin typeface="Consolas"/>
              </a:rPr>
              <a:t>: [[</a:t>
            </a:r>
            <a:r>
              <a:rPr sz="1200">
                <a:solidFill>
                  <a:srgbClr val="E6A36A"/>
                </a:solidFill>
                <a:latin typeface="Consolas"/>
              </a:rPr>
              <a:t>"2026-02-26 ..."</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E6A36A"/>
                </a:solidFill>
                <a:latin typeface="Consolas"/>
              </a:rPr>
              <a:t>"2026-02-27 ..."</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"enclosure"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15" name="TextBox 14"/>
          <p:cNvSpPr txBox="1"/>
          <p:nvPr/>
        </p:nvSpPr>
        <p:spPr>
          <a:xfrm>
            <a:off x="6281928" y="5029200"/>
            <a:ext cx="5342839" cy="1097280"/>
          </a:xfrm>
          <a:prstGeom prst="rect">
            <a:avLst/>
          </a:prstGeom>
          <a:noFill/>
        </p:spPr>
        <p:txBody>
          <a:bodyPr wrap="square" lIns="0" tIns="0" rIns="0" bIns="0">
            <a:noAutofit/>
          </a:bodyPr>
          <a:lstStyle/>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extent is the spatial bbox and time interval of the collection</a:t>
            </a:r>
          </a:p>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crs and links round out the standard collection resource</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Stream the FeatureCollection, Page by Keyset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10308031"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/collections/ships/items?limit=2</a:t>
            </a:r>
          </a:p>
        </p:txBody>
      </p:sp>
      <p:sp>
        <p:nvSpPr>
          <p:cNvPr id="7" name="Rounded Rectangle 6"/>
          <p:cNvSpPr/>
          <p:nvPr/>
        </p:nvSpPr>
        <p:spPr>
          <a:xfrm>
            <a:off x="566928" y="1874519"/>
            <a:ext cx="7040880" cy="44348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6784848" cy="4251959"/>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   Content-Type: application/json</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"FeatureCollection"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"features"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"1"</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"mmsi"</a:t>
            </a:r>
            <a:r>
              <a:rPr sz="1200">
                <a:solidFill>
                  <a:srgbClr val="C2D0DA"/>
                </a:solidFill>
                <a:latin typeface="Consolas"/>
              </a:rPr>
              <a:t>: </a:t>
            </a:r>
            <a:r>
              <a:rPr sz="1200">
                <a:solidFill>
                  <a:srgbClr val="C9E08A"/>
                </a:solidFill>
                <a:latin typeface="Consolas"/>
              </a:rPr>
              <a:t>111219510</a:t>
            </a: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"vessel 111219510"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550889</a:t>
            </a:r>
            <a:r>
              <a:rPr sz="1200">
                <a:solidFill>
                  <a:srgbClr val="C2D0DA"/>
                </a:solidFill>
                <a:latin typeface="Consolas"/>
              </a:rPr>
              <a:t>, </a:t>
            </a:r>
            <a:r>
              <a:rPr sz="1200">
                <a:solidFill>
                  <a:srgbClr val="C9E08A"/>
                </a:solidFill>
                <a:latin typeface="Consolas"/>
              </a:rPr>
              <a:t>6328752</a:t>
            </a:r>
            <a:r>
              <a:rPr sz="1200">
                <a:solidFill>
                  <a:srgbClr val="C2D0DA"/>
                </a:solidFill>
                <a:latin typeface="Consolas"/>
              </a:rPr>
              <a:t>, </a:t>
            </a:r>
            <a:r>
              <a:rPr sz="1200">
                <a:solidFill>
                  <a:srgbClr val="C9E08A"/>
                </a:solidFill>
                <a:latin typeface="Consolas"/>
              </a:rPr>
              <a:t>616716</a:t>
            </a:r>
            <a:r>
              <a:rPr sz="1200">
                <a:solidFill>
                  <a:srgbClr val="C2D0DA"/>
                </a:solidFill>
                <a:latin typeface="Consolas"/>
              </a:rPr>
              <a:t>, </a:t>
            </a:r>
            <a:r>
              <a:rPr sz="1200">
                <a:solidFill>
                  <a:srgbClr val="C9E08A"/>
                </a:solidFill>
                <a:latin typeface="Consolas"/>
              </a:rPr>
              <a:t>6346258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"2026-02-26 13:28:08+01"</a:t>
            </a:r>
            <a:r>
              <a:rPr sz="1200">
                <a:solidFill>
                  <a:srgbClr val="C2D0DA"/>
                </a:solidFill>
                <a:latin typeface="Consolas"/>
              </a:rPr>
              <a:t>, </a:t>
            </a:r>
            <a:r>
              <a:rPr sz="1200">
                <a:solidFill>
                  <a:srgbClr val="E6A36A"/>
                </a:solidFill>
                <a:latin typeface="Consolas"/>
              </a:rPr>
              <a:t>"2026-02-26 14:41:04+01"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 { </a:t>
            </a:r>
            <a:r>
              <a:rPr sz="1200">
                <a:solidFill>
                  <a:srgbClr val="6FC3E0"/>
                </a:solidFill>
                <a:latin typeface="Consolas"/>
              </a:rPr>
              <a:t>"datetimes"</a:t>
            </a:r>
            <a:r>
              <a:rPr sz="1200">
                <a:solidFill>
                  <a:srgbClr val="C2D0DA"/>
                </a:solidFill>
                <a:latin typeface="Consolas"/>
              </a:rPr>
              <a:t>: [...], </a:t>
            </a:r>
            <a:r>
              <a:rPr sz="1200">
                <a:solidFill>
                  <a:srgbClr val="6FC3E0"/>
                </a:solidFill>
                <a:latin typeface="Consolas"/>
              </a:rPr>
              <a:t>"coordinates"</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".../items/1"</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"numberReturned"</a:t>
            </a:r>
            <a:r>
              <a:rPr sz="1200">
                <a:solidFill>
                  <a:srgbClr val="C2D0DA"/>
                </a:solidFill>
                <a:latin typeface="Consolas"/>
              </a:rPr>
              <a:t>: </a:t>
            </a:r>
            <a:r>
              <a:rPr sz="1200">
                <a:solidFill>
                  <a:srgbClr val="C9E08A"/>
                </a:solidFill>
                <a:latin typeface="Consolas"/>
              </a:rPr>
              <a:t>2</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"next"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"/collections/ships/items?after=2&amp;limit=2"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7836408" y="1828800"/>
            <a:ext cx="3788359" cy="4206240"/>
          </a:xfrm>
          <a:prstGeom prst="rect">
            <a:avLst/>
          </a:prstGeom>
          <a:noFill/>
        </p:spPr>
        <p:txBody>
          <a:bodyPr wrap="square" lIns="0" tIns="0" rIns="0" bIns="0">
            <a:noAutofit/>
          </a:bodyPr>
          <a:lstStyle/>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Streamed:  </a:t>
            </a:r>
            <a:r>
              <a:rPr sz="1200">
                <a:solidFill>
                  <a:srgbClr val="1E2B36"/>
                </a:solidFill>
                <a:latin typeface="Calibri"/>
              </a:rPr>
              <a:t>each Feature is written from a server-side cursor; memory is bounded for any page size</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Keyset next:  </a:t>
            </a:r>
            <a:r>
              <a:rPr sz="1200">
                <a:solidFill>
                  <a:srgbClr val="1E2B36"/>
                </a:solidFill>
                <a:latin typeface="Calibri"/>
              </a:rPr>
              <a:t>the next link advances by id (after=), with no OFFSET</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asMFJSON:  </a:t>
            </a:r>
            <a:r>
              <a:rPr sz="1200">
                <a:solidFill>
                  <a:srgbClr val="1E2B36"/>
                </a:solidFill>
                <a:latin typeface="Calibri"/>
              </a:rPr>
              <a:t>the temporalGeometry is assembled in SQL and streamed as text</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limit:  </a:t>
            </a:r>
            <a:r>
              <a:rPr sz="1200">
                <a:solidFill>
                  <a:srgbClr val="1E2B36"/>
                </a:solidFill>
                <a:latin typeface="Calibri"/>
              </a:rPr>
              <a:t>caps the page; the tier enforces a maximum</a:t>
            </a:r>
          </a:p>
        </p:txBody>
      </p:sp>
      <p:sp>
        <p:nvSpPr>
          <p:cNvPr id="10" name="Rectangle 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2" name="TextBox 11"/>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Retrieve a Single Vessel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a:t>
            </a:r>
          </a:p>
        </p:txBody>
      </p:sp>
      <p:sp>
        <p:nvSpPr>
          <p:cNvPr id="7" name="Rounded Rectangle 6"/>
          <p:cNvSpPr/>
          <p:nvPr/>
        </p:nvSpPr>
        <p:spPr>
          <a:xfrm>
            <a:off x="566928" y="1874519"/>
            <a:ext cx="6629400" cy="44805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6373368" cy="429768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"1"</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"mmsi"</a:t>
            </a:r>
            <a:r>
              <a:rPr sz="1200">
                <a:solidFill>
                  <a:srgbClr val="C2D0DA"/>
                </a:solidFill>
                <a:latin typeface="Consolas"/>
              </a:rPr>
              <a:t>: </a:t>
            </a:r>
            <a:r>
              <a:rPr sz="1200">
                <a:solidFill>
                  <a:srgbClr val="C9E08A"/>
                </a:solidFill>
                <a:latin typeface="Consolas"/>
              </a:rPr>
              <a:t>111219510</a:t>
            </a: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"vessel 111219510"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"Link"</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"ogcdef"</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".../uom/ISO-8601/0/Gregorian"</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550889</a:t>
            </a:r>
            <a:r>
              <a:rPr sz="1200">
                <a:solidFill>
                  <a:srgbClr val="C2D0DA"/>
                </a:solidFill>
                <a:latin typeface="Consolas"/>
              </a:rPr>
              <a:t>, </a:t>
            </a:r>
            <a:r>
              <a:rPr sz="1200">
                <a:solidFill>
                  <a:srgbClr val="C9E08A"/>
                </a:solidFill>
                <a:latin typeface="Consolas"/>
              </a:rPr>
              <a:t>6328752</a:t>
            </a:r>
            <a:r>
              <a:rPr sz="1200">
                <a:solidFill>
                  <a:srgbClr val="C2D0DA"/>
                </a:solidFill>
                <a:latin typeface="Consolas"/>
              </a:rPr>
              <a:t>, </a:t>
            </a:r>
            <a:r>
              <a:rPr sz="1200">
                <a:solidFill>
                  <a:srgbClr val="C9E08A"/>
                </a:solidFill>
                <a:latin typeface="Consolas"/>
              </a:rPr>
              <a:t>616716</a:t>
            </a:r>
            <a:r>
              <a:rPr sz="1200">
                <a:solidFill>
                  <a:srgbClr val="C2D0DA"/>
                </a:solidFill>
                <a:latin typeface="Consolas"/>
              </a:rPr>
              <a:t>, </a:t>
            </a:r>
            <a:r>
              <a:rPr sz="1200">
                <a:solidFill>
                  <a:srgbClr val="C9E08A"/>
                </a:solidFill>
                <a:latin typeface="Consolas"/>
              </a:rPr>
              <a:t>6346258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"2026-02-26 13:28:08+01"</a:t>
            </a:r>
            <a:r>
              <a:rPr sz="1200">
                <a:solidFill>
                  <a:srgbClr val="C2D0DA"/>
                </a:solidFill>
                <a:latin typeface="Consolas"/>
              </a:rPr>
              <a:t>, </a:t>
            </a:r>
            <a:r>
              <a:rPr sz="1200">
                <a:solidFill>
                  <a:srgbClr val="E6A36A"/>
                </a:solidFill>
                <a:latin typeface="Consolas"/>
              </a:rPr>
              <a:t>"2026-02-26 14:41:04+01"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"geometry"</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"MultiLineString"</a:t>
            </a: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 { </a:t>
            </a:r>
            <a:r>
              <a:rPr sz="1200">
                <a:solidFill>
                  <a:srgbClr val="6FC3E0"/>
                </a:solidFill>
                <a:latin typeface="Consolas"/>
              </a:rPr>
              <a:t>"datetimes"</a:t>
            </a:r>
            <a:r>
              <a:rPr sz="1200">
                <a:solidFill>
                  <a:srgbClr val="C2D0DA"/>
                </a:solidFill>
                <a:latin typeface="Consolas"/>
              </a:rPr>
              <a:t>: [...], </a:t>
            </a:r>
            <a:r>
              <a:rPr sz="1200">
                <a:solidFill>
                  <a:srgbClr val="6FC3E0"/>
                </a:solidFill>
                <a:latin typeface="Consolas"/>
              </a:rPr>
              <a:t>"coordinates"</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"/collections/ships/items/1"</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7424927" y="1828800"/>
            <a:ext cx="4199839" cy="420624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One movement:  </a:t>
            </a:r>
            <a:r>
              <a:rPr sz="1200">
                <a:solidFill>
                  <a:srgbClr val="1E2B36"/>
                </a:solidFill>
                <a:latin typeface="Calibri"/>
              </a:rPr>
              <a:t>the full trajectory of one vessel as MovingFeaturesJSON</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crs:  </a:t>
            </a:r>
            <a:r>
              <a:rPr sz="1200">
                <a:solidFill>
                  <a:srgbClr val="1E2B36"/>
                </a:solidFill>
                <a:latin typeface="Calibri"/>
              </a:rPr>
              <a:t>carried as an OGC URN; the tier maps to and from the EPSG form</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interpolation:  </a:t>
            </a:r>
            <a:r>
              <a:rPr sz="1200">
                <a:solidFill>
                  <a:srgbClr val="1E2B36"/>
                </a:solidFill>
                <a:latin typeface="Calibri"/>
              </a:rPr>
              <a:t>Linear, so the vessel moves continuously between fixes</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sequences:  </a:t>
            </a:r>
            <a:r>
              <a:rPr sz="1200">
                <a:solidFill>
                  <a:srgbClr val="1E2B36"/>
                </a:solidFill>
                <a:latin typeface="Calibri"/>
              </a:rPr>
              <a:t>one per continuous run; gaps split the trajectory</a:t>
            </a:r>
          </a:p>
        </p:txBody>
      </p:sp>
      <p:sp>
        <p:nvSpPr>
          <p:cNvPr id="10" name="Rectangle 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2" name="TextBox 11"/>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SPATIAL FILTER</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Vessels Intersecting a Bounding Box</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/collections/ships/items?bbox=720000,6160000,738000,6178000</a:t>
            </a:r>
          </a:p>
        </p:txBody>
      </p:sp>
      <p:sp>
        <p:nvSpPr>
          <p:cNvPr id="7" name="Rounded Rectangle 6"/>
          <p:cNvSpPr/>
          <p:nvPr/>
        </p:nvSpPr>
        <p:spPr>
          <a:xfrm>
            <a:off x="566928" y="1920240"/>
            <a:ext cx="5486400" cy="17830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2011680"/>
            <a:ext cx="5230368" cy="16002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?bbox=</a:t>
            </a:r>
            <a:r>
              <a:rPr sz="1200">
                <a:solidFill>
                  <a:srgbClr val="C9E08A"/>
                </a:solidFill>
                <a:latin typeface="Consolas"/>
              </a:rPr>
              <a:t>720000</a:t>
            </a:r>
            <a:r>
              <a:rPr sz="1200">
                <a:solidFill>
                  <a:srgbClr val="C2D0DA"/>
                </a:solidFill>
                <a:latin typeface="Consolas"/>
              </a:rPr>
              <a:t>,</a:t>
            </a:r>
            <a:r>
              <a:rPr sz="1200">
                <a:solidFill>
                  <a:srgbClr val="C9E08A"/>
                </a:solidFill>
                <a:latin typeface="Consolas"/>
              </a:rPr>
              <a:t>6160000</a:t>
            </a:r>
            <a:r>
              <a:rPr sz="1200">
                <a:solidFill>
                  <a:srgbClr val="C2D0DA"/>
                </a:solidFill>
                <a:latin typeface="Consolas"/>
              </a:rPr>
              <a:t>,</a:t>
            </a:r>
            <a:r>
              <a:rPr sz="1200">
                <a:solidFill>
                  <a:srgbClr val="C9E08A"/>
                </a:solidFill>
                <a:latin typeface="Consolas"/>
              </a:rPr>
              <a:t>738000</a:t>
            </a:r>
            <a:r>
              <a:rPr sz="1200">
                <a:solidFill>
                  <a:srgbClr val="C2D0DA"/>
                </a:solidFill>
                <a:latin typeface="Consolas"/>
              </a:rPr>
              <a:t>,</a:t>
            </a:r>
            <a:r>
              <a:rPr sz="1200">
                <a:solidFill>
                  <a:srgbClr val="C9E08A"/>
                </a:solidFill>
                <a:latin typeface="Consolas"/>
              </a:rPr>
              <a:t>6178000</a:t>
            </a:r>
          </a:p>
          <a:p>
            <a:pPr>
              <a:lnSpc>
                <a:spcPct val="102000"/>
              </a:lnSpc>
              <a:spcBef>
                <a:spcPts val="0"/>
              </a:spcBef>
              <a:spcAft>
                <a:spcPts val="0"/>
              </a:spcAft>
            </a:pPr>
            <a:r>
              <a:rPr sz="1200">
                <a:solidFill>
                  <a:srgbClr val="C2D0DA"/>
                </a:solidFill>
                <a:latin typeface="Consolas"/>
              </a:rPr>
              <a:t>      &amp;limit=</a:t>
            </a:r>
            <a:r>
              <a:rPr sz="1200">
                <a:solidFill>
                  <a:srgbClr val="C9E08A"/>
                </a:solidFill>
                <a:latin typeface="Consolas"/>
              </a:rPr>
              <a:t>10000</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bbox = minx,miny,maxx,maxy in the storage CRS</a:t>
            </a:r>
          </a:p>
          <a:p>
            <a:pPr>
              <a:lnSpc>
                <a:spcPct val="102000"/>
              </a:lnSpc>
              <a:spcBef>
                <a:spcPts val="0"/>
              </a:spcBef>
              <a:spcAft>
                <a:spcPts val="0"/>
              </a:spcAft>
            </a:pPr>
            <a:r>
              <a:rPr sz="1200">
                <a:solidFill>
                  <a:srgbClr val="7E94A6"/>
                </a:solidFill>
                <a:latin typeface="Consolas"/>
              </a:rPr>
              <a:t>// EPSG:25832 (metres)</a:t>
            </a:r>
          </a:p>
          <a:p>
            <a:pPr>
              <a:lnSpc>
                <a:spcPct val="102000"/>
              </a:lnSpc>
              <a:spcBef>
                <a:spcPts val="0"/>
              </a:spcBef>
              <a:spcAft>
                <a:spcPts val="0"/>
              </a:spcAft>
            </a:pPr>
            <a:r>
              <a:rPr sz="1200">
                <a:solidFill>
                  <a:srgbClr val="7E94A6"/>
                </a:solidFill>
                <a:latin typeface="Consolas"/>
              </a:rPr>
              <a:t>// 170 of 2,833 trajectories cross the box</a:t>
            </a:r>
          </a:p>
        </p:txBody>
      </p:sp>
      <p:sp>
        <p:nvSpPr>
          <p:cNvPr id="9" name="TextBox 8"/>
          <p:cNvSpPr txBox="1"/>
          <p:nvPr/>
        </p:nvSpPr>
        <p:spPr>
          <a:xfrm>
            <a:off x="566928" y="3931920"/>
            <a:ext cx="5486400" cy="2103120"/>
          </a:xfrm>
          <a:prstGeom prst="rect">
            <a:avLst/>
          </a:prstGeom>
          <a:noFill/>
        </p:spPr>
        <p:txBody>
          <a:bodyPr wrap="square" lIns="0" tIns="0" r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bbox:  </a:t>
            </a:r>
            <a:r>
              <a:rPr sz="1400">
                <a:solidFill>
                  <a:srgbClr val="1E2B36"/>
                </a:solidFill>
                <a:latin typeface="Calibri"/>
              </a:rPr>
              <a:t>keeps vessels whose trajectory intersects the envelope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Index:  </a:t>
            </a:r>
            <a:r>
              <a:rPr sz="1400">
                <a:solidFill>
                  <a:srgbClr val="1E2B36"/>
                </a:solidFill>
                <a:latin typeface="Calibri"/>
              </a:rPr>
              <a:t>pushed to the MobilityDB GiST index via the overlap operator</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coordinates are in the collection's storage CRS (EPSG:25832)</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Composable:  </a:t>
            </a:r>
            <a:r>
              <a:rPr sz="1400">
                <a:solidFill>
                  <a:srgbClr val="1E2B36"/>
                </a:solidFill>
                <a:latin typeface="Calibri"/>
              </a:rPr>
              <a:t>datetime, subtrajectory, limit and after</a:t>
            </a:r>
          </a:p>
        </p:txBody>
      </p:sp>
      <p:pic>
        <p:nvPicPr>
          <p:cNvPr id="10" name="Picture 9" descr="fig_bbox_real.png"/>
          <p:cNvPicPr>
            <a:picLocks noChangeAspect="1"/>
          </p:cNvPicPr>
          <p:nvPr/>
        </p:nvPicPr>
        <p:blipFill>
          <a:blip r:embed="rId3"/>
          <a:stretch>
            <a:fillRect/>
          </a:stretch>
        </p:blipFill>
        <p:spPr>
          <a:xfrm>
            <a:off x="6998486" y="1627632"/>
            <a:ext cx="4291027" cy="4297680"/>
          </a:xfrm>
          <a:prstGeom prst="rect">
            <a:avLst/>
          </a:prstGeom>
        </p:spPr>
      </p:pic>
      <p:sp>
        <p:nvSpPr>
          <p:cNvPr id="11" name="TextBox 10"/>
          <p:cNvSpPr txBox="1"/>
          <p:nvPr/>
        </p:nvSpPr>
        <p:spPr>
          <a:xfrm>
            <a:off x="6632726" y="6016752"/>
            <a:ext cx="5022547"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Trajectories crossing the box (teal) over other traffic (grey); the box in red</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SLICE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Restrict Trajectories to a Time Interval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/collections/ships/items?subtrajectory=true</a:t>
            </a:r>
          </a:p>
        </p:txBody>
      </p:sp>
      <p:sp>
        <p:nvSpPr>
          <p:cNvPr id="7" name="Rounded Rectangle 6"/>
          <p:cNvSpPr/>
          <p:nvPr/>
        </p:nvSpPr>
        <p:spPr>
          <a:xfrm>
            <a:off x="566928" y="1920240"/>
            <a:ext cx="5486400" cy="19659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2011680"/>
            <a:ext cx="5230368" cy="178308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?subtrajectory=</a:t>
            </a:r>
            <a:r>
              <a:rPr sz="1200">
                <a:solidFill>
                  <a:srgbClr val="CBA0E8"/>
                </a:solidFill>
                <a:latin typeface="Consolas"/>
              </a:rPr>
              <a:t>true</a:t>
            </a:r>
          </a:p>
          <a:p>
            <a:pPr>
              <a:lnSpc>
                <a:spcPct val="102000"/>
              </a:lnSpc>
              <a:spcBef>
                <a:spcPts val="0"/>
              </a:spcBef>
              <a:spcAft>
                <a:spcPts val="0"/>
              </a:spcAft>
            </a:pPr>
            <a:r>
              <a:rPr sz="1200">
                <a:solidFill>
                  <a:srgbClr val="C2D0DA"/>
                </a:solidFill>
                <a:latin typeface="Consolas"/>
              </a:rPr>
              <a:t>      &amp;datetime=</a:t>
            </a:r>
            <a:r>
              <a:rPr sz="1200">
                <a:solidFill>
                  <a:srgbClr val="C9E08A"/>
                </a:solidFill>
                <a:latin typeface="Consolas"/>
              </a:rPr>
              <a:t>2026-02-26</a:t>
            </a:r>
            <a:r>
              <a:rPr sz="1200">
                <a:solidFill>
                  <a:srgbClr val="C2D0DA"/>
                </a:solidFill>
                <a:latin typeface="Consolas"/>
              </a:rPr>
              <a:t>T</a:t>
            </a:r>
            <a:r>
              <a:rPr sz="1200">
                <a:solidFill>
                  <a:srgbClr val="C9E08A"/>
                </a:solidFill>
                <a:latin typeface="Consolas"/>
              </a:rPr>
              <a:t>14</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01</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2026-02-26</a:t>
            </a:r>
            <a:r>
              <a:rPr sz="1200">
                <a:solidFill>
                  <a:srgbClr val="C2D0DA"/>
                </a:solidFill>
                <a:latin typeface="Consolas"/>
              </a:rPr>
              <a:t>T</a:t>
            </a:r>
            <a:r>
              <a:rPr sz="1200">
                <a:solidFill>
                  <a:srgbClr val="C9E08A"/>
                </a:solidFill>
                <a:latin typeface="Consolas"/>
              </a:rPr>
              <a:t>15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01</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datetime is an RFC 3339 interval (start/end)</a:t>
            </a:r>
          </a:p>
          <a:p>
            <a:pPr>
              <a:lnSpc>
                <a:spcPct val="102000"/>
              </a:lnSpc>
              <a:spcBef>
                <a:spcPts val="0"/>
              </a:spcBef>
              <a:spcAft>
                <a:spcPts val="0"/>
              </a:spcAft>
            </a:pPr>
            <a:r>
              <a:rPr sz="1200">
                <a:solidFill>
                  <a:srgbClr val="7E94A6"/>
                </a:solidFill>
                <a:latin typeface="Consolas"/>
              </a:rPr>
              <a:t>// subtrajectory=true clips each trajectory to the</a:t>
            </a:r>
          </a:p>
          <a:p>
            <a:pPr>
              <a:lnSpc>
                <a:spcPct val="102000"/>
              </a:lnSpc>
              <a:spcBef>
                <a:spcPts val="0"/>
              </a:spcBef>
              <a:spcAft>
                <a:spcPts val="0"/>
              </a:spcAft>
            </a:pPr>
            <a:r>
              <a:rPr sz="1200">
                <a:solidFill>
                  <a:srgbClr val="7E94A6"/>
                </a:solidFill>
                <a:latin typeface="Consolas"/>
              </a:rPr>
              <a:t>// window with atTime, instead of filtering trips</a:t>
            </a:r>
          </a:p>
        </p:txBody>
      </p:sp>
      <p:sp>
        <p:nvSpPr>
          <p:cNvPr id="9" name="TextBox 8"/>
          <p:cNvSpPr txBox="1"/>
          <p:nvPr/>
        </p:nvSpPr>
        <p:spPr>
          <a:xfrm>
            <a:off x="566928" y="4114800"/>
            <a:ext cx="5486400" cy="1920240"/>
          </a:xfrm>
          <a:prstGeom prst="rect">
            <a:avLst/>
          </a:prstGeom>
          <a:noFill/>
        </p:spPr>
        <p:txBody>
          <a:bodyPr wrap="square" lIns="0" tIns="0" rIns="0" bIns="0">
            <a:noAutofit/>
          </a:bodyPr>
          <a:lstStyle/>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subtrajectory:  </a:t>
            </a:r>
            <a:r>
              <a:rPr sz="1400">
                <a:solidFill>
                  <a:srgbClr val="1E2B36"/>
                </a:solidFill>
                <a:latin typeface="Calibri"/>
              </a:rPr>
              <a:t>clips each trajectory to the datetime interval via atTime</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datetime:  </a:t>
            </a:r>
            <a:r>
              <a:rPr sz="1400">
                <a:solidFill>
                  <a:srgbClr val="1E2B36"/>
                </a:solidFill>
                <a:latin typeface="Calibri"/>
              </a:rPr>
              <a:t>RFC 3339 interval; a bare instant is also accepted</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Gap aware:  </a:t>
            </a:r>
            <a:r>
              <a:rPr sz="1400">
                <a:solidFill>
                  <a:srgbClr val="1E2B36"/>
                </a:solidFill>
                <a:latin typeface="Calibri"/>
              </a:rPr>
              <a:t>rows whose values fall entirely in a temporal gap are dropped</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Validation:  </a:t>
            </a:r>
            <a:r>
              <a:rPr sz="1400">
                <a:solidFill>
                  <a:srgbClr val="1E2B36"/>
                </a:solidFill>
                <a:latin typeface="Calibri"/>
              </a:rPr>
              <a:t>subtrajectory requires a bounded interval</a:t>
            </a:r>
          </a:p>
        </p:txBody>
      </p:sp>
      <p:pic>
        <p:nvPicPr>
          <p:cNvPr id="10" name="Picture 9" descr="fig_subtraj_real.png"/>
          <p:cNvPicPr>
            <a:picLocks noChangeAspect="1"/>
          </p:cNvPicPr>
          <p:nvPr/>
        </p:nvPicPr>
        <p:blipFill>
          <a:blip r:embed="rId2"/>
          <a:stretch>
            <a:fillRect/>
          </a:stretch>
        </p:blipFill>
        <p:spPr>
          <a:xfrm>
            <a:off x="7044135" y="1664208"/>
            <a:ext cx="4199728" cy="4206240"/>
          </a:xfrm>
          <a:prstGeom prst="rect">
            <a:avLst/>
          </a:prstGeom>
        </p:spPr>
      </p:pic>
      <p:sp>
        <p:nvSpPr>
          <p:cNvPr id="11" name="TextBox 10"/>
          <p:cNvSpPr txBox="1"/>
          <p:nvPr/>
        </p:nvSpPr>
        <p:spPr>
          <a:xfrm>
            <a:off x="6678375" y="5961888"/>
            <a:ext cx="4931248"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Subtrajectories within a one-hour window (green) over full trajectories (grey)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WRITES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Create · Append · Delete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6" name="TextBox 5"/>
          <p:cNvSpPr txBox="1"/>
          <p:nvPr/>
        </p:nvSpPr>
        <p:spPr>
          <a:xfrm>
            <a:off x="1389888" y="1545336"/>
            <a:ext cx="4663440"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a:t>
            </a:r>
          </a:p>
        </p:txBody>
      </p:sp>
      <p:sp>
        <p:nvSpPr>
          <p:cNvPr id="7" name="Rounded Rectangle 6"/>
          <p:cNvSpPr/>
          <p:nvPr/>
        </p:nvSpPr>
        <p:spPr>
          <a:xfrm>
            <a:off x="566928" y="1874519"/>
            <a:ext cx="5486400" cy="22860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230368" cy="21031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"demo"</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"2026-02-26T10:00:00+01"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600000</a:t>
            </a:r>
            <a:r>
              <a:rPr sz="1200">
                <a:solidFill>
                  <a:srgbClr val="C2D0DA"/>
                </a:solidFill>
                <a:latin typeface="Consolas"/>
              </a:rPr>
              <a:t>, </a:t>
            </a:r>
            <a:r>
              <a:rPr sz="1200">
                <a:solidFill>
                  <a:srgbClr val="C9E08A"/>
                </a:solidFill>
                <a:latin typeface="Consolas"/>
              </a:rPr>
              <a:t>6330000</a:t>
            </a:r>
            <a:r>
              <a:rPr sz="1200">
                <a:solidFill>
                  <a:srgbClr val="C2D0DA"/>
                </a:solidFill>
                <a:latin typeface="Consolas"/>
              </a:rPr>
              <a:t>], ...] }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9E08A"/>
                </a:solidFill>
                <a:latin typeface="Consolas"/>
              </a:rPr>
              <a:t>201</a:t>
            </a:r>
            <a:r>
              <a:rPr sz="1200">
                <a:solidFill>
                  <a:srgbClr val="C2D0DA"/>
                </a:solidFill>
                <a:latin typeface="Consolas"/>
              </a:rPr>
              <a:t>  {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"created"</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 }</a:t>
            </a:r>
          </a:p>
        </p:txBody>
      </p:sp>
      <p:sp>
        <p:nvSpPr>
          <p:cNvPr id="9" name="Rounded Rectangle 8"/>
          <p:cNvSpPr/>
          <p:nvPr/>
        </p:nvSpPr>
        <p:spPr>
          <a:xfrm>
            <a:off x="566928" y="434340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10" name="TextBox 9"/>
          <p:cNvSpPr txBox="1"/>
          <p:nvPr/>
        </p:nvSpPr>
        <p:spPr>
          <a:xfrm>
            <a:off x="1389888" y="4334256"/>
            <a:ext cx="4663440"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/collections/ships/items/900001/tgsequence</a:t>
            </a:r>
          </a:p>
        </p:txBody>
      </p:sp>
      <p:sp>
        <p:nvSpPr>
          <p:cNvPr id="11" name="Rounded Rectangle 10"/>
          <p:cNvSpPr/>
          <p:nvPr/>
        </p:nvSpPr>
        <p:spPr>
          <a:xfrm>
            <a:off x="566928" y="4663440"/>
            <a:ext cx="5486400" cy="15544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PANEL"/>
          <p:cNvSpPr txBox="1"/>
          <p:nvPr/>
        </p:nvSpPr>
        <p:spPr>
          <a:xfrm>
            <a:off x="694944" y="4754879"/>
            <a:ext cx="5230368" cy="13716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7E94A6"/>
                </a:solidFill>
                <a:latin typeface="Consolas"/>
              </a:rPr>
              <a:t>// append a temporally-disjoint sub-trajectory</a:t>
            </a:r>
          </a:p>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"appended"</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overlapping the existing time span:</a:t>
            </a:r>
          </a:p>
          <a:p>
            <a:pPr>
              <a:lnSpc>
                <a:spcPct val="102000"/>
              </a:lnSpc>
              <a:spcBef>
                <a:spcPts val="0"/>
              </a:spcBef>
              <a:spcAft>
                <a:spcPts val="0"/>
              </a:spcAft>
            </a:pPr>
            <a:r>
              <a:rPr sz="1200">
                <a:solidFill>
                  <a:srgbClr val="C9E08A"/>
                </a:solidFill>
                <a:latin typeface="Consolas"/>
              </a:rPr>
              <a:t>409</a:t>
            </a:r>
            <a:r>
              <a:rPr sz="1200">
                <a:solidFill>
                  <a:srgbClr val="C2D0DA"/>
                </a:solidFill>
                <a:latin typeface="Consolas"/>
              </a:rPr>
              <a:t>  { </a:t>
            </a:r>
            <a:r>
              <a:rPr sz="1200">
                <a:solidFill>
                  <a:srgbClr val="6FC3E0"/>
                </a:solidFill>
                <a:latin typeface="Consolas"/>
              </a:rPr>
              <a:t>"code"</a:t>
            </a:r>
            <a:r>
              <a:rPr sz="1200">
                <a:solidFill>
                  <a:srgbClr val="C2D0DA"/>
                </a:solidFill>
                <a:latin typeface="Consolas"/>
              </a:rPr>
              <a:t>: </a:t>
            </a:r>
            <a:r>
              <a:rPr sz="1200">
                <a:solidFill>
                  <a:srgbClr val="E6A36A"/>
                </a:solidFill>
                <a:latin typeface="Consolas"/>
              </a:rPr>
              <a:t>"409"</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"the sub-trajectory overlaps</a:t>
            </a:r>
          </a:p>
          <a:p>
            <a:pPr>
              <a:lnSpc>
                <a:spcPct val="102000"/>
              </a:lnSpc>
              <a:spcBef>
                <a:spcPts val="0"/>
              </a:spcBef>
              <a:spcAft>
                <a:spcPts val="0"/>
              </a:spcAft>
            </a:pPr>
            <a:r>
              <a:rPr sz="1200">
                <a:solidFill>
                  <a:srgbClr val="C2D0DA"/>
                </a:solidFill>
                <a:latin typeface="Consolas"/>
              </a:rPr>
              <a:t>        the existing temporal geometry in time" }</a:t>
            </a:r>
          </a:p>
        </p:txBody>
      </p:sp>
      <p:sp>
        <p:nvSpPr>
          <p:cNvPr id="13" name="Rounded Rectangle 12"/>
          <p:cNvSpPr/>
          <p:nvPr/>
        </p:nvSpPr>
        <p:spPr>
          <a:xfrm>
            <a:off x="6281928" y="1783080"/>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DELETE</a:t>
            </a:r>
          </a:p>
        </p:txBody>
      </p:sp>
      <p:sp>
        <p:nvSpPr>
          <p:cNvPr id="14" name="TextBox 13"/>
          <p:cNvSpPr txBox="1"/>
          <p:nvPr/>
        </p:nvSpPr>
        <p:spPr>
          <a:xfrm>
            <a:off x="7324344" y="1773936"/>
            <a:ext cx="4300423"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/collections/ships/items/900001</a:t>
            </a:r>
          </a:p>
        </p:txBody>
      </p:sp>
      <p:sp>
        <p:nvSpPr>
          <p:cNvPr id="15" name="TextBox 14"/>
          <p:cNvSpPr txBox="1"/>
          <p:nvPr/>
        </p:nvSpPr>
        <p:spPr>
          <a:xfrm>
            <a:off x="6281928" y="2130552"/>
            <a:ext cx="5342839"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204 remove the feature</a:t>
            </a:r>
          </a:p>
        </p:txBody>
      </p:sp>
      <p:sp>
        <p:nvSpPr>
          <p:cNvPr id="16" name="TextBox 15"/>
          <p:cNvSpPr txBox="1"/>
          <p:nvPr/>
        </p:nvSpPr>
        <p:spPr>
          <a:xfrm>
            <a:off x="6281928" y="3291840"/>
            <a:ext cx="5342839" cy="274320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merge:  </a:t>
            </a:r>
            <a:r>
              <a:rPr sz="1200">
                <a:solidFill>
                  <a:srgbClr val="1E2B36"/>
                </a:solidFill>
                <a:latin typeface="Calibri"/>
              </a:rPr>
              <a:t>append uses MobilityDB merge, which rejects time overlap; the tier maps that to 409</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Derived properties:  </a:t>
            </a:r>
            <a:r>
              <a:rPr sz="1200">
                <a:solidFill>
                  <a:srgbClr val="1E2B36"/>
                </a:solidFill>
                <a:latin typeface="Calibri"/>
              </a:rPr>
              <a:t>computed from the geometry, so writes to them return 501; modify the geometry instead</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Single geometry:  </a:t>
            </a:r>
            <a:r>
              <a:rPr sz="1200">
                <a:solidFill>
                  <a:srgbClr val="1E2B36"/>
                </a:solidFill>
                <a:latin typeface="Calibri"/>
              </a:rPr>
              <a:t>a feature carries one temporal geometry; delete the feature rather than a primitive</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GEOMETRY</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The Temporal-Geometry Sequence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/collections/ships/items/1/tgsequence</a:t>
            </a:r>
          </a:p>
        </p:txBody>
      </p:sp>
      <p:sp>
        <p:nvSpPr>
          <p:cNvPr id="7" name="Rounded Rectangle 6"/>
          <p:cNvSpPr/>
          <p:nvPr/>
        </p:nvSpPr>
        <p:spPr>
          <a:xfrm>
            <a:off x="566928" y="1874519"/>
            <a:ext cx="5486400" cy="32004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230368" cy="30175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"TemporalGeometrySequence"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"geometrySequence"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"id": 1, "type": "MovingPoint",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721000.4</a:t>
            </a:r>
            <a:r>
              <a:rPr sz="1200">
                <a:solidFill>
                  <a:srgbClr val="C2D0DA"/>
                </a:solidFill>
                <a:latin typeface="Consolas"/>
              </a:rPr>
              <a:t>, </a:t>
            </a:r>
            <a:r>
              <a:rPr sz="1200">
                <a:solidFill>
                  <a:srgbClr val="C9E08A"/>
                </a:solidFill>
                <a:latin typeface="Consolas"/>
              </a:rPr>
              <a:t>6178001.2</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"lower_inc"</a:t>
            </a:r>
            <a:r>
              <a:rPr sz="1200">
                <a:solidFill>
                  <a:srgbClr val="C2D0DA"/>
                </a:solidFill>
                <a:latin typeface="Consolas"/>
              </a:rPr>
              <a:t>: </a:t>
            </a:r>
            <a:r>
              <a:rPr sz="1200">
                <a:solidFill>
                  <a:srgbClr val="CBA0E8"/>
                </a:solidFill>
                <a:latin typeface="Consolas"/>
              </a:rPr>
              <a:t>true</a:t>
            </a:r>
            <a:r>
              <a:rPr sz="1200">
                <a:solidFill>
                  <a:srgbClr val="C2D0DA"/>
                </a:solidFill>
                <a:latin typeface="Consolas"/>
              </a:rPr>
              <a:t>, </a:t>
            </a:r>
            <a:r>
              <a:rPr sz="1200">
                <a:solidFill>
                  <a:srgbClr val="6FC3E0"/>
                </a:solidFill>
                <a:latin typeface="Consolas"/>
              </a:rPr>
              <a:t>"upper_inc"</a:t>
            </a:r>
            <a:r>
              <a:rPr sz="1200">
                <a:solidFill>
                  <a:srgbClr val="C2D0DA"/>
                </a:solidFill>
                <a:latin typeface="Consolas"/>
              </a:rPr>
              <a:t>: </a:t>
            </a:r>
            <a:r>
              <a:rPr sz="1200">
                <a:solidFill>
                  <a:srgbClr val="CBA0E8"/>
                </a:solidFill>
                <a:latin typeface="Consolas"/>
              </a:rPr>
              <a:t>true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6281928" y="1627632"/>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Selectors on this resource</a:t>
            </a:r>
          </a:p>
        </p:txBody>
      </p:sp>
      <p:sp>
        <p:nvSpPr>
          <p:cNvPr id="10" name="TextBox 9"/>
          <p:cNvSpPr txBox="1"/>
          <p:nvPr/>
        </p:nvSpPr>
        <p:spPr>
          <a:xfrm>
            <a:off x="6281928" y="2057400"/>
            <a:ext cx="5342839" cy="201168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datetime:  </a:t>
            </a:r>
            <a:r>
              <a:rPr sz="1200">
                <a:solidFill>
                  <a:srgbClr val="1E2B36"/>
                </a:solidFill>
                <a:latin typeface="Calibri"/>
              </a:rPr>
              <a:t>clip the sequence to an interval (atTime)</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leaf:  </a:t>
            </a:r>
            <a:r>
              <a:rPr sz="1200">
                <a:solidFill>
                  <a:srgbClr val="1E2B36"/>
                </a:solidFill>
                <a:latin typeface="Calibri"/>
              </a:rPr>
              <a:t>return the geometry at one or more instants</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POST:  </a:t>
            </a:r>
            <a:r>
              <a:rPr sz="1200">
                <a:solidFill>
                  <a:srgbClr val="1E2B36"/>
                </a:solidFill>
                <a:latin typeface="Calibri"/>
              </a:rPr>
              <a:t>append a temporally-disjoint sub-trajectory</a:t>
            </a:r>
          </a:p>
        </p:txBody>
      </p:sp>
      <p:sp>
        <p:nvSpPr>
          <p:cNvPr id="11" name="Rounded Rectangle 10"/>
          <p:cNvSpPr/>
          <p:nvPr/>
        </p:nvSpPr>
        <p:spPr>
          <a:xfrm>
            <a:off x="6281928" y="4160520"/>
            <a:ext cx="5342839" cy="969264"/>
          </a:xfrm>
          <a:prstGeom prst="roundRect">
            <a:avLst>
              <a:gd name="adj" fmla="val 4000"/>
            </a:avLst>
          </a:prstGeom>
          <a:solidFill>
            <a:srgbClr val="F1F5F8"/>
          </a:solidFill>
          <a:ln>
            <a:noFill/>
          </a:ln>
          <a:effectLst/>
        </p:spPr>
        <p:txBody>
          <a:bodyPr rtlCol="0" anchor="ctr"/>
          <a:lstStyle/>
          <a:p>
            <a:pPr algn="ctr"/>
            <a:endParaRPr/>
          </a:p>
        </p:txBody>
      </p:sp>
      <p:sp>
        <p:nvSpPr>
          <p:cNvPr id="12" name="TextBox 11"/>
          <p:cNvSpPr txBox="1"/>
          <p:nvPr/>
        </p:nvSpPr>
        <p:spPr>
          <a:xfrm>
            <a:off x="6537960" y="4251959"/>
            <a:ext cx="4830775"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geometry</a:t>
            </a:r>
          </a:p>
        </p:txBody>
      </p:sp>
      <p:sp>
        <p:nvSpPr>
          <p:cNvPr id="13" name="TextBox 12"/>
          <p:cNvSpPr txBox="1"/>
          <p:nvPr/>
        </p:nvSpPr>
        <p:spPr>
          <a:xfrm>
            <a:off x="6537960" y="4544568"/>
            <a:ext cx="4830775" cy="530352"/>
          </a:xfrm>
          <a:prstGeom prst="rect">
            <a:avLst/>
          </a:prstGeom>
          <a:noFill/>
        </p:spPr>
        <p:txBody>
          <a:bodyPr wrap="square" lIns="0" tIns="0" rIns="0" bIns="0">
            <a:noAutofit/>
          </a:bodyPr>
          <a:lstStyle/>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The temporal geometry is the trajectory itself</a:t>
            </a:r>
          </a:p>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Returned as MovingFeaturesJSON by asMFJSON</a:t>
            </a:r>
          </a:p>
        </p:txBody>
      </p:sp>
      <p:sp>
        <p:nvSpPr>
          <p:cNvPr id="14" name="Rectangle 1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6" name="TextBox 1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DERIVED MEASURES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Distance · Velocity  ·  Acceleration</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91947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/collections/ships/items/1/tgsequence/1/velocity</a:t>
            </a:r>
          </a:p>
        </p:txBody>
      </p:sp>
      <p:sp>
        <p:nvSpPr>
          <p:cNvPr id="7" name="Rounded Rectangle 6"/>
          <p:cNvSpPr/>
          <p:nvPr/>
        </p:nvSpPr>
        <p:spPr>
          <a:xfrm>
            <a:off x="566928" y="1874519"/>
            <a:ext cx="5669280" cy="22860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413248" cy="21031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"velocity"</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"Speed over ground ..."</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22.78</a:t>
            </a:r>
            <a:r>
              <a:rPr sz="1200">
                <a:solidFill>
                  <a:srgbClr val="C2D0DA"/>
                </a:solidFill>
                <a:latin typeface="Consolas"/>
              </a:rPr>
              <a:t>, </a:t>
            </a:r>
            <a:r>
              <a:rPr sz="1200">
                <a:solidFill>
                  <a:srgbClr val="C9E08A"/>
                </a:solidFill>
                <a:latin typeface="Consolas"/>
              </a:rPr>
              <a:t>11.03</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"Stepwise"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 }</a:t>
            </a:r>
          </a:p>
        </p:txBody>
      </p:sp>
      <p:sp>
        <p:nvSpPr>
          <p:cNvPr id="9" name="Rounded Rectangle 8"/>
          <p:cNvSpPr/>
          <p:nvPr/>
        </p:nvSpPr>
        <p:spPr>
          <a:xfrm>
            <a:off x="566928" y="434340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0" name="TextBox 9"/>
          <p:cNvSpPr txBox="1"/>
          <p:nvPr/>
        </p:nvSpPr>
        <p:spPr>
          <a:xfrm>
            <a:off x="1316736" y="4334256"/>
            <a:ext cx="491947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/collections/ships/items/1/tgsequence/1/acceleration</a:t>
            </a:r>
          </a:p>
        </p:txBody>
      </p:sp>
      <p:sp>
        <p:nvSpPr>
          <p:cNvPr id="11" name="Rounded Rectangle 10"/>
          <p:cNvSpPr/>
          <p:nvPr/>
        </p:nvSpPr>
        <p:spPr>
          <a:xfrm>
            <a:off x="566928" y="4663440"/>
            <a:ext cx="5669280" cy="15544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PANEL"/>
          <p:cNvSpPr txBox="1"/>
          <p:nvPr/>
        </p:nvSpPr>
        <p:spPr>
          <a:xfrm>
            <a:off x="694944" y="4754879"/>
            <a:ext cx="5413248" cy="13716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501</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"code"</a:t>
            </a:r>
            <a:r>
              <a:rPr sz="1200">
                <a:solidFill>
                  <a:srgbClr val="C2D0DA"/>
                </a:solidFill>
                <a:latin typeface="Consolas"/>
              </a:rPr>
              <a:t>: </a:t>
            </a:r>
            <a:r>
              <a:rPr sz="1200">
                <a:solidFill>
                  <a:srgbClr val="E6A36A"/>
                </a:solidFill>
                <a:latin typeface="Consolas"/>
              </a:rPr>
              <a:t>"501"</a:t>
            </a: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"acceleration is not derivable: linearly</a:t>
            </a:r>
          </a:p>
          <a:p>
            <a:pPr>
              <a:lnSpc>
                <a:spcPct val="102000"/>
              </a:lnSpc>
              <a:spcBef>
                <a:spcPts val="0"/>
              </a:spcBef>
              <a:spcAft>
                <a:spcPts val="0"/>
              </a:spcAft>
            </a:pPr>
            <a:r>
              <a:rPr sz="1200">
                <a:solidFill>
                  <a:srgbClr val="C2D0DA"/>
                </a:solidFill>
                <a:latin typeface="Consolas"/>
              </a:rPr>
              <a:t>   interpolated position gives a piecewise-constant</a:t>
            </a:r>
          </a:p>
          <a:p>
            <a:pPr>
              <a:lnSpc>
                <a:spcPct val="102000"/>
              </a:lnSpc>
              <a:spcBef>
                <a:spcPts val="0"/>
              </a:spcBef>
              <a:spcAft>
                <a:spcPts val="0"/>
              </a:spcAft>
            </a:pPr>
            <a:r>
              <a:rPr sz="1200">
                <a:solidFill>
                  <a:srgbClr val="C2D0DA"/>
                </a:solidFill>
                <a:latin typeface="Consolas"/>
              </a:rPr>
              <a:t>   speed, whose derivative is zero within each</a:t>
            </a:r>
          </a:p>
          <a:p>
            <a:pPr>
              <a:lnSpc>
                <a:spcPct val="102000"/>
              </a:lnSpc>
              <a:spcBef>
                <a:spcPts val="0"/>
              </a:spcBef>
              <a:spcAft>
                <a:spcPts val="0"/>
              </a:spcAft>
            </a:pPr>
            <a:r>
              <a:rPr sz="1200">
                <a:solidFill>
                  <a:srgbClr val="C2D0DA"/>
                </a:solidFill>
                <a:latin typeface="Consolas"/>
              </a:rPr>
              <a:t>   segment and undefined at the vertices" }</a:t>
            </a:r>
          </a:p>
        </p:txBody>
      </p:sp>
      <p:sp>
        <p:nvSpPr>
          <p:cNvPr id="13" name="TextBox 12"/>
          <p:cNvSpPr txBox="1"/>
          <p:nvPr/>
        </p:nvSpPr>
        <p:spPr>
          <a:xfrm>
            <a:off x="6464808" y="1828800"/>
            <a:ext cx="5159959" cy="420624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velocity:  </a:t>
            </a:r>
            <a:r>
              <a:rPr sz="1200">
                <a:solidFill>
                  <a:srgbClr val="1E2B36"/>
                </a:solidFill>
                <a:latin typeface="Calibri"/>
              </a:rPr>
              <a:t>speed over ground from speed(trip), piecewise-constant (Stepwise)</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distance:  </a:t>
            </a:r>
            <a:r>
              <a:rPr sz="1200">
                <a:solidFill>
                  <a:srgbClr val="1E2B36"/>
                </a:solidFill>
                <a:latin typeface="Calibri"/>
              </a:rPr>
              <a:t>cumulative length from cumulativeLength(trip) (Linear)</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acceleration:  </a:t>
            </a:r>
            <a:r>
              <a:rPr sz="1200">
                <a:solidFill>
                  <a:srgbClr val="1E2B36"/>
                </a:solidFill>
                <a:latin typeface="Calibri"/>
              </a:rPr>
              <a:t>not fabricated, because with linear position the speed is a step function whose derivative is not a finite function</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Exact:  </a:t>
            </a:r>
            <a:r>
              <a:rPr sz="1200">
                <a:solidFill>
                  <a:srgbClr val="1E2B36"/>
                </a:solidFill>
                <a:latin typeface="Calibri"/>
              </a:rPr>
              <a:t>each measure is a MobilityDB function reshaped into an OGC temporalProperty (TReal)</a:t>
            </a:r>
          </a:p>
        </p:txBody>
      </p:sp>
      <p:sp>
        <p:nvSpPr>
          <p:cNvPr id="14" name="Rectangle 1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6" name="TextBox 1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PROPERTIES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Time-Varying Attributes per Feature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/collections/ships/items/1/tproperties</a:t>
            </a:r>
          </a:p>
        </p:txBody>
      </p:sp>
      <p:sp>
        <p:nvSpPr>
          <p:cNvPr id="7" name="Rounded Rectangle 6"/>
          <p:cNvSpPr/>
          <p:nvPr/>
        </p:nvSpPr>
        <p:spPr>
          <a:xfrm>
            <a:off x="566928" y="1874519"/>
            <a:ext cx="5486400" cy="23317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230368" cy="2148839"/>
          </a:xfrm>
          <a:prstGeom prst="rect">
            <a:avLst/>
          </a:prstGeom>
          <a:noFill/>
        </p:spPr>
        <p:txBody>
          <a:bodyPr wrap="square" lIns="0" tIns="0" rIns="0" bIns="0">
            <a:noAutofit/>
          </a:bodyPr>
          <a:lstStyle/>
          <a:p>
            <a:pPr>
              <a:lnSpc>
                <a:spcPct val="102000"/>
              </a:lnSpc>
              <a:spcBef>
                <a:spcPts val="0"/>
              </a:spcBef>
              <a:spcAft>
                <a:spcPts val="0"/>
              </a:spcAft>
            </a:pPr>
            <a:r>
              <a:rPr sz="1200" dirty="0">
                <a:solidFill>
                  <a:srgbClr val="C9E08A"/>
                </a:solidFill>
                <a:latin typeface="Consolas"/>
              </a:rPr>
              <a:t>200</a:t>
            </a:r>
            <a:r>
              <a:rPr sz="1200" dirty="0">
                <a:solidFill>
                  <a:srgbClr val="C2D0DA"/>
                </a:solidFill>
                <a:latin typeface="Consolas"/>
              </a:rPr>
              <a:t> OK</a:t>
            </a:r>
          </a:p>
          <a:p>
            <a:pPr>
              <a:lnSpc>
                <a:spcPct val="102000"/>
              </a:lnSpc>
              <a:spcBef>
                <a:spcPts val="0"/>
              </a:spcBef>
              <a:spcAft>
                <a:spcPts val="0"/>
              </a:spcAft>
            </a:pPr>
            <a:r>
              <a:rPr sz="1200" dirty="0">
                <a:solidFill>
                  <a:srgbClr val="C2D0DA"/>
                </a:solidFill>
                <a:latin typeface="Consolas"/>
              </a:rPr>
              <a:t>{</a:t>
            </a:r>
          </a:p>
          <a:p>
            <a:pPr>
              <a:lnSpc>
                <a:spcPct val="102000"/>
              </a:lnSpc>
              <a:spcBef>
                <a:spcPts val="0"/>
              </a:spcBef>
              <a:spcAft>
                <a:spcPts val="0"/>
              </a:spcAft>
            </a:pPr>
            <a:r>
              <a:rPr sz="1200" dirty="0">
                <a:solidFill>
                  <a:srgbClr val="C2D0DA"/>
                </a:solidFill>
                <a:latin typeface="Consolas"/>
              </a:rPr>
              <a:t>  </a:t>
            </a:r>
            <a:r>
              <a:rPr sz="1200" dirty="0">
                <a:solidFill>
                  <a:srgbClr val="6FC3E0"/>
                </a:solidFill>
                <a:latin typeface="Consolas"/>
              </a:rPr>
              <a:t>"</a:t>
            </a:r>
            <a:r>
              <a:rPr sz="1200" dirty="0" err="1">
                <a:solidFill>
                  <a:srgbClr val="6FC3E0"/>
                </a:solidFill>
                <a:latin typeface="Consolas"/>
              </a:rPr>
              <a:t>temporalProperties</a:t>
            </a:r>
            <a:r>
              <a:rPr sz="1200" dirty="0">
                <a:solidFill>
                  <a:srgbClr val="6FC3E0"/>
                </a:solidFill>
                <a:latin typeface="Consolas"/>
              </a:rPr>
              <a:t>"</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 </a:t>
            </a:r>
            <a:r>
              <a:rPr sz="1200" dirty="0">
                <a:solidFill>
                  <a:srgbClr val="6FC3E0"/>
                </a:solidFill>
                <a:latin typeface="Consolas"/>
              </a:rPr>
              <a:t>"name"</a:t>
            </a:r>
            <a:r>
              <a:rPr sz="1200" dirty="0">
                <a:solidFill>
                  <a:srgbClr val="C2D0DA"/>
                </a:solidFill>
                <a:latin typeface="Consolas"/>
              </a:rPr>
              <a:t>: </a:t>
            </a:r>
            <a:r>
              <a:rPr sz="1200" dirty="0">
                <a:solidFill>
                  <a:srgbClr val="E6A36A"/>
                </a:solidFill>
                <a:latin typeface="Consolas"/>
              </a:rPr>
              <a:t>"fuel"</a:t>
            </a:r>
            <a:r>
              <a:rPr sz="1200" dirty="0">
                <a:solidFill>
                  <a:srgbClr val="C2D0DA"/>
                </a:solidFill>
                <a:latin typeface="Consolas"/>
              </a:rPr>
              <a:t>, </a:t>
            </a:r>
            <a:r>
              <a:rPr sz="1200" dirty="0">
                <a:solidFill>
                  <a:srgbClr val="6FC3E0"/>
                </a:solidFill>
                <a:latin typeface="Consolas"/>
              </a:rPr>
              <a:t>"type"</a:t>
            </a:r>
            <a:r>
              <a:rPr sz="1200" dirty="0">
                <a:solidFill>
                  <a:srgbClr val="C2D0DA"/>
                </a:solidFill>
                <a:latin typeface="Consolas"/>
              </a:rPr>
              <a:t>: </a:t>
            </a:r>
            <a:r>
              <a:rPr sz="1200" dirty="0">
                <a:solidFill>
                  <a:srgbClr val="E6A36A"/>
                </a:solidFill>
                <a:latin typeface="Consolas"/>
              </a:rPr>
              <a:t>"</a:t>
            </a:r>
            <a:r>
              <a:rPr sz="1200" dirty="0" err="1">
                <a:solidFill>
                  <a:srgbClr val="E6A36A"/>
                </a:solidFill>
                <a:latin typeface="Consolas"/>
              </a:rPr>
              <a:t>TReal</a:t>
            </a:r>
            <a:r>
              <a:rPr sz="1200" dirty="0">
                <a:solidFill>
                  <a:srgbClr val="E6A36A"/>
                </a:solidFill>
                <a:latin typeface="Consolas"/>
              </a:rPr>
              <a:t>"</a:t>
            </a:r>
            <a:r>
              <a:rPr sz="1200" dirty="0">
                <a:solidFill>
                  <a:srgbClr val="C2D0DA"/>
                </a:solidFill>
                <a:latin typeface="Consolas"/>
              </a:rPr>
              <a:t>, </a:t>
            </a:r>
            <a:r>
              <a:rPr sz="1200" dirty="0">
                <a:solidFill>
                  <a:srgbClr val="6FC3E0"/>
                </a:solidFill>
                <a:latin typeface="Consolas"/>
              </a:rPr>
              <a:t>"form"</a:t>
            </a:r>
            <a:r>
              <a:rPr sz="1200" dirty="0">
                <a:solidFill>
                  <a:srgbClr val="C2D0DA"/>
                </a:solidFill>
                <a:latin typeface="Consolas"/>
              </a:rPr>
              <a:t>: </a:t>
            </a:r>
            <a:r>
              <a:rPr sz="1200" dirty="0">
                <a:solidFill>
                  <a:srgbClr val="E6A36A"/>
                </a:solidFill>
                <a:latin typeface="Consolas"/>
              </a:rPr>
              <a:t>"L"</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 </a:t>
            </a:r>
            <a:r>
              <a:rPr sz="1200" dirty="0">
                <a:solidFill>
                  <a:srgbClr val="6FC3E0"/>
                </a:solidFill>
                <a:latin typeface="Consolas"/>
              </a:rPr>
              <a:t>"name"</a:t>
            </a:r>
            <a:r>
              <a:rPr sz="1200" dirty="0">
                <a:solidFill>
                  <a:srgbClr val="C2D0DA"/>
                </a:solidFill>
                <a:latin typeface="Consolas"/>
              </a:rPr>
              <a:t>: </a:t>
            </a:r>
            <a:r>
              <a:rPr sz="1200" dirty="0">
                <a:solidFill>
                  <a:srgbClr val="E6A36A"/>
                </a:solidFill>
                <a:latin typeface="Consolas"/>
              </a:rPr>
              <a:t>"cargo_temp"</a:t>
            </a:r>
            <a:r>
              <a:rPr sz="1200" dirty="0">
                <a:solidFill>
                  <a:srgbClr val="C2D0DA"/>
                </a:solidFill>
                <a:latin typeface="Consolas"/>
              </a:rPr>
              <a:t>, </a:t>
            </a:r>
            <a:r>
              <a:rPr sz="1200" dirty="0">
                <a:solidFill>
                  <a:srgbClr val="6FC3E0"/>
                </a:solidFill>
                <a:latin typeface="Consolas"/>
              </a:rPr>
              <a:t>"type"</a:t>
            </a:r>
            <a:r>
              <a:rPr sz="1200" dirty="0">
                <a:solidFill>
                  <a:srgbClr val="C2D0DA"/>
                </a:solidFill>
                <a:latin typeface="Consolas"/>
              </a:rPr>
              <a:t>: </a:t>
            </a:r>
            <a:r>
              <a:rPr sz="1200" dirty="0">
                <a:solidFill>
                  <a:srgbClr val="E6A36A"/>
                </a:solidFill>
                <a:latin typeface="Consolas"/>
              </a:rPr>
              <a:t>"</a:t>
            </a:r>
            <a:r>
              <a:rPr sz="1200" dirty="0" err="1">
                <a:solidFill>
                  <a:srgbClr val="E6A36A"/>
                </a:solidFill>
                <a:latin typeface="Consolas"/>
              </a:rPr>
              <a:t>TReal</a:t>
            </a:r>
            <a:r>
              <a:rPr sz="1200" dirty="0">
                <a:solidFill>
                  <a:srgbClr val="E6A36A"/>
                </a:solidFill>
                <a:latin typeface="Consolas"/>
              </a:rPr>
              <a:t>"</a:t>
            </a:r>
            <a:r>
              <a:rPr sz="1200" dirty="0">
                <a:solidFill>
                  <a:srgbClr val="C2D0DA"/>
                </a:solidFill>
                <a:latin typeface="Consolas"/>
              </a:rPr>
              <a:t>, </a:t>
            </a:r>
            <a:r>
              <a:rPr sz="1200" dirty="0">
                <a:solidFill>
                  <a:srgbClr val="6FC3E0"/>
                </a:solidFill>
                <a:latin typeface="Consolas"/>
              </a:rPr>
              <a:t>"form"</a:t>
            </a:r>
            <a:r>
              <a:rPr sz="1200" dirty="0">
                <a:solidFill>
                  <a:srgbClr val="C2D0DA"/>
                </a:solidFill>
                <a:latin typeface="Consolas"/>
              </a:rPr>
              <a:t>: </a:t>
            </a:r>
            <a:r>
              <a:rPr sz="1200" dirty="0">
                <a:solidFill>
                  <a:srgbClr val="E6A36A"/>
                </a:solidFill>
                <a:latin typeface="Consolas"/>
              </a:rPr>
              <a:t>"Cel"</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 </a:t>
            </a:r>
            <a:r>
              <a:rPr sz="1200" dirty="0">
                <a:solidFill>
                  <a:srgbClr val="6FC3E0"/>
                </a:solidFill>
                <a:latin typeface="Consolas"/>
              </a:rPr>
              <a:t>"name"</a:t>
            </a:r>
            <a:r>
              <a:rPr sz="1200" dirty="0">
                <a:solidFill>
                  <a:srgbClr val="C2D0DA"/>
                </a:solidFill>
                <a:latin typeface="Consolas"/>
              </a:rPr>
              <a:t>: </a:t>
            </a:r>
            <a:r>
              <a:rPr sz="1200" dirty="0">
                <a:solidFill>
                  <a:srgbClr val="E6A36A"/>
                </a:solidFill>
                <a:latin typeface="Consolas"/>
              </a:rPr>
              <a:t>"load"</a:t>
            </a:r>
            <a:r>
              <a:rPr sz="1200" dirty="0">
                <a:solidFill>
                  <a:srgbClr val="C2D0DA"/>
                </a:solidFill>
                <a:latin typeface="Consolas"/>
              </a:rPr>
              <a:t>,  </a:t>
            </a:r>
            <a:r>
              <a:rPr sz="1200" dirty="0">
                <a:solidFill>
                  <a:srgbClr val="6FC3E0"/>
                </a:solidFill>
                <a:latin typeface="Consolas"/>
              </a:rPr>
              <a:t>"type"</a:t>
            </a:r>
            <a:r>
              <a:rPr sz="1200" dirty="0">
                <a:solidFill>
                  <a:srgbClr val="C2D0DA"/>
                </a:solidFill>
                <a:latin typeface="Consolas"/>
              </a:rPr>
              <a:t>: </a:t>
            </a:r>
            <a:r>
              <a:rPr sz="1200" dirty="0">
                <a:solidFill>
                  <a:srgbClr val="E6A36A"/>
                </a:solidFill>
                <a:latin typeface="Consolas"/>
              </a:rPr>
              <a:t>"</a:t>
            </a:r>
            <a:r>
              <a:rPr sz="1200" dirty="0" err="1">
                <a:solidFill>
                  <a:srgbClr val="E6A36A"/>
                </a:solidFill>
                <a:latin typeface="Consolas"/>
              </a:rPr>
              <a:t>TReal</a:t>
            </a:r>
            <a:r>
              <a:rPr sz="1200" dirty="0">
                <a:solidFill>
                  <a:srgbClr val="E6A36A"/>
                </a:solidFill>
                <a:latin typeface="Consolas"/>
              </a:rPr>
              <a:t>"</a:t>
            </a:r>
            <a:r>
              <a:rPr sz="1200" dirty="0">
                <a:solidFill>
                  <a:srgbClr val="C2D0DA"/>
                </a:solidFill>
                <a:latin typeface="Consolas"/>
              </a:rPr>
              <a:t>, </a:t>
            </a:r>
            <a:r>
              <a:rPr sz="1200" dirty="0">
                <a:solidFill>
                  <a:srgbClr val="6FC3E0"/>
                </a:solidFill>
                <a:latin typeface="Consolas"/>
              </a:rPr>
              <a:t>"form"</a:t>
            </a:r>
            <a:r>
              <a:rPr sz="1200" dirty="0">
                <a:solidFill>
                  <a:srgbClr val="C2D0DA"/>
                </a:solidFill>
                <a:latin typeface="Consolas"/>
              </a:rPr>
              <a:t>: </a:t>
            </a:r>
            <a:r>
              <a:rPr sz="1200" dirty="0">
                <a:solidFill>
                  <a:srgbClr val="E6A36A"/>
                </a:solidFill>
                <a:latin typeface="Consolas"/>
              </a:rPr>
              <a:t>"t"</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a:t>
            </a:r>
            <a:r>
              <a:rPr sz="1200" dirty="0">
                <a:solidFill>
                  <a:srgbClr val="6FC3E0"/>
                </a:solidFill>
                <a:latin typeface="Consolas"/>
              </a:rPr>
              <a:t>"</a:t>
            </a:r>
            <a:r>
              <a:rPr sz="1200" dirty="0" err="1">
                <a:solidFill>
                  <a:srgbClr val="6FC3E0"/>
                </a:solidFill>
                <a:latin typeface="Consolas"/>
              </a:rPr>
              <a:t>numberReturned</a:t>
            </a:r>
            <a:r>
              <a:rPr sz="1200" dirty="0">
                <a:solidFill>
                  <a:srgbClr val="6FC3E0"/>
                </a:solidFill>
                <a:latin typeface="Consolas"/>
              </a:rPr>
              <a:t>"</a:t>
            </a:r>
            <a:r>
              <a:rPr sz="1200" dirty="0">
                <a:solidFill>
                  <a:srgbClr val="C2D0DA"/>
                </a:solidFill>
                <a:latin typeface="Consolas"/>
              </a:rPr>
              <a:t>: </a:t>
            </a:r>
            <a:r>
              <a:rPr sz="1200" dirty="0">
                <a:solidFill>
                  <a:srgbClr val="C9E08A"/>
                </a:solidFill>
                <a:latin typeface="Consolas"/>
              </a:rPr>
              <a:t>3</a:t>
            </a:r>
            <a:r>
              <a:rPr sz="1200" dirty="0">
                <a:solidFill>
                  <a:srgbClr val="C2D0DA"/>
                </a:solidFill>
                <a:latin typeface="Consolas"/>
              </a:rPr>
              <a:t>,</a:t>
            </a:r>
          </a:p>
          <a:p>
            <a:pPr>
              <a:lnSpc>
                <a:spcPct val="102000"/>
              </a:lnSpc>
              <a:spcBef>
                <a:spcPts val="0"/>
              </a:spcBef>
              <a:spcAft>
                <a:spcPts val="0"/>
              </a:spcAft>
            </a:pPr>
            <a:r>
              <a:rPr sz="1200" dirty="0">
                <a:solidFill>
                  <a:srgbClr val="C2D0DA"/>
                </a:solidFill>
                <a:latin typeface="Consolas"/>
              </a:rPr>
              <a:t>  </a:t>
            </a:r>
            <a:r>
              <a:rPr sz="1200" dirty="0">
                <a:solidFill>
                  <a:srgbClr val="6FC3E0"/>
                </a:solidFill>
                <a:latin typeface="Consolas"/>
              </a:rPr>
              <a:t>"links"</a:t>
            </a:r>
            <a:r>
              <a:rPr sz="1200" dirty="0">
                <a:solidFill>
                  <a:srgbClr val="C2D0DA"/>
                </a:solidFill>
                <a:latin typeface="Consolas"/>
              </a:rPr>
              <a:t>: [ { </a:t>
            </a:r>
            <a:r>
              <a:rPr sz="1200" dirty="0">
                <a:solidFill>
                  <a:srgbClr val="6FC3E0"/>
                </a:solidFill>
                <a:latin typeface="Consolas"/>
              </a:rPr>
              <a:t>"</a:t>
            </a:r>
            <a:r>
              <a:rPr sz="1200" dirty="0" err="1">
                <a:solidFill>
                  <a:srgbClr val="6FC3E0"/>
                </a:solidFill>
                <a:latin typeface="Consolas"/>
              </a:rPr>
              <a:t>rel</a:t>
            </a:r>
            <a:r>
              <a:rPr sz="1200" dirty="0">
                <a:solidFill>
                  <a:srgbClr val="6FC3E0"/>
                </a:solidFill>
                <a:latin typeface="Consolas"/>
              </a:rPr>
              <a:t>"</a:t>
            </a:r>
            <a:r>
              <a:rPr sz="1200" dirty="0">
                <a:solidFill>
                  <a:srgbClr val="C2D0DA"/>
                </a:solidFill>
                <a:latin typeface="Consolas"/>
              </a:rPr>
              <a:t>: </a:t>
            </a:r>
            <a:r>
              <a:rPr sz="1200" dirty="0">
                <a:solidFill>
                  <a:srgbClr val="E6A36A"/>
                </a:solidFill>
                <a:latin typeface="Consolas"/>
              </a:rPr>
              <a:t>"self"</a:t>
            </a:r>
            <a:r>
              <a:rPr sz="1200" dirty="0">
                <a:solidFill>
                  <a:srgbClr val="C2D0DA"/>
                </a:solidFill>
                <a:latin typeface="Consolas"/>
              </a:rPr>
              <a:t>, ... } ]</a:t>
            </a:r>
          </a:p>
          <a:p>
            <a:pPr>
              <a:lnSpc>
                <a:spcPct val="102000"/>
              </a:lnSpc>
              <a:spcBef>
                <a:spcPts val="0"/>
              </a:spcBef>
              <a:spcAft>
                <a:spcPts val="0"/>
              </a:spcAft>
            </a:pPr>
            <a:r>
              <a:rPr sz="1200" dirty="0">
                <a:solidFill>
                  <a:srgbClr val="C2D0DA"/>
                </a:solidFill>
                <a:latin typeface="Consolas"/>
              </a:rPr>
              <a:t>}</a:t>
            </a:r>
          </a:p>
        </p:txBody>
      </p:sp>
      <p:sp>
        <p:nvSpPr>
          <p:cNvPr id="9" name="Rounded Rectangle 8"/>
          <p:cNvSpPr/>
          <p:nvPr/>
        </p:nvSpPr>
        <p:spPr>
          <a:xfrm>
            <a:off x="566928" y="438912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0" name="TextBox 9"/>
          <p:cNvSpPr txBox="1"/>
          <p:nvPr/>
        </p:nvSpPr>
        <p:spPr>
          <a:xfrm>
            <a:off x="1316736" y="437997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/collections/ships/items/1/tproperties/fuel?leaf=...</a:t>
            </a:r>
          </a:p>
        </p:txBody>
      </p:sp>
      <p:sp>
        <p:nvSpPr>
          <p:cNvPr id="11" name="Rounded Rectangle 10"/>
          <p:cNvSpPr/>
          <p:nvPr/>
        </p:nvSpPr>
        <p:spPr>
          <a:xfrm>
            <a:off x="566928" y="4709160"/>
            <a:ext cx="5486400" cy="14630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PANEL"/>
          <p:cNvSpPr txBox="1"/>
          <p:nvPr/>
        </p:nvSpPr>
        <p:spPr>
          <a:xfrm>
            <a:off x="694944" y="4800600"/>
            <a:ext cx="5230368" cy="128016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"fuel"</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22.78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"Discrete"</a:t>
            </a:r>
            <a:r>
              <a:rPr sz="1200">
                <a:solidFill>
                  <a:srgbClr val="C2D0DA"/>
                </a:solidFill>
                <a:latin typeface="Consolas"/>
              </a:rPr>
              <a:t> } ] }</a:t>
            </a:r>
          </a:p>
        </p:txBody>
      </p:sp>
      <p:sp>
        <p:nvSpPr>
          <p:cNvPr id="13" name="TextBox 12"/>
          <p:cNvSpPr txBox="1"/>
          <p:nvPr/>
        </p:nvSpPr>
        <p:spPr>
          <a:xfrm>
            <a:off x="6281928" y="1627632"/>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Property type</a:t>
            </a:r>
          </a:p>
        </p:txBody>
      </p:sp>
      <p:sp>
        <p:nvSpPr>
          <p:cNvPr id="14" name="TextBox 13"/>
          <p:cNvSpPr txBox="1"/>
          <p:nvPr/>
        </p:nvSpPr>
        <p:spPr>
          <a:xfrm>
            <a:off x="6281928" y="1938528"/>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TBoolean · TText · TInteger · TReal · TImage</a:t>
            </a:r>
          </a:p>
        </p:txBody>
      </p:sp>
      <p:sp>
        <p:nvSpPr>
          <p:cNvPr id="15" name="TextBox 14"/>
          <p:cNvSpPr txBox="1"/>
          <p:nvPr/>
        </p:nvSpPr>
        <p:spPr>
          <a:xfrm>
            <a:off x="6281928" y="2377440"/>
            <a:ext cx="5342839" cy="3474720"/>
          </a:xfrm>
          <a:prstGeom prst="rect">
            <a:avLst/>
          </a:prstGeom>
          <a:noFill/>
        </p:spPr>
        <p:txBody>
          <a:bodyPr wrap="square" lIns="0" tIns="0" rIns="0" bIns="0">
            <a:noAutofit/>
          </a:bodyPr>
          <a:lstStyle/>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Derived:  </a:t>
            </a:r>
            <a:r>
              <a:rPr sz="1200">
                <a:solidFill>
                  <a:srgbClr val="1E2B36"/>
                </a:solidFill>
                <a:latin typeface="Calibri"/>
              </a:rPr>
              <a:t>velocity, distance and heading are computed from the trajectory, read-only</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valueSequence:  </a:t>
            </a:r>
            <a:r>
              <a:rPr sz="1200">
                <a:solidFill>
                  <a:srgbClr val="1E2B36"/>
                </a:solidFill>
                <a:latin typeface="Calibri"/>
              </a:rPr>
              <a:t>datetimes and values with each segment's true interpolation</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leaf:  </a:t>
            </a:r>
            <a:r>
              <a:rPr sz="1200">
                <a:solidFill>
                  <a:srgbClr val="1E2B36"/>
                </a:solidFill>
                <a:latin typeface="Calibri"/>
              </a:rPr>
              <a:t>selects values at given instants; the result is Discrete</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datetime:  </a:t>
            </a:r>
            <a:r>
              <a:rPr sz="1200">
                <a:solidFill>
                  <a:srgbClr val="1E2B36"/>
                </a:solidFill>
                <a:latin typeface="Calibri"/>
              </a:rPr>
              <a:t>clips the property to an interval</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CONFORMANCE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Declared Classes, API Definition, Errors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45920"/>
            <a:ext cx="3503066" cy="45720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700784"/>
            <a:ext cx="3137306" cy="32004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Conformance classes</a:t>
            </a:r>
          </a:p>
        </p:txBody>
      </p:sp>
      <p:sp>
        <p:nvSpPr>
          <p:cNvPr id="8" name="TextBox 7"/>
          <p:cNvSpPr txBox="1"/>
          <p:nvPr/>
        </p:nvSpPr>
        <p:spPr>
          <a:xfrm>
            <a:off x="795528" y="2286000"/>
            <a:ext cx="3045866" cy="3383280"/>
          </a:xfrm>
          <a:prstGeom prst="rect">
            <a:avLst/>
          </a:prstGeom>
          <a:noFill/>
        </p:spPr>
        <p:txBody>
          <a:bodyPr wrap="square" lIns="0" tIns="0" rIns="0" bIns="0">
            <a:noAutofit/>
          </a:bodyPr>
          <a:lstStyle/>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movingfeatures / conf / common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 conf / mf-collection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 conf / movingfeatures</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ogcapi-common-1 / conf / core</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ogcapi-common-2 / conf / collections</a:t>
            </a:r>
          </a:p>
        </p:txBody>
      </p:sp>
      <p:sp>
        <p:nvSpPr>
          <p:cNvPr id="9" name="Rounded Rectangle 8"/>
          <p:cNvSpPr/>
          <p:nvPr/>
        </p:nvSpPr>
        <p:spPr>
          <a:xfrm>
            <a:off x="4344314"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44314" y="1645920"/>
            <a:ext cx="3503066" cy="457200"/>
          </a:xfrm>
          <a:prstGeom prst="roundRect">
            <a:avLst>
              <a:gd name="adj" fmla="val 6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914" y="1700784"/>
            <a:ext cx="3137306" cy="32004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API definition</a:t>
            </a:r>
          </a:p>
        </p:txBody>
      </p:sp>
      <p:sp>
        <p:nvSpPr>
          <p:cNvPr id="12" name="TextBox 11"/>
          <p:cNvSpPr txBox="1"/>
          <p:nvPr/>
        </p:nvSpPr>
        <p:spPr>
          <a:xfrm>
            <a:off x="4572914" y="2286000"/>
            <a:ext cx="3045866" cy="3383280"/>
          </a:xfrm>
          <a:prstGeom prst="rect">
            <a:avLst/>
          </a:prstGeom>
          <a:noFill/>
        </p:spPr>
        <p:txBody>
          <a:bodyPr wrap="square" lIns="0" tIns="0" rIns="0" bIns="0">
            <a:noAutofit/>
          </a:bodyPr>
          <a:lstStyle/>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/api:  </a:t>
            </a:r>
            <a:r>
              <a:rPr sz="1200">
                <a:solidFill>
                  <a:srgbClr val="1E2B36"/>
                </a:solidFill>
                <a:latin typeface="Calibri"/>
              </a:rPr>
              <a:t>an OpenAPI 3.0 definition</a:t>
            </a:r>
          </a:p>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service-desc:  </a:t>
            </a:r>
            <a:r>
              <a:rPr sz="1200">
                <a:solidFill>
                  <a:srgbClr val="1E2B36"/>
                </a:solidFill>
                <a:latin typeface="Calibri"/>
              </a:rPr>
              <a:t>linked from the landing page</a:t>
            </a:r>
          </a:p>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Landing:  </a:t>
            </a:r>
            <a:r>
              <a:rPr sz="1200">
                <a:solidFill>
                  <a:srgbClr val="1E2B36"/>
                </a:solidFill>
                <a:latin typeface="Calibri"/>
              </a:rPr>
              <a:t>self, service-desc, conformance, data</a:t>
            </a:r>
          </a:p>
          <a:p>
            <a:pPr>
              <a:lnSpc>
                <a:spcPct val="106000"/>
              </a:lnSpc>
              <a:spcBef>
                <a:spcPts val="0"/>
              </a:spcBef>
              <a:spcAft>
                <a:spcPts val="900"/>
              </a:spcAft>
            </a:pPr>
            <a:r>
              <a:rPr sz="1200" b="1">
                <a:solidFill>
                  <a:srgbClr val="A02B93"/>
                </a:solidFill>
                <a:latin typeface="Calibri"/>
              </a:rPr>
              <a:t>▸  </a:t>
            </a:r>
            <a:r>
              <a:rPr sz="1200">
                <a:solidFill>
                  <a:srgbClr val="1E2B36"/>
                </a:solidFill>
                <a:latin typeface="Calibri"/>
              </a:rPr>
              <a:t>Clients discover the surface at runtime</a:t>
            </a:r>
          </a:p>
        </p:txBody>
      </p:sp>
      <p:sp>
        <p:nvSpPr>
          <p:cNvPr id="13" name="Rounded Rectangle 12"/>
          <p:cNvSpPr/>
          <p:nvPr/>
        </p:nvSpPr>
        <p:spPr>
          <a:xfrm>
            <a:off x="8121700"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21700" y="1645920"/>
            <a:ext cx="3503066" cy="457200"/>
          </a:xfrm>
          <a:prstGeom prst="roundRect">
            <a:avLst>
              <a:gd name="adj" fmla="val 6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0300" y="1700784"/>
            <a:ext cx="3137306" cy="32004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OGC error responses</a:t>
            </a:r>
          </a:p>
        </p:txBody>
      </p:sp>
      <p:sp>
        <p:nvSpPr>
          <p:cNvPr id="16" name="TextBox 15"/>
          <p:cNvSpPr txBox="1"/>
          <p:nvPr/>
        </p:nvSpPr>
        <p:spPr>
          <a:xfrm>
            <a:off x="8350300" y="2286000"/>
            <a:ext cx="3045866" cy="3383280"/>
          </a:xfrm>
          <a:prstGeom prst="rect">
            <a:avLst/>
          </a:prstGeom>
          <a:noFill/>
        </p:spPr>
        <p:txBody>
          <a:bodyPr wrap="square" lIns="0" tIns="0" rIns="0" bIns="0">
            <a:noAutofit/>
          </a:bodyPr>
          <a:lstStyle/>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400:  </a:t>
            </a:r>
            <a:r>
              <a:rPr sz="1200">
                <a:solidFill>
                  <a:srgbClr val="1E2B36"/>
                </a:solidFill>
                <a:latin typeface="Calibri"/>
              </a:rPr>
              <a:t>invalid parameters or body</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404:  </a:t>
            </a:r>
            <a:r>
              <a:rPr sz="1200">
                <a:solidFill>
                  <a:srgbClr val="1E2B36"/>
                </a:solidFill>
                <a:latin typeface="Calibri"/>
              </a:rPr>
              <a:t>collection / feature not found</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409:  </a:t>
            </a:r>
            <a:r>
              <a:rPr sz="1200">
                <a:solidFill>
                  <a:srgbClr val="1E2B36"/>
                </a:solidFill>
                <a:latin typeface="Calibri"/>
              </a:rPr>
              <a:t>sub-trajectory overlaps in time</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501:  </a:t>
            </a:r>
            <a:r>
              <a:rPr sz="1200">
                <a:solidFill>
                  <a:srgbClr val="1E2B36"/>
                </a:solidFill>
                <a:latin typeface="Calibri"/>
              </a:rPr>
              <a:t>measure not derivable / derived write</a:t>
            </a:r>
          </a:p>
          <a:p>
            <a:pPr>
              <a:lnSpc>
                <a:spcPct val="106000"/>
              </a:lnSpc>
              <a:spcBef>
                <a:spcPts val="0"/>
              </a:spcBef>
              <a:spcAft>
                <a:spcPts val="900"/>
              </a:spcAft>
            </a:pPr>
            <a:r>
              <a:rPr sz="1200" b="1">
                <a:solidFill>
                  <a:srgbClr val="C0392B"/>
                </a:solidFill>
                <a:latin typeface="Calibri"/>
              </a:rPr>
              <a:t>▸  </a:t>
            </a:r>
            <a:r>
              <a:rPr sz="1200">
                <a:solidFill>
                  <a:srgbClr val="1E2B36"/>
                </a:solidFill>
                <a:latin typeface="Calibri"/>
              </a:rPr>
              <a:t>Body: { "code", "description" }</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SCALE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Streaming Keeps Memory Bounded</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828800"/>
            <a:ext cx="3566160" cy="228600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011680"/>
            <a:ext cx="3108960" cy="640080"/>
          </a:xfrm>
          <a:prstGeom prst="rect">
            <a:avLst/>
          </a:prstGeom>
          <a:noFill/>
        </p:spPr>
        <p:txBody>
          <a:bodyPr wrap="square" lIns="0" tIns="0" rIns="0" bIns="0" anchor="t">
            <a:noAutofit/>
          </a:bodyPr>
          <a:lstStyle/>
          <a:p>
            <a:pPr algn="l">
              <a:spcBef>
                <a:spcPts val="0"/>
              </a:spcBef>
              <a:spcAft>
                <a:spcPts val="200"/>
              </a:spcAft>
            </a:pPr>
            <a:r>
              <a:rPr sz="4000" b="1" i="0">
                <a:solidFill>
                  <a:srgbClr val="196B24"/>
                </a:solidFill>
                <a:latin typeface="Calibri Light"/>
              </a:rPr>
              <a:t>393 MB</a:t>
            </a:r>
          </a:p>
        </p:txBody>
      </p:sp>
      <p:sp>
        <p:nvSpPr>
          <p:cNvPr id="7" name="TextBox 6"/>
          <p:cNvSpPr txBox="1"/>
          <p:nvPr/>
        </p:nvSpPr>
        <p:spPr>
          <a:xfrm>
            <a:off x="841247" y="2706624"/>
            <a:ext cx="310896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in one streamed response</a:t>
            </a:r>
          </a:p>
        </p:txBody>
      </p:sp>
      <p:sp>
        <p:nvSpPr>
          <p:cNvPr id="8" name="TextBox 7"/>
          <p:cNvSpPr txBox="1"/>
          <p:nvPr/>
        </p:nvSpPr>
        <p:spPr>
          <a:xfrm>
            <a:off x="841247" y="3035808"/>
            <a:ext cx="3108960" cy="548640"/>
          </a:xfrm>
          <a:prstGeom prst="rect">
            <a:avLst/>
          </a:prstGeom>
          <a:noFill/>
        </p:spPr>
        <p:txBody>
          <a:bodyPr wrap="square" lIns="0" tIns="0" rIns="0" bIns="0" anchor="t">
            <a:noAutofit/>
          </a:bodyPr>
          <a:lstStyle/>
          <a:p>
            <a:pPr algn="l">
              <a:spcBef>
                <a:spcPts val="0"/>
              </a:spcBef>
              <a:spcAft>
                <a:spcPts val="200"/>
              </a:spcAft>
            </a:pPr>
            <a:r>
              <a:rPr sz="3200" b="1" i="0">
                <a:solidFill>
                  <a:srgbClr val="156082"/>
                </a:solidFill>
                <a:latin typeface="Calibri Light"/>
              </a:rPr>
              <a:t>≈18 MB</a:t>
            </a:r>
          </a:p>
        </p:txBody>
      </p:sp>
      <p:sp>
        <p:nvSpPr>
          <p:cNvPr id="9" name="TextBox 8"/>
          <p:cNvSpPr txBox="1"/>
          <p:nvPr/>
        </p:nvSpPr>
        <p:spPr>
          <a:xfrm>
            <a:off x="841247" y="3675887"/>
            <a:ext cx="3108960" cy="36576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resident, bounded by the stream not the result size</a:t>
            </a:r>
          </a:p>
        </p:txBody>
      </p:sp>
      <p:sp>
        <p:nvSpPr>
          <p:cNvPr id="10" name="TextBox 9"/>
          <p:cNvSpPr txBox="1"/>
          <p:nvPr/>
        </p:nvSpPr>
        <p:spPr>
          <a:xfrm>
            <a:off x="4453128" y="1783080"/>
            <a:ext cx="71716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STANDARD ITEMS RESOURCE</a:t>
            </a:r>
          </a:p>
        </p:txBody>
      </p:sp>
      <p:sp>
        <p:nvSpPr>
          <p:cNvPr id="11" name="TextBox 10"/>
          <p:cNvSpPr txBox="1"/>
          <p:nvPr/>
        </p:nvSpPr>
        <p:spPr>
          <a:xfrm>
            <a:off x="4453128" y="2084831"/>
            <a:ext cx="7171639" cy="1554480"/>
          </a:xfrm>
          <a:prstGeom prst="rect">
            <a:avLst/>
          </a:prstGeom>
          <a:noFill/>
        </p:spPr>
        <p:txBody>
          <a:bodyPr wrap="square" lIns="0" tIns="0" rIns="0" bIns="0">
            <a:noAutofit/>
          </a:bodyPr>
          <a:lstStyle/>
          <a:p>
            <a:pPr>
              <a:lnSpc>
                <a:spcPct val="106000"/>
              </a:lnSpc>
              <a:spcBef>
                <a:spcPts val="0"/>
              </a:spcBef>
              <a:spcAft>
                <a:spcPts val="600"/>
              </a:spcAft>
            </a:pPr>
            <a:r>
              <a:rPr sz="1200" b="1">
                <a:solidFill>
                  <a:srgbClr val="156082"/>
                </a:solidFill>
                <a:latin typeface="Calibri"/>
              </a:rPr>
              <a:t>▸  </a:t>
            </a:r>
            <a:r>
              <a:rPr sz="1200" b="1">
                <a:solidFill>
                  <a:srgbClr val="0E2841"/>
                </a:solidFill>
                <a:latin typeface="Calibri"/>
              </a:rPr>
              <a:t>Streaming:  </a:t>
            </a:r>
            <a:r>
              <a:rPr sz="1200">
                <a:solidFill>
                  <a:srgbClr val="1E2B36"/>
                </a:solidFill>
                <a:latin typeface="Calibri"/>
              </a:rPr>
              <a:t>the FeatureCollection is written row by row from a cursor, so memory is bounded for any size</a:t>
            </a:r>
          </a:p>
          <a:p>
            <a:pPr>
              <a:lnSpc>
                <a:spcPct val="106000"/>
              </a:lnSpc>
              <a:spcBef>
                <a:spcPts val="0"/>
              </a:spcBef>
              <a:spcAft>
                <a:spcPts val="600"/>
              </a:spcAft>
            </a:pPr>
            <a:r>
              <a:rPr sz="1200" b="1">
                <a:solidFill>
                  <a:srgbClr val="156082"/>
                </a:solidFill>
                <a:latin typeface="Calibri"/>
              </a:rPr>
              <a:t>▸  </a:t>
            </a:r>
            <a:r>
              <a:rPr sz="1200" b="1">
                <a:solidFill>
                  <a:srgbClr val="0E2841"/>
                </a:solidFill>
                <a:latin typeface="Calibri"/>
              </a:rPr>
              <a:t>Keyset pagination:  </a:t>
            </a:r>
            <a:r>
              <a:rPr sz="1200">
                <a:solidFill>
                  <a:srgbClr val="1E2B36"/>
                </a:solidFill>
                <a:latin typeface="Calibri"/>
              </a:rPr>
              <a:t>next links advance by id with no OFFSET, constant cost through large collections</a:t>
            </a:r>
          </a:p>
          <a:p>
            <a:pPr>
              <a:lnSpc>
                <a:spcPct val="106000"/>
              </a:lnSpc>
              <a:spcBef>
                <a:spcPts val="0"/>
              </a:spcBef>
              <a:spcAft>
                <a:spcPts val="600"/>
              </a:spcAft>
            </a:pPr>
            <a:r>
              <a:rPr sz="1200" b="1">
                <a:solidFill>
                  <a:srgbClr val="156082"/>
                </a:solidFill>
                <a:latin typeface="Calibri"/>
              </a:rPr>
              <a:t>▸  </a:t>
            </a:r>
            <a:r>
              <a:rPr sz="1200" b="1">
                <a:solidFill>
                  <a:srgbClr val="0E2841"/>
                </a:solidFill>
                <a:latin typeface="Calibri"/>
              </a:rPr>
              <a:t>Index-using filters:  </a:t>
            </a:r>
            <a:r>
              <a:rPr sz="1200">
                <a:solidFill>
                  <a:srgbClr val="1E2B36"/>
                </a:solidFill>
                <a:latin typeface="Calibri"/>
              </a:rPr>
              <a:t>bbox and datetime push to the MobilityDB GiST index; subtrajectory clips with atTime</a:t>
            </a:r>
          </a:p>
        </p:txBody>
      </p:sp>
      <p:sp>
        <p:nvSpPr>
          <p:cNvPr id="20" name="Rectangle 1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2" name="TextBox 21"/>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22</a:t>
            </a:r>
          </a:p>
        </p:txBody>
      </p:sp>
      <p:sp>
        <p:nvSpPr>
          <p:cNvPr id="23" name="Rounded Rectangle 22"/>
          <p:cNvSpPr/>
          <p:nvPr/>
        </p:nvSpPr>
        <p:spPr>
          <a:xfrm>
            <a:off x="566928" y="4663440"/>
            <a:ext cx="11055096" cy="9601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4818888"/>
            <a:ext cx="10515600"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Why it scales</a:t>
            </a:r>
          </a:p>
        </p:txBody>
      </p:sp>
      <p:sp>
        <p:nvSpPr>
          <p:cNvPr id="25" name="TextBox 24"/>
          <p:cNvSpPr txBox="1"/>
          <p:nvPr/>
        </p:nvSpPr>
        <p:spPr>
          <a:xfrm>
            <a:off x="841248" y="5138928"/>
            <a:ext cx="10515600" cy="457200"/>
          </a:xfrm>
          <a:prstGeom prst="rect">
            <a:avLst/>
          </a:prstGeom>
          <a:noFill/>
        </p:spPr>
        <p:txBody>
          <a:bodyPr wrap="square" lIns="0" tIns="0" rIns="0" bIns="0" anchor="t">
            <a:noAutofit/>
          </a:bodyPr>
          <a:lstStyle/>
          <a:p>
            <a:pPr algn="l">
              <a:spcBef>
                <a:spcPts val="0"/>
              </a:spcBef>
              <a:spcAft>
                <a:spcPts val="200"/>
              </a:spcAft>
            </a:pPr>
            <a:r>
              <a:rPr sz="1300" b="0" i="0">
                <a:solidFill>
                  <a:srgbClr val="1E2B36"/>
                </a:solidFill>
                <a:latin typeface="Calibri"/>
              </a:rPr>
              <a:t>Streaming and keyset pagination keep memory bounded for any collection size, a property of the standard items resource and not of the result size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EXTENSIONS · NOT IN conformsTo</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Opt-in Capabilities Beyond the Standard</a:t>
            </a:r>
          </a:p>
        </p:txBody>
      </p:sp>
      <p:sp>
        <p:nvSpPr>
          <p:cNvPr id="4" name="Rectangle 3"/>
          <p:cNvSpPr/>
          <p:nvPr/>
        </p:nvSpPr>
        <p:spPr>
          <a:xfrm>
            <a:off x="566928" y="1389888"/>
            <a:ext cx="155448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11680"/>
            <a:ext cx="11057839" cy="4023360"/>
          </a:xfrm>
          <a:prstGeom prst="rect">
            <a:avLst/>
          </a:prstGeom>
          <a:noFill/>
        </p:spPr>
        <p:txBody>
          <a:bodyPr wrap="square" lIns="0" tIns="0" rIns="0" bIns="0">
            <a:noAutofit/>
          </a:bodyPr>
          <a:lstStyle/>
          <a:p>
            <a:pPr>
              <a:lnSpc>
                <a:spcPct val="106000"/>
              </a:lnSpc>
              <a:spcBef>
                <a:spcPts val="0"/>
              </a:spcBef>
              <a:spcAft>
                <a:spcPts val="1600"/>
              </a:spcAft>
            </a:pPr>
            <a:r>
              <a:rPr sz="1600" b="1" dirty="0">
                <a:solidFill>
                  <a:srgbClr val="156082"/>
                </a:solidFill>
                <a:latin typeface="Calibri"/>
              </a:rPr>
              <a:t>▸  </a:t>
            </a:r>
            <a:r>
              <a:rPr sz="1600" b="1" dirty="0">
                <a:solidFill>
                  <a:srgbClr val="0E2841"/>
                </a:solidFill>
                <a:latin typeface="Calibri"/>
              </a:rPr>
              <a:t>POST  /…/bulk  </a:t>
            </a:r>
            <a:r>
              <a:rPr sz="1600" dirty="0">
                <a:solidFill>
                  <a:srgbClr val="1E2B36"/>
                </a:solidFill>
                <a:latin typeface="Calibri"/>
              </a:rPr>
              <a:t>bulk-insert a batch of (</a:t>
            </a:r>
            <a:r>
              <a:rPr sz="1600" dirty="0" err="1">
                <a:solidFill>
                  <a:srgbClr val="1E2B36"/>
                </a:solidFill>
                <a:latin typeface="Calibri"/>
              </a:rPr>
              <a:t>vehicleId</a:t>
            </a:r>
            <a:r>
              <a:rPr sz="1600" dirty="0">
                <a:solidFill>
                  <a:srgbClr val="1E2B36"/>
                </a:solidFill>
                <a:latin typeface="Calibri"/>
              </a:rPr>
              <a:t>, position, time</a:t>
            </a:r>
            <a:r>
              <a:rPr lang="fr-BE" sz="1600" dirty="0">
                <a:solidFill>
                  <a:srgbClr val="1E2B36"/>
                </a:solidFill>
                <a:latin typeface="Calibri"/>
              </a:rPr>
              <a:t>, …</a:t>
            </a:r>
            <a:r>
              <a:rPr sz="1600" dirty="0">
                <a:solidFill>
                  <a:srgbClr val="1E2B36"/>
                </a:solidFill>
                <a:latin typeface="Calibri"/>
              </a:rPr>
              <a:t>) observations in one request</a:t>
            </a:r>
          </a:p>
          <a:p>
            <a:pPr>
              <a:lnSpc>
                <a:spcPct val="106000"/>
              </a:lnSpc>
              <a:spcBef>
                <a:spcPts val="0"/>
              </a:spcBef>
              <a:spcAft>
                <a:spcPts val="1600"/>
              </a:spcAft>
            </a:pPr>
            <a:r>
              <a:rPr sz="1600" b="1" dirty="0">
                <a:solidFill>
                  <a:srgbClr val="156082"/>
                </a:solidFill>
                <a:latin typeface="Calibri"/>
              </a:rPr>
              <a:t>▸  </a:t>
            </a:r>
            <a:r>
              <a:rPr sz="1600" b="1" dirty="0">
                <a:solidFill>
                  <a:srgbClr val="0E2841"/>
                </a:solidFill>
                <a:latin typeface="Calibri"/>
              </a:rPr>
              <a:t>GET  /…/export  </a:t>
            </a:r>
            <a:r>
              <a:rPr sz="1600" dirty="0" err="1">
                <a:solidFill>
                  <a:srgbClr val="1E2B36"/>
                </a:solidFill>
                <a:latin typeface="Calibri"/>
              </a:rPr>
              <a:t>lakehouse</a:t>
            </a:r>
            <a:r>
              <a:rPr sz="1600" dirty="0">
                <a:solidFill>
                  <a:srgbClr val="1E2B36"/>
                </a:solidFill>
                <a:latin typeface="Calibri"/>
              </a:rPr>
              <a:t> feed: NDJSON or </a:t>
            </a:r>
            <a:r>
              <a:rPr sz="1600" dirty="0" err="1">
                <a:solidFill>
                  <a:srgbClr val="1E2B36"/>
                </a:solidFill>
                <a:latin typeface="Calibri"/>
              </a:rPr>
              <a:t>GeoParquet</a:t>
            </a:r>
            <a:r>
              <a:rPr sz="1600" dirty="0">
                <a:solidFill>
                  <a:srgbClr val="1E2B36"/>
                </a:solidFill>
                <a:latin typeface="Calibri"/>
              </a:rPr>
              <a:t> with trajectory WKB and a </a:t>
            </a:r>
            <a:r>
              <a:rPr sz="1600" dirty="0" err="1">
                <a:solidFill>
                  <a:srgbClr val="1E2B36"/>
                </a:solidFill>
                <a:latin typeface="Calibri"/>
              </a:rPr>
              <a:t>bbox</a:t>
            </a:r>
            <a:r>
              <a:rPr sz="1600" dirty="0">
                <a:solidFill>
                  <a:srgbClr val="1E2B36"/>
                </a:solidFill>
                <a:latin typeface="Calibri"/>
              </a:rPr>
              <a:t>/time sidecar</a:t>
            </a:r>
          </a:p>
          <a:p>
            <a:pPr>
              <a:lnSpc>
                <a:spcPct val="106000"/>
              </a:lnSpc>
              <a:spcBef>
                <a:spcPts val="0"/>
              </a:spcBef>
              <a:spcAft>
                <a:spcPts val="1600"/>
              </a:spcAft>
            </a:pPr>
            <a:r>
              <a:rPr sz="1600" b="1" dirty="0">
                <a:solidFill>
                  <a:srgbClr val="156082"/>
                </a:solidFill>
                <a:latin typeface="Calibri"/>
              </a:rPr>
              <a:t>▸  </a:t>
            </a:r>
            <a:r>
              <a:rPr sz="1600" b="1" dirty="0">
                <a:solidFill>
                  <a:srgbClr val="0E2841"/>
                </a:solidFill>
                <a:latin typeface="Calibri"/>
              </a:rPr>
              <a:t>PUT  /…/items/{id}  </a:t>
            </a:r>
            <a:r>
              <a:rPr sz="1600" dirty="0">
                <a:solidFill>
                  <a:srgbClr val="1E2B36"/>
                </a:solidFill>
                <a:latin typeface="Calibri"/>
              </a:rPr>
              <a:t>in-place replace of a feature</a:t>
            </a:r>
          </a:p>
          <a:p>
            <a:pPr>
              <a:lnSpc>
                <a:spcPct val="106000"/>
              </a:lnSpc>
              <a:spcBef>
                <a:spcPts val="0"/>
              </a:spcBef>
              <a:spcAft>
                <a:spcPts val="1600"/>
              </a:spcAft>
            </a:pPr>
            <a:r>
              <a:rPr sz="1600" b="1" dirty="0">
                <a:solidFill>
                  <a:srgbClr val="156082"/>
                </a:solidFill>
                <a:latin typeface="Calibri"/>
              </a:rPr>
              <a:t>▸  </a:t>
            </a:r>
            <a:r>
              <a:rPr sz="1600" b="1" dirty="0" err="1">
                <a:solidFill>
                  <a:srgbClr val="0E2841"/>
                </a:solidFill>
                <a:latin typeface="Calibri"/>
              </a:rPr>
              <a:t>GeoJSON</a:t>
            </a:r>
            <a:r>
              <a:rPr sz="1600" b="1" dirty="0">
                <a:solidFill>
                  <a:srgbClr val="0E2841"/>
                </a:solidFill>
                <a:latin typeface="Calibri"/>
              </a:rPr>
              <a:t> and </a:t>
            </a:r>
            <a:r>
              <a:rPr sz="1600" b="1" dirty="0" err="1">
                <a:solidFill>
                  <a:srgbClr val="0E2841"/>
                </a:solidFill>
                <a:latin typeface="Calibri"/>
              </a:rPr>
              <a:t>GeoParquet</a:t>
            </a:r>
            <a:r>
              <a:rPr sz="1600" b="1" dirty="0">
                <a:solidFill>
                  <a:srgbClr val="0E2841"/>
                </a:solidFill>
                <a:latin typeface="Calibri"/>
              </a:rPr>
              <a:t>  </a:t>
            </a:r>
            <a:r>
              <a:rPr sz="1600" dirty="0">
                <a:solidFill>
                  <a:srgbClr val="1E2B36"/>
                </a:solidFill>
                <a:latin typeface="Calibri"/>
              </a:rPr>
              <a:t>accepted in and out, alongside the MF-JSON default</a:t>
            </a:r>
          </a:p>
          <a:p>
            <a:pPr>
              <a:lnSpc>
                <a:spcPct val="106000"/>
              </a:lnSpc>
              <a:spcBef>
                <a:spcPts val="0"/>
              </a:spcBef>
              <a:spcAft>
                <a:spcPts val="1600"/>
              </a:spcAft>
            </a:pPr>
            <a:r>
              <a:rPr sz="1600" b="1" dirty="0">
                <a:solidFill>
                  <a:srgbClr val="156082"/>
                </a:solidFill>
                <a:latin typeface="Calibri"/>
              </a:rPr>
              <a:t>▸  </a:t>
            </a:r>
            <a:r>
              <a:rPr sz="1600" b="1" dirty="0" err="1">
                <a:solidFill>
                  <a:srgbClr val="0E2841"/>
                </a:solidFill>
                <a:latin typeface="Calibri"/>
              </a:rPr>
              <a:t>gzip</a:t>
            </a:r>
            <a:r>
              <a:rPr sz="1600" b="1" dirty="0">
                <a:solidFill>
                  <a:srgbClr val="0E2841"/>
                </a:solidFill>
                <a:latin typeface="Calibri"/>
              </a:rPr>
              <a:t> / deflate / </a:t>
            </a:r>
            <a:r>
              <a:rPr sz="1600" b="1" dirty="0" err="1">
                <a:solidFill>
                  <a:srgbClr val="0E2841"/>
                </a:solidFill>
                <a:latin typeface="Calibri"/>
              </a:rPr>
              <a:t>br</a:t>
            </a:r>
            <a:r>
              <a:rPr sz="1600" b="1" dirty="0">
                <a:solidFill>
                  <a:srgbClr val="0E2841"/>
                </a:solidFill>
                <a:latin typeface="Calibri"/>
              </a:rPr>
              <a:t> / </a:t>
            </a:r>
            <a:r>
              <a:rPr sz="1600" b="1" dirty="0" err="1">
                <a:solidFill>
                  <a:srgbClr val="0E2841"/>
                </a:solidFill>
                <a:latin typeface="Calibri"/>
              </a:rPr>
              <a:t>zstd</a:t>
            </a:r>
            <a:r>
              <a:rPr sz="1600" b="1" dirty="0">
                <a:solidFill>
                  <a:srgbClr val="0E2841"/>
                </a:solidFill>
                <a:latin typeface="Calibri"/>
              </a:rPr>
              <a:t>  </a:t>
            </a:r>
            <a:r>
              <a:rPr sz="1600" dirty="0">
                <a:solidFill>
                  <a:srgbClr val="1E2B36"/>
                </a:solidFill>
                <a:latin typeface="Calibri"/>
              </a:rPr>
              <a:t>compressed request and response bodies</a:t>
            </a:r>
          </a:p>
        </p:txBody>
      </p:sp>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EXTENSIONS · NOT IN conformsTo</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Bulk Ingest</a:t>
            </a:r>
          </a:p>
        </p:txBody>
      </p:sp>
      <p:sp>
        <p:nvSpPr>
          <p:cNvPr id="4" name="Rectangle 3"/>
          <p:cNvSpPr/>
          <p:nvPr/>
        </p:nvSpPr>
        <p:spPr>
          <a:xfrm>
            <a:off x="566928" y="1389888"/>
            <a:ext cx="155448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17904"/>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6" name="TextBox 5"/>
          <p:cNvSpPr txBox="1"/>
          <p:nvPr/>
        </p:nvSpPr>
        <p:spPr>
          <a:xfrm>
            <a:off x="1389888" y="1508760"/>
            <a:ext cx="10234879"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/collections/buses/bulk</a:t>
            </a:r>
          </a:p>
        </p:txBody>
      </p:sp>
      <p:sp>
        <p:nvSpPr>
          <p:cNvPr id="7" name="TextBox 6"/>
          <p:cNvSpPr txBox="1"/>
          <p:nvPr/>
        </p:nvSpPr>
        <p:spPr>
          <a:xfrm>
            <a:off x="566928" y="1847088"/>
            <a:ext cx="10972800" cy="292608"/>
          </a:xfrm>
          <a:prstGeom prst="rect">
            <a:avLst/>
          </a:prstGeom>
          <a:noFill/>
        </p:spPr>
        <p:txBody>
          <a:bodyPr wrap="square" lIns="0" tIns="0" rIns="0" bIns="0" anchor="t">
            <a:noAutofit/>
          </a:bodyPr>
          <a:lstStyle/>
          <a:p>
            <a:pPr algn="l">
              <a:spcBef>
                <a:spcPts val="0"/>
              </a:spcBef>
              <a:spcAft>
                <a:spcPts val="200"/>
              </a:spcAft>
            </a:pPr>
            <a:r>
              <a:rPr sz="1200" b="0" i="1">
                <a:solidFill>
                  <a:srgbClr val="5B6B78"/>
                </a:solidFill>
                <a:latin typeface="Calibri"/>
              </a:rPr>
              <a:t>Every minute a city posts each bus's position as a point and timestamp; one request appends them all.</a:t>
            </a:r>
          </a:p>
        </p:txBody>
      </p:sp>
      <p:sp>
        <p:nvSpPr>
          <p:cNvPr id="8" name="Rounded Rectangle 7"/>
          <p:cNvSpPr/>
          <p:nvPr/>
        </p:nvSpPr>
        <p:spPr>
          <a:xfrm>
            <a:off x="566928" y="2194560"/>
            <a:ext cx="6400800" cy="24688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DEPANEL"/>
          <p:cNvSpPr txBox="1"/>
          <p:nvPr/>
        </p:nvSpPr>
        <p:spPr>
          <a:xfrm>
            <a:off x="694944" y="2286000"/>
            <a:ext cx="6144768" cy="22860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POST /collections/buses/bulk         </a:t>
            </a:r>
            <a:r>
              <a:rPr sz="1200">
                <a:solidFill>
                  <a:srgbClr val="7E94A6"/>
                </a:solidFill>
                <a:latin typeface="Consolas"/>
              </a:rPr>
              <a:t>// every bus, one minute</a:t>
            </a:r>
          </a:p>
          <a:p>
            <a:pPr>
              <a:lnSpc>
                <a:spcPct val="102000"/>
              </a:lnSpc>
              <a:spcBef>
                <a:spcPts val="0"/>
              </a:spcBef>
              <a:spcAft>
                <a:spcPts val="0"/>
              </a:spcAft>
            </a:pPr>
            <a:r>
              <a:rPr sz="1200">
                <a:solidFill>
                  <a:srgbClr val="C2D0DA"/>
                </a:solidFill>
                <a:latin typeface="Consolas"/>
              </a:rPr>
              <a:t>Content-Encoding: gzip</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"bus_42"</a:t>
            </a:r>
            <a:r>
              <a:rPr sz="1200">
                <a:solidFill>
                  <a:srgbClr val="C2D0DA"/>
                </a:solidFill>
                <a:latin typeface="Consolas"/>
              </a:rPr>
              <a:t>, </a:t>
            </a:r>
            <a:r>
              <a:rPr sz="1200">
                <a:solidFill>
                  <a:srgbClr val="6FC3E0"/>
                </a:solidFill>
                <a:latin typeface="Consolas"/>
              </a:rPr>
              <a:t>"point"</a:t>
            </a:r>
            <a:r>
              <a:rPr sz="1200">
                <a:solidFill>
                  <a:srgbClr val="C2D0DA"/>
                </a:solidFill>
                <a:latin typeface="Consolas"/>
              </a:rPr>
              <a:t>: [</a:t>
            </a:r>
            <a:r>
              <a:rPr sz="1200">
                <a:solidFill>
                  <a:srgbClr val="C9E08A"/>
                </a:solidFill>
                <a:latin typeface="Consolas"/>
              </a:rPr>
              <a:t>4.3517</a:t>
            </a:r>
            <a:r>
              <a:rPr sz="1200">
                <a:solidFill>
                  <a:srgbClr val="C2D0DA"/>
                </a:solidFill>
                <a:latin typeface="Consolas"/>
              </a:rPr>
              <a:t>, </a:t>
            </a:r>
            <a:r>
              <a:rPr sz="1200">
                <a:solidFill>
                  <a:srgbClr val="C9E08A"/>
                </a:solidFill>
                <a:latin typeface="Consolas"/>
              </a:rPr>
              <a:t>50.8466</a:t>
            </a:r>
            <a:r>
              <a:rPr sz="1200">
                <a:solidFill>
                  <a:srgbClr val="C2D0DA"/>
                </a:solidFill>
                <a:latin typeface="Consolas"/>
              </a:rPr>
              <a:t>], </a:t>
            </a:r>
            <a:r>
              <a:rPr sz="1200">
                <a:solidFill>
                  <a:srgbClr val="6FC3E0"/>
                </a:solidFill>
                <a:latin typeface="Consolas"/>
              </a:rPr>
              <a:t>"t"</a:t>
            </a:r>
            <a:r>
              <a:rPr sz="1200">
                <a:solidFill>
                  <a:srgbClr val="C2D0DA"/>
                </a:solidFill>
                <a:latin typeface="Consolas"/>
              </a:rPr>
              <a:t>: </a:t>
            </a:r>
            <a:r>
              <a:rPr sz="1200">
                <a:solidFill>
                  <a:srgbClr val="E6A36A"/>
                </a:solidFill>
                <a:latin typeface="Consolas"/>
              </a:rPr>
              <a:t>"...T10:00:00Z"</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"bus_57"</a:t>
            </a:r>
            <a:r>
              <a:rPr sz="1200">
                <a:solidFill>
                  <a:srgbClr val="C2D0DA"/>
                </a:solidFill>
                <a:latin typeface="Consolas"/>
              </a:rPr>
              <a:t>, </a:t>
            </a:r>
            <a:r>
              <a:rPr sz="1200">
                <a:solidFill>
                  <a:srgbClr val="6FC3E0"/>
                </a:solidFill>
                <a:latin typeface="Consolas"/>
              </a:rPr>
              <a:t>"point"</a:t>
            </a:r>
            <a:r>
              <a:rPr sz="1200">
                <a:solidFill>
                  <a:srgbClr val="C2D0DA"/>
                </a:solidFill>
                <a:latin typeface="Consolas"/>
              </a:rPr>
              <a:t>: [</a:t>
            </a:r>
            <a:r>
              <a:rPr sz="1200">
                <a:solidFill>
                  <a:srgbClr val="C9E08A"/>
                </a:solidFill>
                <a:latin typeface="Consolas"/>
              </a:rPr>
              <a:t>4.3490</a:t>
            </a:r>
            <a:r>
              <a:rPr sz="1200">
                <a:solidFill>
                  <a:srgbClr val="C2D0DA"/>
                </a:solidFill>
                <a:latin typeface="Consolas"/>
              </a:rPr>
              <a:t>, </a:t>
            </a:r>
            <a:r>
              <a:rPr sz="1200">
                <a:solidFill>
                  <a:srgbClr val="C9E08A"/>
                </a:solidFill>
                <a:latin typeface="Consolas"/>
              </a:rPr>
              <a:t>50.8501</a:t>
            </a:r>
            <a:r>
              <a:rPr sz="1200">
                <a:solidFill>
                  <a:srgbClr val="C2D0DA"/>
                </a:solidFill>
                <a:latin typeface="Consolas"/>
              </a:rPr>
              <a:t>], </a:t>
            </a:r>
            <a:r>
              <a:rPr sz="1200">
                <a:solidFill>
                  <a:srgbClr val="6FC3E0"/>
                </a:solidFill>
                <a:latin typeface="Consolas"/>
              </a:rPr>
              <a:t>"t"</a:t>
            </a:r>
            <a:r>
              <a:rPr sz="1200">
                <a:solidFill>
                  <a:srgbClr val="C2D0DA"/>
                </a:solidFill>
                <a:latin typeface="Consolas"/>
              </a:rPr>
              <a:t>: </a:t>
            </a:r>
            <a:r>
              <a:rPr sz="1200">
                <a:solidFill>
                  <a:srgbClr val="E6A36A"/>
                </a:solidFill>
                <a:latin typeface="Consolas"/>
              </a:rPr>
              <a:t>"...T10:00:00Z"</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C9E08A"/>
                </a:solidFill>
                <a:latin typeface="Consolas"/>
              </a:rPr>
              <a:t>812</a:t>
            </a:r>
            <a:r>
              <a:rPr sz="1200">
                <a:solidFill>
                  <a:srgbClr val="C2D0DA"/>
                </a:solidFill>
                <a:latin typeface="Consolas"/>
              </a:rPr>
              <a:t> vehicles ...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9E08A"/>
                </a:solidFill>
                <a:latin typeface="Consolas"/>
              </a:rPr>
              <a:t>201</a:t>
            </a:r>
            <a:r>
              <a:rPr sz="1200">
                <a:solidFill>
                  <a:srgbClr val="C2D0DA"/>
                </a:solidFill>
                <a:latin typeface="Consolas"/>
              </a:rPr>
              <a:t>  { </a:t>
            </a:r>
            <a:r>
              <a:rPr sz="1200">
                <a:solidFill>
                  <a:srgbClr val="6FC3E0"/>
                </a:solidFill>
                <a:latin typeface="Consolas"/>
              </a:rPr>
              <a:t>"observations"</a:t>
            </a:r>
            <a:r>
              <a:rPr sz="1200">
                <a:solidFill>
                  <a:srgbClr val="C2D0DA"/>
                </a:solidFill>
                <a:latin typeface="Consolas"/>
              </a:rPr>
              <a:t>: </a:t>
            </a:r>
            <a:r>
              <a:rPr sz="1200">
                <a:solidFill>
                  <a:srgbClr val="C9E08A"/>
                </a:solidFill>
                <a:latin typeface="Consolas"/>
              </a:rPr>
              <a:t>812</a:t>
            </a:r>
            <a:r>
              <a:rPr sz="1200">
                <a:solidFill>
                  <a:srgbClr val="C2D0DA"/>
                </a:solidFill>
                <a:latin typeface="Consolas"/>
              </a:rPr>
              <a:t>, </a:t>
            </a:r>
            <a:r>
              <a:rPr sz="1200">
                <a:solidFill>
                  <a:srgbClr val="6FC3E0"/>
                </a:solidFill>
                <a:latin typeface="Consolas"/>
              </a:rPr>
              <a:t>"featuresCreated"</a:t>
            </a:r>
            <a:r>
              <a:rPr sz="1200">
                <a:solidFill>
                  <a:srgbClr val="C2D0DA"/>
                </a:solidFill>
                <a:latin typeface="Consolas"/>
              </a:rPr>
              <a:t>: </a:t>
            </a:r>
            <a:r>
              <a:rPr sz="1200">
                <a:solidFill>
                  <a:srgbClr val="C9E08A"/>
                </a:solidFill>
                <a:latin typeface="Consolas"/>
              </a:rPr>
              <a:t>12</a:t>
            </a:r>
            <a:r>
              <a:rPr sz="1200">
                <a:solidFill>
                  <a:srgbClr val="C2D0DA"/>
                </a:solidFill>
                <a:latin typeface="Consolas"/>
              </a:rPr>
              <a:t>, </a:t>
            </a:r>
            <a:r>
              <a:rPr sz="1200">
                <a:solidFill>
                  <a:srgbClr val="6FC3E0"/>
                </a:solidFill>
                <a:latin typeface="Consolas"/>
              </a:rPr>
              <a:t>"featuresExtended"</a:t>
            </a:r>
            <a:r>
              <a:rPr sz="1200">
                <a:solidFill>
                  <a:srgbClr val="C2D0DA"/>
                </a:solidFill>
                <a:latin typeface="Consolas"/>
              </a:rPr>
              <a:t>: </a:t>
            </a:r>
            <a:r>
              <a:rPr sz="1200">
                <a:solidFill>
                  <a:srgbClr val="C9E08A"/>
                </a:solidFill>
                <a:latin typeface="Consolas"/>
              </a:rPr>
              <a:t>800</a:t>
            </a:r>
            <a:r>
              <a:rPr sz="1200">
                <a:solidFill>
                  <a:srgbClr val="C2D0DA"/>
                </a:solidFill>
                <a:latin typeface="Consolas"/>
              </a:rPr>
              <a:t> }</a:t>
            </a:r>
          </a:p>
        </p:txBody>
      </p:sp>
      <p:sp>
        <p:nvSpPr>
          <p:cNvPr id="10" name="TextBox 9"/>
          <p:cNvSpPr txBox="1"/>
          <p:nvPr/>
        </p:nvSpPr>
        <p:spPr>
          <a:xfrm>
            <a:off x="7680960" y="2240280"/>
            <a:ext cx="393192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ENCODING</a:t>
            </a:r>
          </a:p>
        </p:txBody>
      </p:sp>
      <p:sp>
        <p:nvSpPr>
          <p:cNvPr id="11" name="TextBox 10"/>
          <p:cNvSpPr txBox="1"/>
          <p:nvPr/>
        </p:nvSpPr>
        <p:spPr>
          <a:xfrm>
            <a:off x="7680960" y="2606040"/>
            <a:ext cx="3931920" cy="310896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Formats  </a:t>
            </a:r>
            <a:r>
              <a:rPr sz="1200">
                <a:solidFill>
                  <a:srgbClr val="1E2B36"/>
                </a:solidFill>
                <a:latin typeface="Calibri"/>
              </a:rPr>
              <a:t>the body is GeoJSON or GeoParquet (MF-JSON default), the same records either way</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Compression  </a:t>
            </a:r>
            <a:r>
              <a:rPr sz="1200">
                <a:solidFill>
                  <a:srgbClr val="1E2B36"/>
                </a:solidFill>
                <a:latin typeface="Calibri"/>
              </a:rPr>
              <a:t>gzip / deflate / br / zstd, decoded before parsing</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Append  </a:t>
            </a:r>
            <a:r>
              <a:rPr sz="1200">
                <a:solidFill>
                  <a:srgbClr val="1E2B36"/>
                </a:solidFill>
                <a:latin typeface="Calibri"/>
              </a:rPr>
              <a:t>each record becomes one instant via appendInstant; the batch is atomic</a:t>
            </a:r>
          </a:p>
        </p:txBody>
      </p:sp>
      <p:sp>
        <p:nvSpPr>
          <p:cNvPr id="12" name="TextBox 11"/>
          <p:cNvSpPr txBox="1"/>
          <p:nvPr/>
        </p:nvSpPr>
        <p:spPr>
          <a:xfrm>
            <a:off x="566928" y="4800600"/>
            <a:ext cx="11057839" cy="914400"/>
          </a:xfrm>
          <a:prstGeom prst="rect">
            <a:avLst/>
          </a:prstGeom>
          <a:noFill/>
        </p:spPr>
        <p:txBody>
          <a:bodyPr wrap="square" lIns="0" tIns="0" rIns="0" bIns="0">
            <a:noAutofit/>
          </a:bodyPr>
          <a:lstStyle/>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Unknown ids create a moving feature; out-of-order overlaps return 409</a:t>
            </a:r>
          </a:p>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GeoParquet ingest mirrors GET /export, so one file can backfill a whole collection</a:t>
            </a:r>
          </a:p>
        </p:txBody>
      </p:sp>
      <p:sp>
        <p:nvSpPr>
          <p:cNvPr id="13" name="Rectangle 1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5" name="TextBox 14"/>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FUTURE WORK</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One Tier, Many MEOS Engines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11057839" cy="86868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755648"/>
            <a:ext cx="10472623" cy="320040"/>
          </a:xfrm>
          <a:prstGeom prst="rect">
            <a:avLst/>
          </a:prstGeom>
          <a:noFill/>
        </p:spPr>
        <p:txBody>
          <a:bodyPr wrap="square" lIns="0" tIns="0" rIns="0" bIns="0" anchor="t">
            <a:noAutofit/>
          </a:bodyPr>
          <a:lstStyle/>
          <a:p>
            <a:pPr algn="l">
              <a:spcBef>
                <a:spcPts val="0"/>
              </a:spcBef>
              <a:spcAft>
                <a:spcPts val="200"/>
              </a:spcAft>
            </a:pPr>
            <a:r>
              <a:rPr sz="1600" b="1" i="0">
                <a:solidFill>
                  <a:srgbClr val="FFFFFF"/>
                </a:solidFill>
                <a:latin typeface="Calibri"/>
              </a:rPr>
              <a:t>Thin OGC API – Moving Features tier</a:t>
            </a:r>
          </a:p>
        </p:txBody>
      </p:sp>
      <p:sp>
        <p:nvSpPr>
          <p:cNvPr id="7" name="TextBox 6"/>
          <p:cNvSpPr txBox="1"/>
          <p:nvPr/>
        </p:nvSpPr>
        <p:spPr>
          <a:xfrm>
            <a:off x="859536" y="2139696"/>
            <a:ext cx="10472623" cy="274320"/>
          </a:xfrm>
          <a:prstGeom prst="rect">
            <a:avLst/>
          </a:prstGeom>
          <a:noFill/>
        </p:spPr>
        <p:txBody>
          <a:bodyPr wrap="square" lIns="0" tIns="0" rIns="0" bIns="0" anchor="t">
            <a:noAutofit/>
          </a:bodyPr>
          <a:lstStyle/>
          <a:p>
            <a:pPr algn="l">
              <a:spcBef>
                <a:spcPts val="0"/>
              </a:spcBef>
              <a:spcAft>
                <a:spcPts val="200"/>
              </a:spcAft>
            </a:pPr>
            <a:r>
              <a:rPr sz="1200" b="0" i="0">
                <a:solidFill>
                  <a:srgbClr val="CFE2EC"/>
                </a:solidFill>
                <a:latin typeface="Calibri"/>
              </a:rPr>
              <a:t>MF-JSON / WKB wire format  ·  streaming  ·  keyset paging  ·  index pushdown  ·  no MEOS in the tier</a:t>
            </a:r>
          </a:p>
        </p:txBody>
      </p:sp>
      <p:sp>
        <p:nvSpPr>
          <p:cNvPr id="8" name="TextBox 7"/>
          <p:cNvSpPr txBox="1"/>
          <p:nvPr/>
        </p:nvSpPr>
        <p:spPr>
          <a:xfrm>
            <a:off x="566928" y="2633472"/>
            <a:ext cx="11057839" cy="27432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   serves any MEOS-backed engine; the engine becomes a configuration choice</a:t>
            </a:r>
          </a:p>
        </p:txBody>
      </p:sp>
      <p:sp>
        <p:nvSpPr>
          <p:cNvPr id="9" name="Rounded Rectangle 8"/>
          <p:cNvSpPr/>
          <p:nvPr/>
        </p:nvSpPr>
        <p:spPr>
          <a:xfrm>
            <a:off x="566928"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 y="3108960"/>
            <a:ext cx="2558719" cy="475488"/>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MobilityDB</a:t>
            </a:r>
          </a:p>
        </p:txBody>
      </p:sp>
      <p:sp>
        <p:nvSpPr>
          <p:cNvPr id="12" name="TextBox 11"/>
          <p:cNvSpPr txBox="1"/>
          <p:nvPr/>
        </p:nvSpPr>
        <p:spPr>
          <a:xfrm>
            <a:off x="731520"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onsolas"/>
              </a:rPr>
              <a:t>PostgreSQL</a:t>
            </a:r>
          </a:p>
        </p:txBody>
      </p:sp>
      <p:sp>
        <p:nvSpPr>
          <p:cNvPr id="13" name="TextBox 12"/>
          <p:cNvSpPr txBox="1"/>
          <p:nvPr/>
        </p:nvSpPr>
        <p:spPr>
          <a:xfrm>
            <a:off x="731520"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Transactional serving over a live database</a:t>
            </a:r>
          </a:p>
        </p:txBody>
      </p:sp>
      <p:sp>
        <p:nvSpPr>
          <p:cNvPr id="14" name="TextBox 13"/>
          <p:cNvSpPr txBox="1"/>
          <p:nvPr/>
        </p:nvSpPr>
        <p:spPr>
          <a:xfrm>
            <a:off x="731520"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alibri"/>
              </a:rPr>
              <a:t>Operational</a:t>
            </a:r>
          </a:p>
        </p:txBody>
      </p:sp>
      <p:sp>
        <p:nvSpPr>
          <p:cNvPr id="15" name="Rounded Rectangle 14"/>
          <p:cNvSpPr/>
          <p:nvPr/>
        </p:nvSpPr>
        <p:spPr>
          <a:xfrm>
            <a:off x="339996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99967" y="3108960"/>
            <a:ext cx="2558719" cy="475488"/>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455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MobilityDuck</a:t>
            </a:r>
          </a:p>
        </p:txBody>
      </p:sp>
      <p:sp>
        <p:nvSpPr>
          <p:cNvPr id="18" name="TextBox 17"/>
          <p:cNvSpPr txBox="1"/>
          <p:nvPr/>
        </p:nvSpPr>
        <p:spPr>
          <a:xfrm>
            <a:off x="356455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DuckDB</a:t>
            </a:r>
          </a:p>
        </p:txBody>
      </p:sp>
      <p:sp>
        <p:nvSpPr>
          <p:cNvPr id="19" name="TextBox 18"/>
          <p:cNvSpPr txBox="1"/>
          <p:nvPr/>
        </p:nvSpPr>
        <p:spPr>
          <a:xfrm>
            <a:off x="356455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Embedded, Parquet-native lakehouse queries</a:t>
            </a:r>
          </a:p>
        </p:txBody>
      </p:sp>
      <p:sp>
        <p:nvSpPr>
          <p:cNvPr id="20" name="TextBox 19"/>
          <p:cNvSpPr txBox="1"/>
          <p:nvPr/>
        </p:nvSpPr>
        <p:spPr>
          <a:xfrm>
            <a:off x="356455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Planned</a:t>
            </a:r>
          </a:p>
        </p:txBody>
      </p:sp>
      <p:sp>
        <p:nvSpPr>
          <p:cNvPr id="21" name="Rounded Rectangle 20"/>
          <p:cNvSpPr/>
          <p:nvPr/>
        </p:nvSpPr>
        <p:spPr>
          <a:xfrm>
            <a:off x="623300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33007" y="3108960"/>
            <a:ext cx="2558719" cy="475488"/>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759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MobilitySpark</a:t>
            </a:r>
          </a:p>
        </p:txBody>
      </p:sp>
      <p:sp>
        <p:nvSpPr>
          <p:cNvPr id="24" name="TextBox 23"/>
          <p:cNvSpPr txBox="1"/>
          <p:nvPr/>
        </p:nvSpPr>
        <p:spPr>
          <a:xfrm>
            <a:off x="639759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onsolas"/>
              </a:rPr>
              <a:t>Apache Spark</a:t>
            </a:r>
          </a:p>
        </p:txBody>
      </p:sp>
      <p:sp>
        <p:nvSpPr>
          <p:cNvPr id="25" name="TextBox 24"/>
          <p:cNvSpPr txBox="1"/>
          <p:nvPr/>
        </p:nvSpPr>
        <p:spPr>
          <a:xfrm>
            <a:off x="639759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Distributed batch over very large histories</a:t>
            </a:r>
          </a:p>
        </p:txBody>
      </p:sp>
      <p:sp>
        <p:nvSpPr>
          <p:cNvPr id="26" name="TextBox 25"/>
          <p:cNvSpPr txBox="1"/>
          <p:nvPr/>
        </p:nvSpPr>
        <p:spPr>
          <a:xfrm>
            <a:off x="639759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Planned</a:t>
            </a:r>
          </a:p>
        </p:txBody>
      </p:sp>
      <p:sp>
        <p:nvSpPr>
          <p:cNvPr id="27" name="Rounded Rectangle 26"/>
          <p:cNvSpPr/>
          <p:nvPr/>
        </p:nvSpPr>
        <p:spPr>
          <a:xfrm>
            <a:off x="906604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066047" y="3108960"/>
            <a:ext cx="2558719" cy="475488"/>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063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MobilityFlink</a:t>
            </a:r>
          </a:p>
        </p:txBody>
      </p:sp>
      <p:sp>
        <p:nvSpPr>
          <p:cNvPr id="30" name="TextBox 29"/>
          <p:cNvSpPr txBox="1"/>
          <p:nvPr/>
        </p:nvSpPr>
        <p:spPr>
          <a:xfrm>
            <a:off x="923063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onsolas"/>
              </a:rPr>
              <a:t>Apache Flink</a:t>
            </a:r>
          </a:p>
        </p:txBody>
      </p:sp>
      <p:sp>
        <p:nvSpPr>
          <p:cNvPr id="31" name="TextBox 30"/>
          <p:cNvSpPr txBox="1"/>
          <p:nvPr/>
        </p:nvSpPr>
        <p:spPr>
          <a:xfrm>
            <a:off x="923063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Streaming, real-time moving features</a:t>
            </a:r>
          </a:p>
        </p:txBody>
      </p:sp>
      <p:sp>
        <p:nvSpPr>
          <p:cNvPr id="32" name="TextBox 31"/>
          <p:cNvSpPr txBox="1"/>
          <p:nvPr/>
        </p:nvSpPr>
        <p:spPr>
          <a:xfrm>
            <a:off x="923063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Planned</a:t>
            </a:r>
          </a:p>
        </p:txBody>
      </p:sp>
      <p:sp>
        <p:nvSpPr>
          <p:cNvPr id="33" name="TextBox 32"/>
          <p:cNvSpPr txBox="1"/>
          <p:nvPr/>
        </p:nvSpPr>
        <p:spPr>
          <a:xfrm>
            <a:off x="566928" y="5669280"/>
            <a:ext cx="11057839" cy="64008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shared MEOS types and the MF-JSON / WKB wire format; the same tier fronts transactional databases, streaming engines, and lakehouses</a:t>
            </a:r>
          </a:p>
        </p:txBody>
      </p:sp>
      <p:sp>
        <p:nvSpPr>
          <p:cNvPr id="34" name="Rectangle 3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6" name="TextBox 3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RECAP</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The Standard Surface, Recapped</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64592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79222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COLLECTIONS</a:t>
            </a:r>
          </a:p>
        </p:txBody>
      </p:sp>
      <p:sp>
        <p:nvSpPr>
          <p:cNvPr id="8" name="TextBox 7"/>
          <p:cNvSpPr txBox="1"/>
          <p:nvPr/>
        </p:nvSpPr>
        <p:spPr>
          <a:xfrm>
            <a:off x="822960" y="214884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list (GET)</a:t>
            </a:r>
          </a:p>
          <a:p>
            <a:pPr>
              <a:lnSpc>
                <a:spcPct val="100000"/>
              </a:lnSpc>
              <a:spcAft>
                <a:spcPts val="300"/>
              </a:spcAft>
            </a:pPr>
            <a:r>
              <a:rPr sz="1200" b="1">
                <a:solidFill>
                  <a:srgbClr val="156082"/>
                </a:solidFill>
                <a:latin typeface="Calibri"/>
              </a:rPr>
              <a:t>✓ </a:t>
            </a:r>
            <a:r>
              <a:rPr sz="1200">
                <a:solidFill>
                  <a:srgbClr val="1E2B36"/>
                </a:solidFill>
                <a:latin typeface="Calibri"/>
              </a:rPr>
              <a:t>retrieve (GET)</a:t>
            </a:r>
          </a:p>
          <a:p>
            <a:pPr>
              <a:lnSpc>
                <a:spcPct val="100000"/>
              </a:lnSpc>
              <a:spcAft>
                <a:spcPts val="300"/>
              </a:spcAft>
            </a:pPr>
            <a:r>
              <a:rPr sz="1200" b="1">
                <a:solidFill>
                  <a:srgbClr val="156082"/>
                </a:solidFill>
                <a:latin typeface="Calibri"/>
              </a:rPr>
              <a:t>✓ </a:t>
            </a:r>
            <a:r>
              <a:rPr sz="1200">
                <a:solidFill>
                  <a:srgbClr val="1E2B36"/>
                </a:solidFill>
                <a:latin typeface="Calibri"/>
              </a:rPr>
              <a:t>registry-backed</a:t>
            </a:r>
          </a:p>
        </p:txBody>
      </p:sp>
      <p:sp>
        <p:nvSpPr>
          <p:cNvPr id="9" name="Rounded Rectangle 8"/>
          <p:cNvSpPr/>
          <p:nvPr/>
        </p:nvSpPr>
        <p:spPr>
          <a:xfrm>
            <a:off x="4344314"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4314" y="164592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0346" y="179222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MOVING FEATURES</a:t>
            </a:r>
          </a:p>
        </p:txBody>
      </p:sp>
      <p:sp>
        <p:nvSpPr>
          <p:cNvPr id="12" name="TextBox 11"/>
          <p:cNvSpPr txBox="1"/>
          <p:nvPr/>
        </p:nvSpPr>
        <p:spPr>
          <a:xfrm>
            <a:off x="4600346" y="214884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insert (POST)</a:t>
            </a:r>
          </a:p>
          <a:p>
            <a:pPr>
              <a:lnSpc>
                <a:spcPct val="100000"/>
              </a:lnSpc>
              <a:spcAft>
                <a:spcPts val="300"/>
              </a:spcAft>
            </a:pPr>
            <a:r>
              <a:rPr sz="1200" b="1">
                <a:solidFill>
                  <a:srgbClr val="E97132"/>
                </a:solidFill>
                <a:latin typeface="Calibri"/>
              </a:rPr>
              <a:t>✓ </a:t>
            </a:r>
            <a:r>
              <a:rPr sz="1200">
                <a:solidFill>
                  <a:srgbClr val="1E2B36"/>
                </a:solidFill>
                <a:latin typeface="Calibri"/>
              </a:rPr>
              <a:t>retrieve / stream</a:t>
            </a:r>
          </a:p>
          <a:p>
            <a:pPr>
              <a:lnSpc>
                <a:spcPct val="100000"/>
              </a:lnSpc>
              <a:spcAft>
                <a:spcPts val="300"/>
              </a:spcAft>
            </a:pPr>
            <a:r>
              <a:rPr sz="1200" b="1">
                <a:solidFill>
                  <a:srgbClr val="E97132"/>
                </a:solidFill>
                <a:latin typeface="Calibri"/>
              </a:rPr>
              <a:t>✓ </a:t>
            </a:r>
            <a:r>
              <a:rPr sz="1200">
                <a:solidFill>
                  <a:srgbClr val="1E2B36"/>
                </a:solidFill>
                <a:latin typeface="Calibri"/>
              </a:rPr>
              <a:t>delete (DELETE)</a:t>
            </a:r>
          </a:p>
          <a:p>
            <a:pPr>
              <a:lnSpc>
                <a:spcPct val="100000"/>
              </a:lnSpc>
              <a:spcAft>
                <a:spcPts val="300"/>
              </a:spcAft>
            </a:pPr>
            <a:r>
              <a:rPr sz="1200" b="1">
                <a:solidFill>
                  <a:srgbClr val="E97132"/>
                </a:solidFill>
                <a:latin typeface="Calibri"/>
              </a:rPr>
              <a:t>✓ </a:t>
            </a:r>
            <a:r>
              <a:rPr sz="1200">
                <a:solidFill>
                  <a:srgbClr val="1E2B36"/>
                </a:solidFill>
                <a:latin typeface="Calibri"/>
              </a:rPr>
              <a:t>keyset paging</a:t>
            </a:r>
          </a:p>
        </p:txBody>
      </p:sp>
      <p:sp>
        <p:nvSpPr>
          <p:cNvPr id="13" name="Rounded Rectangle 12"/>
          <p:cNvSpPr/>
          <p:nvPr/>
        </p:nvSpPr>
        <p:spPr>
          <a:xfrm>
            <a:off x="8121700"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21700" y="1645920"/>
            <a:ext cx="82296" cy="20574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77732" y="179222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alibri"/>
              </a:rPr>
              <a:t>QUERYING</a:t>
            </a:r>
          </a:p>
        </p:txBody>
      </p:sp>
      <p:sp>
        <p:nvSpPr>
          <p:cNvPr id="16" name="TextBox 15"/>
          <p:cNvSpPr txBox="1"/>
          <p:nvPr/>
        </p:nvSpPr>
        <p:spPr>
          <a:xfrm>
            <a:off x="8377732" y="214884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196B24"/>
                </a:solidFill>
                <a:latin typeface="Calibri"/>
              </a:rPr>
              <a:t>✓ </a:t>
            </a:r>
            <a:r>
              <a:rPr sz="1200">
                <a:solidFill>
                  <a:srgbClr val="1E2B36"/>
                </a:solidFill>
                <a:latin typeface="Calibri"/>
              </a:rPr>
              <a:t>bbox spatial filter</a:t>
            </a:r>
          </a:p>
          <a:p>
            <a:pPr>
              <a:lnSpc>
                <a:spcPct val="100000"/>
              </a:lnSpc>
              <a:spcAft>
                <a:spcPts val="300"/>
              </a:spcAft>
            </a:pPr>
            <a:r>
              <a:rPr sz="1200" b="1">
                <a:solidFill>
                  <a:srgbClr val="196B24"/>
                </a:solidFill>
                <a:latin typeface="Calibri"/>
              </a:rPr>
              <a:t>✓ </a:t>
            </a:r>
            <a:r>
              <a:rPr sz="1200">
                <a:solidFill>
                  <a:srgbClr val="1E2B36"/>
                </a:solidFill>
                <a:latin typeface="Calibri"/>
              </a:rPr>
              <a:t>datetime interval / instant</a:t>
            </a:r>
          </a:p>
          <a:p>
            <a:pPr>
              <a:lnSpc>
                <a:spcPct val="100000"/>
              </a:lnSpc>
              <a:spcAft>
                <a:spcPts val="300"/>
              </a:spcAft>
            </a:pPr>
            <a:r>
              <a:rPr sz="1200" b="1">
                <a:solidFill>
                  <a:srgbClr val="196B24"/>
                </a:solidFill>
                <a:latin typeface="Calibri"/>
              </a:rPr>
              <a:t>✓ </a:t>
            </a:r>
            <a:r>
              <a:rPr sz="1200">
                <a:solidFill>
                  <a:srgbClr val="1E2B36"/>
                </a:solidFill>
                <a:latin typeface="Calibri"/>
              </a:rPr>
              <a:t>subtrajectory clipping</a:t>
            </a:r>
          </a:p>
          <a:p>
            <a:pPr>
              <a:lnSpc>
                <a:spcPct val="100000"/>
              </a:lnSpc>
              <a:spcAft>
                <a:spcPts val="300"/>
              </a:spcAft>
            </a:pPr>
            <a:r>
              <a:rPr sz="1200" b="1">
                <a:solidFill>
                  <a:srgbClr val="196B24"/>
                </a:solidFill>
                <a:latin typeface="Calibri"/>
              </a:rPr>
              <a:t>✓ </a:t>
            </a:r>
            <a:r>
              <a:rPr sz="1200">
                <a:solidFill>
                  <a:srgbClr val="1E2B36"/>
                </a:solidFill>
                <a:latin typeface="Calibri"/>
              </a:rPr>
              <a:t>leaf selector</a:t>
            </a:r>
          </a:p>
        </p:txBody>
      </p:sp>
      <p:sp>
        <p:nvSpPr>
          <p:cNvPr id="17" name="Rounded Rectangle 16"/>
          <p:cNvSpPr/>
          <p:nvPr/>
        </p:nvSpPr>
        <p:spPr>
          <a:xfrm>
            <a:off x="566928"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3886200"/>
            <a:ext cx="82296" cy="205740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03250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alibri"/>
              </a:rPr>
              <a:t>TEMPORAL GEOMETRY</a:t>
            </a:r>
          </a:p>
        </p:txBody>
      </p:sp>
      <p:sp>
        <p:nvSpPr>
          <p:cNvPr id="20" name="TextBox 19"/>
          <p:cNvSpPr txBox="1"/>
          <p:nvPr/>
        </p:nvSpPr>
        <p:spPr>
          <a:xfrm>
            <a:off x="822960" y="438912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A02B93"/>
                </a:solidFill>
                <a:latin typeface="Calibri"/>
              </a:rPr>
              <a:t>✓ </a:t>
            </a:r>
            <a:r>
              <a:rPr sz="1200">
                <a:solidFill>
                  <a:srgbClr val="1E2B36"/>
                </a:solidFill>
                <a:latin typeface="Calibri"/>
              </a:rPr>
              <a:t>get sequence (GET)</a:t>
            </a:r>
          </a:p>
          <a:p>
            <a:pPr>
              <a:lnSpc>
                <a:spcPct val="100000"/>
              </a:lnSpc>
              <a:spcAft>
                <a:spcPts val="300"/>
              </a:spcAft>
            </a:pPr>
            <a:r>
              <a:rPr sz="1200" b="1">
                <a:solidFill>
                  <a:srgbClr val="A02B93"/>
                </a:solidFill>
                <a:latin typeface="Calibri"/>
              </a:rPr>
              <a:t>✓ </a:t>
            </a:r>
            <a:r>
              <a:rPr sz="1200">
                <a:solidFill>
                  <a:srgbClr val="1E2B36"/>
                </a:solidFill>
                <a:latin typeface="Calibri"/>
              </a:rPr>
              <a:t>append sub-trajectory (POST)</a:t>
            </a:r>
          </a:p>
          <a:p>
            <a:pPr>
              <a:lnSpc>
                <a:spcPct val="100000"/>
              </a:lnSpc>
              <a:spcAft>
                <a:spcPts val="300"/>
              </a:spcAft>
            </a:pPr>
            <a:r>
              <a:rPr sz="1200" b="1">
                <a:solidFill>
                  <a:srgbClr val="A02B93"/>
                </a:solidFill>
                <a:latin typeface="Calibri"/>
              </a:rPr>
              <a:t>✓ </a:t>
            </a:r>
            <a:r>
              <a:rPr sz="1200">
                <a:solidFill>
                  <a:srgbClr val="1E2B36"/>
                </a:solidFill>
                <a:latin typeface="Calibri"/>
              </a:rPr>
              <a:t>datetime / leaf clip</a:t>
            </a:r>
          </a:p>
        </p:txBody>
      </p:sp>
      <p:sp>
        <p:nvSpPr>
          <p:cNvPr id="21" name="Rounded Rectangle 20"/>
          <p:cNvSpPr/>
          <p:nvPr/>
        </p:nvSpPr>
        <p:spPr>
          <a:xfrm>
            <a:off x="4344314"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44314" y="388620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00346" y="403250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DERIVED MEASURES</a:t>
            </a:r>
          </a:p>
        </p:txBody>
      </p:sp>
      <p:sp>
        <p:nvSpPr>
          <p:cNvPr id="24" name="TextBox 23"/>
          <p:cNvSpPr txBox="1"/>
          <p:nvPr/>
        </p:nvSpPr>
        <p:spPr>
          <a:xfrm>
            <a:off x="4600346" y="438912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distance</a:t>
            </a:r>
          </a:p>
          <a:p>
            <a:pPr>
              <a:lnSpc>
                <a:spcPct val="100000"/>
              </a:lnSpc>
              <a:spcAft>
                <a:spcPts val="300"/>
              </a:spcAft>
            </a:pPr>
            <a:r>
              <a:rPr sz="1200" b="1">
                <a:solidFill>
                  <a:srgbClr val="156082"/>
                </a:solidFill>
                <a:latin typeface="Calibri"/>
              </a:rPr>
              <a:t>✓ </a:t>
            </a:r>
            <a:r>
              <a:rPr sz="1200">
                <a:solidFill>
                  <a:srgbClr val="1E2B36"/>
                </a:solidFill>
                <a:latin typeface="Calibri"/>
              </a:rPr>
              <a:t>velocity</a:t>
            </a:r>
          </a:p>
          <a:p>
            <a:pPr>
              <a:lnSpc>
                <a:spcPct val="100000"/>
              </a:lnSpc>
              <a:spcAft>
                <a:spcPts val="300"/>
              </a:spcAft>
            </a:pPr>
            <a:r>
              <a:rPr sz="1200" b="1">
                <a:solidFill>
                  <a:srgbClr val="156082"/>
                </a:solidFill>
                <a:latin typeface="Calibri"/>
              </a:rPr>
              <a:t>✓ </a:t>
            </a:r>
            <a:r>
              <a:rPr sz="1200">
                <a:solidFill>
                  <a:srgbClr val="1E2B36"/>
                </a:solidFill>
                <a:latin typeface="Calibri"/>
              </a:rPr>
              <a:t>acceleration → 501 (not derivable)</a:t>
            </a:r>
          </a:p>
          <a:p>
            <a:pPr>
              <a:lnSpc>
                <a:spcPct val="100000"/>
              </a:lnSpc>
              <a:spcAft>
                <a:spcPts val="300"/>
              </a:spcAft>
            </a:pPr>
            <a:r>
              <a:rPr sz="1200" b="1">
                <a:solidFill>
                  <a:srgbClr val="156082"/>
                </a:solidFill>
                <a:latin typeface="Calibri"/>
              </a:rPr>
              <a:t>✓ </a:t>
            </a:r>
            <a:r>
              <a:rPr sz="1200">
                <a:solidFill>
                  <a:srgbClr val="1E2B36"/>
                </a:solidFill>
                <a:latin typeface="Calibri"/>
              </a:rPr>
              <a:t>exact, as TReal</a:t>
            </a:r>
          </a:p>
        </p:txBody>
      </p:sp>
      <p:sp>
        <p:nvSpPr>
          <p:cNvPr id="25" name="Rounded Rectangle 24"/>
          <p:cNvSpPr/>
          <p:nvPr/>
        </p:nvSpPr>
        <p:spPr>
          <a:xfrm>
            <a:off x="8121700"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21700" y="388620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77732" y="403250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CONFORMANCE &amp; SCALE</a:t>
            </a:r>
          </a:p>
        </p:txBody>
      </p:sp>
      <p:sp>
        <p:nvSpPr>
          <p:cNvPr id="28" name="TextBox 27"/>
          <p:cNvSpPr txBox="1"/>
          <p:nvPr/>
        </p:nvSpPr>
        <p:spPr>
          <a:xfrm>
            <a:off x="8377732" y="438912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5 conformance classes</a:t>
            </a:r>
          </a:p>
          <a:p>
            <a:pPr>
              <a:lnSpc>
                <a:spcPct val="100000"/>
              </a:lnSpc>
              <a:spcAft>
                <a:spcPts val="300"/>
              </a:spcAft>
            </a:pPr>
            <a:r>
              <a:rPr sz="1200" b="1">
                <a:solidFill>
                  <a:srgbClr val="E97132"/>
                </a:solidFill>
                <a:latin typeface="Calibri"/>
              </a:rPr>
              <a:t>✓ </a:t>
            </a:r>
            <a:r>
              <a:rPr sz="1200">
                <a:solidFill>
                  <a:srgbClr val="1E2B36"/>
                </a:solidFill>
                <a:latin typeface="Calibri"/>
              </a:rPr>
              <a:t>OpenAPI at /api</a:t>
            </a:r>
          </a:p>
          <a:p>
            <a:pPr>
              <a:lnSpc>
                <a:spcPct val="100000"/>
              </a:lnSpc>
              <a:spcAft>
                <a:spcPts val="300"/>
              </a:spcAft>
            </a:pPr>
            <a:r>
              <a:rPr sz="1200" b="1">
                <a:solidFill>
                  <a:srgbClr val="E97132"/>
                </a:solidFill>
                <a:latin typeface="Calibri"/>
              </a:rPr>
              <a:t>✓ </a:t>
            </a:r>
            <a:r>
              <a:rPr sz="1200">
                <a:solidFill>
                  <a:srgbClr val="1E2B36"/>
                </a:solidFill>
                <a:latin typeface="Calibri"/>
              </a:rPr>
              <a:t>streaming + keyset</a:t>
            </a:r>
          </a:p>
          <a:p>
            <a:pPr>
              <a:lnSpc>
                <a:spcPct val="100000"/>
              </a:lnSpc>
              <a:spcAft>
                <a:spcPts val="300"/>
              </a:spcAft>
            </a:pPr>
            <a:r>
              <a:rPr sz="1200" b="1">
                <a:solidFill>
                  <a:srgbClr val="E97132"/>
                </a:solidFill>
                <a:latin typeface="Calibri"/>
              </a:rPr>
              <a:t>✓ </a:t>
            </a:r>
            <a:r>
              <a:rPr sz="1200">
                <a:solidFill>
                  <a:srgbClr val="1E2B36"/>
                </a:solidFill>
                <a:latin typeface="Calibri"/>
              </a:rPr>
              <a:t>index-using filters</a:t>
            </a:r>
          </a:p>
        </p:txBody>
      </p:sp>
      <p:sp>
        <p:nvSpPr>
          <p:cNvPr id="29" name="Rectangle 28"/>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1" name="TextBox 30"/>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468880"/>
            <a:ext cx="10058400" cy="914400"/>
          </a:xfrm>
          <a:prstGeom prst="rect">
            <a:avLst/>
          </a:prstGeom>
          <a:noFill/>
        </p:spPr>
        <p:txBody>
          <a:bodyPr wrap="square" lIns="0" tIns="0" rIns="0" bIns="0" anchor="t">
            <a:noAutofit/>
          </a:bodyPr>
          <a:lstStyle/>
          <a:p>
            <a:pPr algn="l">
              <a:spcBef>
                <a:spcPts val="0"/>
              </a:spcBef>
              <a:spcAft>
                <a:spcPts val="200"/>
              </a:spcAft>
            </a:pPr>
            <a:r>
              <a:rPr sz="4400" b="1" i="0">
                <a:solidFill>
                  <a:srgbClr val="FFFFFF"/>
                </a:solidFill>
                <a:latin typeface="Calibri Light"/>
              </a:rPr>
              <a:t>Thanks for Listening</a:t>
            </a:r>
          </a:p>
        </p:txBody>
      </p:sp>
      <p:sp>
        <p:nvSpPr>
          <p:cNvPr id="5" name="TextBox 4"/>
          <p:cNvSpPr txBox="1"/>
          <p:nvPr/>
        </p:nvSpPr>
        <p:spPr>
          <a:xfrm>
            <a:off x="566928" y="3566160"/>
            <a:ext cx="10058400" cy="548640"/>
          </a:xfrm>
          <a:prstGeom prst="rect">
            <a:avLst/>
          </a:prstGeom>
          <a:noFill/>
        </p:spPr>
        <p:txBody>
          <a:bodyPr wrap="square" lIns="0" tIns="0" rIns="0" bIns="0" anchor="t">
            <a:noAutofit/>
          </a:bodyPr>
          <a:lstStyle/>
          <a:p>
            <a:pPr algn="l">
              <a:spcBef>
                <a:spcPts val="0"/>
              </a:spcBef>
              <a:spcAft>
                <a:spcPts val="200"/>
              </a:spcAft>
            </a:pPr>
            <a:r>
              <a:rPr sz="2400" b="1" i="0">
                <a:solidFill>
                  <a:srgbClr val="E97132"/>
                </a:solidFill>
                <a:latin typeface="Calibri"/>
              </a:rPr>
              <a:t>Questions?</a:t>
            </a:r>
          </a:p>
        </p:txBody>
      </p:sp>
      <p:pic>
        <p:nvPicPr>
          <p:cNvPr id="6" name="Picture 5" descr="mobilitydb-logo.png"/>
          <p:cNvPicPr>
            <a:picLocks noChangeAspect="1"/>
          </p:cNvPicPr>
          <p:nvPr/>
        </p:nvPicPr>
        <p:blipFill>
          <a:blip r:embed="rId3"/>
          <a:stretch>
            <a:fillRect/>
          </a:stretch>
        </p:blipFill>
        <p:spPr>
          <a:xfrm>
            <a:off x="10070970" y="4297680"/>
            <a:ext cx="1633349" cy="1737360"/>
          </a:xfrm>
          <a:prstGeom prst="rect">
            <a:avLst/>
          </a:prstGeom>
        </p:spPr>
      </p:pic>
      <p:sp>
        <p:nvSpPr>
          <p:cNvPr id="7" name="TextBox 6"/>
          <p:cNvSpPr txBox="1"/>
          <p:nvPr/>
        </p:nvSpPr>
        <p:spPr>
          <a:xfrm>
            <a:off x="10908792" y="6510528"/>
            <a:ext cx="731520" cy="274320"/>
          </a:xfrm>
          <a:prstGeom prst="rect">
            <a:avLst/>
          </a:prstGeom>
          <a:noFill/>
        </p:spPr>
        <p:txBody>
          <a:bodyPr wrap="none">
            <a:spAutoFit/>
          </a:bodyPr>
          <a:lstStyle/>
          <a:p>
            <a:pPr algn="r"/>
            <a:r>
              <a:rPr sz="1200">
                <a:solidFill>
                  <a:srgbClr val="5B6B78"/>
                </a:solidFill>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REFERENCES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Find Out More</a:t>
            </a:r>
          </a:p>
        </p:txBody>
      </p:sp>
      <p:sp>
        <p:nvSpPr>
          <p:cNvPr id="4" name="Rectangle 3"/>
          <p:cNvSpPr/>
          <p:nvPr/>
        </p:nvSpPr>
        <p:spPr>
          <a:xfrm>
            <a:off x="566928" y="115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763392"/>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690240"/>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OGC API – Moving Features – Part 1: Core</a:t>
            </a:r>
          </a:p>
        </p:txBody>
      </p:sp>
      <p:sp>
        <p:nvSpPr>
          <p:cNvPr id="7" name="TextBox 6"/>
          <p:cNvSpPr txBox="1"/>
          <p:nvPr/>
        </p:nvSpPr>
        <p:spPr>
          <a:xfrm>
            <a:off x="932688" y="2001136"/>
            <a:ext cx="10515600" cy="292608"/>
          </a:xfrm>
          <a:prstGeom prst="rect">
            <a:avLst/>
          </a:prstGeom>
          <a:noFill/>
        </p:spPr>
        <p:txBody>
          <a:bodyPr wrap="none" lIns="0" tIns="0" rIns="0" bIns="0">
            <a:noAutofit/>
          </a:bodyPr>
          <a:lstStyle/>
          <a:p>
            <a:pPr algn="l"/>
            <a:r>
              <a:rPr sz="1200" u="none">
                <a:solidFill>
                  <a:srgbClr val="156082"/>
                </a:solidFill>
                <a:latin typeface="Consolas"/>
                <a:hlinkClick r:id="rId2"/>
              </a:rPr>
              <a:t>https://docs.ogc.org/is/22-003r3/22-003r3.html</a:t>
            </a:r>
          </a:p>
        </p:txBody>
      </p:sp>
      <p:sp>
        <p:nvSpPr>
          <p:cNvPr id="8" name="Rectangle 7"/>
          <p:cNvSpPr/>
          <p:nvPr/>
        </p:nvSpPr>
        <p:spPr>
          <a:xfrm>
            <a:off x="566928" y="2604640"/>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531488"/>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MobilityDB</a:t>
            </a:r>
          </a:p>
        </p:txBody>
      </p:sp>
      <p:sp>
        <p:nvSpPr>
          <p:cNvPr id="10" name="TextBox 9"/>
          <p:cNvSpPr txBox="1"/>
          <p:nvPr/>
        </p:nvSpPr>
        <p:spPr>
          <a:xfrm>
            <a:off x="932688" y="2842384"/>
            <a:ext cx="10515600" cy="292608"/>
          </a:xfrm>
          <a:prstGeom prst="rect">
            <a:avLst/>
          </a:prstGeom>
          <a:noFill/>
        </p:spPr>
        <p:txBody>
          <a:bodyPr wrap="none" lIns="0" tIns="0" rIns="0" bIns="0">
            <a:noAutofit/>
          </a:bodyPr>
          <a:lstStyle/>
          <a:p>
            <a:pPr algn="l"/>
            <a:r>
              <a:rPr sz="1200" u="none">
                <a:solidFill>
                  <a:srgbClr val="156082"/>
                </a:solidFill>
                <a:latin typeface="Consolas"/>
                <a:hlinkClick r:id="rId3"/>
              </a:rPr>
              <a:t>https://github.com/MobilityDB/MobilityDB</a:t>
            </a:r>
            <a:r>
              <a:rPr sz="1200">
                <a:solidFill>
                  <a:srgbClr val="5B6B78"/>
                </a:solidFill>
                <a:latin typeface="Consolas"/>
              </a:rPr>
              <a:t>    ·    </a:t>
            </a:r>
            <a:r>
              <a:rPr sz="1200" u="none">
                <a:solidFill>
                  <a:srgbClr val="156082"/>
                </a:solidFill>
                <a:latin typeface="Consolas"/>
                <a:hlinkClick r:id="rId4"/>
              </a:rPr>
              <a:t>https://mobilitydb.com</a:t>
            </a:r>
          </a:p>
        </p:txBody>
      </p:sp>
      <p:sp>
        <p:nvSpPr>
          <p:cNvPr id="11" name="Rectangle 10"/>
          <p:cNvSpPr/>
          <p:nvPr/>
        </p:nvSpPr>
        <p:spPr>
          <a:xfrm>
            <a:off x="566928" y="3445887"/>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372736"/>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MEOS / ecosystem overview</a:t>
            </a:r>
          </a:p>
        </p:txBody>
      </p:sp>
      <p:sp>
        <p:nvSpPr>
          <p:cNvPr id="13" name="TextBox 12"/>
          <p:cNvSpPr txBox="1"/>
          <p:nvPr/>
        </p:nvSpPr>
        <p:spPr>
          <a:xfrm>
            <a:off x="932688" y="3683632"/>
            <a:ext cx="10515600" cy="292608"/>
          </a:xfrm>
          <a:prstGeom prst="rect">
            <a:avLst/>
          </a:prstGeom>
          <a:noFill/>
        </p:spPr>
        <p:txBody>
          <a:bodyPr wrap="none" lIns="0" tIns="0" rIns="0" bIns="0">
            <a:noAutofit/>
          </a:bodyPr>
          <a:lstStyle/>
          <a:p>
            <a:pPr algn="l"/>
            <a:r>
              <a:rPr sz="1200" u="none">
                <a:solidFill>
                  <a:srgbClr val="156082"/>
                </a:solidFill>
                <a:latin typeface="Consolas"/>
                <a:hlinkClick r:id="rId5"/>
              </a:rPr>
              <a:t>https://libmeos.org</a:t>
            </a:r>
          </a:p>
        </p:txBody>
      </p:sp>
      <p:sp>
        <p:nvSpPr>
          <p:cNvPr id="14" name="Rectangle 13"/>
          <p:cNvSpPr/>
          <p:nvPr/>
        </p:nvSpPr>
        <p:spPr>
          <a:xfrm>
            <a:off x="566928" y="4287136"/>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213984"/>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AIS data — Danish Maritime Authority</a:t>
            </a:r>
          </a:p>
        </p:txBody>
      </p:sp>
      <p:sp>
        <p:nvSpPr>
          <p:cNvPr id="16" name="TextBox 15"/>
          <p:cNvSpPr txBox="1"/>
          <p:nvPr/>
        </p:nvSpPr>
        <p:spPr>
          <a:xfrm>
            <a:off x="932688" y="4524880"/>
            <a:ext cx="10515600" cy="292608"/>
          </a:xfrm>
          <a:prstGeom prst="rect">
            <a:avLst/>
          </a:prstGeom>
          <a:noFill/>
        </p:spPr>
        <p:txBody>
          <a:bodyPr wrap="none" lIns="0" tIns="0" rIns="0" bIns="0">
            <a:noAutofit/>
          </a:bodyPr>
          <a:lstStyle/>
          <a:p>
            <a:pPr algn="l"/>
            <a:r>
              <a:rPr sz="1200" u="none">
                <a:solidFill>
                  <a:srgbClr val="156082"/>
                </a:solidFill>
                <a:latin typeface="Consolas"/>
                <a:hlinkClick r:id="rId6"/>
              </a:rPr>
              <a:t>http://aisdata.ais.dk</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28</a:t>
            </a:r>
          </a:p>
        </p:txBody>
      </p:sp>
      <p:sp>
        <p:nvSpPr>
          <p:cNvPr id="20" name="Rectangle 19"/>
          <p:cNvSpPr/>
          <p:nvPr/>
        </p:nvSpPr>
        <p:spPr>
          <a:xfrm>
            <a:off x="566928" y="5128384"/>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5055232"/>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MobilityAPI tutorial notebook</a:t>
            </a:r>
          </a:p>
        </p:txBody>
      </p:sp>
      <p:sp>
        <p:nvSpPr>
          <p:cNvPr id="22" name="TextBox 21"/>
          <p:cNvSpPr txBox="1"/>
          <p:nvPr/>
        </p:nvSpPr>
        <p:spPr>
          <a:xfrm>
            <a:off x="932688" y="5366128"/>
            <a:ext cx="10515600" cy="292608"/>
          </a:xfrm>
          <a:prstGeom prst="rect">
            <a:avLst/>
          </a:prstGeom>
          <a:noFill/>
        </p:spPr>
        <p:txBody>
          <a:bodyPr wrap="none" lIns="0" tIns="0" rIns="0" bIns="0">
            <a:noAutofit/>
          </a:bodyPr>
          <a:lstStyle/>
          <a:p>
            <a:pPr algn="l"/>
            <a:r>
              <a:rPr sz="1200" u="none">
                <a:solidFill>
                  <a:srgbClr val="156082"/>
                </a:solidFill>
                <a:latin typeface="Consolas"/>
                <a:hlinkClick r:id="rId7"/>
              </a:rPr>
              <a:t>https://github.com/MobilityDB/MobilityAPI/blob/master/tutorial/tutorial.ipynb</a:t>
            </a:r>
          </a:p>
        </p:txBody>
      </p:sp>
      <p:sp>
        <p:nvSpPr>
          <p:cNvPr id="20" name="Rectangle 19"/>
          <p:cNvSpPr/>
          <p:nvPr/>
        </p:nvSpPr>
        <p:spPr>
          <a:xfrm>
            <a:off x="566928" y="5969632"/>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5896480"/>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MobilityAPI — Python implementation (PyMEOS)</a:t>
            </a:r>
          </a:p>
        </p:txBody>
      </p:sp>
      <p:sp>
        <p:nvSpPr>
          <p:cNvPr id="22" name="TextBox 21"/>
          <p:cNvSpPr txBox="1"/>
          <p:nvPr/>
        </p:nvSpPr>
        <p:spPr>
          <a:xfrm>
            <a:off x="932688" y="6207376"/>
            <a:ext cx="10515600" cy="292608"/>
          </a:xfrm>
          <a:prstGeom prst="rect">
            <a:avLst/>
          </a:prstGeom>
          <a:noFill/>
        </p:spPr>
        <p:txBody>
          <a:bodyPr wrap="none" lIns="0" tIns="0" rIns="0" bIns="0">
            <a:noAutofit/>
          </a:bodyPr>
          <a:lstStyle/>
          <a:p>
            <a:pPr algn="l"/>
            <a:r>
              <a:rPr sz="1200" u="none">
                <a:solidFill>
                  <a:srgbClr val="156082"/>
                </a:solidFill>
                <a:latin typeface="Consolas"/>
                <a:hlinkClick r:id="rId7"/>
              </a:rPr>
              <a:t>https://github.com/MobilityDB/MobilityAPI-Python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4618</Words>
  <Application>Microsoft Office PowerPoint</Application>
  <PresentationFormat>Widescreen</PresentationFormat>
  <Paragraphs>571</Paragraphs>
  <Slides>28</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ZIMANYI Esteban</cp:lastModifiedBy>
  <cp:revision>2</cp:revision>
  <dcterms:created xsi:type="dcterms:W3CDTF">2013-01-27T09:14:16Z</dcterms:created>
  <dcterms:modified xsi:type="dcterms:W3CDTF">2026-05-30T21:19:36Z</dcterms:modified>
  <cp:category/>
</cp:coreProperties>
</file>