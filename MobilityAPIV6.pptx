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2" r:id="rId24"/>
    <p:sldId id="283" r:id="rId25"/>
    <p:sldId id="278" r:id="rId26"/>
    <p:sldId id="279" r:id="rId27"/>
    <p:sldId id="280" r:id="rId28"/>
    <p:sldId id="281"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526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OGC data model maps one to one onto MobilityAPI's REST resources.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the live walkthrough against the ships collection.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bbox query is a spatial pre-filter executed by MobilityDB's GiST index over the inline STBOX.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 Id="rId7" Type="http://schemas.openxmlformats.org/officeDocument/2006/relationships/hyperlink" Target="https://github.com/MobilityDB/MobilityAPI/blob/master/tutorial/tutorial.ipynb"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965960"/>
            <a:ext cx="8686800" cy="1097280"/>
          </a:xfrm>
          <a:prstGeom prst="rect">
            <a:avLst/>
          </a:prstGeom>
          <a:noFill/>
        </p:spPr>
        <p:txBody>
          <a:bodyPr wrap="square" lIns="0" tIns="0" rIns="0" bIns="0" anchor="t">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lIns="0" tIns="0" rIns="0" bIns="0" anchor="t">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4096512"/>
            <a:ext cx="9326880" cy="457200"/>
          </a:xfrm>
          <a:prstGeom prst="rect">
            <a:avLst/>
          </a:prstGeom>
          <a:noFill/>
        </p:spPr>
        <p:txBody>
          <a:bodyPr wrap="square" lIns="0" tIns="0" rIns="0" bIns="0" anchor="t">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3"/>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4"/>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lIns="0" tIns="0" rIns="0" bIns="0" anchor="t">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
        <p:nvSpPr>
          <p:cNvPr id="11" name="TextBox 10"/>
          <p:cNvSpPr txBox="1"/>
          <p:nvPr/>
        </p:nvSpPr>
        <p:spPr>
          <a:xfrm>
            <a:off x="10908792" y="6510528"/>
            <a:ext cx="731520" cy="274320"/>
          </a:xfrm>
          <a:prstGeom prst="rect">
            <a:avLst/>
          </a:prstGeom>
          <a:noFill/>
        </p:spPr>
        <p:txBody>
          <a:bodyPr wrap="none">
            <a:spAutoFit/>
          </a:bodyPr>
          <a:lstStyle/>
          <a:p>
            <a:pPr algn="r"/>
            <a:r>
              <a:rPr sz="1200">
                <a:solidFill>
                  <a:srgbClr val="5B6B78"/>
                </a:solidFill>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45920"/>
            <a:ext cx="6400800" cy="4206240"/>
          </a:xfrm>
          <a:prstGeom prst="rect">
            <a:avLst/>
          </a:prstGeom>
          <a:noFill/>
        </p:spPr>
        <p:txBody>
          <a:bodyPr wrap="square" lIns="0" tIns="0" r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endParaRPr/>
          </a:p>
        </p:txBody>
      </p:sp>
      <p:sp>
        <p:nvSpPr>
          <p:cNvPr id="7" name="TextBox 6"/>
          <p:cNvSpPr txBox="1"/>
          <p:nvPr/>
        </p:nvSpPr>
        <p:spPr>
          <a:xfrm>
            <a:off x="7863840" y="1773936"/>
            <a:ext cx="35204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9" name="TextBox 8"/>
          <p:cNvSpPr txBox="1"/>
          <p:nvPr/>
        </p:nvSpPr>
        <p:spPr>
          <a:xfrm>
            <a:off x="7909560"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1" name="TextBox 10"/>
          <p:cNvSpPr txBox="1"/>
          <p:nvPr/>
        </p:nvSpPr>
        <p:spPr>
          <a:xfrm>
            <a:off x="9095232"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3" name="TextBox 12"/>
          <p:cNvSpPr txBox="1"/>
          <p:nvPr/>
        </p:nvSpPr>
        <p:spPr>
          <a:xfrm>
            <a:off x="10280903"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7" name="TextBox 16"/>
          <p:cNvSpPr txBox="1"/>
          <p:nvPr/>
        </p:nvSpPr>
        <p:spPr>
          <a:xfrm>
            <a:off x="8092440" y="3191256"/>
            <a:ext cx="306324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22" name="TextBox 21"/>
          <p:cNvSpPr txBox="1"/>
          <p:nvPr/>
        </p:nvSpPr>
        <p:spPr>
          <a:xfrm>
            <a:off x="8092440" y="4334256"/>
            <a:ext cx="3063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4681728"/>
            <a:ext cx="5486400" cy="32004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tIns="0" r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ODEPANEL"/>
          <p:cNvSpPr txBox="1"/>
          <p:nvPr/>
        </p:nvSpPr>
        <p:spPr>
          <a:xfrm>
            <a:off x="694944" y="2011680"/>
            <a:ext cx="5090007"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ODEPANEL"/>
          <p:cNvSpPr txBox="1"/>
          <p:nvPr/>
        </p:nvSpPr>
        <p:spPr>
          <a:xfrm>
            <a:off x="6406743" y="2011680"/>
            <a:ext cx="5090007" cy="33375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Rectangle 1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3" name="TextBox 12"/>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moving-features-class-diagram.png"/>
          <p:cNvPicPr>
            <a:picLocks noChangeAspect="1"/>
          </p:cNvPicPr>
          <p:nvPr/>
        </p:nvPicPr>
        <p:blipFill>
          <a:blip r:embed="rId3"/>
          <a:stretch>
            <a:fillRect/>
          </a:stretch>
        </p:blipFill>
        <p:spPr>
          <a:xfrm>
            <a:off x="2471471"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388352"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top.png"/>
          <p:cNvPicPr>
            <a:picLocks noChangeAspect="1"/>
          </p:cNvPicPr>
          <p:nvPr/>
        </p:nvPicPr>
        <p:blipFill>
          <a:blip r:embed="rId3"/>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bot.png"/>
          <p:cNvPicPr>
            <a:picLocks noChangeAspect="1"/>
          </p:cNvPicPr>
          <p:nvPr/>
        </p:nvPicPr>
        <p:blipFill>
          <a:blip r:embed="rId3"/>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44752"/>
            <a:ext cx="4206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55648"/>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968496"/>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Rounded Rectangle 19"/>
          <p:cNvSpPr/>
          <p:nvPr/>
        </p:nvSpPr>
        <p:spPr>
          <a:xfrm>
            <a:off x="5138928" y="5376672"/>
            <a:ext cx="6485839" cy="969264"/>
          </a:xfrm>
          <a:prstGeom prst="roundRect">
            <a:avLst>
              <a:gd name="adj" fmla="val 4000"/>
            </a:avLst>
          </a:prstGeom>
          <a:solidFill>
            <a:srgbClr val="F1F5F8"/>
          </a:solidFill>
          <a:ln>
            <a:noFill/>
          </a:ln>
          <a:effectLst/>
        </p:spPr>
        <p:txBody>
          <a:bodyPr rtlCol="0" anchor="ctr"/>
          <a:lstStyle/>
          <a:p>
            <a:pPr algn="ctr"/>
            <a:endParaRPr/>
          </a:p>
        </p:txBody>
      </p:sp>
      <p:sp>
        <p:nvSpPr>
          <p:cNvPr id="21" name="TextBox 20"/>
          <p:cNvSpPr txBox="1"/>
          <p:nvPr/>
        </p:nvSpPr>
        <p:spPr>
          <a:xfrm>
            <a:off x="5394960" y="5468112"/>
            <a:ext cx="5973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How fields are provided</a:t>
            </a:r>
          </a:p>
        </p:txBody>
      </p:sp>
      <p:sp>
        <p:nvSpPr>
          <p:cNvPr id="22" name="TextBox 21"/>
          <p:cNvSpPr txBox="1"/>
          <p:nvPr/>
        </p:nvSpPr>
        <p:spPr>
          <a:xfrm>
            <a:off x="5394960" y="5760720"/>
            <a:ext cx="5973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Derived fields come O(1) from the tgeompoint and its inline STBOX</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Links are generated per request</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ig_overview_real.png"/>
          <p:cNvPicPr>
            <a:picLocks noChangeAspect="1"/>
          </p:cNvPicPr>
          <p:nvPr/>
        </p:nvPicPr>
        <p:blipFill>
          <a:blip r:embed="rId3"/>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tIns="0" r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19613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9" name="TextBox 8"/>
          <p:cNvSpPr txBox="1"/>
          <p:nvPr/>
        </p:nvSpPr>
        <p:spPr>
          <a:xfrm>
            <a:off x="1353312" y="195681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3271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Rounded Rectangle 10"/>
          <p:cNvSpPr/>
          <p:nvPr/>
        </p:nvSpPr>
        <p:spPr>
          <a:xfrm>
            <a:off x="1280160" y="23271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2" name="TextBox 11"/>
          <p:cNvSpPr txBox="1"/>
          <p:nvPr/>
        </p:nvSpPr>
        <p:spPr>
          <a:xfrm>
            <a:off x="2139696" y="232257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6929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4" name="Rounded Rectangle 13"/>
          <p:cNvSpPr/>
          <p:nvPr/>
        </p:nvSpPr>
        <p:spPr>
          <a:xfrm>
            <a:off x="1280160" y="26929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5" name="TextBox 14"/>
          <p:cNvSpPr txBox="1"/>
          <p:nvPr/>
        </p:nvSpPr>
        <p:spPr>
          <a:xfrm>
            <a:off x="2359152" y="2688336"/>
            <a:ext cx="924732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0586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7" name="Rounded Rectangle 16"/>
          <p:cNvSpPr/>
          <p:nvPr/>
        </p:nvSpPr>
        <p:spPr>
          <a:xfrm>
            <a:off x="1280160" y="305866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8" name="TextBox 17"/>
          <p:cNvSpPr txBox="1"/>
          <p:nvPr/>
        </p:nvSpPr>
        <p:spPr>
          <a:xfrm>
            <a:off x="2139696" y="305409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42442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0" name="TextBox 19"/>
          <p:cNvSpPr txBox="1"/>
          <p:nvPr/>
        </p:nvSpPr>
        <p:spPr>
          <a:xfrm>
            <a:off x="1353312" y="341985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379018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2" name="TextBox 21"/>
          <p:cNvSpPr txBox="1"/>
          <p:nvPr/>
        </p:nvSpPr>
        <p:spPr>
          <a:xfrm>
            <a:off x="1353312" y="3785615"/>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155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4" name="TextBox 23"/>
          <p:cNvSpPr txBox="1"/>
          <p:nvPr/>
        </p:nvSpPr>
        <p:spPr>
          <a:xfrm>
            <a:off x="1353312" y="415137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5217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6" name="TextBox 25"/>
          <p:cNvSpPr txBox="1"/>
          <p:nvPr/>
        </p:nvSpPr>
        <p:spPr>
          <a:xfrm>
            <a:off x="1353312" y="451713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8" name="TextBox 27"/>
          <p:cNvSpPr txBox="1"/>
          <p:nvPr/>
        </p:nvSpPr>
        <p:spPr>
          <a:xfrm>
            <a:off x="1353312" y="488289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   ·   /api   ·   /conformance</a:t>
            </a:r>
          </a:p>
        </p:txBody>
      </p:sp>
      <p:sp>
        <p:nvSpPr>
          <p:cNvPr id="29" name="Rounded Rectangle 28"/>
          <p:cNvSpPr/>
          <p:nvPr/>
        </p:nvSpPr>
        <p:spPr>
          <a:xfrm>
            <a:off x="566928" y="5358384"/>
            <a:ext cx="11057839" cy="969264"/>
          </a:xfrm>
          <a:prstGeom prst="roundRect">
            <a:avLst>
              <a:gd name="adj" fmla="val 4000"/>
            </a:avLst>
          </a:prstGeom>
          <a:solidFill>
            <a:srgbClr val="F1F5F8"/>
          </a:solidFill>
          <a:ln>
            <a:noFill/>
          </a:ln>
          <a:effectLst/>
        </p:spPr>
        <p:txBody>
          <a:bodyPr rtlCol="0" anchor="ctr"/>
          <a:lstStyle/>
          <a:p>
            <a:pPr algn="ctr"/>
            <a:endParaRPr/>
          </a:p>
        </p:txBody>
      </p:sp>
      <p:sp>
        <p:nvSpPr>
          <p:cNvPr id="30" name="TextBox 29"/>
          <p:cNvSpPr txBox="1"/>
          <p:nvPr/>
        </p:nvSpPr>
        <p:spPr>
          <a:xfrm>
            <a:off x="822960" y="5449824"/>
            <a:ext cx="10545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Notes</a:t>
            </a:r>
          </a:p>
        </p:txBody>
      </p:sp>
      <p:sp>
        <p:nvSpPr>
          <p:cNvPr id="31" name="TextBox 30"/>
          <p:cNvSpPr txBox="1"/>
          <p:nvPr/>
        </p:nvSpPr>
        <p:spPr>
          <a:xfrm>
            <a:off x="822960" y="5742432"/>
            <a:ext cx="10545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Every path above is OGC API – Moving Features – Part 1: Core; acceleration returns 501 (not derivable)</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Items query parameters: bbox, datetime, subtrajectory, leaf, limit, page cursor</a:t>
            </a:r>
          </a:p>
        </p:txBody>
      </p:sp>
      <p:sp>
        <p:nvSpPr>
          <p:cNvPr id="32" name="Rectangle 3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4" name="TextBox 3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240280"/>
            <a:ext cx="8229600" cy="365760"/>
          </a:xfrm>
          <a:prstGeom prst="rect">
            <a:avLst/>
          </a:prstGeom>
          <a:noFill/>
        </p:spPr>
        <p:txBody>
          <a:bodyPr wrap="square" lIns="0" tIns="0" rIns="0" bIns="0" anchor="t">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lIns="0" tIns="0" rIns="0" bIns="0" anchor="t">
            <a:noAutofit/>
          </a:bodyPr>
          <a:lstStyle/>
          <a:p>
            <a:pPr algn="l">
              <a:spcBef>
                <a:spcPts val="0"/>
              </a:spcBef>
              <a:spcAft>
                <a:spcPts val="200"/>
              </a:spcAft>
            </a:pPr>
            <a:r>
              <a:rPr sz="1600" b="0" i="0">
                <a:solidFill>
                  <a:srgbClr val="9EB8C8"/>
                </a:solidFill>
                <a:latin typeface="Calibri"/>
              </a:rPr>
              <a:t>List  →  filter  →  retrieve  →  derive  →  write, all over HTTP</a:t>
            </a:r>
          </a:p>
        </p:txBody>
      </p:sp>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5230368" cy="374903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ODEPANEL"/>
          <p:cNvSpPr txBox="1"/>
          <p:nvPr/>
        </p:nvSpPr>
        <p:spPr>
          <a:xfrm>
            <a:off x="6409944" y="2286000"/>
            <a:ext cx="5086807" cy="25603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784848" cy="425195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tIns="0" r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373368" cy="42976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6002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datetime, subtrajectory, limit and after</a:t>
            </a:r>
          </a:p>
        </p:txBody>
      </p:sp>
      <p:pic>
        <p:nvPicPr>
          <p:cNvPr id="10" name="Picture 9" descr="fig_bbox_real.png"/>
          <p:cNvPicPr>
            <a:picLocks noChangeAspect="1"/>
          </p:cNvPicPr>
          <p:nvPr/>
        </p:nvPicPr>
        <p:blipFill>
          <a:blip r:embed="rId3"/>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7830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tIns="0" r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WRITES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23036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78308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4" name="TextBox 13"/>
          <p:cNvSpPr txBox="1"/>
          <p:nvPr/>
        </p:nvSpPr>
        <p:spPr>
          <a:xfrm>
            <a:off x="7324344" y="1773936"/>
            <a:ext cx="4300423"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130552"/>
            <a:ext cx="5342839"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measures:  </a:t>
            </a:r>
            <a:r>
              <a:rPr sz="1200">
                <a:solidFill>
                  <a:srgbClr val="1E2B36"/>
                </a:solidFill>
                <a:latin typeface="Calibri"/>
              </a:rPr>
              <a:t>velocity and distance are computed from the geometry and are read-only; change the geometry to change them</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Member delete:  </a:t>
            </a:r>
            <a:r>
              <a:rPr sz="1200">
                <a:solidFill>
                  <a:srgbClr val="1E2B36"/>
                </a:solidFill>
                <a:latin typeface="Calibri"/>
              </a:rPr>
              <a:t>DELETE /…/tgsequence/{id} drops one geometry member by index via deleteTime; DELETE on the item removes the whole feature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30175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"TemporalGeometrySequence"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"id": 1, "type": "MovingPoint",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Rounded Rectangle 10"/>
          <p:cNvSpPr/>
          <p:nvPr/>
        </p:nvSpPr>
        <p:spPr>
          <a:xfrm>
            <a:off x="6281928" y="4160520"/>
            <a:ext cx="5342839" cy="969264"/>
          </a:xfrm>
          <a:prstGeom prst="roundRect">
            <a:avLst>
              <a:gd name="adj" fmla="val 4000"/>
            </a:avLst>
          </a:prstGeom>
          <a:solidFill>
            <a:srgbClr val="F1F5F8"/>
          </a:solidFill>
          <a:ln>
            <a:noFill/>
          </a:ln>
          <a:effectLst/>
        </p:spPr>
        <p:txBody>
          <a:bodyPr rtlCol="0" anchor="ctr"/>
          <a:lstStyle/>
          <a:p>
            <a:pPr algn="ctr"/>
            <a:endParaRPr/>
          </a:p>
        </p:txBody>
      </p:sp>
      <p:sp>
        <p:nvSpPr>
          <p:cNvPr id="12" name="TextBox 11"/>
          <p:cNvSpPr txBox="1"/>
          <p:nvPr/>
        </p:nvSpPr>
        <p:spPr>
          <a:xfrm>
            <a:off x="6537960" y="4251959"/>
            <a:ext cx="4830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13" name="TextBox 12"/>
          <p:cNvSpPr txBox="1"/>
          <p:nvPr/>
        </p:nvSpPr>
        <p:spPr>
          <a:xfrm>
            <a:off x="6537960" y="4544568"/>
            <a:ext cx="4830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The temporal geometry is the trajectory itself</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Returned as MovingFeaturesJSON by asMFJSON</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41324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41324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48839"/>
          </a:xfrm>
          <a:prstGeom prst="rect">
            <a:avLst/>
          </a:prstGeom>
          <a:noFill/>
        </p:spPr>
        <p:txBody>
          <a:bodyPr wrap="square" lIns="0" tIns="0" rIns="0" bIns="0">
            <a:noAutofit/>
          </a:bodyPr>
          <a:lstStyle/>
          <a:p>
            <a:pPr>
              <a:lnSpc>
                <a:spcPct val="102000"/>
              </a:lnSpc>
              <a:spcBef>
                <a:spcPts val="0"/>
              </a:spcBef>
              <a:spcAft>
                <a:spcPts val="0"/>
              </a:spcAft>
            </a:pPr>
            <a:r>
              <a:rPr sz="1200" dirty="0">
                <a:solidFill>
                  <a:srgbClr val="C9E08A"/>
                </a:solidFill>
                <a:latin typeface="Consolas"/>
              </a:rPr>
              <a:t>200</a:t>
            </a:r>
            <a:r>
              <a:rPr sz="1200" dirty="0">
                <a:solidFill>
                  <a:srgbClr val="C2D0DA"/>
                </a:solidFill>
                <a:latin typeface="Consolas"/>
              </a:rPr>
              <a:t> OK</a:t>
            </a:r>
          </a:p>
          <a:p>
            <a:pPr>
              <a:lnSpc>
                <a:spcPct val="102000"/>
              </a:lnSpc>
              <a:spcBef>
                <a:spcPts val="0"/>
              </a:spcBef>
              <a:spcAft>
                <a:spcPts val="0"/>
              </a:spcAft>
            </a:pP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temporalProperties</a:t>
            </a:r>
            <a:r>
              <a:rPr sz="1200" dirty="0">
                <a:solidFill>
                  <a:srgbClr val="6FC3E0"/>
                </a:solidFill>
                <a:latin typeface="Consolas"/>
              </a:rPr>
              <a: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"fuel"</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"cargo_temp"</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"Cel"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"load"</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numberReturned</a:t>
            </a:r>
            <a:r>
              <a:rPr sz="1200" dirty="0">
                <a:solidFill>
                  <a:srgbClr val="6FC3E0"/>
                </a:solidFill>
                <a:latin typeface="Consolas"/>
              </a:rPr>
              <a:t>"</a:t>
            </a:r>
            <a:r>
              <a:rPr sz="1200" dirty="0">
                <a:solidFill>
                  <a:srgbClr val="C2D0DA"/>
                </a:solidFill>
                <a:latin typeface="Consolas"/>
              </a:rPr>
              <a:t>: </a:t>
            </a:r>
            <a:r>
              <a:rPr sz="1200" dirty="0">
                <a:solidFill>
                  <a:srgbClr val="C9E08A"/>
                </a:solidFill>
                <a:latin typeface="Consolas"/>
              </a:rPr>
              <a:t>3</a:t>
            </a: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"links"</a:t>
            </a:r>
            <a:r>
              <a:rPr sz="1200" dirty="0">
                <a:solidFill>
                  <a:srgbClr val="C2D0DA"/>
                </a:solidFill>
                <a:latin typeface="Consolas"/>
              </a:rPr>
              <a:t>: [ { </a:t>
            </a:r>
            <a:r>
              <a:rPr sz="1200" dirty="0">
                <a:solidFill>
                  <a:srgbClr val="6FC3E0"/>
                </a:solidFill>
                <a:latin typeface="Consolas"/>
              </a:rPr>
              <a:t>"</a:t>
            </a:r>
            <a:r>
              <a:rPr sz="1200" dirty="0" err="1">
                <a:solidFill>
                  <a:srgbClr val="6FC3E0"/>
                </a:solidFill>
                <a:latin typeface="Consolas"/>
              </a:rPr>
              <a:t>rel</a:t>
            </a:r>
            <a:r>
              <a:rPr sz="1200" dirty="0">
                <a:solidFill>
                  <a:srgbClr val="6FC3E0"/>
                </a:solidFill>
                <a:latin typeface="Consolas"/>
              </a:rPr>
              <a:t>"</a:t>
            </a:r>
            <a:r>
              <a:rPr sz="1200" dirty="0">
                <a:solidFill>
                  <a:srgbClr val="C2D0DA"/>
                </a:solidFill>
                <a:latin typeface="Consolas"/>
              </a:rPr>
              <a:t>: </a:t>
            </a:r>
            <a:r>
              <a:rPr sz="1200" dirty="0">
                <a:solidFill>
                  <a:srgbClr val="E6A36A"/>
                </a:solidFill>
                <a:latin typeface="Consolas"/>
              </a:rPr>
              <a:t>"self"</a:t>
            </a:r>
            <a:r>
              <a:rPr sz="1200" dirty="0">
                <a:solidFill>
                  <a:srgbClr val="C2D0DA"/>
                </a:solidFill>
                <a:latin typeface="Consolas"/>
              </a:rPr>
              <a:t>, ... } ]</a:t>
            </a:r>
          </a:p>
          <a:p>
            <a:pPr>
              <a:lnSpc>
                <a:spcPct val="102000"/>
              </a:lnSpc>
              <a:spcBef>
                <a:spcPts val="0"/>
              </a:spcBef>
              <a:spcAft>
                <a:spcPts val="0"/>
              </a:spcAft>
            </a:pPr>
            <a:r>
              <a:rPr sz="1200" dirty="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/collections/ships/items/1/tproperties/fuel?leaf=...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800600"/>
            <a:ext cx="5230368" cy="12801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"fuel"</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TBoolean · TText · TInteger · TReal</a:t>
            </a:r>
          </a:p>
        </p:txBody>
      </p:sp>
      <p:sp>
        <p:nvSpPr>
          <p:cNvPr id="15" name="TextBox 14"/>
          <p:cNvSpPr txBox="1"/>
          <p:nvPr/>
        </p:nvSpPr>
        <p:spPr>
          <a:xfrm>
            <a:off x="6281928" y="2377440"/>
            <a:ext cx="5342839" cy="3474720"/>
          </a:xfrm>
          <a:prstGeom prst="rect">
            <a:avLst/>
          </a:prstGeom>
          <a:noFill/>
        </p:spPr>
        <p:txBody>
          <a:bodyPr wrap="square" lIns="0" tIns="0" r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user-supplied attributes — fuel, cargo temperature, load — held as native MobilityDB temporal values</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Writable:  </a:t>
            </a:r>
            <a:r>
              <a:rPr sz="1200">
                <a:solidFill>
                  <a:srgbClr val="1E2B36"/>
                </a:solidFill>
                <a:latin typeface="Calibri"/>
              </a:rPr>
              <a:t>POST creates a property, POST appends values via merge, DELETE removes it</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 datetime:  </a:t>
            </a:r>
            <a:r>
              <a:rPr sz="1200">
                <a:solidFill>
                  <a:srgbClr val="1E2B36"/>
                </a:solidFill>
                <a:latin typeface="Calibri"/>
              </a:rPr>
              <a:t>leaf selects values at given instants (Discrete); datetime clips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914"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50300"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SCALE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Streaming Keeps Memory Bounded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011680"/>
            <a:ext cx="3108960" cy="640080"/>
          </a:xfrm>
          <a:prstGeom prst="rect">
            <a:avLst/>
          </a:prstGeom>
          <a:noFill/>
        </p:spPr>
        <p:txBody>
          <a:bodyPr wrap="square" lIns="0" tIns="0" rIns="0" bIns="0" anchor="t">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lIns="0" tIns="0" rIns="0" bIns="0" anchor="t">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tIns="0" r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22</a:t>
            </a:r>
          </a:p>
        </p:txBody>
      </p:sp>
      <p:sp>
        <p:nvSpPr>
          <p:cNvPr id="23" name="Rounded Rectangle 22"/>
          <p:cNvSpPr/>
          <p:nvPr/>
        </p:nvSpPr>
        <p:spPr>
          <a:xfrm>
            <a:off x="566928" y="4663440"/>
            <a:ext cx="11055096" cy="9601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4818888"/>
            <a:ext cx="1051560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Why it scales</a:t>
            </a:r>
          </a:p>
        </p:txBody>
      </p:sp>
      <p:sp>
        <p:nvSpPr>
          <p:cNvPr id="25" name="TextBox 24"/>
          <p:cNvSpPr txBox="1"/>
          <p:nvPr/>
        </p:nvSpPr>
        <p:spPr>
          <a:xfrm>
            <a:off x="841248" y="5138928"/>
            <a:ext cx="10515600" cy="457200"/>
          </a:xfrm>
          <a:prstGeom prst="rect">
            <a:avLst/>
          </a:prstGeom>
          <a:noFill/>
        </p:spPr>
        <p:txBody>
          <a:bodyPr wrap="square" lIns="0" tIns="0" rIns="0" bIns="0" anchor="t">
            <a:noAutofit/>
          </a:bodyPr>
          <a:lstStyle/>
          <a:p>
            <a:pPr algn="l">
              <a:spcBef>
                <a:spcPts val="0"/>
              </a:spcBef>
              <a:spcAft>
                <a:spcPts val="200"/>
              </a:spcAft>
            </a:pPr>
            <a:r>
              <a:rPr sz="1300" b="0" i="0">
                <a:solidFill>
                  <a:srgbClr val="1E2B36"/>
                </a:solidFill>
                <a:latin typeface="Calibri"/>
              </a:rPr>
              <a:t>Streaming and keyset pagination keep memory bounded for any collection size, a property of the standard items resource and not of the result size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Opt-in Capabilities Beyond the Standard</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11680"/>
            <a:ext cx="11057839" cy="4023360"/>
          </a:xfrm>
          <a:prstGeom prst="rect">
            <a:avLst/>
          </a:prstGeom>
          <a:noFill/>
        </p:spPr>
        <p:txBody>
          <a:bodyPr wrap="square" lIns="0" tIns="0" rIns="0" bIns="0">
            <a:noAutofit/>
          </a:bodyPr>
          <a:lstStyle/>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POST  /…/bulk  </a:t>
            </a:r>
            <a:r>
              <a:rPr sz="1600" dirty="0">
                <a:solidFill>
                  <a:srgbClr val="1E2B36"/>
                </a:solidFill>
                <a:latin typeface="Calibri"/>
              </a:rPr>
              <a:t>bulk-insert a batch of (</a:t>
            </a:r>
            <a:r>
              <a:rPr sz="1600" dirty="0" err="1">
                <a:solidFill>
                  <a:srgbClr val="1E2B36"/>
                </a:solidFill>
                <a:latin typeface="Calibri"/>
              </a:rPr>
              <a:t>vehicleId</a:t>
            </a:r>
            <a:r>
              <a:rPr sz="1600" dirty="0">
                <a:solidFill>
                  <a:srgbClr val="1E2B36"/>
                </a:solidFill>
                <a:latin typeface="Calibri"/>
              </a:rPr>
              <a:t>, position, time</a:t>
            </a:r>
            <a:r>
              <a:rPr lang="fr-BE" sz="1600" dirty="0">
                <a:solidFill>
                  <a:srgbClr val="1E2B36"/>
                </a:solidFill>
                <a:latin typeface="Calibri"/>
              </a:rPr>
              <a:t>, …</a:t>
            </a:r>
            <a:r>
              <a:rPr sz="1600" dirty="0">
                <a:solidFill>
                  <a:srgbClr val="1E2B36"/>
                </a:solidFill>
                <a:latin typeface="Calibri"/>
              </a:rPr>
              <a:t>) observations in one request</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GET  /…/export  </a:t>
            </a:r>
            <a:r>
              <a:rPr sz="1600" dirty="0" err="1">
                <a:solidFill>
                  <a:srgbClr val="1E2B36"/>
                </a:solidFill>
                <a:latin typeface="Calibri"/>
              </a:rPr>
              <a:t>lakehouse</a:t>
            </a:r>
            <a:r>
              <a:rPr sz="1600" dirty="0">
                <a:solidFill>
                  <a:srgbClr val="1E2B36"/>
                </a:solidFill>
                <a:latin typeface="Calibri"/>
              </a:rPr>
              <a:t> feed: NDJSON or </a:t>
            </a:r>
            <a:r>
              <a:rPr sz="1600" dirty="0" err="1">
                <a:solidFill>
                  <a:srgbClr val="1E2B36"/>
                </a:solidFill>
                <a:latin typeface="Calibri"/>
              </a:rPr>
              <a:t>GeoParquet</a:t>
            </a:r>
            <a:r>
              <a:rPr sz="1600" dirty="0">
                <a:solidFill>
                  <a:srgbClr val="1E2B36"/>
                </a:solidFill>
                <a:latin typeface="Calibri"/>
              </a:rPr>
              <a:t> with trajectory WKB and a </a:t>
            </a:r>
            <a:r>
              <a:rPr sz="1600" dirty="0" err="1">
                <a:solidFill>
                  <a:srgbClr val="1E2B36"/>
                </a:solidFill>
                <a:latin typeface="Calibri"/>
              </a:rPr>
              <a:t>bbox</a:t>
            </a:r>
            <a:r>
              <a:rPr sz="1600" dirty="0">
                <a:solidFill>
                  <a:srgbClr val="1E2B36"/>
                </a:solidFill>
                <a:latin typeface="Calibri"/>
              </a:rPr>
              <a:t>/time sidecar</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PUT  /…/items/{id}  </a:t>
            </a:r>
            <a:r>
              <a:rPr sz="1600" dirty="0">
                <a:solidFill>
                  <a:srgbClr val="1E2B36"/>
                </a:solidFill>
                <a:latin typeface="Calibri"/>
              </a:rPr>
              <a:t>in-place replace of a feature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GeoJSON</a:t>
            </a:r>
            <a:r>
              <a:rPr sz="1600" b="1" dirty="0">
                <a:solidFill>
                  <a:srgbClr val="0E2841"/>
                </a:solidFill>
                <a:latin typeface="Calibri"/>
              </a:rPr>
              <a:t> and </a:t>
            </a:r>
            <a:r>
              <a:rPr sz="1600" b="1" dirty="0" err="1">
                <a:solidFill>
                  <a:srgbClr val="0E2841"/>
                </a:solidFill>
                <a:latin typeface="Calibri"/>
              </a:rPr>
              <a:t>GeoParquet</a:t>
            </a:r>
            <a:r>
              <a:rPr sz="1600" b="1" dirty="0">
                <a:solidFill>
                  <a:srgbClr val="0E2841"/>
                </a:solidFill>
                <a:latin typeface="Calibri"/>
              </a:rPr>
              <a:t>  </a:t>
            </a:r>
            <a:r>
              <a:rPr sz="1600" dirty="0">
                <a:solidFill>
                  <a:srgbClr val="1E2B36"/>
                </a:solidFill>
                <a:latin typeface="Calibri"/>
              </a:rPr>
              <a:t>accepted in and out, alongside the MF-JSON default</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gzip</a:t>
            </a:r>
            <a:r>
              <a:rPr sz="1600" b="1" dirty="0">
                <a:solidFill>
                  <a:srgbClr val="0E2841"/>
                </a:solidFill>
                <a:latin typeface="Calibri"/>
              </a:rPr>
              <a:t> / deflate / </a:t>
            </a:r>
            <a:r>
              <a:rPr sz="1600" b="1" dirty="0" err="1">
                <a:solidFill>
                  <a:srgbClr val="0E2841"/>
                </a:solidFill>
                <a:latin typeface="Calibri"/>
              </a:rPr>
              <a:t>br</a:t>
            </a:r>
            <a:r>
              <a:rPr sz="1600" b="1" dirty="0">
                <a:solidFill>
                  <a:srgbClr val="0E2841"/>
                </a:solidFill>
                <a:latin typeface="Calibri"/>
              </a:rPr>
              <a:t> / </a:t>
            </a:r>
            <a:r>
              <a:rPr sz="1600" b="1" dirty="0" err="1">
                <a:solidFill>
                  <a:srgbClr val="0E2841"/>
                </a:solidFill>
                <a:latin typeface="Calibri"/>
              </a:rPr>
              <a:t>zstd</a:t>
            </a:r>
            <a:r>
              <a:rPr sz="1600" b="1" dirty="0">
                <a:solidFill>
                  <a:srgbClr val="0E2841"/>
                </a:solidFill>
                <a:latin typeface="Calibri"/>
              </a:rPr>
              <a:t>  </a:t>
            </a:r>
            <a:r>
              <a:rPr sz="1600" dirty="0">
                <a:solidFill>
                  <a:srgbClr val="1E2B36"/>
                </a:solidFill>
                <a:latin typeface="Calibri"/>
              </a:rPr>
              <a:t>compressed request and response bodies</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PUT / DELETE  /collections  </a:t>
            </a:r>
            <a:r>
              <a:rPr sz="1600" b="0" dirty="0">
                <a:solidFill>
                  <a:srgbClr val="1E2B36"/>
                </a:solidFill>
                <a:latin typeface="Calibri"/>
              </a:rPr>
              <a:t>create, update and drop a collection and its feature table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DELETE  /…/tproperties  </a:t>
            </a:r>
            <a:r>
              <a:rPr sz="1600" b="0" dirty="0">
                <a:solidFill>
                  <a:srgbClr val="1E2B36"/>
                </a:solidFill>
                <a:latin typeface="Calibri"/>
              </a:rPr>
              <a:t>store and remove user-supplied TReal / TInt / TText / TBool attributes</a:t>
            </a:r>
          </a:p>
        </p:txBody>
      </p:sp>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Bulk Ingest</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179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08760"/>
            <a:ext cx="10234879"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/collections/buses/bulk</a:t>
            </a:r>
          </a:p>
        </p:txBody>
      </p:sp>
      <p:sp>
        <p:nvSpPr>
          <p:cNvPr id="7" name="TextBox 6"/>
          <p:cNvSpPr txBox="1"/>
          <p:nvPr/>
        </p:nvSpPr>
        <p:spPr>
          <a:xfrm>
            <a:off x="566928" y="1847088"/>
            <a:ext cx="10972800" cy="292608"/>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Every minute a city posts each bus's position as a point and timestamp; one request appends them all.</a:t>
            </a:r>
          </a:p>
        </p:txBody>
      </p:sp>
      <p:sp>
        <p:nvSpPr>
          <p:cNvPr id="8" name="Rounded Rectangle 7"/>
          <p:cNvSpPr/>
          <p:nvPr/>
        </p:nvSpPr>
        <p:spPr>
          <a:xfrm>
            <a:off x="566928" y="2194560"/>
            <a:ext cx="6400800"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6144768"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/collections/buses/bulk         </a:t>
            </a:r>
            <a:r>
              <a:rPr sz="1200">
                <a:solidFill>
                  <a:srgbClr val="7E94A6"/>
                </a:solidFill>
                <a:latin typeface="Consolas"/>
              </a:rPr>
              <a:t>// every bus, one minute</a:t>
            </a:r>
          </a:p>
          <a:p>
            <a:pPr>
              <a:lnSpc>
                <a:spcPct val="102000"/>
              </a:lnSpc>
              <a:spcBef>
                <a:spcPts val="0"/>
              </a:spcBef>
              <a:spcAft>
                <a:spcPts val="0"/>
              </a:spcAft>
            </a:pPr>
            <a:r>
              <a:rPr sz="1200">
                <a:solidFill>
                  <a:srgbClr val="C2D0DA"/>
                </a:solidFill>
                <a:latin typeface="Consolas"/>
              </a:rPr>
              <a:t>Content-Encoding: gzip</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"bus_42"</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4.3517</a:t>
            </a:r>
            <a:r>
              <a:rPr sz="1200">
                <a:solidFill>
                  <a:srgbClr val="C2D0DA"/>
                </a:solidFill>
                <a:latin typeface="Consolas"/>
              </a:rPr>
              <a:t>, </a:t>
            </a:r>
            <a:r>
              <a:rPr sz="1200">
                <a:solidFill>
                  <a:srgbClr val="C9E08A"/>
                </a:solidFill>
                <a:latin typeface="Consolas"/>
              </a:rPr>
              <a:t>50.8466</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"bus_57"</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4.3490</a:t>
            </a:r>
            <a:r>
              <a:rPr sz="1200">
                <a:solidFill>
                  <a:srgbClr val="C2D0DA"/>
                </a:solidFill>
                <a:latin typeface="Consolas"/>
              </a:rPr>
              <a:t>, </a:t>
            </a:r>
            <a:r>
              <a:rPr sz="1200">
                <a:solidFill>
                  <a:srgbClr val="C9E08A"/>
                </a:solidFill>
                <a:latin typeface="Consolas"/>
              </a:rPr>
              <a:t>50.8501</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C9E08A"/>
                </a:solidFill>
                <a:latin typeface="Consolas"/>
              </a:rPr>
              <a:t>812</a:t>
            </a:r>
            <a:r>
              <a:rPr sz="1200">
                <a:solidFill>
                  <a:srgbClr val="C2D0DA"/>
                </a:solidFill>
                <a:latin typeface="Consolas"/>
              </a:rPr>
              <a:t> vehicles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"observations"</a:t>
            </a:r>
            <a:r>
              <a:rPr sz="1200">
                <a:solidFill>
                  <a:srgbClr val="C2D0DA"/>
                </a:solidFill>
                <a:latin typeface="Consolas"/>
              </a:rPr>
              <a:t>: </a:t>
            </a:r>
            <a:r>
              <a:rPr sz="1200">
                <a:solidFill>
                  <a:srgbClr val="C9E08A"/>
                </a:solidFill>
                <a:latin typeface="Consolas"/>
              </a:rPr>
              <a:t>812</a:t>
            </a:r>
            <a:r>
              <a:rPr sz="1200">
                <a:solidFill>
                  <a:srgbClr val="C2D0DA"/>
                </a:solidFill>
                <a:latin typeface="Consolas"/>
              </a:rPr>
              <a:t>, </a:t>
            </a:r>
            <a:r>
              <a:rPr sz="1200">
                <a:solidFill>
                  <a:srgbClr val="6FC3E0"/>
                </a:solidFill>
                <a:latin typeface="Consolas"/>
              </a:rPr>
              <a:t>"featuresCreated"</a:t>
            </a:r>
            <a:r>
              <a:rPr sz="1200">
                <a:solidFill>
                  <a:srgbClr val="C2D0DA"/>
                </a:solidFill>
                <a:latin typeface="Consolas"/>
              </a:rPr>
              <a:t>: </a:t>
            </a:r>
            <a:r>
              <a:rPr sz="1200">
                <a:solidFill>
                  <a:srgbClr val="C9E08A"/>
                </a:solidFill>
                <a:latin typeface="Consolas"/>
              </a:rPr>
              <a:t>12</a:t>
            </a:r>
            <a:r>
              <a:rPr sz="1200">
                <a:solidFill>
                  <a:srgbClr val="C2D0DA"/>
                </a:solidFill>
                <a:latin typeface="Consolas"/>
              </a:rPr>
              <a:t>, </a:t>
            </a:r>
            <a:r>
              <a:rPr sz="1200">
                <a:solidFill>
                  <a:srgbClr val="6FC3E0"/>
                </a:solidFill>
                <a:latin typeface="Consolas"/>
              </a:rPr>
              <a:t>"featuresExtended"</a:t>
            </a:r>
            <a:r>
              <a:rPr sz="1200">
                <a:solidFill>
                  <a:srgbClr val="C2D0DA"/>
                </a:solidFill>
                <a:latin typeface="Consolas"/>
              </a:rPr>
              <a:t>: </a:t>
            </a:r>
            <a:r>
              <a:rPr sz="1200">
                <a:solidFill>
                  <a:srgbClr val="C9E08A"/>
                </a:solidFill>
                <a:latin typeface="Consolas"/>
              </a:rPr>
              <a:t>800</a:t>
            </a:r>
            <a:r>
              <a:rPr sz="1200">
                <a:solidFill>
                  <a:srgbClr val="C2D0DA"/>
                </a:solidFill>
                <a:latin typeface="Consolas"/>
              </a:rPr>
              <a:t> }</a:t>
            </a:r>
          </a:p>
        </p:txBody>
      </p:sp>
      <p:sp>
        <p:nvSpPr>
          <p:cNvPr id="10" name="TextBox 9"/>
          <p:cNvSpPr txBox="1"/>
          <p:nvPr/>
        </p:nvSpPr>
        <p:spPr>
          <a:xfrm>
            <a:off x="7680960" y="2240280"/>
            <a:ext cx="393192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ENCODING</a:t>
            </a:r>
          </a:p>
        </p:txBody>
      </p:sp>
      <p:sp>
        <p:nvSpPr>
          <p:cNvPr id="11" name="TextBox 10"/>
          <p:cNvSpPr txBox="1"/>
          <p:nvPr/>
        </p:nvSpPr>
        <p:spPr>
          <a:xfrm>
            <a:off x="7680960" y="2606040"/>
            <a:ext cx="3931920" cy="310896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Formats  </a:t>
            </a:r>
            <a:r>
              <a:rPr sz="1200">
                <a:solidFill>
                  <a:srgbClr val="1E2B36"/>
                </a:solidFill>
                <a:latin typeface="Calibri"/>
              </a:rPr>
              <a:t>the body is GeoJSON or GeoParquet (MF-JSON default), the same records either way</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Compression  </a:t>
            </a:r>
            <a:r>
              <a:rPr sz="1200">
                <a:solidFill>
                  <a:srgbClr val="1E2B36"/>
                </a:solidFill>
                <a:latin typeface="Calibri"/>
              </a:rPr>
              <a:t>gzip / deflate / br / zstd, decoded before parsing</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Append  </a:t>
            </a:r>
            <a:r>
              <a:rPr sz="1200">
                <a:solidFill>
                  <a:srgbClr val="1E2B36"/>
                </a:solidFill>
                <a:latin typeface="Calibri"/>
              </a:rPr>
              <a:t>each record becomes one instant via appendInstant; the batch is atomic</a:t>
            </a:r>
          </a:p>
        </p:txBody>
      </p:sp>
      <p:sp>
        <p:nvSpPr>
          <p:cNvPr id="12" name="TextBox 11"/>
          <p:cNvSpPr txBox="1"/>
          <p:nvPr/>
        </p:nvSpPr>
        <p:spPr>
          <a:xfrm>
            <a:off x="566928" y="4800600"/>
            <a:ext cx="11057839" cy="91440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Unknown ids create a moving feature; out-of-order overlaps return 409</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GeoParquet ingest mirrors GET /export, so one file can backfill a whole collection</a:t>
            </a:r>
          </a:p>
        </p:txBody>
      </p:sp>
      <p:sp>
        <p:nvSpPr>
          <p:cNvPr id="13" name="Rectangle 1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5" name="TextBox 1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shared MEOS types and the MF-JSON / WKB wire format; the same tier fronts transactional databases, streaming engines, and lakehouses</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0346"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77732"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a:p>
            <a:pPr>
              <a:lnSpc>
                <a:spcPct val="100000"/>
              </a:lnSpc>
              <a:spcAft>
                <a:spcPts val="300"/>
              </a:spcAft>
            </a:pPr>
            <a:r>
              <a:rPr sz="1200" b="1">
                <a:solidFill>
                  <a:srgbClr val="A02B93"/>
                </a:solidFill>
                <a:latin typeface="Calibri"/>
              </a:rPr>
              <a:t>✓ </a:t>
            </a:r>
            <a:r>
              <a:rPr sz="1200">
                <a:solidFill>
                  <a:srgbClr val="1E2B36"/>
                </a:solidFill>
                <a:latin typeface="Calibri"/>
              </a:rPr>
              <a:t>member delete (DELETE)</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00346"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77732"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468880"/>
            <a:ext cx="100584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lIns="0" tIns="0" rIns="0" bIns="0" anchor="t">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3"/>
          <a:stretch>
            <a:fillRect/>
          </a:stretch>
        </p:blipFill>
        <p:spPr>
          <a:xfrm>
            <a:off x="10070970" y="4297680"/>
            <a:ext cx="1633349" cy="1737360"/>
          </a:xfrm>
          <a:prstGeom prst="rect">
            <a:avLst/>
          </a:prstGeom>
        </p:spPr>
      </p:pic>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15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155448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583387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148132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1792224"/>
            <a:ext cx="10515600" cy="292608"/>
          </a:xfrm>
          <a:prstGeom prst="rect">
            <a:avLst/>
          </a:prstGeom>
          <a:noFill/>
        </p:spPr>
        <p:txBody>
          <a:bodyPr wrap="none" lIns="0" tIns="0" r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26771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219456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2505456"/>
            <a:ext cx="10515600" cy="292608"/>
          </a:xfrm>
          <a:prstGeom prst="rect">
            <a:avLst/>
          </a:prstGeom>
          <a:noFill/>
        </p:spPr>
        <p:txBody>
          <a:bodyPr wrap="none" lIns="0" tIns="0" r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2980944"/>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2907792"/>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218688"/>
            <a:ext cx="10515600" cy="292608"/>
          </a:xfrm>
          <a:prstGeom prst="rect">
            <a:avLst/>
          </a:prstGeom>
          <a:noFill/>
        </p:spPr>
        <p:txBody>
          <a:bodyPr wrap="none" lIns="0" tIns="0" r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369417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3621024"/>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3931920"/>
            <a:ext cx="10515600" cy="292608"/>
          </a:xfrm>
          <a:prstGeom prst="rect">
            <a:avLst/>
          </a:prstGeom>
          <a:noFill/>
        </p:spPr>
        <p:txBody>
          <a:bodyPr wrap="none" lIns="0" tIns="0" r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28</a:t>
            </a:r>
          </a:p>
        </p:txBody>
      </p:sp>
      <p:sp>
        <p:nvSpPr>
          <p:cNvPr id="20" name="Rectangle 19"/>
          <p:cNvSpPr/>
          <p:nvPr/>
        </p:nvSpPr>
        <p:spPr>
          <a:xfrm>
            <a:off x="566928" y="4407408"/>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4334256"/>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tutorial notebook</a:t>
            </a:r>
          </a:p>
        </p:txBody>
      </p:sp>
      <p:sp>
        <p:nvSpPr>
          <p:cNvPr id="22" name="TextBox 21"/>
          <p:cNvSpPr txBox="1"/>
          <p:nvPr/>
        </p:nvSpPr>
        <p:spPr>
          <a:xfrm>
            <a:off x="932688" y="4645152"/>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https://github.com/MobilityDB/MobilityAPI/blob/master/tutorial/tutorial.ipynb</a:t>
            </a:r>
          </a:p>
        </p:txBody>
      </p:sp>
      <p:sp>
        <p:nvSpPr>
          <p:cNvPr id="20" name="Rectangle 19"/>
          <p:cNvSpPr/>
          <p:nvPr/>
        </p:nvSpPr>
        <p:spPr>
          <a:xfrm>
            <a:off x="566928" y="5120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504748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 Python implementation (PyMEOS)</a:t>
            </a:r>
          </a:p>
        </p:txBody>
      </p:sp>
      <p:sp>
        <p:nvSpPr>
          <p:cNvPr id="21" name="TextBox 20"/>
          <p:cNvSpPr txBox="1"/>
          <p:nvPr/>
        </p:nvSpPr>
        <p:spPr>
          <a:xfrm>
            <a:off x="932688" y="576072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MF API reference implementation — aistairc/mf-api</a:t>
            </a:r>
          </a:p>
        </p:txBody>
      </p:sp>
      <p:sp>
        <p:nvSpPr>
          <p:cNvPr id="22" name="TextBox 21"/>
          <p:cNvSpPr txBox="1"/>
          <p:nvPr/>
        </p:nvSpPr>
        <p:spPr>
          <a:xfrm>
            <a:off x="932688" y="5358384"/>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https://github.com/MobilityDB/MobilityAPI-Python</a:t>
            </a:r>
          </a:p>
        </p:txBody>
      </p:sp>
      <p:sp>
        <p:nvSpPr>
          <p:cNvPr id="22" name="TextBox 21"/>
          <p:cNvSpPr txBox="1"/>
          <p:nvPr/>
        </p:nvSpPr>
        <p:spPr>
          <a:xfrm>
            <a:off x="932688" y="6071616"/>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https://github.com/aistairc/mf-api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4618</Words>
  <Application>Microsoft Office PowerPoint</Application>
  <PresentationFormat>Widescreen</PresentationFormat>
  <Paragraphs>571</Paragraphs>
  <Slides>28</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User</dc:creator>
  <cp:keywords/>
  <dc:description>generated using python-pptx</dc:description>
  <cp:lastModifiedBy>ZIMANYI Esteban</cp:lastModifiedBy>
  <cp:revision>2</cp:revision>
  <dcterms:created xsi:type="dcterms:W3CDTF">2013-01-27T09:14:16Z</dcterms:created>
  <dcterms:modified xsi:type="dcterms:W3CDTF">2026-05-30T21:19:36Z</dcterms:modified>
  <cp:category/>
</cp:coreProperties>
</file>