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MobilityAPI is an OGC API – Moving Features server over MobilityDB: a thin compiled tier that keeps every temporal computation in the database and ships as a single static binary. This deck walks the implemented surface against a day of Danish AIS ship-trajectory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Positioning: a thin HTTP/OGC facade in front of MobilityDB. Reads stream asMFJSON assembled in SQL; writes call tgeompointFromMFJSON. The only application logic is a small crs and interpolation 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division of labour: the tier routes, pools and streams; MobilityDB does all temporal work and (de)serialization. No MEOS runs in the 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OGC data model maps one to one onto MobilityAPI's REST 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Zoomed view of the OGC API – Moving Features class diagram for class-level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Zoomed view of the OGC API – Moving Features class diagram for class-level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backing model is small: a collections registry and one feature table holding a tgeompoint, indexed by GiST. Temporal properties are derived from the geometry, not stored in side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ships collection: 2,833 vessel trajectories from 1,878 MMSI over one day, 6.2 million observed instants, in EPSG:25832.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standard endpoint surface, full paths. Beyond-standard features (the lakehouse export and in-place replace) are on the Additional features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divider: the live walkthrough against the ships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/collections lists every registered collection from the registry; GET /collections/{id} returns one collection's metadata.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items streams a FeatureCollection from a cursor and pages by keyset. The temporalGeometry is MovingFeaturesJSON produced by asMFJSON.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bbox query is a spatial pre-filter executed by MobilityDB's GiST index over the inline STBOX.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Writes: POST creates, DELETE removes, and POST tgsequence appends a temporally-disjoint sub-trajectory via merge (overlap returns 409). In-place replace (PUT) is an extension, shown on the Additional features slide. Derived-property writes and primitive deletes return 501 with the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distance and velocity are exact MobilityDB functions. Acceleration returns 501 because the derivative of a piecewise-constant speed is zero within segments and undefined at the vertices; the server does not fabricate it by resampling speed to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tproperties lists the derived temporal properties; GET tproperties/{name} returns its valueSequence. The leaf selector returns Discrete values at given instants.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server declares the three Moving Features conformance classes plus OGC Common core and collections, serves an OpenAPI definition at /api, and returns the OGC exception schema 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Bounded by design on the standard items resource: a 393 MB response streamed at about 18 MB resident, keyset pagination pages through arbitrarily large collections, and bbox and datetime use the MobilityDB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features beyond OGC API – Moving Features, excluded from conformsTo: a bulk lakehouse export (NDJSON by default, or Parquet carrying trajectory WKB plus a bbox and time sidecar, with the row group bounding memory; advertised via the IANA enclosure link relation), and an in-place replace (PUT), since the standard allows only GET and DELETE on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thin-tier pattern generalises across the MEOS ecosystem: the tier speaks MF-JSON and WKB and keeps all temporal work in the engine, so the storage and compute engine becomes a configuration choice. MobilityDB is implemented today; MobilityDuck (embedded lakehouse), MobilitySpark (distributed batch) and MobilityFlink (streaming, real time) reuse the same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ogc.org/is/22-003r3/22-003r3.html" TargetMode="External"/><Relationship Id="rId3" Type="http://schemas.openxmlformats.org/officeDocument/2006/relationships/hyperlink" Target="https://github.com/MobilityDB/MobilityDB" TargetMode="External"/><Relationship Id="rId4" Type="http://schemas.openxmlformats.org/officeDocument/2006/relationships/hyperlink" Target="https://mobilitydb.com" TargetMode="External"/><Relationship Id="rId5" Type="http://schemas.openxmlformats.org/officeDocument/2006/relationships/hyperlink" Target="https://libmeos.org" TargetMode="External"/><Relationship Id="rId6" Type="http://schemas.openxmlformats.org/officeDocument/2006/relationships/hyperlink" Target="http://aisdata.ais.d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Calibri Light"/>
              </a:rPr>
              <a:t>MobilityAPI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127248"/>
            <a:ext cx="89611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BFD6E2"/>
                </a:solidFill>
                <a:latin typeface="Calibri"/>
              </a:rPr>
              <a:t>An OGC API – Moving Features server over MobilityDB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913632"/>
            <a:ext cx="1828800" cy="4572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096512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EB8C8"/>
                </a:solidFill>
                <a:latin typeface="Calibri"/>
              </a:rPr>
              <a:t>A thin compiled tier over MobilityDB  ·  canonical Danish AIS example</a:t>
            </a:r>
          </a:p>
        </p:txBody>
      </p:sp>
      <p:pic>
        <p:nvPicPr>
          <p:cNvPr id="8" name="Picture 7" descr="mobilitydb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4833" y="457200"/>
            <a:ext cx="1289486" cy="1371600"/>
          </a:xfrm>
          <a:prstGeom prst="rect">
            <a:avLst/>
          </a:prstGeom>
        </p:spPr>
      </p:pic>
      <p:pic>
        <p:nvPicPr>
          <p:cNvPr id="9" name="Picture 8" descr="OGC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5166359"/>
            <a:ext cx="1645920" cy="1234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943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7F9BAD"/>
                </a:solidFill>
                <a:latin typeface="Consolas"/>
              </a:rPr>
              <a:t>net/http + pgxpool  ·  single static binary  ·  no MEOS in the tier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A Thin Tier over MobilityDB, Fat Database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OGC-compliant:  </a:t>
            </a:r>
            <a:r>
              <a:rPr sz="1400">
                <a:solidFill>
                  <a:srgbClr val="1E2B36"/>
                </a:solidFill>
                <a:latin typeface="Calibri"/>
              </a:rPr>
              <a:t>implements OGC API – Moving Features – Part 1: Core (collections, items, temporal geometry, derived queries, temporal properties)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Thin compiled tier:  </a:t>
            </a:r>
            <a:r>
              <a:rPr sz="1400">
                <a:solidFill>
                  <a:srgbClr val="1E2B36"/>
                </a:solidFill>
                <a:latin typeface="Calibri"/>
              </a:rPr>
              <a:t>net/http and a pgx connection pool; a single static binary, no cgo and no MEOS in the process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Fat database:  </a:t>
            </a:r>
            <a:r>
              <a:rPr sz="1400">
                <a:solidFill>
                  <a:srgbClr val="1E2B36"/>
                </a:solidFill>
                <a:latin typeface="Calibri"/>
              </a:rPr>
              <a:t>every temporal computation stays in MobilityDB; the tier never parses or transforms a trajectory in memory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REST for any client:  </a:t>
            </a:r>
            <a:r>
              <a:rPr sz="1400">
                <a:solidFill>
                  <a:srgbClr val="1E2B36"/>
                </a:solidFill>
                <a:latin typeface="Calibri"/>
              </a:rPr>
              <a:t>browsers, mobile, microservices and ETL consume mobility data without SQL or the PostgreSQL wire protocol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Bounded as data grows:  </a:t>
            </a:r>
            <a:r>
              <a:rPr sz="1400">
                <a:solidFill>
                  <a:srgbClr val="1E2B36"/>
                </a:solidFill>
                <a:latin typeface="Calibri"/>
              </a:rPr>
              <a:t>streaming responses, keyset pagination and index-using filters keep memory and paging bounded as collections grow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27632"/>
            <a:ext cx="4069080" cy="42245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73936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REQUEST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2121408"/>
            <a:ext cx="1057655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651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231136"/>
            <a:ext cx="10576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5232" y="2121408"/>
            <a:ext cx="1057655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651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5232" y="2231136"/>
            <a:ext cx="10576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Mobile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0903" y="2121408"/>
            <a:ext cx="1057655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651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0903" y="2231136"/>
            <a:ext cx="10576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ETL /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615184"/>
            <a:ext cx="34290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▼  HTTP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825496"/>
            <a:ext cx="3429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onsolas"/>
              </a:rPr>
              <a:t>OGC API – Moving Features · MF-JSON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108960"/>
            <a:ext cx="34290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159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19125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6082"/>
                </a:solidFill>
                <a:latin typeface="Calibri"/>
              </a:rPr>
              <a:t>MobilityAPI (Go)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456432"/>
            <a:ext cx="30632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onsolas"/>
              </a:rPr>
              <a:t>net/http + pgxpool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749040"/>
            <a:ext cx="34290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alibri"/>
              </a:rPr>
              <a:t>▼  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959352"/>
            <a:ext cx="34290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onsolas"/>
              </a:rPr>
              <a:t>PostgreSQL wire · pgx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4242816"/>
            <a:ext cx="342900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1590">
            <a:solidFill>
              <a:srgbClr val="0E28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433425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MobilityDB / 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599432"/>
            <a:ext cx="306324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onsolas"/>
              </a:rPr>
              <a:t>tgeompoint · STBOX · TSTZSPAN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Where the Work Happens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460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6082"/>
                </a:solidFill>
                <a:latin typeface="Calibri"/>
              </a:rPr>
              <a:t>In the tier (Go)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20240"/>
            <a:ext cx="5346039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Routing:  </a:t>
            </a:r>
            <a:r>
              <a:rPr sz="1400">
                <a:solidFill>
                  <a:srgbClr val="1E2B36"/>
                </a:solidFill>
                <a:latin typeface="Calibri"/>
              </a:rPr>
              <a:t>net/http with the Go 1.22 pattern mux; one handler per OGC resource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Pooling:  </a:t>
            </a:r>
            <a:r>
              <a:rPr sz="1400">
                <a:solidFill>
                  <a:srgbClr val="1E2B36"/>
                </a:solidFill>
                <a:latin typeface="Calibri"/>
              </a:rPr>
              <a:t>a pgx pool multiplexes requests onto a bounded set of database connections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Adapter:  </a:t>
            </a:r>
            <a:r>
              <a:rPr sz="1400">
                <a:solidFill>
                  <a:srgbClr val="1E2B36"/>
                </a:solidFill>
                <a:latin typeface="Calibri"/>
              </a:rPr>
              <a:t>crs URN to EPSG and interpolation Stepwise to Step, roughly fifty lines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Streaming:  </a:t>
            </a:r>
            <a:r>
              <a:rPr sz="1400">
                <a:solidFill>
                  <a:srgbClr val="1E2B36"/>
                </a:solidFill>
                <a:latin typeface="Calibri"/>
              </a:rPr>
              <a:t>responses are written row by row from a server-side cursor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572768"/>
            <a:ext cx="53460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97132"/>
                </a:solidFill>
                <a:latin typeface="Calibri"/>
              </a:rPr>
              <a:t>In the database (MobilityDB)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920240"/>
            <a:ext cx="5346039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Reads:  </a:t>
            </a:r>
            <a:r>
              <a:rPr sz="1400">
                <a:solidFill>
                  <a:srgbClr val="1E2B36"/>
                </a:solidFill>
                <a:latin typeface="Calibri"/>
              </a:rPr>
              <a:t>asMFJSON assembles MovingFeaturesJSON in SQL; the tier streams the text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Writes:  </a:t>
            </a:r>
            <a:r>
              <a:rPr sz="1400">
                <a:solidFill>
                  <a:srgbClr val="1E2B36"/>
                </a:solidFill>
                <a:latin typeface="Calibri"/>
              </a:rPr>
              <a:t>tgeompointFromMFJSON parses the payload into a tgeompoint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Filters:  </a:t>
            </a:r>
            <a:r>
              <a:rPr sz="1400">
                <a:solidFill>
                  <a:srgbClr val="1E2B36"/>
                </a:solidFill>
                <a:latin typeface="Calibri"/>
              </a:rPr>
              <a:t>bbox and datetime push to the GiST index; atTime clips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Measures:  </a:t>
            </a:r>
            <a:r>
              <a:rPr sz="1400">
                <a:solidFill>
                  <a:srgbClr val="1E2B36"/>
                </a:solidFill>
                <a:latin typeface="Calibri"/>
              </a:rPr>
              <a:t>speed, cumulativeLength and azimuth compute the derived properties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617720"/>
            <a:ext cx="11057839" cy="123444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7548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NO MEOS IN THE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5029200"/>
            <a:ext cx="10509199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B36"/>
                </a:solidFill>
                <a:latin typeface="Calibri"/>
              </a:rPr>
              <a:t>The trajectory is never materialised, parsed or transformed in the tier. It travels as MF-JSON text on the way out and as a MovingFeaturesJSON payload on the way in; MobilityDB does the parsing, the geometry algebra and the temporal computations. The result is a single static binary with no cgo dependency.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SAME DATA, TWO INTERFACES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MobilityDB SQL  vs  MobilityAPI 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53460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6082"/>
                </a:solidFill>
                <a:latin typeface="Calibri"/>
              </a:rPr>
              <a:t>PostgreSQL / MobilityDB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5346039" cy="246888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DEPANEL"/>
          <p:cNvSpPr txBox="1"/>
          <p:nvPr/>
        </p:nvSpPr>
        <p:spPr>
          <a:xfrm>
            <a:off x="694944" y="2011680"/>
            <a:ext cx="5090007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INSERT INTO ships (id, mmsi, name, trip)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VALUES (</a:t>
            </a:r>
            <a:r>
              <a:rPr sz="1200">
                <a:solidFill>
                  <a:srgbClr val="C9E08A"/>
                </a:solidFill>
                <a:latin typeface="Consolas"/>
              </a:rPr>
              <a:t>205106000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205106000</a:t>
            </a:r>
            <a:r>
              <a:rPr sz="1200">
                <a:solidFill>
                  <a:srgbClr val="C2D0DA"/>
                </a:solidFill>
                <a:latin typeface="Consolas"/>
              </a:rPr>
              <a:t>, 'MARCUS',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tgeompoint '[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Point(</a:t>
            </a:r>
            <a:r>
              <a:rPr sz="1200">
                <a:solidFill>
                  <a:srgbClr val="C9E08A"/>
                </a:solidFill>
                <a:latin typeface="Consolas"/>
              </a:rPr>
              <a:t>645829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6058110</a:t>
            </a:r>
            <a:r>
              <a:rPr sz="1200">
                <a:solidFill>
                  <a:srgbClr val="C2D0DA"/>
                </a:solidFill>
                <a:latin typeface="Consolas"/>
              </a:rPr>
              <a:t>)@</a:t>
            </a:r>
            <a:r>
              <a:rPr sz="1200">
                <a:solidFill>
                  <a:srgbClr val="C9E08A"/>
                </a:solidFill>
                <a:latin typeface="Consolas"/>
              </a:rPr>
              <a:t>2026</a:t>
            </a:r>
            <a:r>
              <a:rPr sz="1200">
                <a:solidFill>
                  <a:srgbClr val="C9E08A"/>
                </a:solidFill>
                <a:latin typeface="Consolas"/>
              </a:rPr>
              <a:t>-02</a:t>
            </a:r>
            <a:r>
              <a:rPr sz="1200">
                <a:solidFill>
                  <a:srgbClr val="C9E08A"/>
                </a:solidFill>
                <a:latin typeface="Consolas"/>
              </a:rPr>
              <a:t>-26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06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+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Point(</a:t>
            </a:r>
            <a:r>
              <a:rPr sz="1200">
                <a:solidFill>
                  <a:srgbClr val="C9E08A"/>
                </a:solidFill>
                <a:latin typeface="Consolas"/>
              </a:rPr>
              <a:t>651280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6058390</a:t>
            </a:r>
            <a:r>
              <a:rPr sz="1200">
                <a:solidFill>
                  <a:srgbClr val="C2D0DA"/>
                </a:solidFill>
                <a:latin typeface="Consolas"/>
              </a:rPr>
              <a:t>)@</a:t>
            </a:r>
            <a:r>
              <a:rPr sz="1200">
                <a:solidFill>
                  <a:srgbClr val="C9E08A"/>
                </a:solidFill>
                <a:latin typeface="Consolas"/>
              </a:rPr>
              <a:t>2026</a:t>
            </a:r>
            <a:r>
              <a:rPr sz="1200">
                <a:solidFill>
                  <a:srgbClr val="C9E08A"/>
                </a:solidFill>
                <a:latin typeface="Consolas"/>
              </a:rPr>
              <a:t>-02</a:t>
            </a:r>
            <a:r>
              <a:rPr sz="1200">
                <a:solidFill>
                  <a:srgbClr val="C9E08A"/>
                </a:solidFill>
                <a:latin typeface="Consolas"/>
              </a:rPr>
              <a:t>-26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06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25</a:t>
            </a:r>
            <a:r>
              <a:rPr sz="1200">
                <a:solidFill>
                  <a:srgbClr val="C2D0DA"/>
                </a:solidFill>
                <a:latin typeface="Consolas"/>
              </a:rPr>
              <a:t>+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Point(</a:t>
            </a:r>
            <a:r>
              <a:rPr sz="1200">
                <a:solidFill>
                  <a:srgbClr val="C9E08A"/>
                </a:solidFill>
                <a:latin typeface="Consolas"/>
              </a:rPr>
              <a:t>656731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6058670</a:t>
            </a:r>
            <a:r>
              <a:rPr sz="1200">
                <a:solidFill>
                  <a:srgbClr val="C2D0DA"/>
                </a:solidFill>
                <a:latin typeface="Consolas"/>
              </a:rPr>
              <a:t>)@</a:t>
            </a:r>
            <a:r>
              <a:rPr sz="1200">
                <a:solidFill>
                  <a:srgbClr val="C9E08A"/>
                </a:solidFill>
                <a:latin typeface="Consolas"/>
              </a:rPr>
              <a:t>2026</a:t>
            </a:r>
            <a:r>
              <a:rPr sz="1200">
                <a:solidFill>
                  <a:srgbClr val="C9E08A"/>
                </a:solidFill>
                <a:latin typeface="Consolas"/>
              </a:rPr>
              <a:t>-02</a:t>
            </a:r>
            <a:r>
              <a:rPr sz="1200">
                <a:solidFill>
                  <a:srgbClr val="C9E08A"/>
                </a:solidFill>
                <a:latin typeface="Consolas"/>
              </a:rPr>
              <a:t>-26</a:t>
            </a:r>
            <a:r>
              <a:rPr sz="1200">
                <a:solidFill>
                  <a:srgbClr val="C2D0DA"/>
                </a:solidFill>
                <a:latin typeface="Consolas"/>
              </a:rPr>
              <a:t> </a:t>
            </a:r>
            <a:r>
              <a:rPr sz="1200">
                <a:solidFill>
                  <a:srgbClr val="C9E08A"/>
                </a:solidFill>
                <a:latin typeface="Consolas"/>
              </a:rPr>
              <a:t>06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50</a:t>
            </a:r>
            <a:r>
              <a:rPr sz="1200">
                <a:solidFill>
                  <a:srgbClr val="C2D0DA"/>
                </a:solidFill>
                <a:latin typeface="Consolas"/>
              </a:rPr>
              <a:t>+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]'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600200"/>
            <a:ext cx="53460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97132"/>
                </a:solidFill>
                <a:latin typeface="Calibri"/>
              </a:rPr>
              <a:t>MobilityAPI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20240"/>
            <a:ext cx="5346039" cy="352044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ODEPANEL"/>
          <p:cNvSpPr txBox="1"/>
          <p:nvPr/>
        </p:nvSpPr>
        <p:spPr>
          <a:xfrm>
            <a:off x="6406743" y="2011680"/>
            <a:ext cx="5090007" cy="3337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POST /collections/ships/items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Content-Type: application/json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"205106000"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"MARCUS"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"temporalGeometry"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"MovingPoint"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"2026-02-26T06:00:00+00"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"coordinates"</a:t>
            </a:r>
            <a:r>
              <a:rPr sz="1200">
                <a:solidFill>
                  <a:srgbClr val="C2D0DA"/>
                </a:solidFill>
                <a:latin typeface="Consolas"/>
              </a:rPr>
              <a:t>: [[</a:t>
            </a:r>
            <a:r>
              <a:rPr sz="1200">
                <a:solidFill>
                  <a:srgbClr val="C9E08A"/>
                </a:solidFill>
                <a:latin typeface="Consolas"/>
              </a:rPr>
              <a:t>645829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6058110</a:t>
            </a:r>
            <a:r>
              <a:rPr sz="1200">
                <a:solidFill>
                  <a:srgbClr val="C2D0DA"/>
                </a:solidFill>
                <a:latin typeface="Consolas"/>
              </a:rPr>
              <a:t>],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"Linear"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Identical trajectory. The REST client never writes SQL or opens a database connection.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OGC API – Moving Features Data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gc-moving-features-class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0200"/>
            <a:ext cx="357926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828800"/>
            <a:ext cx="3749039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Collection:  </a:t>
            </a:r>
            <a:r>
              <a:rPr sz="1400">
                <a:solidFill>
                  <a:srgbClr val="1E2B36"/>
                </a:solidFill>
                <a:latin typeface="Calibri"/>
              </a:rPr>
              <a:t>a named group of moving features (itemType movingfeature)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MovingFeature:  </a:t>
            </a:r>
            <a:r>
              <a:rPr sz="1400">
                <a:solidFill>
                  <a:srgbClr val="1E2B36"/>
                </a:solidFill>
                <a:latin typeface="Calibri"/>
              </a:rPr>
              <a:t>an item with id, properties, crs and trs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TemporalGeometry:  </a:t>
            </a:r>
            <a:r>
              <a:rPr sz="1400">
                <a:solidFill>
                  <a:srgbClr val="1E2B36"/>
                </a:solidFill>
                <a:latin typeface="Calibri"/>
              </a:rPr>
              <a:t>a MovingPoint with parallel coordinates and datetimes plus interpolation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Derived queries:  </a:t>
            </a:r>
            <a:r>
              <a:rPr sz="1400">
                <a:solidFill>
                  <a:srgbClr val="1E2B36"/>
                </a:solidFill>
                <a:latin typeface="Calibri"/>
              </a:rPr>
              <a:t>distance and velocity over a temporal geometry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TemporalProperties:  </a:t>
            </a:r>
            <a:r>
              <a:rPr sz="1400">
                <a:solidFill>
                  <a:srgbClr val="1E2B36"/>
                </a:solidFill>
                <a:latin typeface="Calibri"/>
              </a:rPr>
              <a:t>time-varying attributes derived from 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63056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Class diagram — OGC API – Moving Features – Part 1: Core (fig.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OGC DATA MODEL —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82735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B78"/>
                </a:solidFill>
                <a:latin typeface="Calibri"/>
              </a:rPr>
              <a:t>upper half · 1 /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554480" cy="41148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gc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257" y="749808"/>
            <a:ext cx="8415180" cy="55595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5.1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OGC DATA MODEL —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82735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B78"/>
                </a:solidFill>
                <a:latin typeface="Calibri"/>
              </a:rPr>
              <a:t>lower half · 2 /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548640"/>
            <a:ext cx="1554480" cy="41148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gc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000" y="749808"/>
            <a:ext cx="8401694" cy="55595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5.2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How MobilityAPI Persists Moving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4297680" cy="19019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4297680" cy="402336"/>
          </a:xfrm>
          <a:prstGeom prst="roundRect">
            <a:avLst>
              <a:gd name="adj" fmla="val 7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9928"/>
            <a:ext cx="402336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4005072" cy="1463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PK </a:t>
            </a:r>
            <a:r>
              <a:rPr sz="1400" b="1">
                <a:solidFill>
                  <a:srgbClr val="1E2B36"/>
                </a:solidFill>
                <a:latin typeface="Consolas"/>
              </a:rPr>
              <a:t>id   </a:t>
            </a:r>
            <a:r>
              <a:rPr sz="1400">
                <a:solidFill>
                  <a:srgbClr val="5B6B78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title   </a:t>
            </a:r>
            <a:r>
              <a:rPr sz="1400">
                <a:solidFill>
                  <a:srgbClr val="5B6B78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description   </a:t>
            </a:r>
            <a:r>
              <a:rPr sz="1400">
                <a:solidFill>
                  <a:srgbClr val="5B6B78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item_type   </a:t>
            </a:r>
            <a:r>
              <a:rPr sz="1400">
                <a:solidFill>
                  <a:srgbClr val="5B6B78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crs   </a:t>
            </a:r>
            <a:r>
              <a:rPr sz="1400">
                <a:solidFill>
                  <a:srgbClr val="5B6B78"/>
                </a:solidFill>
                <a:latin typeface="Consolas"/>
              </a:rPr>
              <a:t>INTEGER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59352"/>
            <a:ext cx="4297680" cy="16276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3959352"/>
            <a:ext cx="4297680" cy="402336"/>
          </a:xfrm>
          <a:prstGeom prst="roundRect">
            <a:avLst>
              <a:gd name="adj" fmla="val 7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39"/>
            <a:ext cx="402336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16552"/>
            <a:ext cx="4005072" cy="11887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PK </a:t>
            </a:r>
            <a:r>
              <a:rPr sz="1400" b="1">
                <a:solidFill>
                  <a:srgbClr val="1E2B36"/>
                </a:solidFill>
                <a:latin typeface="Consolas"/>
              </a:rPr>
              <a:t>id   </a:t>
            </a:r>
            <a:r>
              <a:rPr sz="1400">
                <a:solidFill>
                  <a:srgbClr val="5B6B78"/>
                </a:solidFill>
                <a:latin typeface="Consolas"/>
              </a:rPr>
              <a:t>INTEGER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mmsi   </a:t>
            </a:r>
            <a:r>
              <a:rPr sz="1400">
                <a:solidFill>
                  <a:srgbClr val="5B6B78"/>
                </a:solidFill>
                <a:latin typeface="Consolas"/>
              </a:rPr>
              <a:t>BIGINT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name   </a:t>
            </a:r>
            <a:r>
              <a:rPr sz="1400">
                <a:solidFill>
                  <a:srgbClr val="5B6B78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E2B36"/>
                </a:solidFill>
                <a:latin typeface="Consolas"/>
              </a:rPr>
              <a:t>trip   </a:t>
            </a:r>
            <a:r>
              <a:rPr sz="1400">
                <a:solidFill>
                  <a:srgbClr val="E97132"/>
                </a:solidFill>
                <a:latin typeface="Consolas"/>
              </a:rPr>
              <a:t>tgeompoint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6601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one feature table per collection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783080"/>
            <a:ext cx="6092647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collections:  </a:t>
            </a:r>
            <a:r>
              <a:rPr sz="1400">
                <a:solidFill>
                  <a:srgbClr val="1E2B36"/>
                </a:solidFill>
                <a:latin typeface="Calibri"/>
              </a:rPr>
              <a:t>a small registry that maps each collection id to its feature table and CRS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feature table:  </a:t>
            </a:r>
            <a:r>
              <a:rPr sz="1400">
                <a:solidFill>
                  <a:srgbClr val="1E2B36"/>
                </a:solidFill>
                <a:latin typeface="Calibri"/>
              </a:rPr>
              <a:t>one row per moving feature; the trajectory is a single MobilityDB tgeompoint column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GiST index:  </a:t>
            </a:r>
            <a:r>
              <a:rPr sz="1400">
                <a:solidFill>
                  <a:srgbClr val="1E2B36"/>
                </a:solidFill>
                <a:latin typeface="Calibri"/>
              </a:rPr>
              <a:t>gist (trip) backs the bbox and datetime filters with one spatio-temporal index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9713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Derived properties:  </a:t>
            </a:r>
            <a:r>
              <a:rPr sz="1400">
                <a:solidFill>
                  <a:srgbClr val="1E2B36"/>
                </a:solidFill>
                <a:latin typeface="Calibri"/>
              </a:rPr>
              <a:t>speed, distance and heading are computed from trip on demand, not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1264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trip is a native MobilityDB type; the bounding box and time span come from its inline STBOX at O(1) cost.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CANONICAL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A Day of Danish AIS Ship Traffic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overview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394960" cy="4046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182880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Source:  </a:t>
            </a:r>
            <a:r>
              <a:rPr sz="1400">
                <a:solidFill>
                  <a:srgbClr val="1E2B36"/>
                </a:solidFill>
                <a:latin typeface="Calibri"/>
              </a:rPr>
              <a:t>Danish Maritime Authority AIS feed (aisdata.ais.dk)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Window:  </a:t>
            </a:r>
            <a:r>
              <a:rPr sz="1400">
                <a:solidFill>
                  <a:srgbClr val="1E2B36"/>
                </a:solidFill>
                <a:latin typeface="Calibri"/>
              </a:rPr>
              <a:t>2026-02-26 to 2026-02-27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2,833 trajectories:  </a:t>
            </a:r>
            <a:r>
              <a:rPr sz="1400">
                <a:solidFill>
                  <a:srgbClr val="1E2B36"/>
                </a:solidFill>
                <a:latin typeface="Calibri"/>
              </a:rPr>
              <a:t>from 1,878 distinct vessels (MMSI), each a MovingPoint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6.2 million instants:  </a:t>
            </a:r>
            <a:r>
              <a:rPr sz="1400">
                <a:solidFill>
                  <a:srgbClr val="1E2B36"/>
                </a:solidFill>
                <a:latin typeface="Calibri"/>
              </a:rPr>
              <a:t>of observed position across the collection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CRS:  </a:t>
            </a:r>
            <a:r>
              <a:rPr sz="1400">
                <a:solidFill>
                  <a:srgbClr val="1E2B36"/>
                </a:solidFill>
                <a:latin typeface="Calibri"/>
              </a:rPr>
              <a:t>EPSG:25832 (ETRS89 / UTM 32N, metres)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569214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Danish AIS vessel trajectories, 2026-02-26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The OGC Endpoint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9562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595628"/>
            <a:ext cx="713232" cy="292608"/>
          </a:xfrm>
          <a:prstGeom prst="roundRect">
            <a:avLst>
              <a:gd name="adj" fmla="val 40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9696" y="1591056"/>
            <a:ext cx="9466783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07107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0253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1858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2418588"/>
            <a:ext cx="713232" cy="292608"/>
          </a:xfrm>
          <a:prstGeom prst="roundRect">
            <a:avLst>
              <a:gd name="adj" fmla="val 40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9696" y="2414016"/>
            <a:ext cx="9466783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006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2830068"/>
            <a:ext cx="932688" cy="292608"/>
          </a:xfrm>
          <a:prstGeom prst="roundRect">
            <a:avLst>
              <a:gd name="adj" fmla="val 4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825496"/>
            <a:ext cx="924732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4154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3241548"/>
            <a:ext cx="713232" cy="292608"/>
          </a:xfrm>
          <a:prstGeom prst="roundRect">
            <a:avLst>
              <a:gd name="adj" fmla="val 40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9696" y="3236976"/>
            <a:ext cx="9466783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/collections/{collectionId}/items/{mFeatureId}/tgsequence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5302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364845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/collections/{collectionId}/items/{mFeatureId}/tgsequence/{tGeometryId}/distance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6450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405993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/collections/{collectionId}/items/{mFeatureId}/tgsequence/{tGeometryId}/velocity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7598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47141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/collections/{collectionId}/items/{mFeatureId}/tproperties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8746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488289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/collections/{collectionId}/items/{mFeatureId}/tproperties/{tPropertyName}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29894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5294376"/>
            <a:ext cx="10253167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   ·   /api   ·   /conformance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83387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Every path above is OGC API – Moving Features – Part 1: Core. acceleration is offered at the same path but returns 501 (not derivable for this motion model). Items query parameters: bbox, datetime, subtrajectory, leaf, limit, page cursor.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402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56082"/>
                </a:solidFill>
                <a:latin typeface="Calibri"/>
              </a:rPr>
              <a:t>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97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 Light"/>
              </a:rPr>
              <a:t>The Ships Collection,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EB8C8"/>
                </a:solidFill>
                <a:latin typeface="Calibri"/>
              </a:rPr>
              <a:t>List  →  filter  →  retrieve  →  derive  →  write, all over HTTP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COLLECTIONS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List Collections · Retrieve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onsolas"/>
              </a:rPr>
              <a:t>200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5486400" cy="393192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ODEPANEL"/>
          <p:cNvSpPr txBox="1"/>
          <p:nvPr/>
        </p:nvSpPr>
        <p:spPr>
          <a:xfrm>
            <a:off x="694944" y="2286000"/>
            <a:ext cx="5230368" cy="37490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"collections"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"ships"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"title"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"ships"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"itemType"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"movingfeature"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"description"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"Danish AIS vessel trajectories"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"links"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{ </a:t>
            </a:r>
            <a:r>
              <a:rPr sz="1200">
                <a:solidFill>
                  <a:srgbClr val="6FC3E0"/>
                </a:solidFill>
                <a:latin typeface="Consolas"/>
              </a:rPr>
              <a:t>"rel"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"items"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"href"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"/collections/ships/items"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{ </a:t>
            </a:r>
            <a:r>
              <a:rPr sz="1200">
                <a:solidFill>
                  <a:srgbClr val="6FC3E0"/>
                </a:solidFill>
                <a:latin typeface="Consolas"/>
              </a:rPr>
              <a:t>"rel"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"enclosure"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"href"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"/collections/ships/export"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"application/x-ndjson"</a:t>
            </a:r>
            <a:r>
              <a:rPr sz="1200">
                <a:solidFill>
                  <a:srgbClr val="C2D0DA"/>
                </a:solidFill>
                <a:latin typeface="Consolas"/>
              </a:rPr>
              <a:t>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]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]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31736" y="1545336"/>
            <a:ext cx="459303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1883664"/>
            <a:ext cx="5342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onsolas"/>
              </a:rPr>
              <a:t>200 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194560"/>
            <a:ext cx="5342839" cy="210312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DEPANEL"/>
          <p:cNvSpPr txBox="1"/>
          <p:nvPr/>
        </p:nvSpPr>
        <p:spPr>
          <a:xfrm>
            <a:off x="6409944" y="2286000"/>
            <a:ext cx="5086807" cy="19202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"ships"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"title"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"ships"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"itemType"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"movingfeature"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"description"</a:t>
            </a:r>
            <a:r>
              <a:rPr sz="1200">
                <a:solidFill>
                  <a:srgbClr val="C2D0DA"/>
                </a:solidFill>
                <a:latin typeface="Consolas"/>
              </a:rPr>
              <a:t>: "Danish AIS vessel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   trajectories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   (MobilityDB tgeompoint)"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4526280"/>
            <a:ext cx="5342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itemType is movingfeature, per OGC API – Moving Features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Links are relative; the client follows them without hard-coding paths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MOVING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Stream the FeatureCollection, Page by Keyset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1030803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/collections/ships/items?limit=2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7040880" cy="443484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6784848" cy="42519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OK   Content-Type: application/json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"FeatureCollection"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"features"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"1"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"mmsi"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9E08A"/>
                </a:solidFill>
                <a:latin typeface="Consolas"/>
              </a:rPr>
              <a:t>111219510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"vessel 111219510"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"temporalGeometry"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"MovingPoint"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</a:t>
            </a:r>
            <a:r>
              <a:rPr sz="1200">
                <a:solidFill>
                  <a:srgbClr val="6FC3E0"/>
                </a:solidFill>
                <a:latin typeface="Consolas"/>
              </a:rPr>
              <a:t>"crs"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"urn:ogc:def:crs:EPSG::25832"</a:t>
            </a:r>
            <a:r>
              <a:rPr sz="1200">
                <a:solidFill>
                  <a:srgbClr val="C2D0DA"/>
                </a:solidFill>
                <a:latin typeface="Consolas"/>
              </a:rPr>
              <a:t> }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</a:t>
            </a:r>
            <a:r>
              <a:rPr sz="1200">
                <a:solidFill>
                  <a:srgbClr val="6FC3E0"/>
                </a:solidFill>
                <a:latin typeface="Consolas"/>
              </a:rPr>
              <a:t>"sequences"</a:t>
            </a:r>
            <a:r>
              <a:rPr sz="1200">
                <a:solidFill>
                  <a:srgbClr val="C2D0DA"/>
                </a:solidFill>
                <a:latin typeface="Consolas"/>
              </a:rPr>
              <a:t>: [ {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"2026-02-26T13:28:08+01"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"coordinates"</a:t>
            </a:r>
            <a:r>
              <a:rPr sz="1200">
                <a:solidFill>
                  <a:srgbClr val="C2D0DA"/>
                </a:solidFill>
                <a:latin typeface="Consolas"/>
              </a:rPr>
              <a:t>: [[</a:t>
            </a:r>
            <a:r>
              <a:rPr sz="1200">
                <a:solidFill>
                  <a:srgbClr val="C9E08A"/>
                </a:solidFill>
                <a:latin typeface="Consolas"/>
              </a:rPr>
              <a:t>721000.4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6178001.2</a:t>
            </a:r>
            <a:r>
              <a:rPr sz="1200">
                <a:solidFill>
                  <a:srgbClr val="C2D0DA"/>
                </a:solidFill>
                <a:latin typeface="Consolas"/>
              </a:rPr>
              <a:t>], ...] }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"Linear"</a:t>
            </a:r>
            <a:r>
              <a:rPr sz="1200">
                <a:solidFill>
                  <a:srgbClr val="C2D0DA"/>
                </a:solidFill>
                <a:latin typeface="Consolas"/>
              </a:rPr>
              <a:t> }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"2"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"Feature"</a:t>
            </a:r>
            <a:r>
              <a:rPr sz="1200">
                <a:solidFill>
                  <a:srgbClr val="C2D0DA"/>
                </a:solidFill>
                <a:latin typeface="Consolas"/>
              </a:rPr>
              <a:t>, ...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"numberReturned"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9E08A"/>
                </a:solidFill>
                <a:latin typeface="Consolas"/>
              </a:rPr>
              <a:t>2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"links"</a:t>
            </a:r>
            <a:r>
              <a:rPr sz="1200">
                <a:solidFill>
                  <a:srgbClr val="C2D0DA"/>
                </a:solidFill>
                <a:latin typeface="Consolas"/>
              </a:rPr>
              <a:t>: [ { </a:t>
            </a:r>
            <a:r>
              <a:rPr sz="1200">
                <a:solidFill>
                  <a:srgbClr val="6FC3E0"/>
                </a:solidFill>
                <a:latin typeface="Consolas"/>
              </a:rPr>
              <a:t>"rel"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"next"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</a:t>
            </a:r>
            <a:r>
              <a:rPr sz="1200">
                <a:solidFill>
                  <a:srgbClr val="6FC3E0"/>
                </a:solidFill>
                <a:latin typeface="Consolas"/>
              </a:rPr>
              <a:t>"href"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"/collections/ships/items?after=2&amp;limit=2"</a:t>
            </a:r>
            <a:r>
              <a:rPr sz="1200">
                <a:solidFill>
                  <a:srgbClr val="C2D0DA"/>
                </a:solidFill>
                <a:latin typeface="Consolas"/>
              </a:rPr>
              <a:t> } ]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1828800"/>
            <a:ext cx="3788359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Streamed:  </a:t>
            </a:r>
            <a:r>
              <a:rPr sz="1200">
                <a:solidFill>
                  <a:srgbClr val="1E2B36"/>
                </a:solidFill>
                <a:latin typeface="Calibri"/>
              </a:rPr>
              <a:t>each Feature is written from a server-side cursor; memory is bounded for any page size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Keyset next:  </a:t>
            </a:r>
            <a:r>
              <a:rPr sz="1200">
                <a:solidFill>
                  <a:srgbClr val="1E2B36"/>
                </a:solidFill>
                <a:latin typeface="Calibri"/>
              </a:rPr>
              <a:t>the next link advances by id (after=), with no OFFSET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asMFJSON:  </a:t>
            </a:r>
            <a:r>
              <a:rPr sz="1200">
                <a:solidFill>
                  <a:srgbClr val="1E2B36"/>
                </a:solidFill>
                <a:latin typeface="Calibri"/>
              </a:rPr>
              <a:t>the temporalGeometry is assembled in SQL and streamed as text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limit:  </a:t>
            </a:r>
            <a:r>
              <a:rPr sz="1200">
                <a:solidFill>
                  <a:srgbClr val="1E2B36"/>
                </a:solidFill>
                <a:latin typeface="Calibri"/>
              </a:rPr>
              <a:t>caps the page; the tier enforces a maximum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MOVING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Retrieve a Single Vessel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6035040" cy="420624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5779007" cy="4023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OK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"1"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"mmsi"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9E08A"/>
                </a:solidFill>
                <a:latin typeface="Consolas"/>
              </a:rPr>
              <a:t>111219510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"vessel 111219510"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"temporalGeometry"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"MovingPoint"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"crs"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"urn:ogc:def:crs:EPSG::25832"</a:t>
            </a:r>
            <a:r>
              <a:rPr sz="1200">
                <a:solidFill>
                  <a:srgbClr val="C2D0DA"/>
                </a:solidFill>
                <a:latin typeface="Consolas"/>
              </a:rPr>
              <a:t> }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"sequences"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{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"2026-02-26T13:28:08+01"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</a:t>
            </a:r>
            <a:r>
              <a:rPr sz="1200">
                <a:solidFill>
                  <a:srgbClr val="6FC3E0"/>
                </a:solidFill>
                <a:latin typeface="Consolas"/>
              </a:rPr>
              <a:t>"coordinates"</a:t>
            </a:r>
            <a:r>
              <a:rPr sz="1200">
                <a:solidFill>
                  <a:srgbClr val="C2D0DA"/>
                </a:solidFill>
                <a:latin typeface="Consolas"/>
              </a:rPr>
              <a:t>: [[</a:t>
            </a:r>
            <a:r>
              <a:rPr sz="1200">
                <a:solidFill>
                  <a:srgbClr val="C9E08A"/>
                </a:solidFill>
                <a:latin typeface="Consolas"/>
              </a:rPr>
              <a:t>721000.4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6178001.2</a:t>
            </a:r>
            <a:r>
              <a:rPr sz="1200">
                <a:solidFill>
                  <a:srgbClr val="C2D0DA"/>
                </a:solidFill>
                <a:latin typeface="Consolas"/>
              </a:rPr>
              <a:t>], ...] }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"Linear"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0568" y="1828800"/>
            <a:ext cx="4794199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One movement:  </a:t>
            </a:r>
            <a:r>
              <a:rPr sz="1200">
                <a:solidFill>
                  <a:srgbClr val="1E2B36"/>
                </a:solidFill>
                <a:latin typeface="Calibri"/>
              </a:rPr>
              <a:t>the full trajectory of one vessel as MovingFeaturesJSON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crs:  </a:t>
            </a:r>
            <a:r>
              <a:rPr sz="1200">
                <a:solidFill>
                  <a:srgbClr val="1E2B36"/>
                </a:solidFill>
                <a:latin typeface="Calibri"/>
              </a:rPr>
              <a:t>carried as an OGC URN; the tier maps to and from the EPSG form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interpolation:  </a:t>
            </a:r>
            <a:r>
              <a:rPr sz="1200">
                <a:solidFill>
                  <a:srgbClr val="1E2B36"/>
                </a:solidFill>
                <a:latin typeface="Calibri"/>
              </a:rPr>
              <a:t>Linear, so the vessel moves continuously between fixes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sequences:  </a:t>
            </a:r>
            <a:r>
              <a:rPr sz="1200">
                <a:solidFill>
                  <a:srgbClr val="1E2B36"/>
                </a:solidFill>
                <a:latin typeface="Calibri"/>
              </a:rPr>
              <a:t>one per continuous run; gaps split the trajectory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SPATIAL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Vessels Intersecting a Bounding Box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63624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/collections/ships/items?bbox=720000,6160000,738000,6178000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486400" cy="178308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2011680"/>
            <a:ext cx="5230368" cy="160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GET /collections/ships/items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?bbox=</a:t>
            </a:r>
            <a:r>
              <a:rPr sz="1200">
                <a:solidFill>
                  <a:srgbClr val="C9E08A"/>
                </a:solidFill>
                <a:latin typeface="Consolas"/>
              </a:rPr>
              <a:t>720000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  <a:r>
              <a:rPr sz="1200">
                <a:solidFill>
                  <a:srgbClr val="C9E08A"/>
                </a:solidFill>
                <a:latin typeface="Consolas"/>
              </a:rPr>
              <a:t>6160000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  <a:r>
              <a:rPr sz="1200">
                <a:solidFill>
                  <a:srgbClr val="C9E08A"/>
                </a:solidFill>
                <a:latin typeface="Consolas"/>
              </a:rPr>
              <a:t>738000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  <a:r>
              <a:rPr sz="1200">
                <a:solidFill>
                  <a:srgbClr val="C9E08A"/>
                </a:solidFill>
                <a:latin typeface="Consolas"/>
              </a:rPr>
              <a:t>6178000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&amp;limit=</a:t>
            </a:r>
            <a:r>
              <a:rPr sz="1200">
                <a:solidFill>
                  <a:srgbClr val="C9E08A"/>
                </a:solidFill>
                <a:latin typeface="Consolas"/>
              </a:rPr>
              <a:t>10000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bbox = minx,miny,maxx,maxy in the storage CRS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EPSG:25832 (metres)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170 of 2,833 trajectories cross the 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bbox:  </a:t>
            </a:r>
            <a:r>
              <a:rPr sz="1400">
                <a:solidFill>
                  <a:srgbClr val="1E2B36"/>
                </a:solidFill>
                <a:latin typeface="Calibri"/>
              </a:rPr>
              <a:t>keeps vessels whose trajectory intersects the envelope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Index:  </a:t>
            </a:r>
            <a:r>
              <a:rPr sz="1400">
                <a:solidFill>
                  <a:srgbClr val="1E2B36"/>
                </a:solidFill>
                <a:latin typeface="Calibri"/>
              </a:rPr>
              <a:t>pushed to the MobilityDB GiST index via the overlap operator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CRS:  </a:t>
            </a:r>
            <a:r>
              <a:rPr sz="1400">
                <a:solidFill>
                  <a:srgbClr val="1E2B36"/>
                </a:solidFill>
                <a:latin typeface="Calibri"/>
              </a:rPr>
              <a:t>coordinates are in the collection's storage CRS (EPSG:25832)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Composable:  </a:t>
            </a:r>
            <a:r>
              <a:rPr sz="1400">
                <a:solidFill>
                  <a:srgbClr val="1E2B36"/>
                </a:solidFill>
                <a:latin typeface="Calibri"/>
              </a:rPr>
              <a:t>with datetime, subtrajectory, limit and after</a:t>
            </a:r>
          </a:p>
        </p:txBody>
      </p:sp>
      <p:pic>
        <p:nvPicPr>
          <p:cNvPr id="10" name="Picture 9" descr="fig_bbox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486" y="1627632"/>
            <a:ext cx="4291027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2726" y="6016752"/>
            <a:ext cx="502254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Trajectories crossing the box (teal) over other traffic (grey); the box in 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TEMPORAL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Restrict Trajectories to a Time Interval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63624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/collections/ships/items?subtrajectory=true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486400" cy="196596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2011680"/>
            <a:ext cx="5230368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GET /collections/ships/items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?subtrajectory=</a:t>
            </a:r>
            <a:r>
              <a:rPr sz="1200">
                <a:solidFill>
                  <a:srgbClr val="CBA0E8"/>
                </a:solidFill>
                <a:latin typeface="Consolas"/>
              </a:rPr>
              <a:t>true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&amp;datetime=</a:t>
            </a:r>
            <a:r>
              <a:rPr sz="1200">
                <a:solidFill>
                  <a:srgbClr val="C9E08A"/>
                </a:solidFill>
                <a:latin typeface="Consolas"/>
              </a:rPr>
              <a:t>2026</a:t>
            </a:r>
            <a:r>
              <a:rPr sz="1200">
                <a:solidFill>
                  <a:srgbClr val="C9E08A"/>
                </a:solidFill>
                <a:latin typeface="Consolas"/>
              </a:rPr>
              <a:t>-02</a:t>
            </a:r>
            <a:r>
              <a:rPr sz="1200">
                <a:solidFill>
                  <a:srgbClr val="C9E08A"/>
                </a:solidFill>
                <a:latin typeface="Consolas"/>
              </a:rPr>
              <a:t>-26</a:t>
            </a:r>
            <a:r>
              <a:rPr sz="1200">
                <a:solidFill>
                  <a:srgbClr val="C2D0DA"/>
                </a:solidFill>
                <a:latin typeface="Consolas"/>
              </a:rPr>
              <a:t>T</a:t>
            </a:r>
            <a:r>
              <a:rPr sz="1200">
                <a:solidFill>
                  <a:srgbClr val="C9E08A"/>
                </a:solidFill>
                <a:latin typeface="Consolas"/>
              </a:rPr>
              <a:t>14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+</a:t>
            </a:r>
            <a:r>
              <a:rPr sz="1200">
                <a:solidFill>
                  <a:srgbClr val="C9E08A"/>
                </a:solidFill>
                <a:latin typeface="Consolas"/>
              </a:rPr>
              <a:t>01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       /</a:t>
            </a:r>
            <a:r>
              <a:rPr sz="1200">
                <a:solidFill>
                  <a:srgbClr val="C9E08A"/>
                </a:solidFill>
                <a:latin typeface="Consolas"/>
              </a:rPr>
              <a:t>2026</a:t>
            </a:r>
            <a:r>
              <a:rPr sz="1200">
                <a:solidFill>
                  <a:srgbClr val="C9E08A"/>
                </a:solidFill>
                <a:latin typeface="Consolas"/>
              </a:rPr>
              <a:t>-02</a:t>
            </a:r>
            <a:r>
              <a:rPr sz="1200">
                <a:solidFill>
                  <a:srgbClr val="C9E08A"/>
                </a:solidFill>
                <a:latin typeface="Consolas"/>
              </a:rPr>
              <a:t>-26</a:t>
            </a:r>
            <a:r>
              <a:rPr sz="1200">
                <a:solidFill>
                  <a:srgbClr val="C2D0DA"/>
                </a:solidFill>
                <a:latin typeface="Consolas"/>
              </a:rPr>
              <a:t>T</a:t>
            </a:r>
            <a:r>
              <a:rPr sz="1200">
                <a:solidFill>
                  <a:srgbClr val="C9E08A"/>
                </a:solidFill>
                <a:latin typeface="Consolas"/>
              </a:rPr>
              <a:t>15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  <a:r>
              <a:rPr sz="1200">
                <a:solidFill>
                  <a:srgbClr val="C9E08A"/>
                </a:solidFill>
                <a:latin typeface="Consolas"/>
              </a:rPr>
              <a:t>00</a:t>
            </a:r>
            <a:r>
              <a:rPr sz="1200">
                <a:solidFill>
                  <a:srgbClr val="C2D0DA"/>
                </a:solidFill>
                <a:latin typeface="Consolas"/>
              </a:rPr>
              <a:t>+</a:t>
            </a:r>
            <a:r>
              <a:rPr sz="1200">
                <a:solidFill>
                  <a:srgbClr val="C9E08A"/>
                </a:solidFill>
                <a:latin typeface="Consolas"/>
              </a:rPr>
              <a:t>01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datetime is an RFC 3339 interval (start/end)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subtrajectory=true clips each trajectory to the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window with atTime, instead of filtering trips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5486400" cy="1920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subtrajectory:  </a:t>
            </a:r>
            <a:r>
              <a:rPr sz="1400">
                <a:solidFill>
                  <a:srgbClr val="1E2B36"/>
                </a:solidFill>
                <a:latin typeface="Calibri"/>
              </a:rPr>
              <a:t>clips each trajectory to the datetime interval via atTime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datetime:  </a:t>
            </a:r>
            <a:r>
              <a:rPr sz="1400">
                <a:solidFill>
                  <a:srgbClr val="1E2B36"/>
                </a:solidFill>
                <a:latin typeface="Calibri"/>
              </a:rPr>
              <a:t>RFC 3339 interval; a bare instant is also accepted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Gap aware:  </a:t>
            </a:r>
            <a:r>
              <a:rPr sz="1400">
                <a:solidFill>
                  <a:srgbClr val="1E2B36"/>
                </a:solidFill>
                <a:latin typeface="Calibri"/>
              </a:rPr>
              <a:t>rows whose values fall entirely in a temporal gap are dropped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56082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Validation:  </a:t>
            </a:r>
            <a:r>
              <a:rPr sz="1400">
                <a:solidFill>
                  <a:srgbClr val="1E2B36"/>
                </a:solidFill>
                <a:latin typeface="Calibri"/>
              </a:rPr>
              <a:t>subtrajectory requires a bounded interval</a:t>
            </a:r>
          </a:p>
        </p:txBody>
      </p:sp>
      <p:pic>
        <p:nvPicPr>
          <p:cNvPr id="10" name="Picture 9" descr="fig_subtraj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35" y="1664208"/>
            <a:ext cx="4199728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8375" y="5961888"/>
            <a:ext cx="49312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Subtrajectories within a one-hour window (green) over full trajectories (grey)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alibri"/>
              </a:rPr>
              <a:t>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Create · Append · Delete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713232" cy="292608"/>
          </a:xfrm>
          <a:prstGeom prst="roundRect">
            <a:avLst>
              <a:gd name="adj" fmla="val 40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545336"/>
            <a:ext cx="4663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86400" cy="228600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5230368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"Feature"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"900001"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"demo"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"temporalGeometry"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"MovingPoint"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"Linear"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"2026-02-26T10:00:00+01"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"coordinates"</a:t>
            </a:r>
            <a:r>
              <a:rPr sz="1200">
                <a:solidFill>
                  <a:srgbClr val="C2D0DA"/>
                </a:solidFill>
                <a:latin typeface="Consolas"/>
              </a:rPr>
              <a:t>: [[</a:t>
            </a:r>
            <a:r>
              <a:rPr sz="1200">
                <a:solidFill>
                  <a:srgbClr val="C9E08A"/>
                </a:solidFill>
                <a:latin typeface="Consolas"/>
              </a:rPr>
              <a:t>600000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6330000</a:t>
            </a:r>
            <a:r>
              <a:rPr sz="1200">
                <a:solidFill>
                  <a:srgbClr val="C2D0DA"/>
                </a:solidFill>
                <a:latin typeface="Consolas"/>
              </a:rPr>
              <a:t>], ...] }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201</a:t>
            </a:r>
            <a:r>
              <a:rPr sz="1200">
                <a:solidFill>
                  <a:srgbClr val="C2D0DA"/>
                </a:solidFill>
                <a:latin typeface="Consolas"/>
              </a:rPr>
              <a:t>  { </a:t>
            </a:r>
            <a:r>
              <a:rPr sz="1200">
                <a:solidFill>
                  <a:srgbClr val="6FC3E0"/>
                </a:solidFill>
                <a:latin typeface="Consolas"/>
              </a:rPr>
              <a:t>"message"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"created"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"900001"</a:t>
            </a:r>
            <a:r>
              <a:rPr sz="1200">
                <a:solidFill>
                  <a:srgbClr val="C2D0DA"/>
                </a:solidFill>
                <a:latin typeface="Consolas"/>
              </a:rPr>
              <a:t>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43400"/>
            <a:ext cx="713232" cy="292608"/>
          </a:xfrm>
          <a:prstGeom prst="roundRect">
            <a:avLst>
              <a:gd name="adj" fmla="val 40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334256"/>
            <a:ext cx="466344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/collections/ships/items/900001/tgsequence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663440"/>
            <a:ext cx="5486400" cy="155448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DEPANEL"/>
          <p:cNvSpPr txBox="1"/>
          <p:nvPr/>
        </p:nvSpPr>
        <p:spPr>
          <a:xfrm>
            <a:off x="694944" y="4754879"/>
            <a:ext cx="5230368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append a temporally-disjoint sub-trajectory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 { </a:t>
            </a:r>
            <a:r>
              <a:rPr sz="1200">
                <a:solidFill>
                  <a:srgbClr val="6FC3E0"/>
                </a:solidFill>
                <a:latin typeface="Consolas"/>
              </a:rPr>
              <a:t>"message"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"appended"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"id"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"900001"</a:t>
            </a:r>
            <a:r>
              <a:rPr sz="1200">
                <a:solidFill>
                  <a:srgbClr val="C2D0DA"/>
                </a:solidFill>
                <a:latin typeface="Consolas"/>
              </a:rPr>
              <a:t>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94A6"/>
                </a:solidFill>
                <a:latin typeface="Consolas"/>
              </a:rPr>
              <a:t>// overlapping the existing time span: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409</a:t>
            </a:r>
            <a:r>
              <a:rPr sz="1200">
                <a:solidFill>
                  <a:srgbClr val="C2D0DA"/>
                </a:solidFill>
                <a:latin typeface="Consolas"/>
              </a:rPr>
              <a:t>  { </a:t>
            </a:r>
            <a:r>
              <a:rPr sz="1200">
                <a:solidFill>
                  <a:srgbClr val="6FC3E0"/>
                </a:solidFill>
                <a:latin typeface="Consolas"/>
              </a:rPr>
              <a:t>"code"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"409"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</a:t>
            </a:r>
            <a:r>
              <a:rPr sz="1200">
                <a:solidFill>
                  <a:srgbClr val="6FC3E0"/>
                </a:solidFill>
                <a:latin typeface="Consolas"/>
              </a:rPr>
              <a:t>"description"</a:t>
            </a:r>
            <a:r>
              <a:rPr sz="1200">
                <a:solidFill>
                  <a:srgbClr val="C2D0DA"/>
                </a:solidFill>
                <a:latin typeface="Consolas"/>
              </a:rPr>
              <a:t>: "the sub-trajectory overlaps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  the existing temporal geometry in time"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801368"/>
            <a:ext cx="932688" cy="292608"/>
          </a:xfrm>
          <a:prstGeom prst="roundRect">
            <a:avLst>
              <a:gd name="adj" fmla="val 4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6056" y="1783080"/>
            <a:ext cx="431871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/collections/ships/items/900001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075688"/>
            <a:ext cx="5342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204 remove the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3291840"/>
            <a:ext cx="5342839" cy="274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merge:  </a:t>
            </a:r>
            <a:r>
              <a:rPr sz="1200">
                <a:solidFill>
                  <a:srgbClr val="1E2B36"/>
                </a:solidFill>
                <a:latin typeface="Calibri"/>
              </a:rPr>
              <a:t>append uses MobilityDB merge, which rejects time overlap; the tier maps that to 409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Derived properties:  </a:t>
            </a:r>
            <a:r>
              <a:rPr sz="1200">
                <a:solidFill>
                  <a:srgbClr val="1E2B36"/>
                </a:solidFill>
                <a:latin typeface="Calibri"/>
              </a:rPr>
              <a:t>are computed from the geometry, so writes to them return 501; modify the geometry instead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Single geometry:  </a:t>
            </a:r>
            <a:r>
              <a:rPr sz="1200">
                <a:solidFill>
                  <a:srgbClr val="1E2B36"/>
                </a:solidFill>
                <a:latin typeface="Calibri"/>
              </a:rPr>
              <a:t>a feature carries one temporal geometry; delete the feature rather than a primitive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TEMPORAL GEOMETRY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The Temporal-Geometry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/collections/ships/items/1/tgsequence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86400" cy="320040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5230368" cy="3017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OK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"MovingPoint"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"crs"</a:t>
            </a:r>
            <a:r>
              <a:rPr sz="1200">
                <a:solidFill>
                  <a:srgbClr val="C2D0DA"/>
                </a:solidFill>
                <a:latin typeface="Consolas"/>
              </a:rPr>
              <a:t>: {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"urn:ogc:def:crs:EPSG::25832"</a:t>
            </a:r>
            <a:r>
              <a:rPr sz="1200">
                <a:solidFill>
                  <a:srgbClr val="C2D0DA"/>
                </a:solidFill>
                <a:latin typeface="Consolas"/>
              </a:rPr>
              <a:t> }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"sequences"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"2026-02-26T13:28:08+01"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"coordinates"</a:t>
            </a:r>
            <a:r>
              <a:rPr sz="1200">
                <a:solidFill>
                  <a:srgbClr val="C2D0DA"/>
                </a:solidFill>
                <a:latin typeface="Consolas"/>
              </a:rPr>
              <a:t>: [[</a:t>
            </a:r>
            <a:r>
              <a:rPr sz="1200">
                <a:solidFill>
                  <a:srgbClr val="C9E08A"/>
                </a:solidFill>
                <a:latin typeface="Consolas"/>
              </a:rPr>
              <a:t>721000.4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6178001.2</a:t>
            </a:r>
            <a:r>
              <a:rPr sz="1200">
                <a:solidFill>
                  <a:srgbClr val="C2D0DA"/>
                </a:solidFill>
                <a:latin typeface="Consolas"/>
              </a:rPr>
              <a:t>],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"lower_inc"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BA0E8"/>
                </a:solidFill>
                <a:latin typeface="Consolas"/>
              </a:rPr>
              <a:t>true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"upper_inc"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BA0E8"/>
                </a:solidFill>
                <a:latin typeface="Consolas"/>
              </a:rPr>
              <a:t>true</a:t>
            </a:r>
            <a:r>
              <a:rPr sz="1200">
                <a:solidFill>
                  <a:srgbClr val="C2D0DA"/>
                </a:solidFill>
                <a:latin typeface="Consolas"/>
              </a:rPr>
              <a:t>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"Linear"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1627632"/>
            <a:ext cx="5342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Selectors on this resource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2057400"/>
            <a:ext cx="5342839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datetime:  </a:t>
            </a:r>
            <a:r>
              <a:rPr sz="1200">
                <a:solidFill>
                  <a:srgbClr val="1E2B36"/>
                </a:solidFill>
                <a:latin typeface="Calibri"/>
              </a:rPr>
              <a:t>clip the sequence to an interval (atTime)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leaf:  </a:t>
            </a:r>
            <a:r>
              <a:rPr sz="1200">
                <a:solidFill>
                  <a:srgbClr val="1E2B36"/>
                </a:solidFill>
                <a:latin typeface="Calibri"/>
              </a:rPr>
              <a:t>return the geometry at one or more instants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POST:  </a:t>
            </a:r>
            <a:r>
              <a:rPr sz="1200">
                <a:solidFill>
                  <a:srgbClr val="1E2B36"/>
                </a:solidFill>
                <a:latin typeface="Calibri"/>
              </a:rPr>
              <a:t>append a temporally-disjoint sub-trajectory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206240"/>
            <a:ext cx="5342839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The temporal geometry is the trajectory itself, returned as MovingFeaturesJSON straight from asMFJSON.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02B93"/>
                </a:solidFill>
                <a:latin typeface="Calibri"/>
              </a:rPr>
              <a:t>DERIVED MEASURES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Distance · Velocity  ·  Acceleration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491947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/collections/ships/items/1/tgsequence/0/velocity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669280" cy="228600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5413248" cy="2103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OK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"velocity"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"TReal"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"form"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"m/s"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"description"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"Speed over ground ..."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"valueSequence"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"2026-02-26T13:28:08+01"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"values"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C9E08A"/>
                </a:solidFill>
                <a:latin typeface="Consolas"/>
              </a:rPr>
              <a:t>22.78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C9E08A"/>
                </a:solidFill>
                <a:latin typeface="Consolas"/>
              </a:rPr>
              <a:t>11.03</a:t>
            </a:r>
            <a:r>
              <a:rPr sz="1200">
                <a:solidFill>
                  <a:srgbClr val="C2D0DA"/>
                </a:solidFill>
                <a:latin typeface="Consolas"/>
              </a:rPr>
              <a:t>, ...],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"Stepwise"</a:t>
            </a:r>
            <a:r>
              <a:rPr sz="1200">
                <a:solidFill>
                  <a:srgbClr val="C2D0DA"/>
                </a:solidFill>
                <a:latin typeface="Consolas"/>
              </a:rPr>
              <a:t> }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"links"</a:t>
            </a:r>
            <a:r>
              <a:rPr sz="1200">
                <a:solidFill>
                  <a:srgbClr val="C2D0DA"/>
                </a:solidFill>
                <a:latin typeface="Consolas"/>
              </a:rPr>
              <a:t>: [ { </a:t>
            </a:r>
            <a:r>
              <a:rPr sz="1200">
                <a:solidFill>
                  <a:srgbClr val="6FC3E0"/>
                </a:solidFill>
                <a:latin typeface="Consolas"/>
              </a:rPr>
              <a:t>"rel"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"self"</a:t>
            </a:r>
            <a:r>
              <a:rPr sz="1200">
                <a:solidFill>
                  <a:srgbClr val="C2D0DA"/>
                </a:solidFill>
                <a:latin typeface="Consolas"/>
              </a:rPr>
              <a:t>, ... } ]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4340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4334256"/>
            <a:ext cx="491947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…/tgsequence/0/acceleration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663440"/>
            <a:ext cx="5669280" cy="155448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DEPANEL"/>
          <p:cNvSpPr txBox="1"/>
          <p:nvPr/>
        </p:nvSpPr>
        <p:spPr>
          <a:xfrm>
            <a:off x="694944" y="4754879"/>
            <a:ext cx="5413248" cy="1371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501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 </a:t>
            </a:r>
            <a:r>
              <a:rPr sz="1200">
                <a:solidFill>
                  <a:srgbClr val="6FC3E0"/>
                </a:solidFill>
                <a:latin typeface="Consolas"/>
              </a:rPr>
              <a:t>"code"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"501"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"description"</a:t>
            </a:r>
            <a:r>
              <a:rPr sz="1200">
                <a:solidFill>
                  <a:srgbClr val="C2D0DA"/>
                </a:solidFill>
                <a:latin typeface="Consolas"/>
              </a:rPr>
              <a:t>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"acceleration is not derivable: linearly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interpolated position gives a piecewise-constant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speed, whose derivative is zero within each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segment and undefined at the vertices"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5159959" cy="4206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velocity:  </a:t>
            </a:r>
            <a:r>
              <a:rPr sz="1200">
                <a:solidFill>
                  <a:srgbClr val="1E2B36"/>
                </a:solidFill>
                <a:latin typeface="Calibri"/>
              </a:rPr>
              <a:t>speed over ground from speed(trip), piecewise-constant (Stepwise)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distance:  </a:t>
            </a:r>
            <a:r>
              <a:rPr sz="1200">
                <a:solidFill>
                  <a:srgbClr val="1E2B36"/>
                </a:solidFill>
                <a:latin typeface="Calibri"/>
              </a:rPr>
              <a:t>cumulative length from cumulativeLength(trip) (Linear)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acceleration:  </a:t>
            </a:r>
            <a:r>
              <a:rPr sz="1200">
                <a:solidFill>
                  <a:srgbClr val="1E2B36"/>
                </a:solidFill>
                <a:latin typeface="Calibri"/>
              </a:rPr>
              <a:t>not fabricated, because with linear position the speed is a step function whose derivative is not a finite function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Exact:  </a:t>
            </a:r>
            <a:r>
              <a:rPr sz="1200">
                <a:solidFill>
                  <a:srgbClr val="1E2B36"/>
                </a:solidFill>
                <a:latin typeface="Calibri"/>
              </a:rPr>
              <a:t>each measure is a MobilityDB function reshaped into an OGC temporalProperty (TReal)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alibri"/>
              </a:rPr>
              <a:t>TEMPORAL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Time-Varying Attributes per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6" y="1545336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/collections/ships/items/1/tproperties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86400" cy="233172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DEPANEL"/>
          <p:cNvSpPr txBox="1"/>
          <p:nvPr/>
        </p:nvSpPr>
        <p:spPr>
          <a:xfrm>
            <a:off x="694944" y="1965960"/>
            <a:ext cx="5230368" cy="21488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9E08A"/>
                </a:solidFill>
                <a:latin typeface="Consolas"/>
              </a:rPr>
              <a:t>200</a:t>
            </a:r>
            <a:r>
              <a:rPr sz="1200">
                <a:solidFill>
                  <a:srgbClr val="C2D0DA"/>
                </a:solidFill>
                <a:latin typeface="Consolas"/>
              </a:rPr>
              <a:t> OK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"temporalProperties"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"velocity"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"TReal"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"form"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"m/s"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"distance"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"TReal"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"form"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"m"</a:t>
            </a:r>
            <a:r>
              <a:rPr sz="1200">
                <a:solidFill>
                  <a:srgbClr val="C2D0DA"/>
                </a:solidFill>
                <a:latin typeface="Consolas"/>
              </a:rPr>
              <a:t> },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"heading"</a:t>
            </a:r>
            <a:r>
              <a:rPr sz="1200">
                <a:solidFill>
                  <a:srgbClr val="C2D0DA"/>
                </a:solidFill>
                <a:latin typeface="Consolas"/>
              </a:rPr>
              <a:t>, 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"TReal"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"form"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"rad"</a:t>
            </a:r>
            <a:r>
              <a:rPr sz="1200">
                <a:solidFill>
                  <a:srgbClr val="C2D0DA"/>
                </a:solidFill>
                <a:latin typeface="Consolas"/>
              </a:rPr>
              <a:t> }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"numberReturned"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C9E08A"/>
                </a:solidFill>
                <a:latin typeface="Consolas"/>
              </a:rPr>
              <a:t>3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"links"</a:t>
            </a:r>
            <a:r>
              <a:rPr sz="1200">
                <a:solidFill>
                  <a:srgbClr val="C2D0DA"/>
                </a:solidFill>
                <a:latin typeface="Consolas"/>
              </a:rPr>
              <a:t>: [ { </a:t>
            </a:r>
            <a:r>
              <a:rPr sz="1200">
                <a:solidFill>
                  <a:srgbClr val="6FC3E0"/>
                </a:solidFill>
                <a:latin typeface="Consolas"/>
              </a:rPr>
              <a:t>"rel"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"self"</a:t>
            </a:r>
            <a:r>
              <a:rPr sz="1200">
                <a:solidFill>
                  <a:srgbClr val="C2D0DA"/>
                </a:solidFill>
                <a:latin typeface="Consolas"/>
              </a:rPr>
              <a:t>, ... } ]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89120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4379976"/>
            <a:ext cx="4736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/collections/ships/items/1/tproperties/velocity?leaf=...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709160"/>
            <a:ext cx="5486400" cy="1463040"/>
          </a:xfrm>
          <a:prstGeom prst="roundRect">
            <a:avLst>
              <a:gd name="adj" fmla="val 3500"/>
            </a:avLst>
          </a:prstGeom>
          <a:solidFill>
            <a:srgbClr val="0D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DEPANEL"/>
          <p:cNvSpPr txBox="1"/>
          <p:nvPr/>
        </p:nvSpPr>
        <p:spPr>
          <a:xfrm>
            <a:off x="694944" y="4800600"/>
            <a:ext cx="5230368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{ </a:t>
            </a:r>
            <a:r>
              <a:rPr sz="1200">
                <a:solidFill>
                  <a:srgbClr val="6FC3E0"/>
                </a:solidFill>
                <a:latin typeface="Consolas"/>
              </a:rPr>
              <a:t>"name"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"velocity"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"type"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"TReal"</a:t>
            </a:r>
            <a:r>
              <a:rPr sz="1200">
                <a:solidFill>
                  <a:srgbClr val="C2D0DA"/>
                </a:solidFill>
                <a:latin typeface="Consolas"/>
              </a:rPr>
              <a:t>, </a:t>
            </a:r>
            <a:r>
              <a:rPr sz="1200">
                <a:solidFill>
                  <a:srgbClr val="6FC3E0"/>
                </a:solidFill>
                <a:latin typeface="Consolas"/>
              </a:rPr>
              <a:t>"form"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"m/s"</a:t>
            </a:r>
            <a:r>
              <a:rPr sz="1200">
                <a:solidFill>
                  <a:srgbClr val="C2D0DA"/>
                </a:solidFill>
                <a:latin typeface="Consolas"/>
              </a:rPr>
              <a:t>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</a:t>
            </a:r>
            <a:r>
              <a:rPr sz="1200">
                <a:solidFill>
                  <a:srgbClr val="6FC3E0"/>
                </a:solidFill>
                <a:latin typeface="Consolas"/>
              </a:rPr>
              <a:t>"valueSequence"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{ </a:t>
            </a:r>
            <a:r>
              <a:rPr sz="1200">
                <a:solidFill>
                  <a:srgbClr val="6FC3E0"/>
                </a:solidFill>
                <a:latin typeface="Consolas"/>
              </a:rPr>
              <a:t>"datetimes"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E6A36A"/>
                </a:solidFill>
                <a:latin typeface="Consolas"/>
              </a:rPr>
              <a:t>"2026-02-26T13:28:08+01"</a:t>
            </a:r>
            <a:r>
              <a:rPr sz="1200">
                <a:solidFill>
                  <a:srgbClr val="C2D0DA"/>
                </a:solidFill>
                <a:latin typeface="Consolas"/>
              </a:rPr>
              <a:t>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"values"</a:t>
            </a:r>
            <a:r>
              <a:rPr sz="1200">
                <a:solidFill>
                  <a:srgbClr val="C2D0DA"/>
                </a:solidFill>
                <a:latin typeface="Consolas"/>
              </a:rPr>
              <a:t>: [</a:t>
            </a:r>
            <a:r>
              <a:rPr sz="1200">
                <a:solidFill>
                  <a:srgbClr val="C9E08A"/>
                </a:solidFill>
                <a:latin typeface="Consolas"/>
              </a:rPr>
              <a:t>22.78</a:t>
            </a:r>
            <a:r>
              <a:rPr sz="1200">
                <a:solidFill>
                  <a:srgbClr val="C2D0DA"/>
                </a:solidFill>
                <a:latin typeface="Consolas"/>
              </a:rPr>
              <a:t>],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C2D0DA"/>
                </a:solidFill>
                <a:latin typeface="Consolas"/>
              </a:rPr>
              <a:t>      </a:t>
            </a:r>
            <a:r>
              <a:rPr sz="1200">
                <a:solidFill>
                  <a:srgbClr val="6FC3E0"/>
                </a:solidFill>
                <a:latin typeface="Consolas"/>
              </a:rPr>
              <a:t>"interpolation"</a:t>
            </a:r>
            <a:r>
              <a:rPr sz="1200">
                <a:solidFill>
                  <a:srgbClr val="C2D0DA"/>
                </a:solidFill>
                <a:latin typeface="Consolas"/>
              </a:rPr>
              <a:t>: </a:t>
            </a:r>
            <a:r>
              <a:rPr sz="1200">
                <a:solidFill>
                  <a:srgbClr val="E6A36A"/>
                </a:solidFill>
                <a:latin typeface="Consolas"/>
              </a:rPr>
              <a:t>"Discrete"</a:t>
            </a:r>
            <a:r>
              <a:rPr sz="1200">
                <a:solidFill>
                  <a:srgbClr val="C2D0DA"/>
                </a:solidFill>
                <a:latin typeface="Consolas"/>
              </a:rPr>
              <a:t> } ]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1627632"/>
            <a:ext cx="5342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alibri"/>
              </a:rPr>
              <a:t>Property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938528"/>
            <a:ext cx="5342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alibri"/>
              </a:rPr>
              <a:t>TBoolean · TText · TInteger · TReal · TImage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377440"/>
            <a:ext cx="5342839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Derived:  </a:t>
            </a:r>
            <a:r>
              <a:rPr sz="1200">
                <a:solidFill>
                  <a:srgbClr val="1E2B36"/>
                </a:solidFill>
                <a:latin typeface="Calibri"/>
              </a:rPr>
              <a:t>velocity, distance and heading are computed from the trajectory, read-only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valueSequence:  </a:t>
            </a:r>
            <a:r>
              <a:rPr sz="1200">
                <a:solidFill>
                  <a:srgbClr val="1E2B36"/>
                </a:solidFill>
                <a:latin typeface="Calibri"/>
              </a:rPr>
              <a:t>datetimes and values with each segment's true interpolation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leaf:  </a:t>
            </a:r>
            <a:r>
              <a:rPr sz="1200">
                <a:solidFill>
                  <a:srgbClr val="1E2B36"/>
                </a:solidFill>
                <a:latin typeface="Calibri"/>
              </a:rPr>
              <a:t>selects values at given instants; the result is Discrete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datetime:  </a:t>
            </a:r>
            <a:r>
              <a:rPr sz="1200">
                <a:solidFill>
                  <a:srgbClr val="1E2B36"/>
                </a:solidFill>
                <a:latin typeface="Calibri"/>
              </a:rPr>
              <a:t>clips the property to an interval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CONFORMANCE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Declared Classes, API Definition,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503066" cy="416052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03066" cy="457200"/>
          </a:xfrm>
          <a:prstGeom prst="roundRect">
            <a:avLst>
              <a:gd name="adj" fmla="val 6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00784"/>
            <a:ext cx="3137306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Conformance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86000"/>
            <a:ext cx="3045866" cy="3383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movingfeatures / conf / common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/ conf / mf-collection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/ conf / movingfeatures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ogcapi-common-1 / conf / core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ogcapi-common-2 / conf / collections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1645920"/>
            <a:ext cx="3503066" cy="416052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4314" y="1645920"/>
            <a:ext cx="3503066" cy="457200"/>
          </a:xfrm>
          <a:prstGeom prst="roundRect">
            <a:avLst>
              <a:gd name="adj" fmla="val 6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914" y="1700784"/>
            <a:ext cx="3137306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API 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914" y="2286000"/>
            <a:ext cx="3045866" cy="3383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/api:  </a:t>
            </a:r>
            <a:r>
              <a:rPr sz="1200">
                <a:solidFill>
                  <a:srgbClr val="1E2B36"/>
                </a:solidFill>
                <a:latin typeface="Calibri"/>
              </a:rPr>
              <a:t>an OpenAPI 3.0 definition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service-desc:  </a:t>
            </a:r>
            <a:r>
              <a:rPr sz="1200">
                <a:solidFill>
                  <a:srgbClr val="1E2B36"/>
                </a:solidFill>
                <a:latin typeface="Calibri"/>
              </a:rPr>
              <a:t>linked from the landing page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Landing:  </a:t>
            </a:r>
            <a:r>
              <a:rPr sz="1200">
                <a:solidFill>
                  <a:srgbClr val="1E2B36"/>
                </a:solidFill>
                <a:latin typeface="Calibri"/>
              </a:rPr>
              <a:t>self, service-desc, conformance, data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Clients discover the surface at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1700" y="1645920"/>
            <a:ext cx="3503066" cy="416052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21700" y="1645920"/>
            <a:ext cx="3503066" cy="45720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0300" y="1700784"/>
            <a:ext cx="3137306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OGC error responses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0300" y="2286000"/>
            <a:ext cx="3045866" cy="3383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400:  </a:t>
            </a:r>
            <a:r>
              <a:rPr sz="1200">
                <a:solidFill>
                  <a:srgbClr val="1E2B36"/>
                </a:solidFill>
                <a:latin typeface="Calibri"/>
              </a:rPr>
              <a:t>invalid parameters or body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404:  </a:t>
            </a:r>
            <a:r>
              <a:rPr sz="1200">
                <a:solidFill>
                  <a:srgbClr val="1E2B36"/>
                </a:solidFill>
                <a:latin typeface="Calibri"/>
              </a:rPr>
              <a:t>collection / feature not found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409:  </a:t>
            </a:r>
            <a:r>
              <a:rPr sz="1200">
                <a:solidFill>
                  <a:srgbClr val="1E2B36"/>
                </a:solidFill>
                <a:latin typeface="Calibri"/>
              </a:rPr>
              <a:t>sub-trajectory overlaps in time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501:  </a:t>
            </a:r>
            <a:r>
              <a:rPr sz="1200">
                <a:solidFill>
                  <a:srgbClr val="1E2B36"/>
                </a:solidFill>
                <a:latin typeface="Calibri"/>
              </a:rPr>
              <a:t>measure not derivable / derived write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▸  </a:t>
            </a:r>
            <a:r>
              <a:rPr sz="1200">
                <a:solidFill>
                  <a:srgbClr val="1E2B36"/>
                </a:solidFill>
                <a:latin typeface="Calibri"/>
              </a:rPr>
              <a:t>Body: { "code", "description" 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alibri"/>
              </a:rPr>
              <a:t>SCALE AND LAKEHOUSE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Bounded Memory at Any Result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3840480" cy="27889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01168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96B24"/>
                </a:solidFill>
                <a:latin typeface="Calibri Light"/>
              </a:rPr>
              <a:t>393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in one streamed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20040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156082"/>
                </a:solidFill>
                <a:latin typeface="Calibri Light"/>
              </a:rPr>
              <a:t>≈18 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9319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resident memory, bounded by the stream and not the result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920240"/>
            <a:ext cx="6943039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196B24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Streaming responses:  </a:t>
            </a:r>
            <a:r>
              <a:rPr sz="1400">
                <a:solidFill>
                  <a:srgbClr val="1E2B36"/>
                </a:solidFill>
                <a:latin typeface="Calibri"/>
              </a:rPr>
              <a:t>the FeatureCollection is written row by row from a server-side cursor, so memory is bounded for any result size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196B24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Keyset pagination:  </a:t>
            </a:r>
            <a:r>
              <a:rPr sz="1400">
                <a:solidFill>
                  <a:srgbClr val="1E2B36"/>
                </a:solidFill>
                <a:latin typeface="Calibri"/>
              </a:rPr>
              <a:t>next links advance by id with no OFFSET, so paging stays constant cost through arbitrarily large collections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196B24"/>
                </a:solidFill>
                <a:latin typeface="Calibri"/>
              </a:rPr>
              <a:t>▸  </a:t>
            </a:r>
            <a:r>
              <a:rPr sz="1400" b="1">
                <a:solidFill>
                  <a:srgbClr val="0E2841"/>
                </a:solidFill>
                <a:latin typeface="Calibri"/>
              </a:rPr>
              <a:t>Index-using filters:  </a:t>
            </a:r>
            <a:r>
              <a:rPr sz="1400">
                <a:solidFill>
                  <a:srgbClr val="1E2B36"/>
                </a:solidFill>
                <a:latin typeface="Calibri"/>
              </a:rPr>
              <a:t>bbox and datetime push to the MobilityDB GiST index; subtrajectory clips with atTime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60720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Every temporal computation stays in MobilityDB; the tier is a single static binary. Streaming, keyset paging and index-using filters keep cost bounded as the database grows.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alibri"/>
              </a:rPr>
              <a:t>ADDITIONAL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Extensions Beyond the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57839" cy="512064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600200"/>
            <a:ext cx="10509199" cy="4114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part of OGC API – Moving Features; excluded from conformsTo.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640080" cy="292608"/>
          </a:xfrm>
          <a:prstGeom prst="roundRect">
            <a:avLst>
              <a:gd name="adj" fmla="val 40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350008"/>
            <a:ext cx="1030803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61488"/>
            <a:ext cx="681228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NDJSON (default):  </a:t>
            </a:r>
            <a:r>
              <a:rPr sz="1200">
                <a:solidFill>
                  <a:srgbClr val="1E2B36"/>
                </a:solidFill>
                <a:latin typeface="Calibri"/>
              </a:rPr>
              <a:t>one Feature per line, streamed; DuckDB, Spark and pandas ingest it directly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format=parquet:  </a:t>
            </a:r>
            <a:r>
              <a:rPr sz="1200">
                <a:solidFill>
                  <a:srgbClr val="1E2B36"/>
                </a:solidFill>
                <a:latin typeface="Calibri"/>
              </a:rPr>
              <a:t>columnar trajectory WKB plus a bbox and time sidecar; the row group bounds export memory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enclosure link:  </a:t>
            </a:r>
            <a:r>
              <a:rPr sz="1200">
                <a:solidFill>
                  <a:srgbClr val="1E2B36"/>
                </a:solidFill>
                <a:latin typeface="Calibri"/>
              </a:rPr>
              <a:t>advertised from the collection via the IANA enclosure relation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53527" y="2286000"/>
            <a:ext cx="3971239" cy="205740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468880"/>
            <a:ext cx="346831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196B24"/>
                </a:solidFill>
                <a:latin typeface="Calibri Light"/>
              </a:rPr>
              <a:t>393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3163824"/>
            <a:ext cx="3468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exported at about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3474720"/>
            <a:ext cx="346831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56082"/>
                </a:solidFill>
                <a:latin typeface="Calibri Light"/>
              </a:rPr>
              <a:t>18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4069080"/>
            <a:ext cx="3468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resident, bounded by the row group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17720"/>
            <a:ext cx="603504" cy="292608"/>
          </a:xfrm>
          <a:prstGeom prst="roundRect">
            <a:avLst>
              <a:gd name="adj" fmla="val 4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08576"/>
            <a:ext cx="1034460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E2841"/>
                </a:solidFill>
                <a:latin typeface="Consolas"/>
              </a:rPr>
              <a:t>/collections/{collectionId}/items/{mFeatureId}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0056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▸  </a:t>
            </a:r>
            <a:r>
              <a:rPr sz="1200" b="1">
                <a:solidFill>
                  <a:srgbClr val="0E2841"/>
                </a:solidFill>
                <a:latin typeface="Calibri"/>
              </a:rPr>
              <a:t>In-place replace:  </a:t>
            </a:r>
            <a:r>
              <a:rPr sz="1200">
                <a:solidFill>
                  <a:srgbClr val="1E2B36"/>
                </a:solidFill>
                <a:latin typeface="Calibri"/>
              </a:rPr>
              <a:t>the standard allows only GET and DELETE on a feature; PUT replaces its geometry and properties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A step toward the Data Lake House architecture in the MobilityDB ecosystem.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02B93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One Tier, Many MEOS Engines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55648"/>
            <a:ext cx="10472623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Thin OGC API – Moving Features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39696"/>
            <a:ext cx="1047262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FE2EC"/>
                </a:solidFill>
                <a:latin typeface="Calibri"/>
              </a:rPr>
              <a:t>MF-JSON / WKB wire format  ·  streaming  ·  keyset paging  ·  index pushdown  ·  no MEOS in the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3347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▼   serves any MEOS-backed engine; the engine becomes a configuration choice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108960"/>
            <a:ext cx="2558719" cy="23317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3108960"/>
            <a:ext cx="2558719" cy="475488"/>
          </a:xfrm>
          <a:prstGeom prst="roundRect">
            <a:avLst>
              <a:gd name="adj" fmla="val 8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63824"/>
            <a:ext cx="2284399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MobilityDB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onsolas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41648"/>
            <a:ext cx="222953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B36"/>
                </a:solidFill>
                <a:latin typeface="Calibri"/>
              </a:rPr>
              <a:t>Transactional serving over a live database.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alibri"/>
              </a:rPr>
              <a:t>Implemented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9967" y="3108960"/>
            <a:ext cx="2558719" cy="23317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99967" y="3108960"/>
            <a:ext cx="2558719" cy="475488"/>
          </a:xfrm>
          <a:prstGeom prst="roundRect">
            <a:avLst>
              <a:gd name="adj" fmla="val 8000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3163824"/>
            <a:ext cx="2284399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MobilityDuck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37033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onsolas"/>
              </a:rPr>
              <a:t>DuckDB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4041648"/>
            <a:ext cx="222953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B36"/>
                </a:solidFill>
                <a:latin typeface="Calibri"/>
              </a:rPr>
              <a:t>Embedded, Parquet-native lakehouse queries.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559" y="50749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B78"/>
                </a:solidFill>
                <a:latin typeface="Calibri"/>
              </a:rPr>
              <a:t>Direction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108960"/>
            <a:ext cx="2558719" cy="23317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108960"/>
            <a:ext cx="2558719" cy="475488"/>
          </a:xfrm>
          <a:prstGeom prst="roundRect">
            <a:avLst>
              <a:gd name="adj" fmla="val 8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3163824"/>
            <a:ext cx="2284399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MobilitySpark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7599" y="37033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onsolas"/>
              </a:rPr>
              <a:t>Apache Spark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4041648"/>
            <a:ext cx="222953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B36"/>
                </a:solidFill>
                <a:latin typeface="Calibri"/>
              </a:rPr>
              <a:t>Distributed batch over very large histories.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50749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B78"/>
                </a:solidFill>
                <a:latin typeface="Calibri"/>
              </a:rPr>
              <a:t>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66047" y="3108960"/>
            <a:ext cx="2558719" cy="23317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66047" y="3108960"/>
            <a:ext cx="2558719" cy="475488"/>
          </a:xfrm>
          <a:prstGeom prst="roundRect">
            <a:avLst>
              <a:gd name="adj" fmla="val 8000"/>
            </a:avLst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0639" y="3163824"/>
            <a:ext cx="2284399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MobilityFlink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0639" y="37033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02B93"/>
                </a:solidFill>
                <a:latin typeface="Consolas"/>
              </a:rPr>
              <a:t>Apache Flink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0639" y="4041648"/>
            <a:ext cx="2229535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2B36"/>
                </a:solidFill>
                <a:latin typeface="Calibri"/>
              </a:rPr>
              <a:t>Streaming, real-time moving features.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0639" y="5074920"/>
            <a:ext cx="228439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6B78"/>
                </a:solidFill>
                <a:latin typeface="Calibri"/>
              </a:rPr>
              <a:t>Direction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66928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5B6B78"/>
                </a:solidFill>
                <a:latin typeface="Calibri"/>
              </a:rPr>
              <a:t>MEOS types and the MF-JSON / WKB wire format are shared across the ecosystem, so the same tier fronts a transactional database today and the lakehouse and streaming engines as they mature.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The Standard Surface, Recapped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82296" cy="20574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9222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list (GET)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retrieve (GET)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registry-backed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164592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4314" y="1645920"/>
            <a:ext cx="82296" cy="205740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0346" y="179222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alibri"/>
              </a:rPr>
              <a:t>MOVING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346" y="214884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insert (POST)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retrieve / stream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delete (DELETE)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keyset paging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1700" y="164592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1700" y="1645920"/>
            <a:ext cx="82296" cy="2057400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7732" y="179222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96B24"/>
                </a:solidFill>
                <a:latin typeface="Calibri"/>
              </a:rPr>
              <a:t>QUERYING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7732" y="214884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bbox spatial filter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datetime interval / instant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subtrajectory clipping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96B24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leaf selector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8620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886200"/>
            <a:ext cx="82296" cy="2057400"/>
          </a:xfrm>
          <a:prstGeom prst="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3250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02B93"/>
                </a:solidFill>
                <a:latin typeface="Calibri"/>
              </a:rPr>
              <a:t>TEMPORAL GEOMETRY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get sequence (GET)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append sub-trajectory (POST)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A02B93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datetime / leaf clip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4314" y="388620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4314" y="3886200"/>
            <a:ext cx="82296" cy="20574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0346" y="403250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DERIVED MEASURES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346" y="438912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distance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velocity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acceleration → 501 (not derivable)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15608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exact, as TReal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1700" y="3886200"/>
            <a:ext cx="3503066" cy="205740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1700" y="3886200"/>
            <a:ext cx="82296" cy="205740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7732" y="4032504"/>
            <a:ext cx="313730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97132"/>
                </a:solidFill>
                <a:latin typeface="Calibri"/>
              </a:rPr>
              <a:t>CONFORMANCE &amp;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7732" y="4389120"/>
            <a:ext cx="3045866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5 conformance classes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OpenAPI at /api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streaming + keyset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E97132"/>
                </a:solidFill>
                <a:latin typeface="Calibri"/>
              </a:rPr>
              <a:t>✓ </a:t>
            </a:r>
            <a:r>
              <a:rPr sz="1200">
                <a:solidFill>
                  <a:srgbClr val="1E2B36"/>
                </a:solidFill>
                <a:latin typeface="Calibri"/>
              </a:rPr>
              <a:t>index-using filters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Calibri Light"/>
              </a:rPr>
              <a:t>Thanks for Listening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97132"/>
                </a:solidFill>
                <a:latin typeface="Calibri"/>
              </a:rPr>
              <a:t>Questions?</a:t>
            </a:r>
          </a:p>
        </p:txBody>
      </p:sp>
      <p:pic>
        <p:nvPicPr>
          <p:cNvPr id="6" name="Picture 5" descr="mobilitydb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970" y="4297680"/>
            <a:ext cx="1633349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6082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E2841"/>
                </a:solidFill>
                <a:latin typeface="Calibri Light"/>
              </a:rPr>
              <a:t>Find Out More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554480" cy="4572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993392"/>
            <a:ext cx="164592" cy="16459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2024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2841"/>
                </a:solidFill>
                <a:latin typeface="Calibri"/>
              </a:rPr>
              <a:t>OGC API – Moving Features – Part 1: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31136"/>
            <a:ext cx="10515600" cy="29260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1200" u="none">
                <a:solidFill>
                  <a:srgbClr val="156082"/>
                </a:solidFill>
                <a:latin typeface="Consolas"/>
                <a:hlinkClick r:id="rId2"/>
              </a:rPr>
              <a:t>https://docs.ogc.org/is/22-003r3/22-003r3.html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34640"/>
            <a:ext cx="164592" cy="16459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7614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2841"/>
                </a:solidFill>
                <a:latin typeface="Calibri"/>
              </a:rPr>
              <a:t>MobilityDB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72384"/>
            <a:ext cx="10515600" cy="29260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1200" u="none">
                <a:solidFill>
                  <a:srgbClr val="156082"/>
                </a:solidFill>
                <a:latin typeface="Consolas"/>
                <a:hlinkClick r:id="rId3"/>
              </a:rPr>
              <a:t>https://github.com/MobilityDB/MobilityDB</a:t>
            </a:r>
            <a:r>
              <a:rPr sz="1200">
                <a:solidFill>
                  <a:srgbClr val="5B6B78"/>
                </a:solidFill>
                <a:latin typeface="Consolas"/>
              </a:rPr>
              <a:t>    ·    </a:t>
            </a:r>
            <a:r>
              <a:rPr sz="1200" u="none">
                <a:solidFill>
                  <a:srgbClr val="156082"/>
                </a:solidFill>
                <a:latin typeface="Consolas"/>
                <a:hlinkClick r:id="rId4"/>
              </a:rPr>
              <a:t>https://mobilitydb.com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675887"/>
            <a:ext cx="164592" cy="16459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60273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2841"/>
                </a:solidFill>
                <a:latin typeface="Calibri"/>
              </a:rPr>
              <a:t>MEOS / ecosystem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13632"/>
            <a:ext cx="10515600" cy="29260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1200" u="none">
                <a:solidFill>
                  <a:srgbClr val="156082"/>
                </a:solidFill>
                <a:latin typeface="Consolas"/>
                <a:hlinkClick r:id="rId5"/>
              </a:rPr>
              <a:t>https://libmeos.org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17136"/>
            <a:ext cx="164592" cy="16459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44398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2841"/>
                </a:solidFill>
                <a:latin typeface="Calibri"/>
              </a:rPr>
              <a:t>AIS data — Danish Maritime Authority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754880"/>
            <a:ext cx="10515600" cy="29260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1200" u="none">
                <a:solidFill>
                  <a:srgbClr val="156082"/>
                </a:solidFill>
                <a:latin typeface="Consolas"/>
                <a:hlinkClick r:id="rId6"/>
              </a:rPr>
              <a:t>http://aisdata.ais.dk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455664"/>
            <a:ext cx="11057839" cy="10972"/>
          </a:xfrm>
          <a:prstGeom prst="rect">
            <a:avLst/>
          </a:prstGeom>
          <a:solidFill>
            <a:srgbClr val="D3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MobilityAPI  ·  OGC API – Moving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B6B7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