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4224528"/>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6000"/>
            </a:avLst>
          </a:prstGeom>
          <a:solidFill>
            <a:srgbClr val="FFFFFF"/>
          </a:solidFill>
          <a:ln w="1651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6000"/>
            </a:avLst>
          </a:prstGeom>
          <a:solidFill>
            <a:srgbClr val="FFFFFF"/>
          </a:solidFill>
          <a:ln w="1651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6000"/>
            </a:avLst>
          </a:prstGeom>
          <a:solidFill>
            <a:srgbClr val="FFFFFF"/>
          </a:solidFill>
          <a:ln w="1651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0000"/>
            </a:avLst>
          </a:prstGeom>
          <a:solidFill>
            <a:srgbClr val="FFFFFF"/>
          </a:solidFill>
          <a:ln w="2159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0000"/>
            </a:avLst>
          </a:prstGeom>
          <a:solidFill>
            <a:srgbClr val="FFFFFF"/>
          </a:solidFill>
          <a:ln w="21590">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00016"/>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TextBox 19"/>
          <p:cNvSpPr txBox="1"/>
          <p:nvPr/>
        </p:nvSpPr>
        <p:spPr>
          <a:xfrm>
            <a:off x="5138928" y="5669280"/>
            <a:ext cx="6485839"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Derived fields come O(1) from the tgeompoint and its inline STBOX; links are generated per request.</a:t>
            </a:r>
          </a:p>
        </p:txBody>
      </p:sp>
      <p:sp>
        <p:nvSpPr>
          <p:cNvPr id="21" name="Rectangle 2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3" name="TextBox 2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200710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20025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4185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41858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41401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8300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8300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82549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2415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2415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2369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6530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6484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40645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40599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4759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4714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5298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5294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TextBox 28"/>
          <p:cNvSpPr txBox="1"/>
          <p:nvPr/>
        </p:nvSpPr>
        <p:spPr>
          <a:xfrm>
            <a:off x="566928" y="5833872"/>
            <a:ext cx="11057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Every path above is OGC API – Moving Features – Part 1: Core. acceleration is offered at the same path but returns 501 (not derivable for this motion model). Items query parameters: bbox, datetime, subtrajectory, leaf, limit, page cursor.</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1031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19202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"Danish AIS vessel</a:t>
            </a:r>
          </a:p>
          <a:p>
            <a:pPr>
              <a:lnSpc>
                <a:spcPct val="102000"/>
              </a:lnSpc>
              <a:spcBef>
                <a:spcPts val="0"/>
              </a:spcBef>
              <a:spcAft>
                <a:spcPts val="0"/>
              </a:spcAft>
            </a:pPr>
            <a:r>
              <a:rPr sz="1200">
                <a:solidFill>
                  <a:srgbClr val="C2D0DA"/>
                </a:solidFill>
                <a:latin typeface="Consolas"/>
              </a:rPr>
              <a:t>                  trajectories</a:t>
            </a:r>
          </a:p>
          <a:p>
            <a:pPr>
              <a:lnSpc>
                <a:spcPct val="102000"/>
              </a:lnSpc>
              <a:spcBef>
                <a:spcPts val="0"/>
              </a:spcBef>
              <a:spcAft>
                <a:spcPts val="0"/>
              </a:spcAft>
            </a:pPr>
            <a:r>
              <a:rPr sz="1200">
                <a:solidFill>
                  <a:srgbClr val="C2D0DA"/>
                </a:solidFill>
                <a:latin typeface="Consolas"/>
              </a:rPr>
              <a:t>                  (MobilityDB tgeompoint)"</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4526280"/>
            <a:ext cx="5342839" cy="146304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itemType is movingfeature, per OGC API – Moving Features</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Links are relative; the client follows them without hard-coding paths</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035040" cy="42062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779007" cy="40233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830568" y="1828800"/>
            <a:ext cx="479419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06056" y="1783080"/>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61688"/>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56632"/>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