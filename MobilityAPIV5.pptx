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backing model is small: a collections registry and one feature table holding a tgeompoint, indexed by GiST. Temporal properties are derived from the geometry, not stored in side tables.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implemented endpoint and method. The walkthrough demonstrates each group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PUT replaces, DELETE removes, and POST tgsequence appends a temporally-disjoint sub-trajectory via merge (overlap returns 409).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responses keep memory bounded (a 393 MB NDJSON export held about 18 MB resident), keyset pagination pages through arbitrarily large collections, bbox and datetime use the index, and the export feeds the lakehouse as NDJSON or as Parquet with a WKB and bbox/time sidecar whose row group bounds memory.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Associate_Member_3DR.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783080"/>
            <a:ext cx="4023360" cy="3977639"/>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0" y="1984248"/>
            <a:ext cx="34747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560320"/>
            <a:ext cx="3383280" cy="676656"/>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2660903"/>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HTTP client</a:t>
            </a:r>
          </a:p>
        </p:txBody>
      </p:sp>
      <p:sp>
        <p:nvSpPr>
          <p:cNvPr id="10" name="TextBox 9"/>
          <p:cNvSpPr txBox="1"/>
          <p:nvPr/>
        </p:nvSpPr>
        <p:spPr>
          <a:xfrm>
            <a:off x="8092440" y="2944368"/>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browser · mobile · ETL</a:t>
            </a:r>
          </a:p>
        </p:txBody>
      </p:sp>
      <p:sp>
        <p:nvSpPr>
          <p:cNvPr id="11" name="TextBox 10"/>
          <p:cNvSpPr txBox="1"/>
          <p:nvPr/>
        </p:nvSpPr>
        <p:spPr>
          <a:xfrm>
            <a:off x="7909560" y="3236976"/>
            <a:ext cx="3383280" cy="237744"/>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2" name="Rounded Rectangle 11"/>
          <p:cNvSpPr/>
          <p:nvPr/>
        </p:nvSpPr>
        <p:spPr>
          <a:xfrm>
            <a:off x="7909560" y="3547872"/>
            <a:ext cx="3383280" cy="676656"/>
          </a:xfrm>
          <a:prstGeom prst="roundRect">
            <a:avLst>
              <a:gd name="adj" fmla="val 12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92440" y="3648456"/>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a:t>
            </a:r>
          </a:p>
        </p:txBody>
      </p:sp>
      <p:sp>
        <p:nvSpPr>
          <p:cNvPr id="14" name="TextBox 13"/>
          <p:cNvSpPr txBox="1"/>
          <p:nvPr/>
        </p:nvSpPr>
        <p:spPr>
          <a:xfrm>
            <a:off x="8092440" y="3931920"/>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 (Go)</a:t>
            </a:r>
          </a:p>
        </p:txBody>
      </p:sp>
      <p:sp>
        <p:nvSpPr>
          <p:cNvPr id="15" name="TextBox 14"/>
          <p:cNvSpPr txBox="1"/>
          <p:nvPr/>
        </p:nvSpPr>
        <p:spPr>
          <a:xfrm>
            <a:off x="7909560" y="4224528"/>
            <a:ext cx="3383280" cy="237744"/>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a:t>
            </a:r>
          </a:p>
        </p:txBody>
      </p:sp>
      <p:sp>
        <p:nvSpPr>
          <p:cNvPr id="16" name="Rounded Rectangle 15"/>
          <p:cNvSpPr/>
          <p:nvPr/>
        </p:nvSpPr>
        <p:spPr>
          <a:xfrm>
            <a:off x="7909560" y="4535424"/>
            <a:ext cx="3383280" cy="676656"/>
          </a:xfrm>
          <a:prstGeom prst="roundRect">
            <a:avLst>
              <a:gd name="adj" fmla="val 12000"/>
            </a:avLst>
          </a:prstGeom>
          <a:solidFill>
            <a:srgbClr val="FFFFFF"/>
          </a:solidFill>
          <a:ln w="1905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636008"/>
            <a:ext cx="3017520" cy="27432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 / PostgreSQL</a:t>
            </a:r>
          </a:p>
        </p:txBody>
      </p:sp>
      <p:sp>
        <p:nvSpPr>
          <p:cNvPr id="18" name="TextBox 17"/>
          <p:cNvSpPr txBox="1"/>
          <p:nvPr/>
        </p:nvSpPr>
        <p:spPr>
          <a:xfrm>
            <a:off x="8092440" y="4919472"/>
            <a:ext cx="301752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19" name="Rectangle 1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1" name="TextBox 2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617720"/>
            <a:ext cx="11057839" cy="123444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754880"/>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 MEOS IN THE TIER</a:t>
            </a:r>
          </a:p>
        </p:txBody>
      </p:sp>
      <p:sp>
        <p:nvSpPr>
          <p:cNvPr id="11" name="TextBox 10"/>
          <p:cNvSpPr txBox="1"/>
          <p:nvPr/>
        </p:nvSpPr>
        <p:spPr>
          <a:xfrm>
            <a:off x="841247" y="5029200"/>
            <a:ext cx="10509199" cy="73152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The trajectory is never materialised, parsed or transformed in the tier. It travels as asMFJSON text on the way out and as a MovingFeaturesJSON payload on the way in; MobilityDB does the parsing, the geometry algebra and the temporal computations. The result is a single static binary with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57784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91640"/>
            <a:ext cx="429768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91640"/>
            <a:ext cx="429768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09928"/>
            <a:ext cx="402336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8" name="TextBox 7"/>
          <p:cNvSpPr txBox="1"/>
          <p:nvPr/>
        </p:nvSpPr>
        <p:spPr>
          <a:xfrm>
            <a:off x="731520" y="2148840"/>
            <a:ext cx="4005072"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9" name="Rounded Rectangle 8"/>
          <p:cNvSpPr/>
          <p:nvPr/>
        </p:nvSpPr>
        <p:spPr>
          <a:xfrm>
            <a:off x="566928" y="3959352"/>
            <a:ext cx="429768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959352"/>
            <a:ext cx="429768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77639"/>
            <a:ext cx="402336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  (one table per collection)</a:t>
            </a:r>
          </a:p>
        </p:txBody>
      </p:sp>
      <p:sp>
        <p:nvSpPr>
          <p:cNvPr id="12" name="TextBox 11"/>
          <p:cNvSpPr txBox="1"/>
          <p:nvPr/>
        </p:nvSpPr>
        <p:spPr>
          <a:xfrm>
            <a:off x="731520" y="4416552"/>
            <a:ext cx="4005072"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3" name="TextBox 12"/>
          <p:cNvSpPr txBox="1"/>
          <p:nvPr/>
        </p:nvSpPr>
        <p:spPr>
          <a:xfrm>
            <a:off x="5532120" y="1783080"/>
            <a:ext cx="6092647"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collections  </a:t>
            </a:r>
            <a:r>
              <a:rPr sz="1400">
                <a:solidFill>
                  <a:srgbClr val="1E2B36"/>
                </a:solidFill>
                <a:latin typeface="Calibri"/>
              </a:rPr>
              <a:t>a small registry: each row maps a collection id to its feature table and CRS</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feature table  </a:t>
            </a:r>
            <a:r>
              <a:rPr sz="1400">
                <a:solidFill>
                  <a:srgbClr val="1E2B36"/>
                </a:solidFill>
                <a:latin typeface="Calibri"/>
              </a:rPr>
              <a:t>one row per moving feature; the trajectory is a single MobilityDB tgeompoint column</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GiST index  </a:t>
            </a:r>
            <a:r>
              <a:rPr sz="1400">
                <a:solidFill>
                  <a:srgbClr val="1E2B36"/>
                </a:solidFill>
                <a:latin typeface="Calibri"/>
              </a:rPr>
              <a:t>gist (trip) backs the bbox and datetime filters with one spatio-temporal index</a:t>
            </a:r>
          </a:p>
          <a:p>
            <a:pPr>
              <a:lnSpc>
                <a:spcPct val="106000"/>
              </a:lnSpc>
              <a:spcBef>
                <a:spcPts val="0"/>
              </a:spcBef>
              <a:spcAft>
                <a:spcPts val="1300"/>
              </a:spcAft>
            </a:pPr>
            <a:r>
              <a:rPr sz="1400" b="1">
                <a:solidFill>
                  <a:srgbClr val="E97132"/>
                </a:solidFill>
                <a:latin typeface="Calibri"/>
              </a:rPr>
              <a:t>▸  </a:t>
            </a:r>
            <a:r>
              <a:rPr sz="1400" b="1">
                <a:solidFill>
                  <a:srgbClr val="0E2841"/>
                </a:solidFill>
                <a:latin typeface="Calibri"/>
              </a:rPr>
              <a:t>Derived properties  </a:t>
            </a:r>
            <a:r>
              <a:rPr sz="1400">
                <a:solidFill>
                  <a:srgbClr val="1E2B36"/>
                </a:solidFill>
                <a:latin typeface="Calibri"/>
              </a:rPr>
              <a:t>speed, distance and heading are computed from trip on demand, not stored</a:t>
            </a:r>
          </a:p>
        </p:txBody>
      </p:sp>
      <p:sp>
        <p:nvSpPr>
          <p:cNvPr id="14" name="TextBox 13"/>
          <p:cNvSpPr txBox="1"/>
          <p:nvPr/>
        </p:nvSpPr>
        <p:spPr>
          <a:xfrm>
            <a:off x="566928" y="6126480"/>
            <a:ext cx="640080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trip is a native MobilityDB type; the bounding box and time span come from its inline STBOX at O(1) cost.</a:t>
            </a:r>
          </a:p>
        </p:txBody>
      </p:sp>
      <p:sp>
        <p:nvSpPr>
          <p:cNvPr id="15" name="Rectangle 14"/>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7" name="TextBox 16"/>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png"/>
          <p:cNvPicPr>
            <a:picLocks noChangeAspect="1"/>
          </p:cNvPicPr>
          <p:nvPr/>
        </p:nvPicPr>
        <p:blipFill>
          <a:blip r:embed="rId2"/>
          <a:stretch>
            <a:fillRect/>
          </a:stretch>
        </p:blipFill>
        <p:spPr>
          <a:xfrm>
            <a:off x="6400800" y="2030234"/>
            <a:ext cx="5394960" cy="362049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400800" y="6089904"/>
            <a:ext cx="539496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Maritime Authority AIS vessel trajectories</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Implemented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72768"/>
            <a:ext cx="82296" cy="146304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Rounded Rectangle 7"/>
          <p:cNvSpPr/>
          <p:nvPr/>
        </p:nvSpPr>
        <p:spPr>
          <a:xfrm>
            <a:off x="82296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581912" y="205740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a:t>
            </a:r>
          </a:p>
        </p:txBody>
      </p:sp>
      <p:sp>
        <p:nvSpPr>
          <p:cNvPr id="10" name="Rounded Rectangle 9"/>
          <p:cNvSpPr/>
          <p:nvPr/>
        </p:nvSpPr>
        <p:spPr>
          <a:xfrm>
            <a:off x="82296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1581912" y="251460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/collections/{id}</a:t>
            </a:r>
          </a:p>
        </p:txBody>
      </p:sp>
      <p:sp>
        <p:nvSpPr>
          <p:cNvPr id="12" name="Rounded Rectangle 11"/>
          <p:cNvSpPr/>
          <p:nvPr/>
        </p:nvSpPr>
        <p:spPr>
          <a:xfrm>
            <a:off x="566928" y="3054096"/>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3054096"/>
            <a:ext cx="82296" cy="146304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82112"/>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5" name="Rounded Rectangle 14"/>
          <p:cNvSpPr/>
          <p:nvPr/>
        </p:nvSpPr>
        <p:spPr>
          <a:xfrm>
            <a:off x="822960" y="35478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6" name="Rounded Rectangle 15"/>
          <p:cNvSpPr/>
          <p:nvPr/>
        </p:nvSpPr>
        <p:spPr>
          <a:xfrm>
            <a:off x="1527048" y="3547872"/>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7" name="TextBox 16"/>
          <p:cNvSpPr txBox="1"/>
          <p:nvPr/>
        </p:nvSpPr>
        <p:spPr>
          <a:xfrm>
            <a:off x="2359152" y="3538728"/>
            <a:ext cx="359359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/collections/{id}/items</a:t>
            </a:r>
          </a:p>
        </p:txBody>
      </p:sp>
      <p:sp>
        <p:nvSpPr>
          <p:cNvPr id="18" name="Rounded Rectangle 17"/>
          <p:cNvSpPr/>
          <p:nvPr/>
        </p:nvSpPr>
        <p:spPr>
          <a:xfrm>
            <a:off x="822960" y="40050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9" name="Rounded Rectangle 18"/>
          <p:cNvSpPr/>
          <p:nvPr/>
        </p:nvSpPr>
        <p:spPr>
          <a:xfrm>
            <a:off x="1527048" y="400507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20" name="Rounded Rectangle 19"/>
          <p:cNvSpPr/>
          <p:nvPr/>
        </p:nvSpPr>
        <p:spPr>
          <a:xfrm>
            <a:off x="2194560" y="4005072"/>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21" name="TextBox 20"/>
          <p:cNvSpPr txBox="1"/>
          <p:nvPr/>
        </p:nvSpPr>
        <p:spPr>
          <a:xfrm>
            <a:off x="3246120" y="3995928"/>
            <a:ext cx="2706624"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a:t>
            </a:r>
          </a:p>
        </p:txBody>
      </p:sp>
      <p:sp>
        <p:nvSpPr>
          <p:cNvPr id="22" name="Rounded Rectangle 21"/>
          <p:cNvSpPr/>
          <p:nvPr/>
        </p:nvSpPr>
        <p:spPr>
          <a:xfrm>
            <a:off x="566928" y="4681728"/>
            <a:ext cx="5440680"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681728"/>
            <a:ext cx="82296" cy="146304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809744"/>
            <a:ext cx="507492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TEMPORAL GEOMETRY</a:t>
            </a:r>
          </a:p>
        </p:txBody>
      </p:sp>
      <p:sp>
        <p:nvSpPr>
          <p:cNvPr id="25" name="Rounded Rectangle 24"/>
          <p:cNvSpPr/>
          <p:nvPr/>
        </p:nvSpPr>
        <p:spPr>
          <a:xfrm>
            <a:off x="822960" y="517550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Rounded Rectangle 25"/>
          <p:cNvSpPr/>
          <p:nvPr/>
        </p:nvSpPr>
        <p:spPr>
          <a:xfrm>
            <a:off x="1527048" y="51755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27" name="TextBox 26"/>
          <p:cNvSpPr txBox="1"/>
          <p:nvPr/>
        </p:nvSpPr>
        <p:spPr>
          <a:xfrm>
            <a:off x="2359152" y="5166360"/>
            <a:ext cx="359359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…/items/{fid}/tgsequence</a:t>
            </a:r>
          </a:p>
        </p:txBody>
      </p:sp>
      <p:sp>
        <p:nvSpPr>
          <p:cNvPr id="28" name="Rounded Rectangle 27"/>
          <p:cNvSpPr/>
          <p:nvPr/>
        </p:nvSpPr>
        <p:spPr>
          <a:xfrm>
            <a:off x="822960" y="563270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9" name="TextBox 28"/>
          <p:cNvSpPr txBox="1"/>
          <p:nvPr/>
        </p:nvSpPr>
        <p:spPr>
          <a:xfrm>
            <a:off x="1581912" y="5623560"/>
            <a:ext cx="4370832"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…/tgsequence/{tgid}/distance · velocity</a:t>
            </a:r>
          </a:p>
        </p:txBody>
      </p:sp>
      <p:sp>
        <p:nvSpPr>
          <p:cNvPr id="30" name="Rounded Rectangle 29"/>
          <p:cNvSpPr/>
          <p:nvPr/>
        </p:nvSpPr>
        <p:spPr>
          <a:xfrm>
            <a:off x="6190488" y="1572768"/>
            <a:ext cx="5434279"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0488" y="1572768"/>
            <a:ext cx="82296" cy="146304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1700784"/>
            <a:ext cx="506851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TEMPORAL PROPERTIES</a:t>
            </a:r>
          </a:p>
        </p:txBody>
      </p:sp>
      <p:sp>
        <p:nvSpPr>
          <p:cNvPr id="33" name="Rounded Rectangle 32"/>
          <p:cNvSpPr/>
          <p:nvPr/>
        </p:nvSpPr>
        <p:spPr>
          <a:xfrm>
            <a:off x="6446520" y="2066543"/>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4" name="TextBox 33"/>
          <p:cNvSpPr txBox="1"/>
          <p:nvPr/>
        </p:nvSpPr>
        <p:spPr>
          <a:xfrm>
            <a:off x="7205472" y="2057400"/>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…/items/{fid}/tproperties</a:t>
            </a:r>
          </a:p>
        </p:txBody>
      </p:sp>
      <p:sp>
        <p:nvSpPr>
          <p:cNvPr id="35" name="Rounded Rectangle 34"/>
          <p:cNvSpPr/>
          <p:nvPr/>
        </p:nvSpPr>
        <p:spPr>
          <a:xfrm>
            <a:off x="6446520" y="2523744"/>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36" name="TextBox 35"/>
          <p:cNvSpPr txBox="1"/>
          <p:nvPr/>
        </p:nvSpPr>
        <p:spPr>
          <a:xfrm>
            <a:off x="7205472" y="2514600"/>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…/tproperties/{name}</a:t>
            </a:r>
          </a:p>
        </p:txBody>
      </p:sp>
      <p:sp>
        <p:nvSpPr>
          <p:cNvPr id="37" name="Rounded Rectangle 36"/>
          <p:cNvSpPr/>
          <p:nvPr/>
        </p:nvSpPr>
        <p:spPr>
          <a:xfrm>
            <a:off x="6190488" y="3054096"/>
            <a:ext cx="5434279" cy="146304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90488" y="3054096"/>
            <a:ext cx="82296" cy="146304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182112"/>
            <a:ext cx="506851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SERVICE</a:t>
            </a:r>
          </a:p>
        </p:txBody>
      </p:sp>
      <p:sp>
        <p:nvSpPr>
          <p:cNvPr id="40" name="Rounded Rectangle 39"/>
          <p:cNvSpPr/>
          <p:nvPr/>
        </p:nvSpPr>
        <p:spPr>
          <a:xfrm>
            <a:off x="6446520" y="35478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1" name="TextBox 40"/>
          <p:cNvSpPr txBox="1"/>
          <p:nvPr/>
        </p:nvSpPr>
        <p:spPr>
          <a:xfrm>
            <a:off x="7205472" y="3538728"/>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/conformance · /api</a:t>
            </a:r>
          </a:p>
        </p:txBody>
      </p:sp>
      <p:sp>
        <p:nvSpPr>
          <p:cNvPr id="42" name="Rounded Rectangle 41"/>
          <p:cNvSpPr/>
          <p:nvPr/>
        </p:nvSpPr>
        <p:spPr>
          <a:xfrm>
            <a:off x="6446520" y="4005072"/>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43" name="TextBox 42"/>
          <p:cNvSpPr txBox="1"/>
          <p:nvPr/>
        </p:nvSpPr>
        <p:spPr>
          <a:xfrm>
            <a:off x="7205472" y="3995928"/>
            <a:ext cx="4364431" cy="256032"/>
          </a:xfrm>
          <a:prstGeom prst="rect">
            <a:avLst/>
          </a:prstGeom>
          <a:noFill/>
        </p:spPr>
        <p:txBody>
          <a:bodyPr wrap="square" anchor="ctr" lIns="0" rIns="0" tIns="0" bIns="0">
            <a:noAutofit/>
          </a:bodyPr>
          <a:lstStyle/>
          <a:p>
            <a:pPr algn="l">
              <a:spcBef>
                <a:spcPts val="0"/>
              </a:spcBef>
              <a:spcAft>
                <a:spcPts val="200"/>
              </a:spcAft>
            </a:pPr>
            <a:r>
              <a:rPr sz="1200" b="0" i="0">
                <a:solidFill>
                  <a:srgbClr val="0E2841"/>
                </a:solidFill>
                <a:latin typeface="Consolas"/>
              </a:rPr>
              <a:t>…/export  (NDJSON · Parquet)</a:t>
            </a:r>
          </a:p>
        </p:txBody>
      </p:sp>
      <p:sp>
        <p:nvSpPr>
          <p:cNvPr id="44" name="TextBox 43"/>
          <p:cNvSpPr txBox="1"/>
          <p:nvPr/>
        </p:nvSpPr>
        <p:spPr>
          <a:xfrm>
            <a:off x="6190488" y="4754880"/>
            <a:ext cx="5434279" cy="82296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Filters on the items resource: bbox, datetime, subtrajectory, leaf, limit, after (keyset).</a:t>
            </a:r>
          </a:p>
        </p:txBody>
      </p:sp>
      <p:sp>
        <p:nvSpPr>
          <p:cNvPr id="45" name="Rectangle 44"/>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47" name="TextBox 46"/>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1031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19202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"Danish AIS vessel</a:t>
            </a:r>
          </a:p>
          <a:p>
            <a:pPr>
              <a:lnSpc>
                <a:spcPct val="102000"/>
              </a:lnSpc>
              <a:spcBef>
                <a:spcPts val="0"/>
              </a:spcBef>
              <a:spcAft>
                <a:spcPts val="0"/>
              </a:spcAft>
            </a:pPr>
            <a:r>
              <a:rPr sz="1200">
                <a:solidFill>
                  <a:srgbClr val="C2D0DA"/>
                </a:solidFill>
                <a:latin typeface="Consolas"/>
              </a:rPr>
              <a:t>                  trajectories</a:t>
            </a:r>
          </a:p>
          <a:p>
            <a:pPr>
              <a:lnSpc>
                <a:spcPct val="102000"/>
              </a:lnSpc>
              <a:spcBef>
                <a:spcPts val="0"/>
              </a:spcBef>
              <a:spcAft>
                <a:spcPts val="0"/>
              </a:spcAft>
            </a:pPr>
            <a:r>
              <a:rPr sz="1200">
                <a:solidFill>
                  <a:srgbClr val="C2D0DA"/>
                </a:solidFill>
                <a:latin typeface="Consolas"/>
              </a:rPr>
              <a:t>                  (MobilityDB tgeompoint)"</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4526280"/>
            <a:ext cx="5342839" cy="146304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itemType is movingfeature, per OGC API – Moving Features</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Links are relative; the client follows them without hard-coding paths</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035040" cy="42062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779007" cy="40233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830568" y="1828800"/>
            <a:ext cx="479419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the vessel moves continuously between fixes</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580000</a:t>
            </a:r>
            <a:r>
              <a:rPr sz="1200">
                <a:solidFill>
                  <a:srgbClr val="C2D0DA"/>
                </a:solidFill>
                <a:latin typeface="Consolas"/>
              </a:rPr>
              <a:t>,</a:t>
            </a:r>
            <a:r>
              <a:rPr sz="1200">
                <a:solidFill>
                  <a:srgbClr val="C9E08A"/>
                </a:solidFill>
                <a:latin typeface="Consolas"/>
              </a:rPr>
              <a:t>6320000</a:t>
            </a:r>
            <a:r>
              <a:rPr sz="1200">
                <a:solidFill>
                  <a:srgbClr val="C2D0DA"/>
                </a:solidFill>
                <a:latin typeface="Consolas"/>
              </a:rPr>
              <a:t>,</a:t>
            </a:r>
            <a:r>
              <a:rPr sz="1200">
                <a:solidFill>
                  <a:srgbClr val="C9E08A"/>
                </a:solidFill>
                <a:latin typeface="Consolas"/>
              </a:rPr>
              <a:t>600000</a:t>
            </a:r>
            <a:r>
              <a:rPr sz="1200">
                <a:solidFill>
                  <a:srgbClr val="C2D0DA"/>
                </a:solidFill>
                <a:latin typeface="Consolas"/>
              </a:rPr>
              <a:t>,</a:t>
            </a:r>
            <a:r>
              <a:rPr sz="1200">
                <a:solidFill>
                  <a:srgbClr val="C9E08A"/>
                </a:solidFill>
                <a:latin typeface="Consolas"/>
              </a:rPr>
              <a:t>6340000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104 of 2,833 trajectories intersect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png"/>
          <p:cNvPicPr>
            <a:picLocks noChangeAspect="1"/>
          </p:cNvPicPr>
          <p:nvPr/>
        </p:nvPicPr>
        <p:blipFill>
          <a:blip r:embed="rId2"/>
          <a:stretch>
            <a:fillRect/>
          </a:stretch>
        </p:blipFill>
        <p:spPr>
          <a:xfrm>
            <a:off x="6807520" y="1691640"/>
            <a:ext cx="4672958" cy="4389120"/>
          </a:xfrm>
          <a:prstGeom prst="rect">
            <a:avLst/>
          </a:prstGeom>
        </p:spPr>
      </p:pic>
      <p:sp>
        <p:nvSpPr>
          <p:cNvPr id="11" name="TextBox 10"/>
          <p:cNvSpPr txBox="1"/>
          <p:nvPr/>
        </p:nvSpPr>
        <p:spPr>
          <a:xfrm>
            <a:off x="6400800" y="6053328"/>
            <a:ext cx="548640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a bounding box (teal); context in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13</a:t>
            </a:r>
            <a:r>
              <a:rPr sz="1200">
                <a:solidFill>
                  <a:srgbClr val="C2D0DA"/>
                </a:solidFill>
                <a:latin typeface="Consolas"/>
              </a:rPr>
              <a:t>:</a:t>
            </a:r>
            <a:r>
              <a:rPr sz="1200">
                <a:solidFill>
                  <a:srgbClr val="C9E08A"/>
                </a:solidFill>
                <a:latin typeface="Consolas"/>
              </a:rPr>
              <a:t>30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13</a:t>
            </a:r>
            <a:r>
              <a:rPr sz="1200">
                <a:solidFill>
                  <a:srgbClr val="C2D0DA"/>
                </a:solidFill>
                <a:latin typeface="Consolas"/>
              </a:rPr>
              <a:t>:</a:t>
            </a:r>
            <a:r>
              <a:rPr sz="1200">
                <a:solidFill>
                  <a:srgbClr val="C9E08A"/>
                </a:solidFill>
                <a:latin typeface="Consolas"/>
              </a:rPr>
              <a:t>35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png"/>
          <p:cNvPicPr>
            <a:picLocks noChangeAspect="1"/>
          </p:cNvPicPr>
          <p:nvPr/>
        </p:nvPicPr>
        <p:blipFill>
          <a:blip r:embed="rId2"/>
          <a:stretch>
            <a:fillRect/>
          </a:stretch>
        </p:blipFill>
        <p:spPr>
          <a:xfrm>
            <a:off x="6492240" y="1737360"/>
            <a:ext cx="5303520" cy="3559126"/>
          </a:xfrm>
          <a:prstGeom prst="rect">
            <a:avLst/>
          </a:prstGeom>
        </p:spPr>
      </p:pic>
      <p:sp>
        <p:nvSpPr>
          <p:cNvPr id="11" name="TextBox 10"/>
          <p:cNvSpPr txBox="1"/>
          <p:nvPr/>
        </p:nvSpPr>
        <p:spPr>
          <a:xfrm>
            <a:off x="6492240" y="6035040"/>
            <a:ext cx="530352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time window (green) over full trajectories (brown)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Replace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4" name="TextBox 13"/>
          <p:cNvSpPr txBox="1"/>
          <p:nvPr/>
        </p:nvSpPr>
        <p:spPr>
          <a:xfrm>
            <a:off x="6976872" y="1783080"/>
            <a:ext cx="4647895"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200 replace the feature</a:t>
            </a:r>
          </a:p>
        </p:txBody>
      </p:sp>
      <p:sp>
        <p:nvSpPr>
          <p:cNvPr id="16" name="Rounded Rectangle 15"/>
          <p:cNvSpPr/>
          <p:nvPr/>
        </p:nvSpPr>
        <p:spPr>
          <a:xfrm>
            <a:off x="6281928" y="251460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7" name="TextBox 16"/>
          <p:cNvSpPr txBox="1"/>
          <p:nvPr/>
        </p:nvSpPr>
        <p:spPr>
          <a:xfrm>
            <a:off x="7306056" y="2496312"/>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…/items/900001</a:t>
            </a:r>
          </a:p>
        </p:txBody>
      </p:sp>
      <p:sp>
        <p:nvSpPr>
          <p:cNvPr id="18" name="TextBox 17"/>
          <p:cNvSpPr txBox="1"/>
          <p:nvPr/>
        </p:nvSpPr>
        <p:spPr>
          <a:xfrm>
            <a:off x="6281928" y="2788920"/>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9" name="TextBox 18"/>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with linear position the speed is a step function, so its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Bounded Memory at Any Result Size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783080"/>
            <a:ext cx="3840480" cy="27889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011680"/>
            <a:ext cx="3291840" cy="731520"/>
          </a:xfrm>
          <a:prstGeom prst="rect">
            <a:avLst/>
          </a:prstGeom>
          <a:noFill/>
        </p:spPr>
        <p:txBody>
          <a:bodyPr wrap="square" anchor="t" lIns="0" rIns="0" tIns="0" bIns="0">
            <a:noAutofit/>
          </a:bodyPr>
          <a:lstStyle/>
          <a:p>
            <a:pPr algn="l">
              <a:spcBef>
                <a:spcPts val="0"/>
              </a:spcBef>
              <a:spcAft>
                <a:spcPts val="200"/>
              </a:spcAft>
            </a:pPr>
            <a:r>
              <a:rPr sz="4400" b="1" i="0">
                <a:solidFill>
                  <a:srgbClr val="196B24"/>
                </a:solidFill>
                <a:latin typeface="Calibri Light"/>
              </a:rPr>
              <a:t>393 MB</a:t>
            </a:r>
          </a:p>
        </p:txBody>
      </p:sp>
      <p:sp>
        <p:nvSpPr>
          <p:cNvPr id="7" name="TextBox 6"/>
          <p:cNvSpPr txBox="1"/>
          <p:nvPr/>
        </p:nvSpPr>
        <p:spPr>
          <a:xfrm>
            <a:off x="886968" y="2761488"/>
            <a:ext cx="329184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streamed in one NDJSON export</a:t>
            </a:r>
          </a:p>
        </p:txBody>
      </p:sp>
      <p:sp>
        <p:nvSpPr>
          <p:cNvPr id="8" name="TextBox 7"/>
          <p:cNvSpPr txBox="1"/>
          <p:nvPr/>
        </p:nvSpPr>
        <p:spPr>
          <a:xfrm>
            <a:off x="886968" y="3200400"/>
            <a:ext cx="3291840" cy="640080"/>
          </a:xfrm>
          <a:prstGeom prst="rect">
            <a:avLst/>
          </a:prstGeom>
          <a:noFill/>
        </p:spPr>
        <p:txBody>
          <a:bodyPr wrap="square" anchor="t" lIns="0" rIns="0" tIns="0" bIns="0">
            <a:noAutofit/>
          </a:bodyPr>
          <a:lstStyle/>
          <a:p>
            <a:pPr algn="l">
              <a:spcBef>
                <a:spcPts val="0"/>
              </a:spcBef>
              <a:spcAft>
                <a:spcPts val="200"/>
              </a:spcAft>
            </a:pPr>
            <a:r>
              <a:rPr sz="3600" b="1" i="0">
                <a:solidFill>
                  <a:srgbClr val="156082"/>
                </a:solidFill>
                <a:latin typeface="Calibri Light"/>
              </a:rPr>
              <a:t>≈18 MB</a:t>
            </a:r>
          </a:p>
        </p:txBody>
      </p:sp>
      <p:sp>
        <p:nvSpPr>
          <p:cNvPr id="9" name="TextBox 8"/>
          <p:cNvSpPr txBox="1"/>
          <p:nvPr/>
        </p:nvSpPr>
        <p:spPr>
          <a:xfrm>
            <a:off x="886968" y="3931920"/>
            <a:ext cx="3291840" cy="4572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memory, bounded by the stream and not the result size</a:t>
            </a:r>
          </a:p>
        </p:txBody>
      </p:sp>
      <p:sp>
        <p:nvSpPr>
          <p:cNvPr id="10" name="TextBox 9"/>
          <p:cNvSpPr txBox="1"/>
          <p:nvPr/>
        </p:nvSpPr>
        <p:spPr>
          <a:xfrm>
            <a:off x="4681728" y="1828800"/>
            <a:ext cx="6943039" cy="402336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Streaming responses  </a:t>
            </a:r>
            <a:r>
              <a:rPr sz="1200">
                <a:solidFill>
                  <a:srgbClr val="1E2B36"/>
                </a:solidFill>
                <a:latin typeface="Calibri"/>
              </a:rPr>
              <a:t>the FeatureCollection is written row by row from a server-side cursor, so memory is bounded for any result size</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so paging stays constant cost through arbitrarily large collections</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Lakehouse export  </a:t>
            </a:r>
            <a:r>
              <a:rPr sz="1200">
                <a:solidFill>
                  <a:srgbClr val="1E2B36"/>
                </a:solidFill>
                <a:latin typeface="Calibri"/>
              </a:rPr>
              <a:t>NDJSON for direct ingestion, or Parquet carrying trajectory WKB plus a bbox and time sidecar; the row group bounds export memory</a:t>
            </a:r>
          </a:p>
        </p:txBody>
      </p:sp>
      <p:sp>
        <p:nvSpPr>
          <p:cNvPr id="11" name="TextBox 10"/>
          <p:cNvSpPr txBox="1"/>
          <p:nvPr/>
        </p:nvSpPr>
        <p:spPr>
          <a:xfrm>
            <a:off x="566928" y="5760720"/>
            <a:ext cx="11057839" cy="54864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Every temporal computation stays in MobilityDB; the tier is a single static binary. A step toward the Data Lake House architecture in the MobilityDB ecosystem.</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Everything the Server Implements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replace (PUT)</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NDJSON · Parquet export</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