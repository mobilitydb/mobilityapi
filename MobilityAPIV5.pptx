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OGC data model maps one to one onto MobilityAPI's REST resources.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Stored versus served: the two tables hold the columns; every other OGC field (the collection extent, and the feature bbox, time, geometry, crs, trs and links) is derived O(1) from the tgeompoint and its inline STBOX, or generated per request.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endpoint surface, full paths. Beyond-standard features (the lakehouse export and in-place replace) are on the Additional features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live walkthrough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bbox query is a spatial pre-filter executed by MobilityDB's GiST index over the inline STBOX.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Writes: POST creates, DELETE removes, and POST tgsequence appends a temporally-disjoint sub-trajectory via merge (overlap returns 409). In-place replace (PUT) is an extension, shown on the Additional features slide. Derived-property writes and primitive deletes return 501 with the reason.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and the lakehouse on one slide. The standard items resource streams from a cursor with keyset pagination and index-using filters, so a 393 MB response holds about 18 MB resident. Beyond the standard and excluded from conformsTo: a bulk export (NDJSON, or Parquet with trajectory WKB plus a bbox and time sidecar, advertised via the enclosure link) and an in-place replace (PUT).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thin-tier pattern generalises across the MEOS ecosystem: the tier speaks MF-JSON and WKB and keeps all temporal work in the engine, so the storage and compute engine becomes a configuration choice. MobilityDB is implemented today; MobilityDuck (embedded lakehouse), MobilitySpark (distributed batch) and MobilityFlink (streaming, real time) reuse the same surface.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65960"/>
            <a:ext cx="8686800" cy="1097280"/>
          </a:xfrm>
          <a:prstGeom prst="rect">
            <a:avLst/>
          </a:prstGeom>
          <a:noFill/>
        </p:spPr>
        <p:txBody>
          <a:bodyPr wrap="square" anchor="t" lIns="0" rIns="0" tIns="0" bIns="0">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anchor="t" lIns="0" rIns="0" tIns="0" bIns="0">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096512"/>
            <a:ext cx="9326880" cy="457200"/>
          </a:xfrm>
          <a:prstGeom prst="rect">
            <a:avLst/>
          </a:prstGeom>
          <a:noFill/>
        </p:spPr>
        <p:txBody>
          <a:bodyPr wrap="square" anchor="t" lIns="0" rIns="0" tIns="0" bIns="0">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2"/>
          <a:stretch>
            <a:fillRect/>
          </a:stretch>
        </p:blipFill>
        <p:spPr>
          <a:xfrm>
            <a:off x="10414833" y="457200"/>
            <a:ext cx="1289486" cy="1371600"/>
          </a:xfrm>
          <a:prstGeom prst="rect">
            <a:avLst/>
          </a:prstGeom>
        </p:spPr>
      </p:pic>
      <p:pic>
        <p:nvPicPr>
          <p:cNvPr id="9" name="Picture 8" descr="OGC_navy.png"/>
          <p:cNvPicPr>
            <a:picLocks noChangeAspect="1"/>
          </p:cNvPicPr>
          <p:nvPr/>
        </p:nvPicPr>
        <p:blipFill>
          <a:blip r:embed="rId3"/>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anchor="t" lIns="0" rIns="0" tIns="0" bIns="0">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45920"/>
            <a:ext cx="6400800" cy="4206240"/>
          </a:xfrm>
          <a:prstGeom prst="rect">
            <a:avLst/>
          </a:prstGeom>
          <a:noFill/>
        </p:spPr>
        <p:txBody>
          <a:bodyPr wrap="square" lIns="0" rIns="0" t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627632"/>
            <a:ext cx="4069080" cy="3566160"/>
          </a:xfrm>
          <a:prstGeom prst="roundRect">
            <a:avLst>
              <a:gd name="adj" fmla="val 4000"/>
            </a:avLst>
          </a:prstGeom>
          <a:solidFill>
            <a:srgbClr val="F1F5F8"/>
          </a:solidFill>
          <a:ln>
            <a:noFill/>
          </a:ln>
          <a:effectLst/>
        </p:spPr>
        <p:txBody>
          <a:bodyPr rtlCol="0" anchor="ctr"/>
          <a:lstStyle/>
          <a:p>
            <a:pPr algn="ctr"/>
          </a:p>
        </p:txBody>
      </p:sp>
      <p:sp>
        <p:nvSpPr>
          <p:cNvPr id="7" name="TextBox 6"/>
          <p:cNvSpPr txBox="1"/>
          <p:nvPr/>
        </p:nvSpPr>
        <p:spPr>
          <a:xfrm>
            <a:off x="7863840" y="1773936"/>
            <a:ext cx="35204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9" name="TextBox 8"/>
          <p:cNvSpPr txBox="1"/>
          <p:nvPr/>
        </p:nvSpPr>
        <p:spPr>
          <a:xfrm>
            <a:off x="7909560"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Browser</a:t>
            </a:r>
          </a:p>
        </p:txBody>
      </p:sp>
      <p:sp>
        <p:nvSpPr>
          <p:cNvPr id="10" name="Rounded Rectangle 9"/>
          <p:cNvSpPr/>
          <p:nvPr/>
        </p:nvSpPr>
        <p:spPr>
          <a:xfrm>
            <a:off x="9095232"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1" name="TextBox 10"/>
          <p:cNvSpPr txBox="1"/>
          <p:nvPr/>
        </p:nvSpPr>
        <p:spPr>
          <a:xfrm>
            <a:off x="9095232"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Mobile</a:t>
            </a:r>
          </a:p>
        </p:txBody>
      </p:sp>
      <p:sp>
        <p:nvSpPr>
          <p:cNvPr id="12" name="Rounded Rectangle 11"/>
          <p:cNvSpPr/>
          <p:nvPr/>
        </p:nvSpPr>
        <p:spPr>
          <a:xfrm>
            <a:off x="10280903"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3" name="TextBox 12"/>
          <p:cNvSpPr txBox="1"/>
          <p:nvPr/>
        </p:nvSpPr>
        <p:spPr>
          <a:xfrm>
            <a:off x="10280903"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ETL / lake</a:t>
            </a:r>
          </a:p>
        </p:txBody>
      </p:sp>
      <p:sp>
        <p:nvSpPr>
          <p:cNvPr id="14" name="TextBox 13"/>
          <p:cNvSpPr txBox="1"/>
          <p:nvPr/>
        </p:nvSpPr>
        <p:spPr>
          <a:xfrm>
            <a:off x="7909560" y="2615184"/>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156082"/>
                </a:solidFill>
                <a:latin typeface="Calibri"/>
              </a:rPr>
              <a:t>▼  HTTP</a:t>
            </a:r>
          </a:p>
        </p:txBody>
      </p:sp>
      <p:sp>
        <p:nvSpPr>
          <p:cNvPr id="15" name="TextBox 14"/>
          <p:cNvSpPr txBox="1"/>
          <p:nvPr/>
        </p:nvSpPr>
        <p:spPr>
          <a:xfrm>
            <a:off x="7909560" y="2825496"/>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OGC API – Moving Features · MF-JSON</a:t>
            </a:r>
          </a:p>
        </p:txBody>
      </p:sp>
      <p:sp>
        <p:nvSpPr>
          <p:cNvPr id="16" name="Rounded Rectangle 15"/>
          <p:cNvSpPr/>
          <p:nvPr/>
        </p:nvSpPr>
        <p:spPr>
          <a:xfrm>
            <a:off x="7909560" y="3108960"/>
            <a:ext cx="3429000" cy="603504"/>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7" name="TextBox 16"/>
          <p:cNvSpPr txBox="1"/>
          <p:nvPr/>
        </p:nvSpPr>
        <p:spPr>
          <a:xfrm>
            <a:off x="8092440" y="3191256"/>
            <a:ext cx="3063240"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MobilityAPI (Go)</a:t>
            </a:r>
          </a:p>
        </p:txBody>
      </p:sp>
      <p:sp>
        <p:nvSpPr>
          <p:cNvPr id="18" name="TextBox 17"/>
          <p:cNvSpPr txBox="1"/>
          <p:nvPr/>
        </p:nvSpPr>
        <p:spPr>
          <a:xfrm>
            <a:off x="8092440" y="3456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net/http + pgxpool</a:t>
            </a:r>
          </a:p>
        </p:txBody>
      </p:sp>
      <p:sp>
        <p:nvSpPr>
          <p:cNvPr id="19" name="TextBox 18"/>
          <p:cNvSpPr txBox="1"/>
          <p:nvPr/>
        </p:nvSpPr>
        <p:spPr>
          <a:xfrm>
            <a:off x="7909560" y="3749040"/>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E97132"/>
                </a:solidFill>
                <a:latin typeface="Calibri"/>
              </a:rPr>
              <a:t>▼  SQL</a:t>
            </a:r>
          </a:p>
        </p:txBody>
      </p:sp>
      <p:sp>
        <p:nvSpPr>
          <p:cNvPr id="20" name="TextBox 19"/>
          <p:cNvSpPr txBox="1"/>
          <p:nvPr/>
        </p:nvSpPr>
        <p:spPr>
          <a:xfrm>
            <a:off x="7909560" y="3959352"/>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PostgreSQL wire · pgx</a:t>
            </a:r>
          </a:p>
        </p:txBody>
      </p:sp>
      <p:sp>
        <p:nvSpPr>
          <p:cNvPr id="21" name="Rounded Rectangle 20"/>
          <p:cNvSpPr/>
          <p:nvPr/>
        </p:nvSpPr>
        <p:spPr>
          <a:xfrm>
            <a:off x="7909560" y="4242816"/>
            <a:ext cx="3429000" cy="621792"/>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22" name="TextBox 21"/>
          <p:cNvSpPr txBox="1"/>
          <p:nvPr/>
        </p:nvSpPr>
        <p:spPr>
          <a:xfrm>
            <a:off x="8092440" y="4334256"/>
            <a:ext cx="3063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MobilityDB / PostgreSQL</a:t>
            </a:r>
          </a:p>
        </p:txBody>
      </p:sp>
      <p:sp>
        <p:nvSpPr>
          <p:cNvPr id="23" name="TextBox 22"/>
          <p:cNvSpPr txBox="1"/>
          <p:nvPr/>
        </p:nvSpPr>
        <p:spPr>
          <a:xfrm>
            <a:off x="8092440" y="4599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24" name="Rectangle 2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6" name="TextBox 2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572000"/>
            <a:ext cx="11057839" cy="15544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700016"/>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NO MEOS IN THE TIER</a:t>
            </a:r>
          </a:p>
        </p:txBody>
      </p:sp>
      <p:sp>
        <p:nvSpPr>
          <p:cNvPr id="11" name="TextBox 10"/>
          <p:cNvSpPr txBox="1"/>
          <p:nvPr/>
        </p:nvSpPr>
        <p:spPr>
          <a:xfrm>
            <a:off x="841247" y="4992624"/>
            <a:ext cx="10509199" cy="1051560"/>
          </a:xfrm>
          <a:prstGeom prst="rect">
            <a:avLst/>
          </a:prstGeom>
          <a:noFill/>
        </p:spPr>
        <p:txBody>
          <a:bodyPr wrap="square" lIns="0" rIns="0" tIns="0" bIns="0">
            <a:noAutofit/>
          </a:bodyPr>
          <a:lstStyle/>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The trajectory is never materialised or parsed in the tier</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It travels as MF-JSON text on the way out, MovingFeaturesJSON on the way in</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MobilityDB does the parsing, the geometry algebra and the temporal computations</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A single static binary,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PANEL"/>
          <p:cNvSpPr txBox="1"/>
          <p:nvPr/>
        </p:nvSpPr>
        <p:spPr>
          <a:xfrm>
            <a:off x="694944" y="2011680"/>
            <a:ext cx="5090007" cy="22860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DEPANEL"/>
          <p:cNvSpPr txBox="1"/>
          <p:nvPr/>
        </p:nvSpPr>
        <p:spPr>
          <a:xfrm>
            <a:off x="6406743" y="2011680"/>
            <a:ext cx="5090007" cy="33375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TextBox 10"/>
          <p:cNvSpPr txBox="1"/>
          <p:nvPr/>
        </p:nvSpPr>
        <p:spPr>
          <a:xfrm>
            <a:off x="566928" y="5577840"/>
            <a:ext cx="11057839" cy="36576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Identical trajectory. The REST client never writes SQL or opens a database connection.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moving-features-class-diagram.png"/>
          <p:cNvPicPr>
            <a:picLocks noChangeAspect="1"/>
          </p:cNvPicPr>
          <p:nvPr/>
        </p:nvPicPr>
        <p:blipFill>
          <a:blip r:embed="rId2"/>
          <a:stretch>
            <a:fillRect/>
          </a:stretch>
        </p:blipFill>
        <p:spPr>
          <a:xfrm>
            <a:off x="566928"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with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04088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top.png"/>
          <p:cNvPicPr>
            <a:picLocks noChangeAspect="1"/>
          </p:cNvPicPr>
          <p:nvPr/>
        </p:nvPicPr>
        <p:blipFill>
          <a:blip r:embed="rId2"/>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bot.png"/>
          <p:cNvPicPr>
            <a:picLocks noChangeAspect="1"/>
          </p:cNvPicPr>
          <p:nvPr/>
        </p:nvPicPr>
        <p:blipFill>
          <a:blip r:embed="rId2"/>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44752"/>
            <a:ext cx="4206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STORED COLUMNS</a:t>
            </a:r>
          </a:p>
        </p:txBody>
      </p:sp>
      <p:sp>
        <p:nvSpPr>
          <p:cNvPr id="6" name="Rounded Rectangle 5"/>
          <p:cNvSpPr/>
          <p:nvPr/>
        </p:nvSpPr>
        <p:spPr>
          <a:xfrm>
            <a:off x="566928" y="1737360"/>
            <a:ext cx="420624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37360"/>
            <a:ext cx="420624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collections</a:t>
            </a:r>
          </a:p>
        </p:txBody>
      </p:sp>
      <p:sp>
        <p:nvSpPr>
          <p:cNvPr id="9" name="TextBox 8"/>
          <p:cNvSpPr txBox="1"/>
          <p:nvPr/>
        </p:nvSpPr>
        <p:spPr>
          <a:xfrm>
            <a:off x="731520" y="2194560"/>
            <a:ext cx="3913631" cy="146304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item_type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10" name="Rounded Rectangle 9"/>
          <p:cNvSpPr/>
          <p:nvPr/>
        </p:nvSpPr>
        <p:spPr>
          <a:xfrm>
            <a:off x="566928" y="3950208"/>
            <a:ext cx="420624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 y="3950208"/>
            <a:ext cx="420624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68496"/>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ships</a:t>
            </a:r>
          </a:p>
        </p:txBody>
      </p:sp>
      <p:sp>
        <p:nvSpPr>
          <p:cNvPr id="13" name="TextBox 12"/>
          <p:cNvSpPr txBox="1"/>
          <p:nvPr/>
        </p:nvSpPr>
        <p:spPr>
          <a:xfrm>
            <a:off x="731520" y="4407408"/>
            <a:ext cx="3913631" cy="118872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4" name="TextBox 13"/>
          <p:cNvSpPr txBox="1"/>
          <p:nvPr/>
        </p:nvSpPr>
        <p:spPr>
          <a:xfrm>
            <a:off x="566928" y="5641848"/>
            <a:ext cx="420624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one feature table per collection</a:t>
            </a:r>
          </a:p>
        </p:txBody>
      </p:sp>
      <p:sp>
        <p:nvSpPr>
          <p:cNvPr id="15" name="TextBox 14"/>
          <p:cNvSpPr txBox="1"/>
          <p:nvPr/>
        </p:nvSpPr>
        <p:spPr>
          <a:xfrm>
            <a:off x="5138928" y="1444752"/>
            <a:ext cx="6485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STANDARD FIELDS SERVED</a:t>
            </a:r>
          </a:p>
        </p:txBody>
      </p:sp>
      <p:sp>
        <p:nvSpPr>
          <p:cNvPr id="16" name="TextBox 15"/>
          <p:cNvSpPr txBox="1"/>
          <p:nvPr/>
        </p:nvSpPr>
        <p:spPr>
          <a:xfrm>
            <a:off x="5138928" y="1773936"/>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Collection</a:t>
            </a:r>
          </a:p>
        </p:txBody>
      </p:sp>
      <p:sp>
        <p:nvSpPr>
          <p:cNvPr id="17" name="TextBox 16"/>
          <p:cNvSpPr txBox="1"/>
          <p:nvPr/>
        </p:nvSpPr>
        <p:spPr>
          <a:xfrm>
            <a:off x="5138928" y="2084831"/>
            <a:ext cx="6485839" cy="109728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Stored:  </a:t>
            </a:r>
            <a:r>
              <a:rPr sz="1200">
                <a:solidFill>
                  <a:srgbClr val="1E2B36"/>
                </a:solidFill>
                <a:latin typeface="Calibri"/>
              </a:rPr>
              <a:t>id, title, description, itemType, crs</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Derived:  </a:t>
            </a:r>
            <a:r>
              <a:rPr sz="1200">
                <a:solidFill>
                  <a:srgbClr val="1E2B36"/>
                </a:solidFill>
                <a:latin typeface="Calibri"/>
              </a:rPr>
              <a:t>extent (spatial bbox and time interval)</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18" name="TextBox 17"/>
          <p:cNvSpPr txBox="1"/>
          <p:nvPr/>
        </p:nvSpPr>
        <p:spPr>
          <a:xfrm>
            <a:off x="5138928" y="3255264"/>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MovingFeature</a:t>
            </a:r>
          </a:p>
        </p:txBody>
      </p:sp>
      <p:sp>
        <p:nvSpPr>
          <p:cNvPr id="19" name="TextBox 18"/>
          <p:cNvSpPr txBox="1"/>
          <p:nvPr/>
        </p:nvSpPr>
        <p:spPr>
          <a:xfrm>
            <a:off x="5138928" y="3566160"/>
            <a:ext cx="6485839" cy="182880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id, properties (mmsi, name)</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Derived from trip:  </a:t>
            </a:r>
            <a:r>
              <a:rPr sz="1200">
                <a:solidFill>
                  <a:srgbClr val="1E2B36"/>
                </a:solidFill>
                <a:latin typeface="Calibri"/>
              </a:rPr>
              <a:t>temporalGeometry, bbox, time, geometry</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From the registry:  </a:t>
            </a:r>
            <a:r>
              <a:rPr sz="1200">
                <a:solidFill>
                  <a:srgbClr val="1E2B36"/>
                </a:solidFill>
                <a:latin typeface="Calibri"/>
              </a:rPr>
              <a:t>crs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Constant:  </a:t>
            </a:r>
            <a:r>
              <a:rPr sz="1200">
                <a:solidFill>
                  <a:srgbClr val="1E2B36"/>
                </a:solidFill>
                <a:latin typeface="Calibri"/>
              </a:rPr>
              <a:t>trs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20" name="TextBox 19"/>
          <p:cNvSpPr txBox="1"/>
          <p:nvPr/>
        </p:nvSpPr>
        <p:spPr>
          <a:xfrm>
            <a:off x="5138928" y="5669280"/>
            <a:ext cx="6485839" cy="4572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Derived fields come O(1) from the tgeompoint and its inline STBOX; links are generated per request.</a:t>
            </a:r>
          </a:p>
        </p:txBody>
      </p:sp>
      <p:sp>
        <p:nvSpPr>
          <p:cNvPr id="21" name="Rectangle 2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3" name="TextBox 22"/>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overview_real.png"/>
          <p:cNvPicPr>
            <a:picLocks noChangeAspect="1"/>
          </p:cNvPicPr>
          <p:nvPr/>
        </p:nvPicPr>
        <p:blipFill>
          <a:blip r:embed="rId2"/>
          <a:stretch>
            <a:fillRect/>
          </a:stretch>
        </p:blipFill>
        <p:spPr>
          <a:xfrm>
            <a:off x="6400800" y="1554480"/>
            <a:ext cx="5394960" cy="4046220"/>
          </a:xfrm>
          <a:prstGeom prst="rect">
            <a:avLst/>
          </a:prstGeom>
        </p:spPr>
      </p:pic>
      <p:sp>
        <p:nvSpPr>
          <p:cNvPr id="6" name="TextBox 5"/>
          <p:cNvSpPr txBox="1"/>
          <p:nvPr/>
        </p:nvSpPr>
        <p:spPr>
          <a:xfrm>
            <a:off x="566928" y="1828800"/>
            <a:ext cx="5486400"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from 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of 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035040" y="5692140"/>
            <a:ext cx="612648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Danish AIS vessel trajectories, 2026-02-26</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OGC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956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Rounded Rectangle 5"/>
          <p:cNvSpPr/>
          <p:nvPr/>
        </p:nvSpPr>
        <p:spPr>
          <a:xfrm>
            <a:off x="1280160" y="159562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7" name="TextBox 6"/>
          <p:cNvSpPr txBox="1"/>
          <p:nvPr/>
        </p:nvSpPr>
        <p:spPr>
          <a:xfrm>
            <a:off x="2139696" y="159105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8" name="Rounded Rectangle 7"/>
          <p:cNvSpPr/>
          <p:nvPr/>
        </p:nvSpPr>
        <p:spPr>
          <a:xfrm>
            <a:off x="566928" y="200710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9" name="TextBox 8"/>
          <p:cNvSpPr txBox="1"/>
          <p:nvPr/>
        </p:nvSpPr>
        <p:spPr>
          <a:xfrm>
            <a:off x="1353312" y="200253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a:t>
            </a:r>
          </a:p>
        </p:txBody>
      </p:sp>
      <p:sp>
        <p:nvSpPr>
          <p:cNvPr id="10" name="Rounded Rectangle 9"/>
          <p:cNvSpPr/>
          <p:nvPr/>
        </p:nvSpPr>
        <p:spPr>
          <a:xfrm>
            <a:off x="566928" y="24185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Rounded Rectangle 10"/>
          <p:cNvSpPr/>
          <p:nvPr/>
        </p:nvSpPr>
        <p:spPr>
          <a:xfrm>
            <a:off x="1280160" y="241858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2" name="TextBox 11"/>
          <p:cNvSpPr txBox="1"/>
          <p:nvPr/>
        </p:nvSpPr>
        <p:spPr>
          <a:xfrm>
            <a:off x="2139696" y="241401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a:t>
            </a:r>
          </a:p>
        </p:txBody>
      </p:sp>
      <p:sp>
        <p:nvSpPr>
          <p:cNvPr id="13" name="Rounded Rectangle 12"/>
          <p:cNvSpPr/>
          <p:nvPr/>
        </p:nvSpPr>
        <p:spPr>
          <a:xfrm>
            <a:off x="566928" y="28300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Rounded Rectangle 13"/>
          <p:cNvSpPr/>
          <p:nvPr/>
        </p:nvSpPr>
        <p:spPr>
          <a:xfrm>
            <a:off x="1280160" y="283006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5" name="TextBox 14"/>
          <p:cNvSpPr txBox="1"/>
          <p:nvPr/>
        </p:nvSpPr>
        <p:spPr>
          <a:xfrm>
            <a:off x="2359152" y="2825496"/>
            <a:ext cx="924732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6" name="Rounded Rectangle 15"/>
          <p:cNvSpPr/>
          <p:nvPr/>
        </p:nvSpPr>
        <p:spPr>
          <a:xfrm>
            <a:off x="566928" y="32415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7" name="Rounded Rectangle 16"/>
          <p:cNvSpPr/>
          <p:nvPr/>
        </p:nvSpPr>
        <p:spPr>
          <a:xfrm>
            <a:off x="1280160" y="32415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8" name="TextBox 17"/>
          <p:cNvSpPr txBox="1"/>
          <p:nvPr/>
        </p:nvSpPr>
        <p:spPr>
          <a:xfrm>
            <a:off x="2139696" y="323697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a:t>
            </a:r>
          </a:p>
        </p:txBody>
      </p:sp>
      <p:sp>
        <p:nvSpPr>
          <p:cNvPr id="19" name="Rounded Rectangle 18"/>
          <p:cNvSpPr/>
          <p:nvPr/>
        </p:nvSpPr>
        <p:spPr>
          <a:xfrm>
            <a:off x="566928" y="36530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0" name="TextBox 19"/>
          <p:cNvSpPr txBox="1"/>
          <p:nvPr/>
        </p:nvSpPr>
        <p:spPr>
          <a:xfrm>
            <a:off x="1353312" y="364845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/collections/{collectionId}/items/{mFeatureId}/tgsequence/{tGeometryId}/distance</a:t>
            </a:r>
          </a:p>
        </p:txBody>
      </p:sp>
      <p:sp>
        <p:nvSpPr>
          <p:cNvPr id="21" name="Rounded Rectangle 20"/>
          <p:cNvSpPr/>
          <p:nvPr/>
        </p:nvSpPr>
        <p:spPr>
          <a:xfrm>
            <a:off x="566928" y="40645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2" name="TextBox 21"/>
          <p:cNvSpPr txBox="1"/>
          <p:nvPr/>
        </p:nvSpPr>
        <p:spPr>
          <a:xfrm>
            <a:off x="1353312" y="405993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/collections/{collectionId}/items/{mFeatureId}/tgsequence/{tGeometryId}/velocity</a:t>
            </a:r>
          </a:p>
        </p:txBody>
      </p:sp>
      <p:sp>
        <p:nvSpPr>
          <p:cNvPr id="23" name="Rounded Rectangle 22"/>
          <p:cNvSpPr/>
          <p:nvPr/>
        </p:nvSpPr>
        <p:spPr>
          <a:xfrm>
            <a:off x="566928" y="44759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4" name="TextBox 23"/>
          <p:cNvSpPr txBox="1"/>
          <p:nvPr/>
        </p:nvSpPr>
        <p:spPr>
          <a:xfrm>
            <a:off x="1353312" y="447141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a:t>
            </a:r>
          </a:p>
        </p:txBody>
      </p:sp>
      <p:sp>
        <p:nvSpPr>
          <p:cNvPr id="25" name="Rounded Rectangle 24"/>
          <p:cNvSpPr/>
          <p:nvPr/>
        </p:nvSpPr>
        <p:spPr>
          <a:xfrm>
            <a:off x="566928" y="48874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6" name="TextBox 25"/>
          <p:cNvSpPr txBox="1"/>
          <p:nvPr/>
        </p:nvSpPr>
        <p:spPr>
          <a:xfrm>
            <a:off x="1353312" y="488289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/collections/{collectionId}/items/{mFeatureId}/tproperties/{tPropertyName}</a:t>
            </a:r>
          </a:p>
        </p:txBody>
      </p:sp>
      <p:sp>
        <p:nvSpPr>
          <p:cNvPr id="27" name="Rounded Rectangle 26"/>
          <p:cNvSpPr/>
          <p:nvPr/>
        </p:nvSpPr>
        <p:spPr>
          <a:xfrm>
            <a:off x="566928" y="52989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8" name="TextBox 27"/>
          <p:cNvSpPr txBox="1"/>
          <p:nvPr/>
        </p:nvSpPr>
        <p:spPr>
          <a:xfrm>
            <a:off x="1353312" y="529437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   ·   /api   ·   /conformance</a:t>
            </a:r>
          </a:p>
        </p:txBody>
      </p:sp>
      <p:sp>
        <p:nvSpPr>
          <p:cNvPr id="29" name="TextBox 28"/>
          <p:cNvSpPr txBox="1"/>
          <p:nvPr/>
        </p:nvSpPr>
        <p:spPr>
          <a:xfrm>
            <a:off x="566928" y="5833872"/>
            <a:ext cx="11057839" cy="64008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Every path above is OGC API – Moving Features – Part 1: Core. acceleration is offered at the same path but returns 501 (not derivable for this motion model). Items query parameters: bbox, datetime, subtrajectory, leaf, limit, page cursor.</a:t>
            </a:r>
          </a:p>
        </p:txBody>
      </p:sp>
      <p:sp>
        <p:nvSpPr>
          <p:cNvPr id="30" name="Rectangle 2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2" name="TextBox 3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240280"/>
            <a:ext cx="8229600" cy="365760"/>
          </a:xfrm>
          <a:prstGeom prst="rect">
            <a:avLst/>
          </a:prstGeom>
          <a:noFill/>
        </p:spPr>
        <p:txBody>
          <a:bodyPr wrap="square" anchor="t" lIns="0" rIns="0" tIns="0" bIns="0">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anchor="t" lIns="0" rIns="0" tIns="0" bIns="0">
            <a:noAutofit/>
          </a:bodyPr>
          <a:lstStyle/>
          <a:p>
            <a:pPr algn="l">
              <a:spcBef>
                <a:spcPts val="0"/>
              </a:spcBef>
              <a:spcAft>
                <a:spcPts val="200"/>
              </a:spcAft>
            </a:pPr>
            <a:r>
              <a:rPr sz="1600" b="0" i="0">
                <a:solidFill>
                  <a:srgbClr val="9EB8C8"/>
                </a:solidFill>
                <a:latin typeface="Calibri"/>
              </a:rPr>
              <a:t>List  →  filter  →  retrieve  →  derive  →  write, all over HTTP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DEPANEL"/>
          <p:cNvSpPr txBox="1"/>
          <p:nvPr/>
        </p:nvSpPr>
        <p:spPr>
          <a:xfrm>
            <a:off x="694944" y="2286000"/>
            <a:ext cx="5230368" cy="37490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7432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DEPANEL"/>
          <p:cNvSpPr txBox="1"/>
          <p:nvPr/>
        </p:nvSpPr>
        <p:spPr>
          <a:xfrm>
            <a:off x="6409944" y="2286000"/>
            <a:ext cx="5086807" cy="25603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a:t>
            </a:r>
            <a:r>
              <a:rPr sz="1200">
                <a:solidFill>
                  <a:srgbClr val="E6A36A"/>
                </a:solidFill>
                <a:latin typeface="Consolas"/>
              </a:rPr>
              <a:t>".../def/crs/EPSG/0/25832"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"spatial"</a:t>
            </a:r>
            <a:r>
              <a:rPr sz="1200">
                <a:solidFill>
                  <a:srgbClr val="C2D0DA"/>
                </a:solidFill>
                <a:latin typeface="Consolas"/>
              </a:rPr>
              <a:t>:  {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152625</a:t>
            </a:r>
            <a:r>
              <a:rPr sz="1200">
                <a:solidFill>
                  <a:srgbClr val="C2D0DA"/>
                </a:solidFill>
                <a:latin typeface="Consolas"/>
              </a:rPr>
              <a:t>, </a:t>
            </a:r>
            <a:r>
              <a:rPr sz="1200">
                <a:solidFill>
                  <a:srgbClr val="C9E08A"/>
                </a:solidFill>
                <a:latin typeface="Consolas"/>
              </a:rPr>
              <a:t>5942006</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1020003</a:t>
            </a:r>
            <a:r>
              <a:rPr sz="1200">
                <a:solidFill>
                  <a:srgbClr val="C2D0DA"/>
                </a:solidFill>
                <a:latin typeface="Consolas"/>
              </a:rPr>
              <a:t>, </a:t>
            </a:r>
            <a:r>
              <a:rPr sz="1200">
                <a:solidFill>
                  <a:srgbClr val="C9E08A"/>
                </a:solidFill>
                <a:latin typeface="Consolas"/>
              </a:rPr>
              <a:t>6545239</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a:t>
            </a:r>
            <a:r>
              <a:rPr sz="1200">
                <a:solidFill>
                  <a:srgbClr val="C2D0DA"/>
                </a:solidFill>
                <a:latin typeface="Consolas"/>
              </a:rPr>
              <a:t>: { </a:t>
            </a:r>
            <a:r>
              <a:rPr sz="1200">
                <a:solidFill>
                  <a:srgbClr val="6FC3E0"/>
                </a:solidFill>
                <a:latin typeface="Consolas"/>
              </a:rPr>
              <a:t>"interval"</a:t>
            </a:r>
            <a:r>
              <a:rPr sz="1200">
                <a:solidFill>
                  <a:srgbClr val="C2D0DA"/>
                </a:solidFill>
                <a:latin typeface="Consolas"/>
              </a:rPr>
              <a:t>: [[</a:t>
            </a:r>
            <a:r>
              <a:rPr sz="1200">
                <a:solidFill>
                  <a:srgbClr val="E6A36A"/>
                </a:solidFill>
                <a:latin typeface="Consolas"/>
              </a:rPr>
              <a:t>"2026-02-26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"2026-02-27 ..."</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5029200"/>
            <a:ext cx="5342839" cy="1097280"/>
          </a:xfrm>
          <a:prstGeom prst="rect">
            <a:avLst/>
          </a:prstGeom>
          <a:noFill/>
        </p:spPr>
        <p:txBody>
          <a:bodyPr wrap="square" lIns="0" rIns="0" t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extent is the spatial bbox and time interval of the collection</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crs and links round out the standard collection resource</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784848" cy="42519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".../items/1"</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629400" cy="44805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373368" cy="42976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"Link"</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"ogcdef"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".../uom/ISO-8601/0/Gregorian"</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"MultiLineString"</a:t>
            </a: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"/collections/ships/items/1"</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424927" y="1828800"/>
            <a:ext cx="419983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so the vessel moves continuously between fixes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/collections/ships/items?bbox=720000,6160000,738000,6178000</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6002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720000</a:t>
            </a:r>
            <a:r>
              <a:rPr sz="1200">
                <a:solidFill>
                  <a:srgbClr val="C2D0DA"/>
                </a:solidFill>
                <a:latin typeface="Consolas"/>
              </a:rPr>
              <a:t>,</a:t>
            </a:r>
            <a:r>
              <a:rPr sz="1200">
                <a:solidFill>
                  <a:srgbClr val="C9E08A"/>
                </a:solidFill>
                <a:latin typeface="Consolas"/>
              </a:rPr>
              <a:t>6160000</a:t>
            </a:r>
            <a:r>
              <a:rPr sz="1200">
                <a:solidFill>
                  <a:srgbClr val="C2D0DA"/>
                </a:solidFill>
                <a:latin typeface="Consolas"/>
              </a:rPr>
              <a:t>,</a:t>
            </a:r>
            <a:r>
              <a:rPr sz="1200">
                <a:solidFill>
                  <a:srgbClr val="C9E08A"/>
                </a:solidFill>
                <a:latin typeface="Consolas"/>
              </a:rPr>
              <a:t>738000</a:t>
            </a:r>
            <a:r>
              <a:rPr sz="1200">
                <a:solidFill>
                  <a:srgbClr val="C2D0DA"/>
                </a:solidFill>
                <a:latin typeface="Consolas"/>
              </a:rPr>
              <a:t>,</a:t>
            </a:r>
            <a:r>
              <a:rPr sz="1200">
                <a:solidFill>
                  <a:srgbClr val="C9E08A"/>
                </a:solidFill>
                <a:latin typeface="Consolas"/>
              </a:rPr>
              <a:t>6178000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170 of 2,833 trajectories cross the box</a:t>
            </a:r>
          </a:p>
        </p:txBody>
      </p:sp>
      <p:sp>
        <p:nvSpPr>
          <p:cNvPr id="9" name="TextBox 8"/>
          <p:cNvSpPr txBox="1"/>
          <p:nvPr/>
        </p:nvSpPr>
        <p:spPr>
          <a:xfrm>
            <a:off x="566928" y="3931920"/>
            <a:ext cx="5486400" cy="210312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with datetime, subtrajectory, limit and after</a:t>
            </a:r>
          </a:p>
        </p:txBody>
      </p:sp>
      <p:pic>
        <p:nvPicPr>
          <p:cNvPr id="10" name="Picture 9" descr="fig_bbox_real.png"/>
          <p:cNvPicPr>
            <a:picLocks noChangeAspect="1"/>
          </p:cNvPicPr>
          <p:nvPr/>
        </p:nvPicPr>
        <p:blipFill>
          <a:blip r:embed="rId2"/>
          <a:stretch>
            <a:fillRect/>
          </a:stretch>
        </p:blipFill>
        <p:spPr>
          <a:xfrm>
            <a:off x="6998486" y="1627632"/>
            <a:ext cx="4291027" cy="4297680"/>
          </a:xfrm>
          <a:prstGeom prst="rect">
            <a:avLst/>
          </a:prstGeom>
        </p:spPr>
      </p:pic>
      <p:sp>
        <p:nvSpPr>
          <p:cNvPr id="11" name="TextBox 10"/>
          <p:cNvSpPr txBox="1"/>
          <p:nvPr/>
        </p:nvSpPr>
        <p:spPr>
          <a:xfrm>
            <a:off x="6632726" y="6016752"/>
            <a:ext cx="5022547"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Trajectories crossing the box (teal) over other traffic (grey); the box in red</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7830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14</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rIns="0" t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_real.png"/>
          <p:cNvPicPr>
            <a:picLocks noChangeAspect="1"/>
          </p:cNvPicPr>
          <p:nvPr/>
        </p:nvPicPr>
        <p:blipFill>
          <a:blip r:embed="rId2"/>
          <a:stretch>
            <a:fillRect/>
          </a:stretch>
        </p:blipFill>
        <p:spPr>
          <a:xfrm>
            <a:off x="7044135" y="1664208"/>
            <a:ext cx="4199728" cy="4206240"/>
          </a:xfrm>
          <a:prstGeom prst="rect">
            <a:avLst/>
          </a:prstGeom>
        </p:spPr>
      </p:pic>
      <p:sp>
        <p:nvSpPr>
          <p:cNvPr id="11" name="TextBox 10"/>
          <p:cNvSpPr txBox="1"/>
          <p:nvPr/>
        </p:nvSpPr>
        <p:spPr>
          <a:xfrm>
            <a:off x="6678375" y="5961888"/>
            <a:ext cx="4931248"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Subtrajectories within a one-hour window (green) over full trajectories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WRITES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Create · Append · Delete</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23036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80136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4" name="TextBox 13"/>
          <p:cNvSpPr txBox="1"/>
          <p:nvPr/>
        </p:nvSpPr>
        <p:spPr>
          <a:xfrm>
            <a:off x="7306056" y="1783080"/>
            <a:ext cx="431871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a:t>
            </a:r>
          </a:p>
        </p:txBody>
      </p:sp>
      <p:sp>
        <p:nvSpPr>
          <p:cNvPr id="15" name="TextBox 14"/>
          <p:cNvSpPr txBox="1"/>
          <p:nvPr/>
        </p:nvSpPr>
        <p:spPr>
          <a:xfrm>
            <a:off x="6281928" y="2075688"/>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204 remove the feature</a:t>
            </a:r>
          </a:p>
        </p:txBody>
      </p:sp>
      <p:sp>
        <p:nvSpPr>
          <p:cNvPr id="16" name="TextBox 15"/>
          <p:cNvSpPr txBox="1"/>
          <p:nvPr/>
        </p:nvSpPr>
        <p:spPr>
          <a:xfrm>
            <a:off x="6281928" y="3291840"/>
            <a:ext cx="5342839" cy="274320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properties:  </a:t>
            </a:r>
            <a:r>
              <a:rPr sz="1200">
                <a:solidFill>
                  <a:srgbClr val="1E2B36"/>
                </a:solidFill>
                <a:latin typeface="Calibri"/>
              </a:rPr>
              <a:t>are computed from the geometry, so writes to them return 501; modify the geometry instead</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Single geometry:  </a:t>
            </a:r>
            <a:r>
              <a:rPr sz="1200">
                <a:solidFill>
                  <a:srgbClr val="1E2B36"/>
                </a:solidFill>
                <a:latin typeface="Calibri"/>
              </a:rPr>
              <a:t>a feature carries one temporal geometry; delete the feature rather than a primitive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30175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TextBox 10"/>
          <p:cNvSpPr txBox="1"/>
          <p:nvPr/>
        </p:nvSpPr>
        <p:spPr>
          <a:xfrm>
            <a:off x="6281928" y="4206240"/>
            <a:ext cx="5342839" cy="9144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The temporal geometry is the trajectory itself, returned as MovingFeaturesJSON straight from asMFJSON.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41324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41324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because with linear position the speed is a step function whose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488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"distance"</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"heading"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"rad"</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3</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/collections/ships/items/1/tproperties/velocity?leaf=...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800600"/>
            <a:ext cx="5230368" cy="12801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TBoolean · TText · TInteger · TReal · TImage</a:t>
            </a:r>
          </a:p>
        </p:txBody>
      </p:sp>
      <p:sp>
        <p:nvSpPr>
          <p:cNvPr id="15" name="TextBox 14"/>
          <p:cNvSpPr txBox="1"/>
          <p:nvPr/>
        </p:nvSpPr>
        <p:spPr>
          <a:xfrm>
            <a:off x="6281928" y="2377440"/>
            <a:ext cx="5342839" cy="3474720"/>
          </a:xfrm>
          <a:prstGeom prst="rect">
            <a:avLst/>
          </a:prstGeom>
          <a:noFill/>
        </p:spPr>
        <p:txBody>
          <a:bodyPr wrap="square" lIns="0" rIns="0" t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Derived:  </a:t>
            </a:r>
            <a:r>
              <a:rPr sz="1200">
                <a:solidFill>
                  <a:srgbClr val="1E2B36"/>
                </a:solidFill>
                <a:latin typeface="Calibri"/>
              </a:rPr>
              <a:t>velocity, distance and heading are computed from the trajectory, read-only</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a:t>
            </a:r>
            <a:r>
              <a:rPr sz="1200">
                <a:solidFill>
                  <a:srgbClr val="1E2B36"/>
                </a:solidFill>
                <a:latin typeface="Calibri"/>
              </a:rPr>
              <a:t>selects values at given instants; the result is Discrete</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datetime:  </a:t>
            </a:r>
            <a:r>
              <a:rPr sz="1200">
                <a:solidFill>
                  <a:srgbClr val="1E2B36"/>
                </a:solidFill>
                <a:latin typeface="Calibri"/>
              </a:rPr>
              <a:t>clips the property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914"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0300"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SCALE AND THE LAKEHOUSE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Streaming Tier, Standard and Beyond</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828800"/>
            <a:ext cx="3566160" cy="228600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2011680"/>
            <a:ext cx="3108960" cy="640080"/>
          </a:xfrm>
          <a:prstGeom prst="rect">
            <a:avLst/>
          </a:prstGeom>
          <a:noFill/>
        </p:spPr>
        <p:txBody>
          <a:bodyPr wrap="square" anchor="t" lIns="0" rIns="0" tIns="0" bIns="0">
            <a:noAutofit/>
          </a:bodyPr>
          <a:lstStyle/>
          <a:p>
            <a:pPr algn="l">
              <a:spcBef>
                <a:spcPts val="0"/>
              </a:spcBef>
              <a:spcAft>
                <a:spcPts val="200"/>
              </a:spcAft>
            </a:pPr>
            <a:r>
              <a:rPr sz="4000" b="1" i="0">
                <a:solidFill>
                  <a:srgbClr val="196B24"/>
                </a:solidFill>
                <a:latin typeface="Calibri Light"/>
              </a:rPr>
              <a:t>393 MB</a:t>
            </a:r>
          </a:p>
        </p:txBody>
      </p:sp>
      <p:sp>
        <p:nvSpPr>
          <p:cNvPr id="7" name="TextBox 6"/>
          <p:cNvSpPr txBox="1"/>
          <p:nvPr/>
        </p:nvSpPr>
        <p:spPr>
          <a:xfrm>
            <a:off x="841247" y="2706624"/>
            <a:ext cx="310896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 one streamed response</a:t>
            </a:r>
          </a:p>
        </p:txBody>
      </p:sp>
      <p:sp>
        <p:nvSpPr>
          <p:cNvPr id="8" name="TextBox 7"/>
          <p:cNvSpPr txBox="1"/>
          <p:nvPr/>
        </p:nvSpPr>
        <p:spPr>
          <a:xfrm>
            <a:off x="841247" y="3035808"/>
            <a:ext cx="3108960" cy="548640"/>
          </a:xfrm>
          <a:prstGeom prst="rect">
            <a:avLst/>
          </a:prstGeom>
          <a:noFill/>
        </p:spPr>
        <p:txBody>
          <a:bodyPr wrap="square" anchor="t" lIns="0" rIns="0" tIns="0" bIns="0">
            <a:noAutofit/>
          </a:bodyPr>
          <a:lstStyle/>
          <a:p>
            <a:pPr algn="l">
              <a:spcBef>
                <a:spcPts val="0"/>
              </a:spcBef>
              <a:spcAft>
                <a:spcPts val="200"/>
              </a:spcAft>
            </a:pPr>
            <a:r>
              <a:rPr sz="3200" b="1" i="0">
                <a:solidFill>
                  <a:srgbClr val="156082"/>
                </a:solidFill>
                <a:latin typeface="Calibri Light"/>
              </a:rPr>
              <a:t>≈18 MB</a:t>
            </a:r>
          </a:p>
        </p:txBody>
      </p:sp>
      <p:sp>
        <p:nvSpPr>
          <p:cNvPr id="9" name="TextBox 8"/>
          <p:cNvSpPr txBox="1"/>
          <p:nvPr/>
        </p:nvSpPr>
        <p:spPr>
          <a:xfrm>
            <a:off x="841247" y="3675887"/>
            <a:ext cx="3108960" cy="36576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resident, bounded by the stream not the result size</a:t>
            </a:r>
          </a:p>
        </p:txBody>
      </p:sp>
      <p:sp>
        <p:nvSpPr>
          <p:cNvPr id="10" name="TextBox 9"/>
          <p:cNvSpPr txBox="1"/>
          <p:nvPr/>
        </p:nvSpPr>
        <p:spPr>
          <a:xfrm>
            <a:off x="4453128" y="1783080"/>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 ITEMS RESOURCE</a:t>
            </a:r>
          </a:p>
        </p:txBody>
      </p:sp>
      <p:sp>
        <p:nvSpPr>
          <p:cNvPr id="11" name="TextBox 10"/>
          <p:cNvSpPr txBox="1"/>
          <p:nvPr/>
        </p:nvSpPr>
        <p:spPr>
          <a:xfrm>
            <a:off x="4453128" y="2084831"/>
            <a:ext cx="7171639" cy="1554480"/>
          </a:xfrm>
          <a:prstGeom prst="rect">
            <a:avLst/>
          </a:prstGeom>
          <a:noFill/>
        </p:spPr>
        <p:txBody>
          <a:bodyPr wrap="square" lIns="0" rIns="0" tIns="0" bIns="0">
            <a:noAutofit/>
          </a:bodyPr>
          <a:lstStyle/>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Streaming:  </a:t>
            </a:r>
            <a:r>
              <a:rPr sz="1200">
                <a:solidFill>
                  <a:srgbClr val="1E2B36"/>
                </a:solidFill>
                <a:latin typeface="Calibri"/>
              </a:rPr>
              <a:t>the FeatureCollection is written row by row from a cursor, so memory is bounded for any size</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constant cost through large collections</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p:txBody>
      </p:sp>
      <p:sp>
        <p:nvSpPr>
          <p:cNvPr id="12" name="TextBox 11"/>
          <p:cNvSpPr txBox="1"/>
          <p:nvPr/>
        </p:nvSpPr>
        <p:spPr>
          <a:xfrm>
            <a:off x="4453128" y="3712463"/>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C0392B"/>
                </a:solidFill>
                <a:latin typeface="Calibri"/>
              </a:rPr>
              <a:t>EXTENSIONS  —  NOT IN conformsTo</a:t>
            </a:r>
          </a:p>
        </p:txBody>
      </p:sp>
      <p:sp>
        <p:nvSpPr>
          <p:cNvPr id="13" name="Rounded Rectangle 12"/>
          <p:cNvSpPr/>
          <p:nvPr/>
        </p:nvSpPr>
        <p:spPr>
          <a:xfrm>
            <a:off x="4453128" y="40416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TextBox 13"/>
          <p:cNvSpPr txBox="1"/>
          <p:nvPr/>
        </p:nvSpPr>
        <p:spPr>
          <a:xfrm>
            <a:off x="5202936" y="4032504"/>
            <a:ext cx="64218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/collections/{collectionId}/export</a:t>
            </a:r>
          </a:p>
        </p:txBody>
      </p:sp>
      <p:sp>
        <p:nvSpPr>
          <p:cNvPr id="15" name="TextBox 14"/>
          <p:cNvSpPr txBox="1"/>
          <p:nvPr/>
        </p:nvSpPr>
        <p:spPr>
          <a:xfrm>
            <a:off x="4453128" y="4361688"/>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NDJSON, or Parquet with trajectory WKB + bbox/time sidecar; enclosure link</a:t>
            </a:r>
          </a:p>
        </p:txBody>
      </p:sp>
      <p:sp>
        <p:nvSpPr>
          <p:cNvPr id="16" name="Rounded Rectangle 15"/>
          <p:cNvSpPr/>
          <p:nvPr/>
        </p:nvSpPr>
        <p:spPr>
          <a:xfrm>
            <a:off x="4453128" y="4736592"/>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17" name="TextBox 16"/>
          <p:cNvSpPr txBox="1"/>
          <p:nvPr/>
        </p:nvSpPr>
        <p:spPr>
          <a:xfrm>
            <a:off x="5166360" y="4727448"/>
            <a:ext cx="6458407"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8" name="TextBox 17"/>
          <p:cNvSpPr txBox="1"/>
          <p:nvPr/>
        </p:nvSpPr>
        <p:spPr>
          <a:xfrm>
            <a:off x="4453128" y="5056632"/>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in-place replace; the standard allows only GET and DELETE on a feature</a:t>
            </a:r>
          </a:p>
        </p:txBody>
      </p:sp>
      <p:sp>
        <p:nvSpPr>
          <p:cNvPr id="19" name="TextBox 18"/>
          <p:cNvSpPr txBox="1"/>
          <p:nvPr/>
        </p:nvSpPr>
        <p:spPr>
          <a:xfrm>
            <a:off x="566928" y="5897880"/>
            <a:ext cx="11057839" cy="45720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Streaming keeps memory bounded for the standard responses and the lakehouse export; a step toward the Data Lake House architecture in the MobilityDB ecosystem.</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FUTURE WORK</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Tier, Many MEOS Engines</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755648"/>
            <a:ext cx="10472623" cy="320040"/>
          </a:xfrm>
          <a:prstGeom prst="rect">
            <a:avLst/>
          </a:prstGeom>
          <a:noFill/>
        </p:spPr>
        <p:txBody>
          <a:bodyPr wrap="square" anchor="t" lIns="0" rIns="0" tIns="0" bIns="0">
            <a:noAutofit/>
          </a:bodyPr>
          <a:lstStyle/>
          <a:p>
            <a:pPr algn="l">
              <a:spcBef>
                <a:spcPts val="0"/>
              </a:spcBef>
              <a:spcAft>
                <a:spcPts val="200"/>
              </a:spcAft>
            </a:pPr>
            <a:r>
              <a:rPr sz="1600" b="1" i="0">
                <a:solidFill>
                  <a:srgbClr val="FFFFFF"/>
                </a:solidFill>
                <a:latin typeface="Calibri"/>
              </a:rPr>
              <a:t>Thin OGC API – Moving Features tier</a:t>
            </a:r>
          </a:p>
        </p:txBody>
      </p:sp>
      <p:sp>
        <p:nvSpPr>
          <p:cNvPr id="7" name="TextBox 6"/>
          <p:cNvSpPr txBox="1"/>
          <p:nvPr/>
        </p:nvSpPr>
        <p:spPr>
          <a:xfrm>
            <a:off x="859536" y="2139696"/>
            <a:ext cx="10472623" cy="274320"/>
          </a:xfrm>
          <a:prstGeom prst="rect">
            <a:avLst/>
          </a:prstGeom>
          <a:noFill/>
        </p:spPr>
        <p:txBody>
          <a:bodyPr wrap="square" anchor="t" lIns="0" rIns="0" tIns="0" bIns="0">
            <a:noAutofit/>
          </a:bodyPr>
          <a:lstStyle/>
          <a:p>
            <a:pPr algn="l">
              <a:spcBef>
                <a:spcPts val="0"/>
              </a:spcBef>
              <a:spcAft>
                <a:spcPts val="200"/>
              </a:spcAft>
            </a:pPr>
            <a:r>
              <a:rPr sz="1200" b="0" i="0">
                <a:solidFill>
                  <a:srgbClr val="CFE2EC"/>
                </a:solidFill>
                <a:latin typeface="Calibri"/>
              </a:rPr>
              <a:t>MF-JSON / WKB wire format  ·  streaming  ·  keyset paging  ·  index pushdown  ·  no MEOS in the tier</a:t>
            </a:r>
          </a:p>
        </p:txBody>
      </p:sp>
      <p:sp>
        <p:nvSpPr>
          <p:cNvPr id="8" name="TextBox 7"/>
          <p:cNvSpPr txBox="1"/>
          <p:nvPr/>
        </p:nvSpPr>
        <p:spPr>
          <a:xfrm>
            <a:off x="566928" y="2633472"/>
            <a:ext cx="11057839" cy="274320"/>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   serves any MEOS-backed engine; the engine becomes a configuration choice</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MobilityDB</a:t>
            </a:r>
          </a:p>
        </p:txBody>
      </p:sp>
      <p:sp>
        <p:nvSpPr>
          <p:cNvPr id="12" name="TextBox 11"/>
          <p:cNvSpPr txBox="1"/>
          <p:nvPr/>
        </p:nvSpPr>
        <p:spPr>
          <a:xfrm>
            <a:off x="731520"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onsolas"/>
              </a:rPr>
              <a:t>PostgreSQL</a:t>
            </a:r>
          </a:p>
        </p:txBody>
      </p:sp>
      <p:sp>
        <p:nvSpPr>
          <p:cNvPr id="13" name="TextBox 12"/>
          <p:cNvSpPr txBox="1"/>
          <p:nvPr/>
        </p:nvSpPr>
        <p:spPr>
          <a:xfrm>
            <a:off x="731520"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Transactional serving over a live database</a:t>
            </a:r>
          </a:p>
        </p:txBody>
      </p:sp>
      <p:sp>
        <p:nvSpPr>
          <p:cNvPr id="14" name="TextBox 13"/>
          <p:cNvSpPr txBox="1"/>
          <p:nvPr/>
        </p:nvSpPr>
        <p:spPr>
          <a:xfrm>
            <a:off x="731520"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Implemented today</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MobilityDuck</a:t>
            </a:r>
          </a:p>
        </p:txBody>
      </p:sp>
      <p:sp>
        <p:nvSpPr>
          <p:cNvPr id="18" name="TextBox 17"/>
          <p:cNvSpPr txBox="1"/>
          <p:nvPr/>
        </p:nvSpPr>
        <p:spPr>
          <a:xfrm>
            <a:off x="356455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DuckDB</a:t>
            </a:r>
          </a:p>
        </p:txBody>
      </p:sp>
      <p:sp>
        <p:nvSpPr>
          <p:cNvPr id="19" name="TextBox 18"/>
          <p:cNvSpPr txBox="1"/>
          <p:nvPr/>
        </p:nvSpPr>
        <p:spPr>
          <a:xfrm>
            <a:off x="356455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Embedded, Parquet-native lakehouse queries</a:t>
            </a:r>
          </a:p>
        </p:txBody>
      </p:sp>
      <p:sp>
        <p:nvSpPr>
          <p:cNvPr id="20" name="TextBox 19"/>
          <p:cNvSpPr txBox="1"/>
          <p:nvPr/>
        </p:nvSpPr>
        <p:spPr>
          <a:xfrm>
            <a:off x="356455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759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MobilitySpark</a:t>
            </a:r>
          </a:p>
        </p:txBody>
      </p:sp>
      <p:sp>
        <p:nvSpPr>
          <p:cNvPr id="24" name="TextBox 23"/>
          <p:cNvSpPr txBox="1"/>
          <p:nvPr/>
        </p:nvSpPr>
        <p:spPr>
          <a:xfrm>
            <a:off x="639759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onsolas"/>
              </a:rPr>
              <a:t>Apache Spark</a:t>
            </a:r>
          </a:p>
        </p:txBody>
      </p:sp>
      <p:sp>
        <p:nvSpPr>
          <p:cNvPr id="25" name="TextBox 24"/>
          <p:cNvSpPr txBox="1"/>
          <p:nvPr/>
        </p:nvSpPr>
        <p:spPr>
          <a:xfrm>
            <a:off x="639759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Distributed batch over very large histories</a:t>
            </a:r>
          </a:p>
        </p:txBody>
      </p:sp>
      <p:sp>
        <p:nvSpPr>
          <p:cNvPr id="26" name="TextBox 25"/>
          <p:cNvSpPr txBox="1"/>
          <p:nvPr/>
        </p:nvSpPr>
        <p:spPr>
          <a:xfrm>
            <a:off x="639759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063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MobilityFlink</a:t>
            </a:r>
          </a:p>
        </p:txBody>
      </p:sp>
      <p:sp>
        <p:nvSpPr>
          <p:cNvPr id="30" name="TextBox 29"/>
          <p:cNvSpPr txBox="1"/>
          <p:nvPr/>
        </p:nvSpPr>
        <p:spPr>
          <a:xfrm>
            <a:off x="923063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onsolas"/>
              </a:rPr>
              <a:t>Apache Flink</a:t>
            </a:r>
          </a:p>
        </p:txBody>
      </p:sp>
      <p:sp>
        <p:nvSpPr>
          <p:cNvPr id="31" name="TextBox 30"/>
          <p:cNvSpPr txBox="1"/>
          <p:nvPr/>
        </p:nvSpPr>
        <p:spPr>
          <a:xfrm>
            <a:off x="923063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Streaming, real-time moving features</a:t>
            </a:r>
          </a:p>
        </p:txBody>
      </p:sp>
      <p:sp>
        <p:nvSpPr>
          <p:cNvPr id="32" name="TextBox 31"/>
          <p:cNvSpPr txBox="1"/>
          <p:nvPr/>
        </p:nvSpPr>
        <p:spPr>
          <a:xfrm>
            <a:off x="923063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33" name="TextBox 32"/>
          <p:cNvSpPr txBox="1"/>
          <p:nvPr/>
        </p:nvSpPr>
        <p:spPr>
          <a:xfrm>
            <a:off x="566928" y="5669280"/>
            <a:ext cx="11057839" cy="64008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MEOS types and the MF-JSON / WKB wire format are shared across the ecosystem, so the same tier fronts a transactional database today and the lakehouse and streaming engines as they mature.</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Standard Surface, Recapped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7732"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index-using filters</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468880"/>
            <a:ext cx="100584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anchor="t" lIns="0" rIns="0" tIns="0" bIns="0">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2"/>
          <a:stretch>
            <a:fillRect/>
          </a:stretch>
        </p:blipFill>
        <p:spPr>
          <a:xfrm>
            <a:off x="10070970" y="4297680"/>
            <a:ext cx="1633349" cy="173736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99339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20240"/>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2231136"/>
            <a:ext cx="10515600" cy="292608"/>
          </a:xfrm>
          <a:prstGeom prst="rect">
            <a:avLst/>
          </a:prstGeom>
          <a:noFill/>
        </p:spPr>
        <p:txBody>
          <a:bodyPr wrap="none" lIns="0" rIns="0" t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834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761488"/>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3072384"/>
            <a:ext cx="10515600" cy="292608"/>
          </a:xfrm>
          <a:prstGeom prst="rect">
            <a:avLst/>
          </a:prstGeom>
          <a:noFill/>
        </p:spPr>
        <p:txBody>
          <a:bodyPr wrap="none" lIns="0" rIns="0" t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3675887"/>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02736"/>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913632"/>
            <a:ext cx="10515600" cy="292608"/>
          </a:xfrm>
          <a:prstGeom prst="rect">
            <a:avLst/>
          </a:prstGeom>
          <a:noFill/>
        </p:spPr>
        <p:txBody>
          <a:bodyPr wrap="none" lIns="0" rIns="0" t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451713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443984"/>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4754880"/>
            <a:ext cx="10515600" cy="292608"/>
          </a:xfrm>
          <a:prstGeom prst="rect">
            <a:avLst/>
          </a:prstGeom>
          <a:noFill/>
        </p:spPr>
        <p:txBody>
          <a:bodyPr wrap="none" lIns="0" rIns="0" t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