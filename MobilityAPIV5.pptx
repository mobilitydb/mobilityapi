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OGC data model maps one to one onto MobilityAPI's REST resources.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live walkthrough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bbox query is a spatial pre-filter executed by MobilityDB's GiST index over the inline STBOX.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65960"/>
            <a:ext cx="8686800" cy="1097280"/>
          </a:xfrm>
          <a:prstGeom prst="rect">
            <a:avLst/>
          </a:prstGeom>
          <a:noFill/>
        </p:spPr>
        <p:txBody>
          <a:bodyPr wrap="square" anchor="t" lIns="0" rIns="0" tIns="0" bIns="0">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anchor="t" lIns="0" rIns="0" tIns="0" bIns="0">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096512"/>
            <a:ext cx="9326880" cy="457200"/>
          </a:xfrm>
          <a:prstGeom prst="rect">
            <a:avLst/>
          </a:prstGeom>
          <a:noFill/>
        </p:spPr>
        <p:txBody>
          <a:bodyPr wrap="square" anchor="t" lIns="0" rIns="0" tIns="0" bIns="0">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2"/>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3"/>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anchor="t" lIns="0" rIns="0" tIns="0" bIns="0">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45920"/>
            <a:ext cx="6400800" cy="420624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3566160"/>
          </a:xfrm>
          <a:prstGeom prst="roundRect">
            <a:avLst>
              <a:gd name="adj" fmla="val 4000"/>
            </a:avLst>
          </a:prstGeom>
          <a:solidFill>
            <a:srgbClr val="F1F5F8"/>
          </a:solidFill>
          <a:ln>
            <a:noFill/>
          </a:ln>
          <a:effectLst/>
        </p:spPr>
        <p:txBody>
          <a:bodyPr rtlCol="0" anchor="ctr"/>
          <a:lstStyle/>
          <a:p>
            <a:pPr algn="ctr"/>
          </a:p>
        </p:txBody>
      </p:sp>
      <p:sp>
        <p:nvSpPr>
          <p:cNvPr id="7" name="TextBox 6"/>
          <p:cNvSpPr txBox="1"/>
          <p:nvPr/>
        </p:nvSpPr>
        <p:spPr>
          <a:xfrm>
            <a:off x="7863840" y="1773936"/>
            <a:ext cx="35204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9" name="TextBox 8"/>
          <p:cNvSpPr txBox="1"/>
          <p:nvPr/>
        </p:nvSpPr>
        <p:spPr>
          <a:xfrm>
            <a:off x="7909560"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1" name="TextBox 10"/>
          <p:cNvSpPr txBox="1"/>
          <p:nvPr/>
        </p:nvSpPr>
        <p:spPr>
          <a:xfrm>
            <a:off x="9095232"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3" name="TextBox 12"/>
          <p:cNvSpPr txBox="1"/>
          <p:nvPr/>
        </p:nvSpPr>
        <p:spPr>
          <a:xfrm>
            <a:off x="10280903"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7" name="TextBox 16"/>
          <p:cNvSpPr txBox="1"/>
          <p:nvPr/>
        </p:nvSpPr>
        <p:spPr>
          <a:xfrm>
            <a:off x="8092440" y="3191256"/>
            <a:ext cx="3063240"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22" name="TextBox 21"/>
          <p:cNvSpPr txBox="1"/>
          <p:nvPr/>
        </p:nvSpPr>
        <p:spPr>
          <a:xfrm>
            <a:off x="8092440" y="4334256"/>
            <a:ext cx="3063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681728"/>
            <a:ext cx="5486400" cy="32004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rIns="0" t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PANEL"/>
          <p:cNvSpPr txBox="1"/>
          <p:nvPr/>
        </p:nvSpPr>
        <p:spPr>
          <a:xfrm>
            <a:off x="694944" y="2011680"/>
            <a:ext cx="5090007" cy="22860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DEPANEL"/>
          <p:cNvSpPr txBox="1"/>
          <p:nvPr/>
        </p:nvSpPr>
        <p:spPr>
          <a:xfrm>
            <a:off x="6406743" y="2011680"/>
            <a:ext cx="5090007" cy="33375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Rectangle 1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3" name="TextBox 12"/>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moving-features-class-diagram.png"/>
          <p:cNvPicPr>
            <a:picLocks noChangeAspect="1"/>
          </p:cNvPicPr>
          <p:nvPr/>
        </p:nvPicPr>
        <p:blipFill>
          <a:blip r:embed="rId2"/>
          <a:stretch>
            <a:fillRect/>
          </a:stretch>
        </p:blipFill>
        <p:spPr>
          <a:xfrm>
            <a:off x="566928"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top.png"/>
          <p:cNvPicPr>
            <a:picLocks noChangeAspect="1"/>
          </p:cNvPicPr>
          <p:nvPr/>
        </p:nvPicPr>
        <p:blipFill>
          <a:blip r:embed="rId2"/>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bot.png"/>
          <p:cNvPicPr>
            <a:picLocks noChangeAspect="1"/>
          </p:cNvPicPr>
          <p:nvPr/>
        </p:nvPicPr>
        <p:blipFill>
          <a:blip r:embed="rId2"/>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44752"/>
            <a:ext cx="4206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item_type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68496"/>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Rounded Rectangle 19"/>
          <p:cNvSpPr/>
          <p:nvPr/>
        </p:nvSpPr>
        <p:spPr>
          <a:xfrm>
            <a:off x="5138928" y="5376672"/>
            <a:ext cx="6485839" cy="969264"/>
          </a:xfrm>
          <a:prstGeom prst="roundRect">
            <a:avLst>
              <a:gd name="adj" fmla="val 4000"/>
            </a:avLst>
          </a:prstGeom>
          <a:solidFill>
            <a:srgbClr val="F1F5F8"/>
          </a:solidFill>
          <a:ln>
            <a:noFill/>
          </a:ln>
          <a:effectLst/>
        </p:spPr>
        <p:txBody>
          <a:bodyPr rtlCol="0" anchor="ctr"/>
          <a:lstStyle/>
          <a:p>
            <a:pPr algn="ctr"/>
          </a:p>
        </p:txBody>
      </p:sp>
      <p:sp>
        <p:nvSpPr>
          <p:cNvPr id="21" name="TextBox 20"/>
          <p:cNvSpPr txBox="1"/>
          <p:nvPr/>
        </p:nvSpPr>
        <p:spPr>
          <a:xfrm>
            <a:off x="5394960" y="5468112"/>
            <a:ext cx="5973775"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How fields are provided</a:t>
            </a:r>
          </a:p>
        </p:txBody>
      </p:sp>
      <p:sp>
        <p:nvSpPr>
          <p:cNvPr id="22" name="TextBox 21"/>
          <p:cNvSpPr txBox="1"/>
          <p:nvPr/>
        </p:nvSpPr>
        <p:spPr>
          <a:xfrm>
            <a:off x="5394960" y="5760720"/>
            <a:ext cx="5973775" cy="530352"/>
          </a:xfrm>
          <a:prstGeom prst="rect">
            <a:avLst/>
          </a:prstGeom>
          <a:noFill/>
        </p:spPr>
        <p:txBody>
          <a:bodyPr wrap="square" lIns="0" rIns="0" t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Derived fields come O(1) from the tgeompoint and its inline STBOX</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Links are generated per request</a:t>
            </a:r>
          </a:p>
        </p:txBody>
      </p:sp>
      <p:sp>
        <p:nvSpPr>
          <p:cNvPr id="23" name="Rectangle 2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5" name="TextBox 24"/>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overview_real.png"/>
          <p:cNvPicPr>
            <a:picLocks noChangeAspect="1"/>
          </p:cNvPicPr>
          <p:nvPr/>
        </p:nvPicPr>
        <p:blipFill>
          <a:blip r:embed="rId2"/>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from 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of 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19613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9" name="TextBox 8"/>
          <p:cNvSpPr txBox="1"/>
          <p:nvPr/>
        </p:nvSpPr>
        <p:spPr>
          <a:xfrm>
            <a:off x="1353312" y="195681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3271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Rounded Rectangle 10"/>
          <p:cNvSpPr/>
          <p:nvPr/>
        </p:nvSpPr>
        <p:spPr>
          <a:xfrm>
            <a:off x="1280160" y="23271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2" name="TextBox 11"/>
          <p:cNvSpPr txBox="1"/>
          <p:nvPr/>
        </p:nvSpPr>
        <p:spPr>
          <a:xfrm>
            <a:off x="2139696" y="232257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6929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Rounded Rectangle 13"/>
          <p:cNvSpPr/>
          <p:nvPr/>
        </p:nvSpPr>
        <p:spPr>
          <a:xfrm>
            <a:off x="1280160" y="269290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5" name="TextBox 14"/>
          <p:cNvSpPr txBox="1"/>
          <p:nvPr/>
        </p:nvSpPr>
        <p:spPr>
          <a:xfrm>
            <a:off x="2359152" y="2688336"/>
            <a:ext cx="924732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0586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7" name="Rounded Rectangle 16"/>
          <p:cNvSpPr/>
          <p:nvPr/>
        </p:nvSpPr>
        <p:spPr>
          <a:xfrm>
            <a:off x="1280160" y="305866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8" name="TextBox 17"/>
          <p:cNvSpPr txBox="1"/>
          <p:nvPr/>
        </p:nvSpPr>
        <p:spPr>
          <a:xfrm>
            <a:off x="2139696" y="305409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42442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0" name="TextBox 19"/>
          <p:cNvSpPr txBox="1"/>
          <p:nvPr/>
        </p:nvSpPr>
        <p:spPr>
          <a:xfrm>
            <a:off x="1353312" y="341985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379018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2" name="TextBox 21"/>
          <p:cNvSpPr txBox="1"/>
          <p:nvPr/>
        </p:nvSpPr>
        <p:spPr>
          <a:xfrm>
            <a:off x="1353312" y="3785615"/>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155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4" name="TextBox 23"/>
          <p:cNvSpPr txBox="1"/>
          <p:nvPr/>
        </p:nvSpPr>
        <p:spPr>
          <a:xfrm>
            <a:off x="1353312" y="415137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5217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6" name="TextBox 25"/>
          <p:cNvSpPr txBox="1"/>
          <p:nvPr/>
        </p:nvSpPr>
        <p:spPr>
          <a:xfrm>
            <a:off x="1353312" y="45171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8" name="TextBox 27"/>
          <p:cNvSpPr txBox="1"/>
          <p:nvPr/>
        </p:nvSpPr>
        <p:spPr>
          <a:xfrm>
            <a:off x="1353312" y="488289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   ·   /api   ·   /conformance</a:t>
            </a:r>
          </a:p>
        </p:txBody>
      </p:sp>
      <p:sp>
        <p:nvSpPr>
          <p:cNvPr id="29" name="Rounded Rectangle 28"/>
          <p:cNvSpPr/>
          <p:nvPr/>
        </p:nvSpPr>
        <p:spPr>
          <a:xfrm>
            <a:off x="566928" y="5358384"/>
            <a:ext cx="11057839" cy="969264"/>
          </a:xfrm>
          <a:prstGeom prst="roundRect">
            <a:avLst>
              <a:gd name="adj" fmla="val 4000"/>
            </a:avLst>
          </a:prstGeom>
          <a:solidFill>
            <a:srgbClr val="F1F5F8"/>
          </a:solidFill>
          <a:ln>
            <a:noFill/>
          </a:ln>
          <a:effectLst/>
        </p:spPr>
        <p:txBody>
          <a:bodyPr rtlCol="0" anchor="ctr"/>
          <a:lstStyle/>
          <a:p>
            <a:pPr algn="ctr"/>
          </a:p>
        </p:txBody>
      </p:sp>
      <p:sp>
        <p:nvSpPr>
          <p:cNvPr id="30" name="TextBox 29"/>
          <p:cNvSpPr txBox="1"/>
          <p:nvPr/>
        </p:nvSpPr>
        <p:spPr>
          <a:xfrm>
            <a:off x="822960" y="5449824"/>
            <a:ext cx="10545775"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Notes</a:t>
            </a:r>
          </a:p>
        </p:txBody>
      </p:sp>
      <p:sp>
        <p:nvSpPr>
          <p:cNvPr id="31" name="TextBox 30"/>
          <p:cNvSpPr txBox="1"/>
          <p:nvPr/>
        </p:nvSpPr>
        <p:spPr>
          <a:xfrm>
            <a:off x="822960" y="5742432"/>
            <a:ext cx="10545775" cy="530352"/>
          </a:xfrm>
          <a:prstGeom prst="rect">
            <a:avLst/>
          </a:prstGeom>
          <a:noFill/>
        </p:spPr>
        <p:txBody>
          <a:bodyPr wrap="square" lIns="0" rIns="0" t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Every path above is OGC API – Moving Features – Part 1: Core; acceleration returns 501 (not derivable)</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Items query parameters: bbox, datetime, subtrajectory, leaf, limit, page cursor</a:t>
            </a:r>
          </a:p>
        </p:txBody>
      </p:sp>
      <p:sp>
        <p:nvSpPr>
          <p:cNvPr id="32" name="Rectangle 3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4" name="TextBox 3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240280"/>
            <a:ext cx="8229600" cy="365760"/>
          </a:xfrm>
          <a:prstGeom prst="rect">
            <a:avLst/>
          </a:prstGeom>
          <a:noFill/>
        </p:spPr>
        <p:txBody>
          <a:bodyPr wrap="square" anchor="t" lIns="0" rIns="0" tIns="0" bIns="0">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anchor="t" lIns="0" rIns="0" tIns="0" bIns="0">
            <a:noAutofit/>
          </a:bodyPr>
          <a:lstStyle/>
          <a:p>
            <a:pPr algn="l">
              <a:spcBef>
                <a:spcPts val="0"/>
              </a:spcBef>
              <a:spcAft>
                <a:spcPts val="200"/>
              </a:spcAft>
            </a:pPr>
            <a:r>
              <a:rPr sz="1600" b="0" i="0">
                <a:solidFill>
                  <a:srgbClr val="9EB8C8"/>
                </a:solidFill>
                <a:latin typeface="Calibri"/>
              </a:rPr>
              <a:t>List  →  filter  →  retrieve  →  derive  →  write, all over HTTP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DEPANEL"/>
          <p:cNvSpPr txBox="1"/>
          <p:nvPr/>
        </p:nvSpPr>
        <p:spPr>
          <a:xfrm>
            <a:off x="694944" y="2286000"/>
            <a:ext cx="5230368" cy="37490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DEPANEL"/>
          <p:cNvSpPr txBox="1"/>
          <p:nvPr/>
        </p:nvSpPr>
        <p:spPr>
          <a:xfrm>
            <a:off x="6409944" y="2286000"/>
            <a:ext cx="5086807" cy="25603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a:t>
            </a:r>
            <a:r>
              <a:rPr sz="1200">
                <a:solidFill>
                  <a:srgbClr val="E6A36A"/>
                </a:solidFill>
                <a:latin typeface="Consolas"/>
              </a:rPr>
              <a:t>".../def/crs/EPSG/0/25832"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"spatial"</a:t>
            </a:r>
            <a:r>
              <a:rPr sz="1200">
                <a:solidFill>
                  <a:srgbClr val="C2D0DA"/>
                </a:solidFill>
                <a:latin typeface="Consolas"/>
              </a:rPr>
              <a:t>:  {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152625</a:t>
            </a:r>
            <a:r>
              <a:rPr sz="1200">
                <a:solidFill>
                  <a:srgbClr val="C2D0DA"/>
                </a:solidFill>
                <a:latin typeface="Consolas"/>
              </a:rPr>
              <a:t>, </a:t>
            </a:r>
            <a:r>
              <a:rPr sz="1200">
                <a:solidFill>
                  <a:srgbClr val="C9E08A"/>
                </a:solidFill>
                <a:latin typeface="Consolas"/>
              </a:rPr>
              <a:t>5942006</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1020003</a:t>
            </a:r>
            <a:r>
              <a:rPr sz="1200">
                <a:solidFill>
                  <a:srgbClr val="C2D0DA"/>
                </a:solidFill>
                <a:latin typeface="Consolas"/>
              </a:rPr>
              <a:t>, </a:t>
            </a:r>
            <a:r>
              <a:rPr sz="1200">
                <a:solidFill>
                  <a:srgbClr val="C9E08A"/>
                </a:solidFill>
                <a:latin typeface="Consolas"/>
              </a:rPr>
              <a:t>6545239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a:t>
            </a:r>
            <a:r>
              <a:rPr sz="1200">
                <a:solidFill>
                  <a:srgbClr val="C2D0DA"/>
                </a:solidFill>
                <a:latin typeface="Consolas"/>
              </a:rPr>
              <a:t>: { </a:t>
            </a:r>
            <a:r>
              <a:rPr sz="1200">
                <a:solidFill>
                  <a:srgbClr val="6FC3E0"/>
                </a:solidFill>
                <a:latin typeface="Consolas"/>
              </a:rPr>
              <a:t>"interval"</a:t>
            </a:r>
            <a:r>
              <a:rPr sz="1200">
                <a:solidFill>
                  <a:srgbClr val="C2D0DA"/>
                </a:solidFill>
                <a:latin typeface="Consolas"/>
              </a:rPr>
              <a:t>: [[</a:t>
            </a:r>
            <a:r>
              <a:rPr sz="1200">
                <a:solidFill>
                  <a:srgbClr val="E6A36A"/>
                </a:solidFill>
                <a:latin typeface="Consolas"/>
              </a:rPr>
              <a:t>"2026-02-26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"2026-02-27 ..."</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5029200"/>
            <a:ext cx="5342839" cy="1097280"/>
          </a:xfrm>
          <a:prstGeom prst="rect">
            <a:avLst/>
          </a:prstGeom>
          <a:noFill/>
        </p:spPr>
        <p:txBody>
          <a:bodyPr wrap="square" lIns="0" rIns="0" t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extent is the spatial bbox and time interval of the collection</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crs and links round out the standard collection resource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784848" cy="42519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".../items/1"</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62940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373368" cy="42976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"MultiLineString"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"/collections/ships/items/1"</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424927" y="1828800"/>
            <a:ext cx="419983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6002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with datetime, subtrajectory, limit and after</a:t>
            </a:r>
          </a:p>
        </p:txBody>
      </p:sp>
      <p:pic>
        <p:nvPicPr>
          <p:cNvPr id="10" name="Picture 9" descr="fig_bbox_real.png"/>
          <p:cNvPicPr>
            <a:picLocks noChangeAspect="1"/>
          </p:cNvPicPr>
          <p:nvPr/>
        </p:nvPicPr>
        <p:blipFill>
          <a:blip r:embed="rId2"/>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7830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rIns="0" t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WRITES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23036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78308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4" name="TextBox 13"/>
          <p:cNvSpPr txBox="1"/>
          <p:nvPr/>
        </p:nvSpPr>
        <p:spPr>
          <a:xfrm>
            <a:off x="7324344" y="1773936"/>
            <a:ext cx="4300423"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130552"/>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properties:  </a:t>
            </a:r>
            <a:r>
              <a:rPr sz="1200">
                <a:solidFill>
                  <a:srgbClr val="1E2B36"/>
                </a:solidFill>
                <a:latin typeface="Calibri"/>
              </a:rPr>
              <a:t>are computed from the geometry, so writes to them return 501; modify the geometry instead</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Single geometry:  </a:t>
            </a:r>
            <a:r>
              <a:rPr sz="1200">
                <a:solidFill>
                  <a:srgbClr val="1E2B36"/>
                </a:solidFill>
                <a:latin typeface="Calibri"/>
              </a:rPr>
              <a:t>a feature carries one temporal geometry; delete the feature rather than a primitive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30175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Rounded Rectangle 10"/>
          <p:cNvSpPr/>
          <p:nvPr/>
        </p:nvSpPr>
        <p:spPr>
          <a:xfrm>
            <a:off x="6281928" y="4160520"/>
            <a:ext cx="5342839" cy="969264"/>
          </a:xfrm>
          <a:prstGeom prst="roundRect">
            <a:avLst>
              <a:gd name="adj" fmla="val 4000"/>
            </a:avLst>
          </a:prstGeom>
          <a:solidFill>
            <a:srgbClr val="F1F5F8"/>
          </a:solidFill>
          <a:ln>
            <a:noFill/>
          </a:ln>
          <a:effectLst/>
        </p:spPr>
        <p:txBody>
          <a:bodyPr rtlCol="0" anchor="ctr"/>
          <a:lstStyle/>
          <a:p>
            <a:pPr algn="ctr"/>
          </a:p>
        </p:txBody>
      </p:sp>
      <p:sp>
        <p:nvSpPr>
          <p:cNvPr id="12" name="TextBox 11"/>
          <p:cNvSpPr txBox="1"/>
          <p:nvPr/>
        </p:nvSpPr>
        <p:spPr>
          <a:xfrm>
            <a:off x="6537960" y="4251959"/>
            <a:ext cx="4830775"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13" name="TextBox 12"/>
          <p:cNvSpPr txBox="1"/>
          <p:nvPr/>
        </p:nvSpPr>
        <p:spPr>
          <a:xfrm>
            <a:off x="6537960" y="4544568"/>
            <a:ext cx="4830775" cy="530352"/>
          </a:xfrm>
          <a:prstGeom prst="rect">
            <a:avLst/>
          </a:prstGeom>
          <a:noFill/>
        </p:spPr>
        <p:txBody>
          <a:bodyPr wrap="square" lIns="0" rIns="0" t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The temporal geometry is the trajectory itself</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Returned as MovingFeaturesJSON by asMFJSON</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41324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41324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488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"distance"</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"heading"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"rad"</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3</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/collections/ships/items/1/tproperties/velocity?leaf=...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800600"/>
            <a:ext cx="5230368" cy="12801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TBoolean · TText · TInteger · TReal · TImage</a:t>
            </a:r>
          </a:p>
        </p:txBody>
      </p:sp>
      <p:sp>
        <p:nvSpPr>
          <p:cNvPr id="15" name="TextBox 14"/>
          <p:cNvSpPr txBox="1"/>
          <p:nvPr/>
        </p:nvSpPr>
        <p:spPr>
          <a:xfrm>
            <a:off x="6281928" y="2377440"/>
            <a:ext cx="5342839" cy="3474720"/>
          </a:xfrm>
          <a:prstGeom prst="rect">
            <a:avLst/>
          </a:prstGeom>
          <a:noFill/>
        </p:spPr>
        <p:txBody>
          <a:bodyPr wrap="square" lIns="0" rIns="0" t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Derived:  </a:t>
            </a:r>
            <a:r>
              <a:rPr sz="1200">
                <a:solidFill>
                  <a:srgbClr val="1E2B36"/>
                </a:solidFill>
                <a:latin typeface="Calibri"/>
              </a:rPr>
              <a:t>velocity, distance and heading are computed from the trajectory, read-only</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a:t>
            </a:r>
            <a:r>
              <a:rPr sz="1200">
                <a:solidFill>
                  <a:srgbClr val="1E2B36"/>
                </a:solidFill>
                <a:latin typeface="Calibri"/>
              </a:rPr>
              <a:t>selects values at given instants; the result is Discrete</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datetime:  </a:t>
            </a:r>
            <a:r>
              <a:rPr sz="1200">
                <a:solidFill>
                  <a:srgbClr val="1E2B36"/>
                </a:solidFill>
                <a:latin typeface="Calibri"/>
              </a:rPr>
              <a:t>clips the property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914"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0300"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SCALE AND THE LAKEHOUSE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Streaming Tier, Standard and Beyond</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2011680"/>
            <a:ext cx="3108960" cy="640080"/>
          </a:xfrm>
          <a:prstGeom prst="rect">
            <a:avLst/>
          </a:prstGeom>
          <a:noFill/>
        </p:spPr>
        <p:txBody>
          <a:bodyPr wrap="square" anchor="t" lIns="0" rIns="0" tIns="0" bIns="0">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anchor="t" lIns="0" rIns="0" tIns="0" bIns="0">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rIns="0" t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12" name="TextBox 11"/>
          <p:cNvSpPr txBox="1"/>
          <p:nvPr/>
        </p:nvSpPr>
        <p:spPr>
          <a:xfrm>
            <a:off x="4453128" y="3712463"/>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C0392B"/>
                </a:solidFill>
                <a:latin typeface="Calibri"/>
              </a:rPr>
              <a:t>EXTENSIONS  —  NOT IN conformsTo</a:t>
            </a:r>
          </a:p>
        </p:txBody>
      </p:sp>
      <p:sp>
        <p:nvSpPr>
          <p:cNvPr id="13" name="Rounded Rectangle 12"/>
          <p:cNvSpPr/>
          <p:nvPr/>
        </p:nvSpPr>
        <p:spPr>
          <a:xfrm>
            <a:off x="4453128" y="40416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TextBox 13"/>
          <p:cNvSpPr txBox="1"/>
          <p:nvPr/>
        </p:nvSpPr>
        <p:spPr>
          <a:xfrm>
            <a:off x="5202936" y="4032504"/>
            <a:ext cx="64218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/collections/{collectionId}/export</a:t>
            </a:r>
          </a:p>
        </p:txBody>
      </p:sp>
      <p:sp>
        <p:nvSpPr>
          <p:cNvPr id="15" name="TextBox 14"/>
          <p:cNvSpPr txBox="1"/>
          <p:nvPr/>
        </p:nvSpPr>
        <p:spPr>
          <a:xfrm>
            <a:off x="4453128" y="4389120"/>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NDJSON, or Parquet with trajectory WKB + bbox/time sidecar; enclosure link</a:t>
            </a:r>
          </a:p>
        </p:txBody>
      </p:sp>
      <p:sp>
        <p:nvSpPr>
          <p:cNvPr id="16" name="Rounded Rectangle 15"/>
          <p:cNvSpPr/>
          <p:nvPr/>
        </p:nvSpPr>
        <p:spPr>
          <a:xfrm>
            <a:off x="4453128" y="4736592"/>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7" name="TextBox 16"/>
          <p:cNvSpPr txBox="1"/>
          <p:nvPr/>
        </p:nvSpPr>
        <p:spPr>
          <a:xfrm>
            <a:off x="5166360" y="4727448"/>
            <a:ext cx="6458407"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8" name="TextBox 17"/>
          <p:cNvSpPr txBox="1"/>
          <p:nvPr/>
        </p:nvSpPr>
        <p:spPr>
          <a:xfrm>
            <a:off x="4453128" y="5084064"/>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in-place replace; the standard allows only GET and DELETE on a feature</a:t>
            </a:r>
          </a:p>
        </p:txBody>
      </p:sp>
      <p:sp>
        <p:nvSpPr>
          <p:cNvPr id="19" name="TextBox 18"/>
          <p:cNvSpPr txBox="1"/>
          <p:nvPr/>
        </p:nvSpPr>
        <p:spPr>
          <a:xfrm>
            <a:off x="566928" y="5897880"/>
            <a:ext cx="11057839" cy="45720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Streaming keeps memory bounded for the standard responses and the lakehouse export; a step toward the Data Lake House architecture in the MobilityDB ecosystem.</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FUTURE WORK</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755648"/>
            <a:ext cx="10472623" cy="320040"/>
          </a:xfrm>
          <a:prstGeom prst="rect">
            <a:avLst/>
          </a:prstGeom>
          <a:noFill/>
        </p:spPr>
        <p:txBody>
          <a:bodyPr wrap="square" anchor="t" lIns="0" rIns="0" tIns="0" bIns="0">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anchor="t" lIns="0" rIns="0" tIns="0" bIns="0">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Implemented today</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759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063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MEOS types and the MF-JSON / WKB wire format are shared across the ecosystem, so the same tier fronts a transactional database today and the lakehouse and streaming engines as they mature.</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7732"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68880"/>
            <a:ext cx="100584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anchor="t" lIns="0" rIns="0" tIns="0" bIns="0">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2"/>
          <a:stretch>
            <a:fillRect/>
          </a:stretch>
        </p:blipFill>
        <p:spPr>
          <a:xfrm>
            <a:off x="10070970" y="4297680"/>
            <a:ext cx="1633349" cy="173736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993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2024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231136"/>
            <a:ext cx="10515600" cy="292608"/>
          </a:xfrm>
          <a:prstGeom prst="rect">
            <a:avLst/>
          </a:prstGeom>
          <a:noFill/>
        </p:spPr>
        <p:txBody>
          <a:bodyPr wrap="none" lIns="0" rIns="0" t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834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761488"/>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3072384"/>
            <a:ext cx="10515600" cy="292608"/>
          </a:xfrm>
          <a:prstGeom prst="rect">
            <a:avLst/>
          </a:prstGeom>
          <a:noFill/>
        </p:spPr>
        <p:txBody>
          <a:bodyPr wrap="none" lIns="0" rIns="0" t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3675887"/>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02736"/>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913632"/>
            <a:ext cx="10515600" cy="292608"/>
          </a:xfrm>
          <a:prstGeom prst="rect">
            <a:avLst/>
          </a:prstGeom>
          <a:noFill/>
        </p:spPr>
        <p:txBody>
          <a:bodyPr wrap="none" lIns="0" rIns="0" t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451713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443984"/>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4754880"/>
            <a:ext cx="10515600" cy="292608"/>
          </a:xfrm>
          <a:prstGeom prst="rect">
            <a:avLst/>
          </a:prstGeom>
          <a:noFill/>
        </p:spPr>
        <p:txBody>
          <a:bodyPr wrap="none" lIns="0" rIns="0" t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