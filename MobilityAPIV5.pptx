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MobilityAPI is an OGC API – Moving Features server over MobilityDB: a thin compiled tier that keeps every temporal computation in the database and ships as a single static binary. This deck walks the implemented surface against a day of Danish AIS ship-trajectory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Positioning: a thin HTTP/OGC facade in front of MobilityDB. Reads stream asMFJSON assembled in SQL; writes call tgeompointFromMFJSON. The only application logic is a small crs and interpolation adapter.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division of labour: the tier routes, pools and streams; MobilityDB does all temporal work and (de)serialization. No MEOS runs in the tier.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OGC data model maps one to one onto MobilityAPI's REST resources.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backing model is small: a collections registry and one feature table holding a tgeompoint, indexed by GiST. Temporal properties are derived from the geometry, not stored in side tables.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ships collection: 2,833 vessel trajectories from 1,878 MMSI over one day, 6.2 million observed instants, in EPSG:25832.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implemented endpoint and method. The walkthrough demonstrates each group against the ships collection.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the live walkthrough against the ships collection.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/collections lists every registered collection from the registry; GET /collections/{id} returns one collection's metadata.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items streams a FeatureCollection from a cursor and pages by keyset. The temporalGeometry is MovingFeaturesJSON produced by asMFJSON.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bbox query is a spatial pre-filter executed by MobilityDB's GiST index over the inline STBOX.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Writes: POST creates, PUT replaces, DELETE removes, and POST tgsequence appends a temporally-disjoint sub-trajectory via merge (overlap returns 409). Derived-property writes and primitive deletes return 501 with the reason.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distance and velocity are exact MobilityDB functions. Acceleration returns 501 because the derivative of a piecewise-constant speed is zero within segments and undefined at the vertices; the server does not fabricate it by resampling speed to linear.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tproperties lists the derived temporal properties; GET tproperties/{name} returns its valueSequence. The leaf selector returns Discrete values at given instants.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server declares the three Moving Features conformance classes plus OGC Common core and collections, serves an OpenAPI definition at /api, and returns the OGC exception schema on errors.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 responses keep memory bounded (a 393 MB NDJSON export held about 18 MB resident), keyset pagination pages through arbitrarily large collections, bbox and datetime use the index, and the export feeds the lakehouse as NDJSON or as Parquet with a WKB and bbox/time sidecar whose row group bounds memory.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ogc.org/is/22-003r3/22-003r3.html" TargetMode="External"/><Relationship Id="rId3" Type="http://schemas.openxmlformats.org/officeDocument/2006/relationships/hyperlink" Target="https://github.com/MobilityDB/MobilityDB" TargetMode="External"/><Relationship Id="rId4" Type="http://schemas.openxmlformats.org/officeDocument/2006/relationships/hyperlink" Target="https://mobilitydb.com" TargetMode="External"/><Relationship Id="rId5" Type="http://schemas.openxmlformats.org/officeDocument/2006/relationships/hyperlink" Target="https://libmeos.org" TargetMode="External"/><Relationship Id="rId6" Type="http://schemas.openxmlformats.org/officeDocument/2006/relationships/hyperlink" Target="http://aisdata.ais.dk"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65960"/>
            <a:ext cx="8686800" cy="1097280"/>
          </a:xfrm>
          <a:prstGeom prst="rect">
            <a:avLst/>
          </a:prstGeom>
          <a:noFill/>
        </p:spPr>
        <p:txBody>
          <a:bodyPr wrap="square" anchor="t" lIns="0" rIns="0" tIns="0" bIns="0">
            <a:noAutofit/>
          </a:bodyPr>
          <a:lstStyle/>
          <a:p>
            <a:pPr algn="l">
              <a:spcBef>
                <a:spcPts val="0"/>
              </a:spcBef>
              <a:spcAft>
                <a:spcPts val="200"/>
              </a:spcAft>
            </a:pPr>
            <a:r>
              <a:rPr sz="6600" b="1" i="0">
                <a:solidFill>
                  <a:srgbClr val="FFFFFF"/>
                </a:solidFill>
                <a:latin typeface="Calibri Light"/>
              </a:rPr>
              <a:t>MobilityAPI</a:t>
            </a:r>
          </a:p>
        </p:txBody>
      </p:sp>
      <p:sp>
        <p:nvSpPr>
          <p:cNvPr id="5" name="TextBox 4"/>
          <p:cNvSpPr txBox="1"/>
          <p:nvPr/>
        </p:nvSpPr>
        <p:spPr>
          <a:xfrm>
            <a:off x="566928" y="3127248"/>
            <a:ext cx="8961120" cy="731520"/>
          </a:xfrm>
          <a:prstGeom prst="rect">
            <a:avLst/>
          </a:prstGeom>
          <a:noFill/>
        </p:spPr>
        <p:txBody>
          <a:bodyPr wrap="square" anchor="t" lIns="0" rIns="0" tIns="0" bIns="0">
            <a:noAutofit/>
          </a:bodyPr>
          <a:lstStyle/>
          <a:p>
            <a:pPr algn="l">
              <a:spcBef>
                <a:spcPts val="0"/>
              </a:spcBef>
              <a:spcAft>
                <a:spcPts val="200"/>
              </a:spcAft>
            </a:pPr>
            <a:r>
              <a:rPr sz="2000" b="0" i="0">
                <a:solidFill>
                  <a:srgbClr val="BFD6E2"/>
                </a:solidFill>
                <a:latin typeface="Calibri"/>
              </a:rPr>
              <a:t>An OGC API – Moving Features server over MobilityDB</a:t>
            </a:r>
          </a:p>
        </p:txBody>
      </p:sp>
      <p:sp>
        <p:nvSpPr>
          <p:cNvPr id="6" name="Rectangle 5"/>
          <p:cNvSpPr/>
          <p:nvPr/>
        </p:nvSpPr>
        <p:spPr>
          <a:xfrm>
            <a:off x="566928" y="3913632"/>
            <a:ext cx="182880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096512"/>
            <a:ext cx="9326880" cy="457200"/>
          </a:xfrm>
          <a:prstGeom prst="rect">
            <a:avLst/>
          </a:prstGeom>
          <a:noFill/>
        </p:spPr>
        <p:txBody>
          <a:bodyPr wrap="square" anchor="t" lIns="0" rIns="0" tIns="0" bIns="0">
            <a:noAutofit/>
          </a:bodyPr>
          <a:lstStyle/>
          <a:p>
            <a:pPr algn="l">
              <a:spcBef>
                <a:spcPts val="0"/>
              </a:spcBef>
              <a:spcAft>
                <a:spcPts val="200"/>
              </a:spcAft>
            </a:pPr>
            <a:r>
              <a:rPr sz="1400" b="0" i="0">
                <a:solidFill>
                  <a:srgbClr val="9EB8C8"/>
                </a:solidFill>
                <a:latin typeface="Calibri"/>
              </a:rPr>
              <a:t>A thin compiled tier over MobilityDB  ·  canonical Danish AIS example</a:t>
            </a:r>
          </a:p>
        </p:txBody>
      </p:sp>
      <p:pic>
        <p:nvPicPr>
          <p:cNvPr id="8" name="Picture 7" descr="mobilitydb-logo.png"/>
          <p:cNvPicPr>
            <a:picLocks noChangeAspect="1"/>
          </p:cNvPicPr>
          <p:nvPr/>
        </p:nvPicPr>
        <p:blipFill>
          <a:blip r:embed="rId2"/>
          <a:stretch>
            <a:fillRect/>
          </a:stretch>
        </p:blipFill>
        <p:spPr>
          <a:xfrm>
            <a:off x="10414833" y="457200"/>
            <a:ext cx="1289486" cy="1371600"/>
          </a:xfrm>
          <a:prstGeom prst="rect">
            <a:avLst/>
          </a:prstGeom>
        </p:spPr>
      </p:pic>
      <p:pic>
        <p:nvPicPr>
          <p:cNvPr id="9" name="Picture 8" descr="OGC_Associate_Member_3DR_trans.png"/>
          <p:cNvPicPr>
            <a:picLocks noChangeAspect="1"/>
          </p:cNvPicPr>
          <p:nvPr/>
        </p:nvPicPr>
        <p:blipFill>
          <a:blip r:embed="rId3"/>
          <a:stretch>
            <a:fillRect/>
          </a:stretch>
        </p:blipFill>
        <p:spPr>
          <a:xfrm>
            <a:off x="10058400" y="5166359"/>
            <a:ext cx="1645920" cy="1234440"/>
          </a:xfrm>
          <a:prstGeom prst="rect">
            <a:avLst/>
          </a:prstGeom>
        </p:spPr>
      </p:pic>
      <p:sp>
        <p:nvSpPr>
          <p:cNvPr id="10" name="TextBox 9"/>
          <p:cNvSpPr txBox="1"/>
          <p:nvPr/>
        </p:nvSpPr>
        <p:spPr>
          <a:xfrm>
            <a:off x="566928" y="5943600"/>
            <a:ext cx="9144000" cy="274320"/>
          </a:xfrm>
          <a:prstGeom prst="rect">
            <a:avLst/>
          </a:prstGeom>
          <a:noFill/>
        </p:spPr>
        <p:txBody>
          <a:bodyPr wrap="square" anchor="t" lIns="0" rIns="0" tIns="0" bIns="0">
            <a:noAutofit/>
          </a:bodyPr>
          <a:lstStyle/>
          <a:p>
            <a:pPr algn="l">
              <a:spcBef>
                <a:spcPts val="0"/>
              </a:spcBef>
              <a:spcAft>
                <a:spcPts val="200"/>
              </a:spcAft>
            </a:pPr>
            <a:r>
              <a:rPr sz="1200" b="0" i="0">
                <a:solidFill>
                  <a:srgbClr val="7F9BAD"/>
                </a:solidFill>
                <a:latin typeface="Consolas"/>
              </a:rPr>
              <a:t>net/http + pgxpool  ·  single static binary  ·  no MEOS in the tier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WHAT IT IS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Thin Tier over MobilityDB, Fat Database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45920"/>
            <a:ext cx="6400800" cy="4206240"/>
          </a:xfrm>
          <a:prstGeom prst="rect">
            <a:avLst/>
          </a:prstGeom>
          <a:noFill/>
        </p:spPr>
        <p:txBody>
          <a:bodyPr wrap="square" lIns="0" rIns="0" tIns="0" bIns="0">
            <a:noAutofit/>
          </a:bodyPr>
          <a:lstStyle/>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OGC-compliant:  </a:t>
            </a:r>
            <a:r>
              <a:rPr sz="1400">
                <a:solidFill>
                  <a:srgbClr val="1E2B36"/>
                </a:solidFill>
                <a:latin typeface="Calibri"/>
              </a:rPr>
              <a:t>implements OGC API – Moving Features – Part 1: Core: collections, items, temporal geometry, derived queries, temporal properties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Thin compiled tier:  </a:t>
            </a:r>
            <a:r>
              <a:rPr sz="1400">
                <a:solidFill>
                  <a:srgbClr val="1E2B36"/>
                </a:solidFill>
                <a:latin typeface="Calibri"/>
              </a:rPr>
              <a:t>net/http and a pgx connection pool; a single static binary, no cgo and no MEOS in the process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Fat database:  </a:t>
            </a:r>
            <a:r>
              <a:rPr sz="1400">
                <a:solidFill>
                  <a:srgbClr val="1E2B36"/>
                </a:solidFill>
                <a:latin typeface="Calibri"/>
              </a:rPr>
              <a:t>every temporal computation stays in MobilityDB; the tier never parses or transforms a trajectory in memory</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REST for any client:  </a:t>
            </a:r>
            <a:r>
              <a:rPr sz="1400">
                <a:solidFill>
                  <a:srgbClr val="1E2B36"/>
                </a:solidFill>
                <a:latin typeface="Calibri"/>
              </a:rPr>
              <a:t>browsers, mobile, microservices and ETL consume mobility data without SQL or the PostgreSQL wire protocol</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Bounded as data grows:  </a:t>
            </a:r>
            <a:r>
              <a:rPr sz="1400">
                <a:solidFill>
                  <a:srgbClr val="1E2B36"/>
                </a:solidFill>
                <a:latin typeface="Calibri"/>
              </a:rPr>
              <a:t>streaming responses, keyset pagination and index-using filters keep memory and paging bounded as collections grow</a:t>
            </a:r>
          </a:p>
        </p:txBody>
      </p:sp>
      <p:sp>
        <p:nvSpPr>
          <p:cNvPr id="6" name="Rounded Rectangle 5"/>
          <p:cNvSpPr/>
          <p:nvPr/>
        </p:nvSpPr>
        <p:spPr>
          <a:xfrm>
            <a:off x="7589520" y="1783080"/>
            <a:ext cx="4023360" cy="3977639"/>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0" y="1984248"/>
            <a:ext cx="347472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REQUEST FLOW</a:t>
            </a:r>
          </a:p>
        </p:txBody>
      </p:sp>
      <p:sp>
        <p:nvSpPr>
          <p:cNvPr id="8" name="Rounded Rectangle 7"/>
          <p:cNvSpPr/>
          <p:nvPr/>
        </p:nvSpPr>
        <p:spPr>
          <a:xfrm>
            <a:off x="7909560" y="2560320"/>
            <a:ext cx="3383280" cy="676656"/>
          </a:xfrm>
          <a:prstGeom prst="roundRect">
            <a:avLst>
              <a:gd name="adj" fmla="val 12000"/>
            </a:avLst>
          </a:prstGeom>
          <a:solidFill>
            <a:srgbClr val="FFFFFF"/>
          </a:solidFill>
          <a:ln w="1905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92440" y="2660903"/>
            <a:ext cx="3017520" cy="27432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HTTP client</a:t>
            </a:r>
          </a:p>
        </p:txBody>
      </p:sp>
      <p:sp>
        <p:nvSpPr>
          <p:cNvPr id="10" name="TextBox 9"/>
          <p:cNvSpPr txBox="1"/>
          <p:nvPr/>
        </p:nvSpPr>
        <p:spPr>
          <a:xfrm>
            <a:off x="8092440" y="2944368"/>
            <a:ext cx="301752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browser · mobile · ETL</a:t>
            </a:r>
          </a:p>
        </p:txBody>
      </p:sp>
      <p:sp>
        <p:nvSpPr>
          <p:cNvPr id="11" name="TextBox 10"/>
          <p:cNvSpPr txBox="1"/>
          <p:nvPr/>
        </p:nvSpPr>
        <p:spPr>
          <a:xfrm>
            <a:off x="7909560" y="3236976"/>
            <a:ext cx="3383280" cy="237744"/>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a:t>
            </a:r>
          </a:p>
        </p:txBody>
      </p:sp>
      <p:sp>
        <p:nvSpPr>
          <p:cNvPr id="12" name="Rounded Rectangle 11"/>
          <p:cNvSpPr/>
          <p:nvPr/>
        </p:nvSpPr>
        <p:spPr>
          <a:xfrm>
            <a:off x="7909560" y="3547872"/>
            <a:ext cx="3383280" cy="676656"/>
          </a:xfrm>
          <a:prstGeom prst="roundRect">
            <a:avLst>
              <a:gd name="adj" fmla="val 12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92440" y="3648456"/>
            <a:ext cx="3017520"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MobilityAPI</a:t>
            </a:r>
          </a:p>
        </p:txBody>
      </p:sp>
      <p:sp>
        <p:nvSpPr>
          <p:cNvPr id="14" name="TextBox 13"/>
          <p:cNvSpPr txBox="1"/>
          <p:nvPr/>
        </p:nvSpPr>
        <p:spPr>
          <a:xfrm>
            <a:off x="8092440" y="3931920"/>
            <a:ext cx="301752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net/http + pgxpool (Go)</a:t>
            </a:r>
          </a:p>
        </p:txBody>
      </p:sp>
      <p:sp>
        <p:nvSpPr>
          <p:cNvPr id="15" name="TextBox 14"/>
          <p:cNvSpPr txBox="1"/>
          <p:nvPr/>
        </p:nvSpPr>
        <p:spPr>
          <a:xfrm>
            <a:off x="7909560" y="4224528"/>
            <a:ext cx="3383280" cy="237744"/>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a:t>
            </a:r>
          </a:p>
        </p:txBody>
      </p:sp>
      <p:sp>
        <p:nvSpPr>
          <p:cNvPr id="16" name="Rounded Rectangle 15"/>
          <p:cNvSpPr/>
          <p:nvPr/>
        </p:nvSpPr>
        <p:spPr>
          <a:xfrm>
            <a:off x="7909560" y="4535424"/>
            <a:ext cx="3383280" cy="676656"/>
          </a:xfrm>
          <a:prstGeom prst="roundRect">
            <a:avLst>
              <a:gd name="adj" fmla="val 12000"/>
            </a:avLst>
          </a:prstGeom>
          <a:solidFill>
            <a:srgbClr val="FFFFFF"/>
          </a:solidFill>
          <a:ln w="1905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4636008"/>
            <a:ext cx="3017520" cy="27432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MobilityDB / PostgreSQL</a:t>
            </a:r>
          </a:p>
        </p:txBody>
      </p:sp>
      <p:sp>
        <p:nvSpPr>
          <p:cNvPr id="18" name="TextBox 17"/>
          <p:cNvSpPr txBox="1"/>
          <p:nvPr/>
        </p:nvSpPr>
        <p:spPr>
          <a:xfrm>
            <a:off x="8092440" y="4919472"/>
            <a:ext cx="301752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tgeompoint · STBOX · TSTZSPAN</a:t>
            </a:r>
          </a:p>
        </p:txBody>
      </p:sp>
      <p:sp>
        <p:nvSpPr>
          <p:cNvPr id="19" name="Rectangle 1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1" name="TextBox 20"/>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ARCHITECTURE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Where the Work Happens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In the tier (Go)</a:t>
            </a:r>
          </a:p>
        </p:txBody>
      </p:sp>
      <p:sp>
        <p:nvSpPr>
          <p:cNvPr id="6" name="TextBox 5"/>
          <p:cNvSpPr txBox="1"/>
          <p:nvPr/>
        </p:nvSpPr>
        <p:spPr>
          <a:xfrm>
            <a:off x="566928"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Routing:  </a:t>
            </a:r>
            <a:r>
              <a:rPr sz="1400">
                <a:solidFill>
                  <a:srgbClr val="1E2B36"/>
                </a:solidFill>
                <a:latin typeface="Calibri"/>
              </a:rPr>
              <a:t>net/http with the Go 1.22 pattern mux; one handler per OGC resource</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Pooling:  </a:t>
            </a:r>
            <a:r>
              <a:rPr sz="1400">
                <a:solidFill>
                  <a:srgbClr val="1E2B36"/>
                </a:solidFill>
                <a:latin typeface="Calibri"/>
              </a:rPr>
              <a:t>a pgx pool multiplexes requests onto a bounded set of database connections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Adapter:  </a:t>
            </a:r>
            <a:r>
              <a:rPr sz="1400">
                <a:solidFill>
                  <a:srgbClr val="1E2B36"/>
                </a:solidFill>
                <a:latin typeface="Calibri"/>
              </a:rPr>
              <a:t>crs URN to EPSG and interpolation Stepwise to Step, roughly fifty lines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Streaming:  </a:t>
            </a:r>
            <a:r>
              <a:rPr sz="1400">
                <a:solidFill>
                  <a:srgbClr val="1E2B36"/>
                </a:solidFill>
                <a:latin typeface="Calibri"/>
              </a:rPr>
              <a:t>responses are written row by row from a server-side cursor</a:t>
            </a:r>
          </a:p>
        </p:txBody>
      </p:sp>
      <p:sp>
        <p:nvSpPr>
          <p:cNvPr id="7" name="TextBox 6"/>
          <p:cNvSpPr txBox="1"/>
          <p:nvPr/>
        </p:nvSpPr>
        <p:spPr>
          <a:xfrm>
            <a:off x="6278727"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In the database (MobilityDB)</a:t>
            </a:r>
          </a:p>
        </p:txBody>
      </p:sp>
      <p:sp>
        <p:nvSpPr>
          <p:cNvPr id="8" name="TextBox 7"/>
          <p:cNvSpPr txBox="1"/>
          <p:nvPr/>
        </p:nvSpPr>
        <p:spPr>
          <a:xfrm>
            <a:off x="6278727"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Reads:  </a:t>
            </a:r>
            <a:r>
              <a:rPr sz="1400">
                <a:solidFill>
                  <a:srgbClr val="1E2B36"/>
                </a:solidFill>
                <a:latin typeface="Calibri"/>
              </a:rPr>
              <a:t>asMFJSON assembles MovingFeaturesJSON in SQL; the tier streams the text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Writes:  </a:t>
            </a:r>
            <a:r>
              <a:rPr sz="1400">
                <a:solidFill>
                  <a:srgbClr val="1E2B36"/>
                </a:solidFill>
                <a:latin typeface="Calibri"/>
              </a:rPr>
              <a:t>tgeompointFromMFJSON parses the payload into a tgeompoint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Filters:  </a:t>
            </a:r>
            <a:r>
              <a:rPr sz="1400">
                <a:solidFill>
                  <a:srgbClr val="1E2B36"/>
                </a:solidFill>
                <a:latin typeface="Calibri"/>
              </a:rPr>
              <a:t>bbox and datetime push to the GiST index; atTime clips</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Measures:  </a:t>
            </a:r>
            <a:r>
              <a:rPr sz="1400">
                <a:solidFill>
                  <a:srgbClr val="1E2B36"/>
                </a:solidFill>
                <a:latin typeface="Calibri"/>
              </a:rPr>
              <a:t>speed, cumulativeLength and azimuth compute the derived properties</a:t>
            </a:r>
          </a:p>
        </p:txBody>
      </p:sp>
      <p:sp>
        <p:nvSpPr>
          <p:cNvPr id="9" name="Rounded Rectangle 8"/>
          <p:cNvSpPr/>
          <p:nvPr/>
        </p:nvSpPr>
        <p:spPr>
          <a:xfrm>
            <a:off x="566928" y="4617720"/>
            <a:ext cx="11057839" cy="123444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754880"/>
            <a:ext cx="54864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NO MEOS IN THE TIER</a:t>
            </a:r>
          </a:p>
        </p:txBody>
      </p:sp>
      <p:sp>
        <p:nvSpPr>
          <p:cNvPr id="11" name="TextBox 10"/>
          <p:cNvSpPr txBox="1"/>
          <p:nvPr/>
        </p:nvSpPr>
        <p:spPr>
          <a:xfrm>
            <a:off x="841247" y="5029200"/>
            <a:ext cx="10509199" cy="73152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The trajectory is never materialised, parsed or transformed in the tier. It travels as asMFJSON text on the way out and as a MovingFeaturesJSON payload on the way in; MobilityDB does the parsing, the geometry algebra and the temporal computations. The result is a single static binary with no cgo dependency.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SAME DATA, TWO INTERFACES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MobilityDB SQL  vs  MobilityAPI REST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PostgreSQL / MobilityDB</a:t>
            </a:r>
          </a:p>
        </p:txBody>
      </p:sp>
      <p:sp>
        <p:nvSpPr>
          <p:cNvPr id="6" name="Rounded Rectangle 5"/>
          <p:cNvSpPr/>
          <p:nvPr/>
        </p:nvSpPr>
        <p:spPr>
          <a:xfrm>
            <a:off x="566928" y="1920240"/>
            <a:ext cx="5346039"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DEPANEL"/>
          <p:cNvSpPr txBox="1"/>
          <p:nvPr/>
        </p:nvSpPr>
        <p:spPr>
          <a:xfrm>
            <a:off x="694944" y="2011680"/>
            <a:ext cx="5090007" cy="22860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INSERT INTO ships (id, mmsi, name, trip)</a:t>
            </a:r>
          </a:p>
          <a:p>
            <a:pPr>
              <a:lnSpc>
                <a:spcPct val="102000"/>
              </a:lnSpc>
              <a:spcBef>
                <a:spcPts val="0"/>
              </a:spcBef>
              <a:spcAft>
                <a:spcPts val="0"/>
              </a:spcAft>
            </a:pPr>
            <a:r>
              <a:rPr sz="1200">
                <a:solidFill>
                  <a:srgbClr val="C2D0DA"/>
                </a:solidFill>
                <a:latin typeface="Consolas"/>
              </a:rPr>
              <a:t>VALUES (</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'MARCUS',</a:t>
            </a:r>
          </a:p>
          <a:p>
            <a:pPr>
              <a:lnSpc>
                <a:spcPct val="102000"/>
              </a:lnSpc>
              <a:spcBef>
                <a:spcPts val="0"/>
              </a:spcBef>
              <a:spcAft>
                <a:spcPts val="0"/>
              </a:spcAft>
            </a:pPr>
            <a:r>
              <a:rPr sz="1200">
                <a:solidFill>
                  <a:srgbClr val="C2D0DA"/>
                </a:solidFill>
                <a:latin typeface="Consolas"/>
              </a:rPr>
              <a:t>  tgeompoint '[Point(</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651280</a:t>
            </a:r>
            <a:r>
              <a:rPr sz="1200">
                <a:solidFill>
                  <a:srgbClr val="C2D0DA"/>
                </a:solidFill>
                <a:latin typeface="Consolas"/>
              </a:rPr>
              <a:t> </a:t>
            </a:r>
            <a:r>
              <a:rPr sz="1200">
                <a:solidFill>
                  <a:srgbClr val="C9E08A"/>
                </a:solidFill>
                <a:latin typeface="Consolas"/>
              </a:rPr>
              <a:t>6058390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25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656731</a:t>
            </a:r>
            <a:r>
              <a:rPr sz="1200">
                <a:solidFill>
                  <a:srgbClr val="C2D0DA"/>
                </a:solidFill>
                <a:latin typeface="Consolas"/>
              </a:rPr>
              <a:t> </a:t>
            </a:r>
            <a:r>
              <a:rPr sz="1200">
                <a:solidFill>
                  <a:srgbClr val="C9E08A"/>
                </a:solidFill>
                <a:latin typeface="Consolas"/>
              </a:rPr>
              <a:t>6058670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50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a:t>
            </a:r>
          </a:p>
        </p:txBody>
      </p:sp>
      <p:sp>
        <p:nvSpPr>
          <p:cNvPr id="8" name="TextBox 7"/>
          <p:cNvSpPr txBox="1"/>
          <p:nvPr/>
        </p:nvSpPr>
        <p:spPr>
          <a:xfrm>
            <a:off x="6278727"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MobilityAPI</a:t>
            </a:r>
          </a:p>
        </p:txBody>
      </p:sp>
      <p:sp>
        <p:nvSpPr>
          <p:cNvPr id="9" name="Rounded Rectangle 8"/>
          <p:cNvSpPr/>
          <p:nvPr/>
        </p:nvSpPr>
        <p:spPr>
          <a:xfrm>
            <a:off x="6278727" y="1920240"/>
            <a:ext cx="5346039" cy="35204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DEPANEL"/>
          <p:cNvSpPr txBox="1"/>
          <p:nvPr/>
        </p:nvSpPr>
        <p:spPr>
          <a:xfrm>
            <a:off x="6406743" y="2011680"/>
            <a:ext cx="5090007" cy="33375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POST /collections/ships/items</a:t>
            </a:r>
          </a:p>
          <a:p>
            <a:pPr>
              <a:lnSpc>
                <a:spcPct val="102000"/>
              </a:lnSpc>
              <a:spcBef>
                <a:spcPts val="0"/>
              </a:spcBef>
              <a:spcAft>
                <a:spcPts val="0"/>
              </a:spcAft>
            </a:pPr>
            <a:r>
              <a:rPr sz="1200">
                <a:solidFill>
                  <a:srgbClr val="C2D0DA"/>
                </a:solidFill>
                <a:latin typeface="Consolas"/>
              </a:rPr>
              <a:t>Content-Type: application/json</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"MARCUS"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"2026-02-26T06:00:00+00"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1" name="TextBox 10"/>
          <p:cNvSpPr txBox="1"/>
          <p:nvPr/>
        </p:nvSpPr>
        <p:spPr>
          <a:xfrm>
            <a:off x="566928" y="5577840"/>
            <a:ext cx="11057839" cy="36576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Identical trajectory. The REST client never writes SQL or opens a database connection.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STANDARD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OGC API – Moving Features Data Model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moving-features-class-diagram.png"/>
          <p:cNvPicPr>
            <a:picLocks noChangeAspect="1"/>
          </p:cNvPicPr>
          <p:nvPr/>
        </p:nvPicPr>
        <p:blipFill>
          <a:blip r:embed="rId2"/>
          <a:stretch>
            <a:fillRect/>
          </a:stretch>
        </p:blipFill>
        <p:spPr>
          <a:xfrm>
            <a:off x="566928" y="1600200"/>
            <a:ext cx="3579265" cy="4526280"/>
          </a:xfrm>
          <a:prstGeom prst="rect">
            <a:avLst/>
          </a:prstGeom>
        </p:spPr>
      </p:pic>
      <p:sp>
        <p:nvSpPr>
          <p:cNvPr id="6" name="TextBox 5"/>
          <p:cNvSpPr txBox="1"/>
          <p:nvPr/>
        </p:nvSpPr>
        <p:spPr>
          <a:xfrm>
            <a:off x="7955279" y="1828800"/>
            <a:ext cx="3749039" cy="420624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Collection:  </a:t>
            </a:r>
            <a:r>
              <a:rPr sz="1400">
                <a:solidFill>
                  <a:srgbClr val="1E2B36"/>
                </a:solidFill>
                <a:latin typeface="Calibri"/>
              </a:rPr>
              <a:t>a named group of moving features (itemType movingfeature)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MovingFeature:  </a:t>
            </a:r>
            <a:r>
              <a:rPr sz="1400">
                <a:solidFill>
                  <a:srgbClr val="1E2B36"/>
                </a:solidFill>
                <a:latin typeface="Calibri"/>
              </a:rPr>
              <a:t>an item with id, properties, crs and trs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TemporalGeometry:  </a:t>
            </a:r>
            <a:r>
              <a:rPr sz="1400">
                <a:solidFill>
                  <a:srgbClr val="1E2B36"/>
                </a:solidFill>
                <a:latin typeface="Calibri"/>
              </a:rPr>
              <a:t>a MovingPoint: parallel coordinates and datetimes plus interpolation</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Derived queries:  </a:t>
            </a:r>
            <a:r>
              <a:rPr sz="1400">
                <a:solidFill>
                  <a:srgbClr val="1E2B36"/>
                </a:solidFill>
                <a:latin typeface="Calibri"/>
              </a:rPr>
              <a:t>distance and velocity over a temporal geometry</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TemporalProperties:  </a:t>
            </a:r>
            <a:r>
              <a:rPr sz="1400">
                <a:solidFill>
                  <a:srgbClr val="1E2B36"/>
                </a:solidFill>
                <a:latin typeface="Calibri"/>
              </a:rPr>
              <a:t>time-varying attributes derived from the trajectory</a:t>
            </a:r>
          </a:p>
        </p:txBody>
      </p:sp>
      <p:sp>
        <p:nvSpPr>
          <p:cNvPr id="7" name="TextBox 6"/>
          <p:cNvSpPr txBox="1"/>
          <p:nvPr/>
        </p:nvSpPr>
        <p:spPr>
          <a:xfrm>
            <a:off x="566928" y="6163056"/>
            <a:ext cx="704088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Class diagram — OGC API – Moving Features – Part 1: Core (fig. 1)</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upper half · 1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top.png"/>
          <p:cNvPicPr>
            <a:picLocks noChangeAspect="1"/>
          </p:cNvPicPr>
          <p:nvPr/>
        </p:nvPicPr>
        <p:blipFill>
          <a:blip r:embed="rId2"/>
          <a:stretch>
            <a:fillRect/>
          </a:stretch>
        </p:blipFill>
        <p:spPr>
          <a:xfrm>
            <a:off x="1888257" y="749808"/>
            <a:ext cx="8415180"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lower half · 2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bot.png"/>
          <p:cNvPicPr>
            <a:picLocks noChangeAspect="1"/>
          </p:cNvPicPr>
          <p:nvPr/>
        </p:nvPicPr>
        <p:blipFill>
          <a:blip r:embed="rId2"/>
          <a:stretch>
            <a:fillRect/>
          </a:stretch>
        </p:blipFill>
        <p:spPr>
          <a:xfrm>
            <a:off x="1895000" y="749808"/>
            <a:ext cx="8401694"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UNDER THE HOOD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How MobilityAPI Persists Moving Features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91640"/>
            <a:ext cx="4297680" cy="1901952"/>
          </a:xfrm>
          <a:prstGeom prst="roundRect">
            <a:avLst>
              <a:gd name="adj" fmla="val 4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91640"/>
            <a:ext cx="4297680" cy="402336"/>
          </a:xfrm>
          <a:prstGeom prst="roundRect">
            <a:avLst>
              <a:gd name="adj" fmla="val 7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09928"/>
            <a:ext cx="402336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collections</a:t>
            </a:r>
          </a:p>
        </p:txBody>
      </p:sp>
      <p:sp>
        <p:nvSpPr>
          <p:cNvPr id="8" name="TextBox 7"/>
          <p:cNvSpPr txBox="1"/>
          <p:nvPr/>
        </p:nvSpPr>
        <p:spPr>
          <a:xfrm>
            <a:off x="731520" y="2148840"/>
            <a:ext cx="4005072" cy="146304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156082"/>
                </a:solidFill>
                <a:latin typeface="Calibri"/>
              </a:rPr>
              <a:t>PK </a:t>
            </a:r>
            <a:r>
              <a:rPr sz="1400" b="1">
                <a:solidFill>
                  <a:srgbClr val="1E2B36"/>
                </a:solidFill>
                <a:latin typeface="Consolas"/>
              </a:rPr>
              <a:t>id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title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description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item_type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crs   </a:t>
            </a:r>
            <a:r>
              <a:rPr sz="1400">
                <a:solidFill>
                  <a:srgbClr val="5B6B78"/>
                </a:solidFill>
                <a:latin typeface="Consolas"/>
              </a:rPr>
              <a:t>INTEGER</a:t>
            </a:r>
          </a:p>
        </p:txBody>
      </p:sp>
      <p:sp>
        <p:nvSpPr>
          <p:cNvPr id="9" name="Rounded Rectangle 8"/>
          <p:cNvSpPr/>
          <p:nvPr/>
        </p:nvSpPr>
        <p:spPr>
          <a:xfrm>
            <a:off x="566928" y="3959352"/>
            <a:ext cx="4297680" cy="1627631"/>
          </a:xfrm>
          <a:prstGeom prst="roundRect">
            <a:avLst>
              <a:gd name="adj" fmla="val 4000"/>
            </a:avLst>
          </a:prstGeom>
          <a:solidFill>
            <a:srgbClr val="FFFFFF"/>
          </a:solidFill>
          <a:ln w="1905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6928" y="3959352"/>
            <a:ext cx="4297680" cy="402336"/>
          </a:xfrm>
          <a:prstGeom prst="roundRect">
            <a:avLst>
              <a:gd name="adj" fmla="val 7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77639"/>
            <a:ext cx="402336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ships  (one table per collection)</a:t>
            </a:r>
          </a:p>
        </p:txBody>
      </p:sp>
      <p:sp>
        <p:nvSpPr>
          <p:cNvPr id="12" name="TextBox 11"/>
          <p:cNvSpPr txBox="1"/>
          <p:nvPr/>
        </p:nvSpPr>
        <p:spPr>
          <a:xfrm>
            <a:off x="731520" y="4416552"/>
            <a:ext cx="4005072" cy="118872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E97132"/>
                </a:solidFill>
                <a:latin typeface="Calibri"/>
              </a:rPr>
              <a:t>PK </a:t>
            </a:r>
            <a:r>
              <a:rPr sz="1400" b="1">
                <a:solidFill>
                  <a:srgbClr val="1E2B36"/>
                </a:solidFill>
                <a:latin typeface="Consolas"/>
              </a:rPr>
              <a:t>id   </a:t>
            </a:r>
            <a:r>
              <a:rPr sz="1400">
                <a:solidFill>
                  <a:srgbClr val="5B6B78"/>
                </a:solidFill>
                <a:latin typeface="Consolas"/>
              </a:rPr>
              <a:t>INTEGER</a:t>
            </a:r>
          </a:p>
          <a:p>
            <a:pPr>
              <a:lnSpc>
                <a:spcPct val="100000"/>
              </a:lnSpc>
              <a:spcBef>
                <a:spcPts val="0"/>
              </a:spcBef>
              <a:spcAft>
                <a:spcPts val="300"/>
              </a:spcAft>
            </a:pPr>
            <a:r>
              <a:rPr sz="1400" b="1">
                <a:solidFill>
                  <a:srgbClr val="1E2B36"/>
                </a:solidFill>
                <a:latin typeface="Consolas"/>
              </a:rPr>
              <a:t>mmsi   </a:t>
            </a:r>
            <a:r>
              <a:rPr sz="1400">
                <a:solidFill>
                  <a:srgbClr val="5B6B78"/>
                </a:solidFill>
                <a:latin typeface="Consolas"/>
              </a:rPr>
              <a:t>BIGINT</a:t>
            </a:r>
          </a:p>
          <a:p>
            <a:pPr>
              <a:lnSpc>
                <a:spcPct val="100000"/>
              </a:lnSpc>
              <a:spcBef>
                <a:spcPts val="0"/>
              </a:spcBef>
              <a:spcAft>
                <a:spcPts val="300"/>
              </a:spcAft>
            </a:pPr>
            <a:r>
              <a:rPr sz="1400" b="1">
                <a:solidFill>
                  <a:srgbClr val="1E2B36"/>
                </a:solidFill>
                <a:latin typeface="Consolas"/>
              </a:rPr>
              <a:t>name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trip   </a:t>
            </a:r>
            <a:r>
              <a:rPr sz="1400">
                <a:solidFill>
                  <a:srgbClr val="E97132"/>
                </a:solidFill>
                <a:latin typeface="Consolas"/>
              </a:rPr>
              <a:t>tgeompoint</a:t>
            </a:r>
          </a:p>
        </p:txBody>
      </p:sp>
      <p:sp>
        <p:nvSpPr>
          <p:cNvPr id="13" name="TextBox 12"/>
          <p:cNvSpPr txBox="1"/>
          <p:nvPr/>
        </p:nvSpPr>
        <p:spPr>
          <a:xfrm>
            <a:off x="5532120" y="1783080"/>
            <a:ext cx="6092647" cy="4023360"/>
          </a:xfrm>
          <a:prstGeom prst="rect">
            <a:avLst/>
          </a:prstGeom>
          <a:noFill/>
        </p:spPr>
        <p:txBody>
          <a:bodyPr wrap="square" lIns="0" rIns="0" tIns="0" bIns="0">
            <a:noAutofit/>
          </a:bodyPr>
          <a:lstStyle/>
          <a:p>
            <a:pPr>
              <a:lnSpc>
                <a:spcPct val="106000"/>
              </a:lnSpc>
              <a:spcBef>
                <a:spcPts val="0"/>
              </a:spcBef>
              <a:spcAft>
                <a:spcPts val="1300"/>
              </a:spcAft>
            </a:pPr>
            <a:r>
              <a:rPr sz="1400" b="1">
                <a:solidFill>
                  <a:srgbClr val="E97132"/>
                </a:solidFill>
                <a:latin typeface="Calibri"/>
              </a:rPr>
              <a:t>▸  </a:t>
            </a:r>
            <a:r>
              <a:rPr sz="1400" b="1">
                <a:solidFill>
                  <a:srgbClr val="0E2841"/>
                </a:solidFill>
                <a:latin typeface="Calibri"/>
              </a:rPr>
              <a:t>collections:  </a:t>
            </a:r>
            <a:r>
              <a:rPr sz="1400">
                <a:solidFill>
                  <a:srgbClr val="1E2B36"/>
                </a:solidFill>
                <a:latin typeface="Calibri"/>
              </a:rPr>
              <a:t>a small registry: each row maps a collection id to its feature table and CRS</a:t>
            </a:r>
          </a:p>
          <a:p>
            <a:pPr>
              <a:lnSpc>
                <a:spcPct val="106000"/>
              </a:lnSpc>
              <a:spcBef>
                <a:spcPts val="0"/>
              </a:spcBef>
              <a:spcAft>
                <a:spcPts val="1300"/>
              </a:spcAft>
            </a:pPr>
            <a:r>
              <a:rPr sz="1400" b="1">
                <a:solidFill>
                  <a:srgbClr val="E97132"/>
                </a:solidFill>
                <a:latin typeface="Calibri"/>
              </a:rPr>
              <a:t>▸  </a:t>
            </a:r>
            <a:r>
              <a:rPr sz="1400" b="1">
                <a:solidFill>
                  <a:srgbClr val="0E2841"/>
                </a:solidFill>
                <a:latin typeface="Calibri"/>
              </a:rPr>
              <a:t>feature table:  </a:t>
            </a:r>
            <a:r>
              <a:rPr sz="1400">
                <a:solidFill>
                  <a:srgbClr val="1E2B36"/>
                </a:solidFill>
                <a:latin typeface="Calibri"/>
              </a:rPr>
              <a:t>one row per moving feature; the trajectory is a single MobilityDB tgeompoint column</a:t>
            </a:r>
          </a:p>
          <a:p>
            <a:pPr>
              <a:lnSpc>
                <a:spcPct val="106000"/>
              </a:lnSpc>
              <a:spcBef>
                <a:spcPts val="0"/>
              </a:spcBef>
              <a:spcAft>
                <a:spcPts val="1300"/>
              </a:spcAft>
            </a:pPr>
            <a:r>
              <a:rPr sz="1400" b="1">
                <a:solidFill>
                  <a:srgbClr val="E97132"/>
                </a:solidFill>
                <a:latin typeface="Calibri"/>
              </a:rPr>
              <a:t>▸  </a:t>
            </a:r>
            <a:r>
              <a:rPr sz="1400" b="1">
                <a:solidFill>
                  <a:srgbClr val="0E2841"/>
                </a:solidFill>
                <a:latin typeface="Calibri"/>
              </a:rPr>
              <a:t>GiST index:  </a:t>
            </a:r>
            <a:r>
              <a:rPr sz="1400">
                <a:solidFill>
                  <a:srgbClr val="1E2B36"/>
                </a:solidFill>
                <a:latin typeface="Calibri"/>
              </a:rPr>
              <a:t>gist (trip) backs the bbox and datetime filters with one spatio-temporal index</a:t>
            </a:r>
          </a:p>
          <a:p>
            <a:pPr>
              <a:lnSpc>
                <a:spcPct val="106000"/>
              </a:lnSpc>
              <a:spcBef>
                <a:spcPts val="0"/>
              </a:spcBef>
              <a:spcAft>
                <a:spcPts val="1300"/>
              </a:spcAft>
            </a:pPr>
            <a:r>
              <a:rPr sz="1400" b="1">
                <a:solidFill>
                  <a:srgbClr val="E97132"/>
                </a:solidFill>
                <a:latin typeface="Calibri"/>
              </a:rPr>
              <a:t>▸  </a:t>
            </a:r>
            <a:r>
              <a:rPr sz="1400" b="1">
                <a:solidFill>
                  <a:srgbClr val="0E2841"/>
                </a:solidFill>
                <a:latin typeface="Calibri"/>
              </a:rPr>
              <a:t>Derived properties:  </a:t>
            </a:r>
            <a:r>
              <a:rPr sz="1400">
                <a:solidFill>
                  <a:srgbClr val="1E2B36"/>
                </a:solidFill>
                <a:latin typeface="Calibri"/>
              </a:rPr>
              <a:t>speed, distance and heading are computed from trip on demand, not stored</a:t>
            </a:r>
          </a:p>
        </p:txBody>
      </p:sp>
      <p:sp>
        <p:nvSpPr>
          <p:cNvPr id="14" name="TextBox 13"/>
          <p:cNvSpPr txBox="1"/>
          <p:nvPr/>
        </p:nvSpPr>
        <p:spPr>
          <a:xfrm>
            <a:off x="566928" y="6126480"/>
            <a:ext cx="640080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trip is a native MobilityDB type; the bounding box and time span come from its inline STBOX at O(1) cost.</a:t>
            </a:r>
          </a:p>
        </p:txBody>
      </p:sp>
      <p:sp>
        <p:nvSpPr>
          <p:cNvPr id="15" name="Rectangle 14"/>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7" name="TextBox 16"/>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CANONICAL EXAMPLE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Day of Danish AIS Ship Traffic</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overview.png"/>
          <p:cNvPicPr>
            <a:picLocks noChangeAspect="1"/>
          </p:cNvPicPr>
          <p:nvPr/>
        </p:nvPicPr>
        <p:blipFill>
          <a:blip r:embed="rId2"/>
          <a:stretch>
            <a:fillRect/>
          </a:stretch>
        </p:blipFill>
        <p:spPr>
          <a:xfrm>
            <a:off x="6400800" y="2030234"/>
            <a:ext cx="5394960" cy="3620490"/>
          </a:xfrm>
          <a:prstGeom prst="rect">
            <a:avLst/>
          </a:prstGeom>
        </p:spPr>
      </p:pic>
      <p:sp>
        <p:nvSpPr>
          <p:cNvPr id="6" name="TextBox 5"/>
          <p:cNvSpPr txBox="1"/>
          <p:nvPr/>
        </p:nvSpPr>
        <p:spPr>
          <a:xfrm>
            <a:off x="566928" y="1828800"/>
            <a:ext cx="5486400" cy="4023360"/>
          </a:xfrm>
          <a:prstGeom prst="rect">
            <a:avLst/>
          </a:prstGeom>
          <a:noFill/>
        </p:spPr>
        <p:txBody>
          <a:bodyPr wrap="square" lIns="0" rIns="0" tIns="0" bIns="0">
            <a:noAutofit/>
          </a:bodyPr>
          <a:lstStyle/>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Source:  </a:t>
            </a:r>
            <a:r>
              <a:rPr sz="1400">
                <a:solidFill>
                  <a:srgbClr val="1E2B36"/>
                </a:solidFill>
                <a:latin typeface="Calibri"/>
              </a:rPr>
              <a:t>Danish Maritime Authority AIS feed (aisdata.ais.dk)</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Window:  </a:t>
            </a:r>
            <a:r>
              <a:rPr sz="1400">
                <a:solidFill>
                  <a:srgbClr val="1E2B36"/>
                </a:solidFill>
                <a:latin typeface="Calibri"/>
              </a:rPr>
              <a:t>2026-02-26 to 2026-02-27</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2,833 trajectories:  </a:t>
            </a:r>
            <a:r>
              <a:rPr sz="1400">
                <a:solidFill>
                  <a:srgbClr val="1E2B36"/>
                </a:solidFill>
                <a:latin typeface="Calibri"/>
              </a:rPr>
              <a:t>from 1,878 distinct vessels (MMSI), each a MovingPoint</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6.2 million instants:  </a:t>
            </a:r>
            <a:r>
              <a:rPr sz="1400">
                <a:solidFill>
                  <a:srgbClr val="1E2B36"/>
                </a:solidFill>
                <a:latin typeface="Calibri"/>
              </a:rPr>
              <a:t>of observed position across the collection</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EPSG:25832 (ETRS89 / UTM 32N, metres)</a:t>
            </a:r>
          </a:p>
        </p:txBody>
      </p:sp>
      <p:sp>
        <p:nvSpPr>
          <p:cNvPr id="7" name="TextBox 6"/>
          <p:cNvSpPr txBox="1"/>
          <p:nvPr/>
        </p:nvSpPr>
        <p:spPr>
          <a:xfrm>
            <a:off x="6400800" y="6089904"/>
            <a:ext cx="539496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Danish Maritime Authority AIS vessel trajectories</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Implemented Endpoint Surface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5440680"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72768"/>
            <a:ext cx="82296" cy="146304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00784"/>
            <a:ext cx="507492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8" name="Rounded Rectangle 7"/>
          <p:cNvSpPr/>
          <p:nvPr/>
        </p:nvSpPr>
        <p:spPr>
          <a:xfrm>
            <a:off x="822960" y="2066543"/>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9" name="TextBox 8"/>
          <p:cNvSpPr txBox="1"/>
          <p:nvPr/>
        </p:nvSpPr>
        <p:spPr>
          <a:xfrm>
            <a:off x="1581912" y="2057400"/>
            <a:ext cx="437083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/collections</a:t>
            </a:r>
          </a:p>
        </p:txBody>
      </p:sp>
      <p:sp>
        <p:nvSpPr>
          <p:cNvPr id="10" name="Rounded Rectangle 9"/>
          <p:cNvSpPr/>
          <p:nvPr/>
        </p:nvSpPr>
        <p:spPr>
          <a:xfrm>
            <a:off x="822960" y="2523744"/>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TextBox 10"/>
          <p:cNvSpPr txBox="1"/>
          <p:nvPr/>
        </p:nvSpPr>
        <p:spPr>
          <a:xfrm>
            <a:off x="1581912" y="2514600"/>
            <a:ext cx="437083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/collections/{id}</a:t>
            </a:r>
          </a:p>
        </p:txBody>
      </p:sp>
      <p:sp>
        <p:nvSpPr>
          <p:cNvPr id="12" name="Rounded Rectangle 11"/>
          <p:cNvSpPr/>
          <p:nvPr/>
        </p:nvSpPr>
        <p:spPr>
          <a:xfrm>
            <a:off x="566928" y="3054096"/>
            <a:ext cx="5440680"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3054096"/>
            <a:ext cx="82296" cy="146304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182112"/>
            <a:ext cx="5074920"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MOVING FEATURES</a:t>
            </a:r>
          </a:p>
        </p:txBody>
      </p:sp>
      <p:sp>
        <p:nvSpPr>
          <p:cNvPr id="15" name="Rounded Rectangle 14"/>
          <p:cNvSpPr/>
          <p:nvPr/>
        </p:nvSpPr>
        <p:spPr>
          <a:xfrm>
            <a:off x="822960" y="3547872"/>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6" name="Rounded Rectangle 15"/>
          <p:cNvSpPr/>
          <p:nvPr/>
        </p:nvSpPr>
        <p:spPr>
          <a:xfrm>
            <a:off x="1527048" y="3547872"/>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7" name="TextBox 16"/>
          <p:cNvSpPr txBox="1"/>
          <p:nvPr/>
        </p:nvSpPr>
        <p:spPr>
          <a:xfrm>
            <a:off x="2359152" y="3538728"/>
            <a:ext cx="359359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/collections/{id}/items</a:t>
            </a:r>
          </a:p>
        </p:txBody>
      </p:sp>
      <p:sp>
        <p:nvSpPr>
          <p:cNvPr id="18" name="Rounded Rectangle 17"/>
          <p:cNvSpPr/>
          <p:nvPr/>
        </p:nvSpPr>
        <p:spPr>
          <a:xfrm>
            <a:off x="822960" y="4005072"/>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9" name="Rounded Rectangle 18"/>
          <p:cNvSpPr/>
          <p:nvPr/>
        </p:nvSpPr>
        <p:spPr>
          <a:xfrm>
            <a:off x="1527048" y="4005072"/>
            <a:ext cx="603504" cy="292608"/>
          </a:xfrm>
          <a:prstGeom prst="roundRect">
            <a:avLst>
              <a:gd name="adj" fmla="val 4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PUT</a:t>
            </a:r>
          </a:p>
        </p:txBody>
      </p:sp>
      <p:sp>
        <p:nvSpPr>
          <p:cNvPr id="20" name="Rounded Rectangle 19"/>
          <p:cNvSpPr/>
          <p:nvPr/>
        </p:nvSpPr>
        <p:spPr>
          <a:xfrm>
            <a:off x="2194560" y="4005072"/>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21" name="TextBox 20"/>
          <p:cNvSpPr txBox="1"/>
          <p:nvPr/>
        </p:nvSpPr>
        <p:spPr>
          <a:xfrm>
            <a:off x="3246120" y="3995928"/>
            <a:ext cx="2706624"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…/items/{fid}</a:t>
            </a:r>
          </a:p>
        </p:txBody>
      </p:sp>
      <p:sp>
        <p:nvSpPr>
          <p:cNvPr id="22" name="Rounded Rectangle 21"/>
          <p:cNvSpPr/>
          <p:nvPr/>
        </p:nvSpPr>
        <p:spPr>
          <a:xfrm>
            <a:off x="566928" y="4681728"/>
            <a:ext cx="5440680"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4681728"/>
            <a:ext cx="82296" cy="146304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809744"/>
            <a:ext cx="5074920"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TEMPORAL GEOMETRY</a:t>
            </a:r>
          </a:p>
        </p:txBody>
      </p:sp>
      <p:sp>
        <p:nvSpPr>
          <p:cNvPr id="25" name="Rounded Rectangle 24"/>
          <p:cNvSpPr/>
          <p:nvPr/>
        </p:nvSpPr>
        <p:spPr>
          <a:xfrm>
            <a:off x="822960" y="5175504"/>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6" name="Rounded Rectangle 25"/>
          <p:cNvSpPr/>
          <p:nvPr/>
        </p:nvSpPr>
        <p:spPr>
          <a:xfrm>
            <a:off x="1527048" y="5175504"/>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27" name="TextBox 26"/>
          <p:cNvSpPr txBox="1"/>
          <p:nvPr/>
        </p:nvSpPr>
        <p:spPr>
          <a:xfrm>
            <a:off x="2359152" y="5166360"/>
            <a:ext cx="359359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…/items/{fid}/tgsequence</a:t>
            </a:r>
          </a:p>
        </p:txBody>
      </p:sp>
      <p:sp>
        <p:nvSpPr>
          <p:cNvPr id="28" name="Rounded Rectangle 27"/>
          <p:cNvSpPr/>
          <p:nvPr/>
        </p:nvSpPr>
        <p:spPr>
          <a:xfrm>
            <a:off x="822960" y="5632704"/>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9" name="TextBox 28"/>
          <p:cNvSpPr txBox="1"/>
          <p:nvPr/>
        </p:nvSpPr>
        <p:spPr>
          <a:xfrm>
            <a:off x="1581912" y="5623560"/>
            <a:ext cx="437083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…/tgsequence/{tgid}/distance · velocity</a:t>
            </a:r>
          </a:p>
        </p:txBody>
      </p:sp>
      <p:sp>
        <p:nvSpPr>
          <p:cNvPr id="30" name="Rounded Rectangle 29"/>
          <p:cNvSpPr/>
          <p:nvPr/>
        </p:nvSpPr>
        <p:spPr>
          <a:xfrm>
            <a:off x="6190488" y="1572768"/>
            <a:ext cx="5434279"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90488" y="1572768"/>
            <a:ext cx="82296" cy="146304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46520" y="1700784"/>
            <a:ext cx="506851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TEMPORAL PROPERTIES</a:t>
            </a:r>
          </a:p>
        </p:txBody>
      </p:sp>
      <p:sp>
        <p:nvSpPr>
          <p:cNvPr id="33" name="Rounded Rectangle 32"/>
          <p:cNvSpPr/>
          <p:nvPr/>
        </p:nvSpPr>
        <p:spPr>
          <a:xfrm>
            <a:off x="6446520" y="2066543"/>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34" name="TextBox 33"/>
          <p:cNvSpPr txBox="1"/>
          <p:nvPr/>
        </p:nvSpPr>
        <p:spPr>
          <a:xfrm>
            <a:off x="7205472" y="2057400"/>
            <a:ext cx="4364431"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…/items/{fid}/tproperties</a:t>
            </a:r>
          </a:p>
        </p:txBody>
      </p:sp>
      <p:sp>
        <p:nvSpPr>
          <p:cNvPr id="35" name="Rounded Rectangle 34"/>
          <p:cNvSpPr/>
          <p:nvPr/>
        </p:nvSpPr>
        <p:spPr>
          <a:xfrm>
            <a:off x="6446520" y="2523744"/>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36" name="TextBox 35"/>
          <p:cNvSpPr txBox="1"/>
          <p:nvPr/>
        </p:nvSpPr>
        <p:spPr>
          <a:xfrm>
            <a:off x="7205472" y="2514600"/>
            <a:ext cx="4364431"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…/tproperties/{name}</a:t>
            </a:r>
          </a:p>
        </p:txBody>
      </p:sp>
      <p:sp>
        <p:nvSpPr>
          <p:cNvPr id="37" name="Rounded Rectangle 36"/>
          <p:cNvSpPr/>
          <p:nvPr/>
        </p:nvSpPr>
        <p:spPr>
          <a:xfrm>
            <a:off x="6190488" y="3054096"/>
            <a:ext cx="5434279"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90488" y="3054096"/>
            <a:ext cx="82296" cy="146304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3182112"/>
            <a:ext cx="506851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SERVICE</a:t>
            </a:r>
          </a:p>
        </p:txBody>
      </p:sp>
      <p:sp>
        <p:nvSpPr>
          <p:cNvPr id="40" name="Rounded Rectangle 39"/>
          <p:cNvSpPr/>
          <p:nvPr/>
        </p:nvSpPr>
        <p:spPr>
          <a:xfrm>
            <a:off x="6446520" y="3547872"/>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41" name="TextBox 40"/>
          <p:cNvSpPr txBox="1"/>
          <p:nvPr/>
        </p:nvSpPr>
        <p:spPr>
          <a:xfrm>
            <a:off x="7205472" y="3538728"/>
            <a:ext cx="4364431"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/conformance · /api</a:t>
            </a:r>
          </a:p>
        </p:txBody>
      </p:sp>
      <p:sp>
        <p:nvSpPr>
          <p:cNvPr id="42" name="Rounded Rectangle 41"/>
          <p:cNvSpPr/>
          <p:nvPr/>
        </p:nvSpPr>
        <p:spPr>
          <a:xfrm>
            <a:off x="6446520" y="4005072"/>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43" name="TextBox 42"/>
          <p:cNvSpPr txBox="1"/>
          <p:nvPr/>
        </p:nvSpPr>
        <p:spPr>
          <a:xfrm>
            <a:off x="7205472" y="3995928"/>
            <a:ext cx="4364431"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…/export  (NDJSON · Parquet)</a:t>
            </a:r>
          </a:p>
        </p:txBody>
      </p:sp>
      <p:sp>
        <p:nvSpPr>
          <p:cNvPr id="44" name="TextBox 43"/>
          <p:cNvSpPr txBox="1"/>
          <p:nvPr/>
        </p:nvSpPr>
        <p:spPr>
          <a:xfrm>
            <a:off x="6190488" y="4754880"/>
            <a:ext cx="5434279" cy="82296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Filters on the items resource: bbox, datetime, subtrajectory, leaf, limit, after (keyset).</a:t>
            </a:r>
          </a:p>
        </p:txBody>
      </p:sp>
      <p:sp>
        <p:nvSpPr>
          <p:cNvPr id="45" name="Rectangle 44"/>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47" name="TextBox 46"/>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240280"/>
            <a:ext cx="8229600" cy="365760"/>
          </a:xfrm>
          <a:prstGeom prst="rect">
            <a:avLst/>
          </a:prstGeom>
          <a:noFill/>
        </p:spPr>
        <p:txBody>
          <a:bodyPr wrap="square" anchor="t" lIns="0" rIns="0" tIns="0" bIns="0">
            <a:noAutofit/>
          </a:bodyPr>
          <a:lstStyle/>
          <a:p>
            <a:pPr algn="l">
              <a:spcBef>
                <a:spcPts val="0"/>
              </a:spcBef>
              <a:spcAft>
                <a:spcPts val="200"/>
              </a:spcAft>
            </a:pPr>
            <a:r>
              <a:rPr sz="1600" b="1" i="0">
                <a:solidFill>
                  <a:srgbClr val="156082"/>
                </a:solidFill>
                <a:latin typeface="Calibri"/>
              </a:rPr>
              <a:t>WALKTHROUGH</a:t>
            </a:r>
          </a:p>
        </p:txBody>
      </p:sp>
      <p:sp>
        <p:nvSpPr>
          <p:cNvPr id="5" name="TextBox 4"/>
          <p:cNvSpPr txBox="1"/>
          <p:nvPr/>
        </p:nvSpPr>
        <p:spPr>
          <a:xfrm>
            <a:off x="566928" y="2697480"/>
            <a:ext cx="105156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The Ships Collection, End to End</a:t>
            </a:r>
          </a:p>
        </p:txBody>
      </p:sp>
      <p:sp>
        <p:nvSpPr>
          <p:cNvPr id="6" name="TextBox 5"/>
          <p:cNvSpPr txBox="1"/>
          <p:nvPr/>
        </p:nvSpPr>
        <p:spPr>
          <a:xfrm>
            <a:off x="566928" y="3794760"/>
            <a:ext cx="10058400" cy="457200"/>
          </a:xfrm>
          <a:prstGeom prst="rect">
            <a:avLst/>
          </a:prstGeom>
          <a:noFill/>
        </p:spPr>
        <p:txBody>
          <a:bodyPr wrap="square" anchor="t" lIns="0" rIns="0" tIns="0" bIns="0">
            <a:noAutofit/>
          </a:bodyPr>
          <a:lstStyle/>
          <a:p>
            <a:pPr algn="l">
              <a:spcBef>
                <a:spcPts val="0"/>
              </a:spcBef>
              <a:spcAft>
                <a:spcPts val="200"/>
              </a:spcAft>
            </a:pPr>
            <a:r>
              <a:rPr sz="1600" b="0" i="0">
                <a:solidFill>
                  <a:srgbClr val="9EB8C8"/>
                </a:solidFill>
                <a:latin typeface="Calibri"/>
              </a:rPr>
              <a:t>List  →  filter  →  retrieve  →  derive  →  write, all over HTTP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List Collections · Retrieve One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7" name="TextBox 6"/>
          <p:cNvSpPr txBox="1"/>
          <p:nvPr/>
        </p:nvSpPr>
        <p:spPr>
          <a:xfrm>
            <a:off x="566928" y="1883664"/>
            <a:ext cx="54864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8" name="Rounded Rectangle 7"/>
          <p:cNvSpPr/>
          <p:nvPr/>
        </p:nvSpPr>
        <p:spPr>
          <a:xfrm>
            <a:off x="566928" y="2194560"/>
            <a:ext cx="5486400" cy="39319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DEPANEL"/>
          <p:cNvSpPr txBox="1"/>
          <p:nvPr/>
        </p:nvSpPr>
        <p:spPr>
          <a:xfrm>
            <a:off x="694944" y="2286000"/>
            <a:ext cx="5230368" cy="37490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"collections"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"/collections/ships/export"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"application/x-ndjson"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0" name="Rounded Rectangle 9"/>
          <p:cNvSpPr/>
          <p:nvPr/>
        </p:nvSpPr>
        <p:spPr>
          <a:xfrm>
            <a:off x="6281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TextBox 10"/>
          <p:cNvSpPr txBox="1"/>
          <p:nvPr/>
        </p:nvSpPr>
        <p:spPr>
          <a:xfrm>
            <a:off x="7031736" y="1545336"/>
            <a:ext cx="4593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a:t>
            </a:r>
          </a:p>
        </p:txBody>
      </p:sp>
      <p:sp>
        <p:nvSpPr>
          <p:cNvPr id="12" name="TextBox 11"/>
          <p:cNvSpPr txBox="1"/>
          <p:nvPr/>
        </p:nvSpPr>
        <p:spPr>
          <a:xfrm>
            <a:off x="6281928" y="1883664"/>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13" name="Rounded Rectangle 12"/>
          <p:cNvSpPr/>
          <p:nvPr/>
        </p:nvSpPr>
        <p:spPr>
          <a:xfrm>
            <a:off x="6281928" y="2194560"/>
            <a:ext cx="5342839" cy="21031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DEPANEL"/>
          <p:cNvSpPr txBox="1"/>
          <p:nvPr/>
        </p:nvSpPr>
        <p:spPr>
          <a:xfrm>
            <a:off x="6409944" y="2286000"/>
            <a:ext cx="5086807" cy="19202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"Danish AIS vessel</a:t>
            </a:r>
          </a:p>
          <a:p>
            <a:pPr>
              <a:lnSpc>
                <a:spcPct val="102000"/>
              </a:lnSpc>
              <a:spcBef>
                <a:spcPts val="0"/>
              </a:spcBef>
              <a:spcAft>
                <a:spcPts val="0"/>
              </a:spcAft>
            </a:pPr>
            <a:r>
              <a:rPr sz="1200">
                <a:solidFill>
                  <a:srgbClr val="C2D0DA"/>
                </a:solidFill>
                <a:latin typeface="Consolas"/>
              </a:rPr>
              <a:t>                  trajectories</a:t>
            </a:r>
          </a:p>
          <a:p>
            <a:pPr>
              <a:lnSpc>
                <a:spcPct val="102000"/>
              </a:lnSpc>
              <a:spcBef>
                <a:spcPts val="0"/>
              </a:spcBef>
              <a:spcAft>
                <a:spcPts val="0"/>
              </a:spcAft>
            </a:pPr>
            <a:r>
              <a:rPr sz="1200">
                <a:solidFill>
                  <a:srgbClr val="C2D0DA"/>
                </a:solidFill>
                <a:latin typeface="Consolas"/>
              </a:rPr>
              <a:t>                  (MobilityDB tgeompoint)"</a:t>
            </a:r>
          </a:p>
          <a:p>
            <a:pPr>
              <a:lnSpc>
                <a:spcPct val="102000"/>
              </a:lnSpc>
              <a:spcBef>
                <a:spcPts val="0"/>
              </a:spcBef>
              <a:spcAft>
                <a:spcPts val="0"/>
              </a:spcAft>
            </a:pPr>
            <a:r>
              <a:rPr sz="1200">
                <a:solidFill>
                  <a:srgbClr val="C2D0DA"/>
                </a:solidFill>
                <a:latin typeface="Consolas"/>
              </a:rPr>
              <a:t>}</a:t>
            </a:r>
          </a:p>
        </p:txBody>
      </p:sp>
      <p:sp>
        <p:nvSpPr>
          <p:cNvPr id="15" name="TextBox 14"/>
          <p:cNvSpPr txBox="1"/>
          <p:nvPr/>
        </p:nvSpPr>
        <p:spPr>
          <a:xfrm>
            <a:off x="6281928" y="4526280"/>
            <a:ext cx="5342839" cy="1463040"/>
          </a:xfrm>
          <a:prstGeom prst="rect">
            <a:avLst/>
          </a:prstGeom>
          <a:noFill/>
        </p:spPr>
        <p:txBody>
          <a:bodyPr wrap="square" lIns="0" rIns="0" t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itemType is movingfeature, per OGC API – Moving Features</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Links are relative; the client follows them without hard-coding paths</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Stream the FeatureCollection, Page by Keyset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10308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/collections/ships/items?limit=2</a:t>
            </a:r>
          </a:p>
        </p:txBody>
      </p:sp>
      <p:sp>
        <p:nvSpPr>
          <p:cNvPr id="7" name="Rounded Rectangle 6"/>
          <p:cNvSpPr/>
          <p:nvPr/>
        </p:nvSpPr>
        <p:spPr>
          <a:xfrm>
            <a:off x="566928" y="1874519"/>
            <a:ext cx="7040880" cy="44348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6784848" cy="425195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   Content-Type: application/json</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"FeatureCollection"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"features"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"next"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"/collections/ships/items?after=2&amp;limit=2"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836408" y="1828800"/>
            <a:ext cx="3788359" cy="4206240"/>
          </a:xfrm>
          <a:prstGeom prst="rect">
            <a:avLst/>
          </a:prstGeom>
          <a:noFill/>
        </p:spPr>
        <p:txBody>
          <a:bodyPr wrap="square" lIns="0" rIns="0" t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Streamed:  </a:t>
            </a:r>
            <a:r>
              <a:rPr sz="1200">
                <a:solidFill>
                  <a:srgbClr val="1E2B36"/>
                </a:solidFill>
                <a:latin typeface="Calibri"/>
              </a:rPr>
              <a:t>each Feature is written from a server-side cursor; memory is bounded for any page size</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Keyset next:  </a:t>
            </a:r>
            <a:r>
              <a:rPr sz="1200">
                <a:solidFill>
                  <a:srgbClr val="1E2B36"/>
                </a:solidFill>
                <a:latin typeface="Calibri"/>
              </a:rPr>
              <a:t>the next link advances by id (after=), with no OFFSET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asMFJSON:  </a:t>
            </a:r>
            <a:r>
              <a:rPr sz="1200">
                <a:solidFill>
                  <a:srgbClr val="1E2B36"/>
                </a:solidFill>
                <a:latin typeface="Calibri"/>
              </a:rPr>
              <a:t>the temporalGeometry is assembled in SQL and streamed as text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limit:  </a:t>
            </a:r>
            <a:r>
              <a:rPr sz="1200">
                <a:solidFill>
                  <a:srgbClr val="1E2B36"/>
                </a:solidFill>
                <a:latin typeface="Calibri"/>
              </a:rPr>
              <a:t>caps the page; the tier enforces a maximum</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Retrieve a Single Vessel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a:t>
            </a:r>
          </a:p>
        </p:txBody>
      </p:sp>
      <p:sp>
        <p:nvSpPr>
          <p:cNvPr id="7" name="Rounded Rectangle 6"/>
          <p:cNvSpPr/>
          <p:nvPr/>
        </p:nvSpPr>
        <p:spPr>
          <a:xfrm>
            <a:off x="566928" y="1874519"/>
            <a:ext cx="6035040" cy="42062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779007" cy="402335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830568" y="1828800"/>
            <a:ext cx="4794199" cy="4206240"/>
          </a:xfrm>
          <a:prstGeom prst="rect">
            <a:avLst/>
          </a:prstGeom>
          <a:noFill/>
        </p:spPr>
        <p:txBody>
          <a:bodyPr wrap="square" lIns="0" rIns="0" t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One movement:  </a:t>
            </a:r>
            <a:r>
              <a:rPr sz="1200">
                <a:solidFill>
                  <a:srgbClr val="1E2B36"/>
                </a:solidFill>
                <a:latin typeface="Calibri"/>
              </a:rPr>
              <a:t>the full trajectory of one vessel as MovingFeaturesJSON</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crs:  </a:t>
            </a:r>
            <a:r>
              <a:rPr sz="1200">
                <a:solidFill>
                  <a:srgbClr val="1E2B36"/>
                </a:solidFill>
                <a:latin typeface="Calibri"/>
              </a:rPr>
              <a:t>carried as an OGC URN; the tier maps to and from the EPSG form</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interpolation:  </a:t>
            </a:r>
            <a:r>
              <a:rPr sz="1200">
                <a:solidFill>
                  <a:srgbClr val="1E2B36"/>
                </a:solidFill>
                <a:latin typeface="Calibri"/>
              </a:rPr>
              <a:t>Linear: the vessel moves continuously between fixes</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sequences:  </a:t>
            </a:r>
            <a:r>
              <a:rPr sz="1200">
                <a:solidFill>
                  <a:srgbClr val="1E2B36"/>
                </a:solidFill>
                <a:latin typeface="Calibri"/>
              </a:rPr>
              <a:t>one per continuous run; gaps split the trajectory</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SPATIAL FILTER</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Vessels Intersecting a Bounding Box</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/collections/ships/items?bbox=…</a:t>
            </a:r>
          </a:p>
        </p:txBody>
      </p:sp>
      <p:sp>
        <p:nvSpPr>
          <p:cNvPr id="7" name="Rounded Rectangle 6"/>
          <p:cNvSpPr/>
          <p:nvPr/>
        </p:nvSpPr>
        <p:spPr>
          <a:xfrm>
            <a:off x="566928" y="1920240"/>
            <a:ext cx="5486400" cy="17830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6002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?bbox=</a:t>
            </a:r>
            <a:r>
              <a:rPr sz="1200">
                <a:solidFill>
                  <a:srgbClr val="C9E08A"/>
                </a:solidFill>
                <a:latin typeface="Consolas"/>
              </a:rPr>
              <a:t>580000</a:t>
            </a:r>
            <a:r>
              <a:rPr sz="1200">
                <a:solidFill>
                  <a:srgbClr val="C2D0DA"/>
                </a:solidFill>
                <a:latin typeface="Consolas"/>
              </a:rPr>
              <a:t>,</a:t>
            </a:r>
            <a:r>
              <a:rPr sz="1200">
                <a:solidFill>
                  <a:srgbClr val="C9E08A"/>
                </a:solidFill>
                <a:latin typeface="Consolas"/>
              </a:rPr>
              <a:t>6320000</a:t>
            </a:r>
            <a:r>
              <a:rPr sz="1200">
                <a:solidFill>
                  <a:srgbClr val="C2D0DA"/>
                </a:solidFill>
                <a:latin typeface="Consolas"/>
              </a:rPr>
              <a:t>,</a:t>
            </a:r>
            <a:r>
              <a:rPr sz="1200">
                <a:solidFill>
                  <a:srgbClr val="C9E08A"/>
                </a:solidFill>
                <a:latin typeface="Consolas"/>
              </a:rPr>
              <a:t>600000</a:t>
            </a:r>
            <a:r>
              <a:rPr sz="1200">
                <a:solidFill>
                  <a:srgbClr val="C2D0DA"/>
                </a:solidFill>
                <a:latin typeface="Consolas"/>
              </a:rPr>
              <a:t>,</a:t>
            </a:r>
            <a:r>
              <a:rPr sz="1200">
                <a:solidFill>
                  <a:srgbClr val="C9E08A"/>
                </a:solidFill>
                <a:latin typeface="Consolas"/>
              </a:rPr>
              <a:t>6340000</a:t>
            </a:r>
          </a:p>
          <a:p>
            <a:pPr>
              <a:lnSpc>
                <a:spcPct val="102000"/>
              </a:lnSpc>
              <a:spcBef>
                <a:spcPts val="0"/>
              </a:spcBef>
              <a:spcAft>
                <a:spcPts val="0"/>
              </a:spcAft>
            </a:pPr>
            <a:r>
              <a:rPr sz="1200">
                <a:solidFill>
                  <a:srgbClr val="C2D0DA"/>
                </a:solidFill>
                <a:latin typeface="Consolas"/>
              </a:rPr>
              <a:t>      &amp;limit=</a:t>
            </a:r>
            <a:r>
              <a:rPr sz="1200">
                <a:solidFill>
                  <a:srgbClr val="C9E08A"/>
                </a:solidFill>
                <a:latin typeface="Consolas"/>
              </a:rPr>
              <a:t>10000</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bbox = minx,miny,maxx,maxy in the storage CRS</a:t>
            </a:r>
          </a:p>
          <a:p>
            <a:pPr>
              <a:lnSpc>
                <a:spcPct val="102000"/>
              </a:lnSpc>
              <a:spcBef>
                <a:spcPts val="0"/>
              </a:spcBef>
              <a:spcAft>
                <a:spcPts val="0"/>
              </a:spcAft>
            </a:pPr>
            <a:r>
              <a:rPr sz="1200">
                <a:solidFill>
                  <a:srgbClr val="7E94A6"/>
                </a:solidFill>
                <a:latin typeface="Consolas"/>
              </a:rPr>
              <a:t>// EPSG:25832 (metres)</a:t>
            </a:r>
          </a:p>
          <a:p>
            <a:pPr>
              <a:lnSpc>
                <a:spcPct val="102000"/>
              </a:lnSpc>
              <a:spcBef>
                <a:spcPts val="0"/>
              </a:spcBef>
              <a:spcAft>
                <a:spcPts val="0"/>
              </a:spcAft>
            </a:pPr>
            <a:r>
              <a:rPr sz="1200">
                <a:solidFill>
                  <a:srgbClr val="7E94A6"/>
                </a:solidFill>
                <a:latin typeface="Consolas"/>
              </a:rPr>
              <a:t>// 104 of 2,833 trajectories intersect the box</a:t>
            </a:r>
          </a:p>
        </p:txBody>
      </p:sp>
      <p:sp>
        <p:nvSpPr>
          <p:cNvPr id="9" name="TextBox 8"/>
          <p:cNvSpPr txBox="1"/>
          <p:nvPr/>
        </p:nvSpPr>
        <p:spPr>
          <a:xfrm>
            <a:off x="566928" y="3931920"/>
            <a:ext cx="5486400" cy="210312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bbox:  </a:t>
            </a:r>
            <a:r>
              <a:rPr sz="1400">
                <a:solidFill>
                  <a:srgbClr val="1E2B36"/>
                </a:solidFill>
                <a:latin typeface="Calibri"/>
              </a:rPr>
              <a:t>keeps vessels whose trajectory intersects the envelope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Index:  </a:t>
            </a:r>
            <a:r>
              <a:rPr sz="1400">
                <a:solidFill>
                  <a:srgbClr val="1E2B36"/>
                </a:solidFill>
                <a:latin typeface="Calibri"/>
              </a:rPr>
              <a:t>pushed to the MobilityDB GiST index via the overlap operator</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coordinates are in the collection's storage CRS (EPSG:25832)</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Composable:  </a:t>
            </a:r>
            <a:r>
              <a:rPr sz="1400">
                <a:solidFill>
                  <a:srgbClr val="1E2B36"/>
                </a:solidFill>
                <a:latin typeface="Calibri"/>
              </a:rPr>
              <a:t>with datetime, subtrajectory, limit and after</a:t>
            </a:r>
          </a:p>
        </p:txBody>
      </p:sp>
      <p:pic>
        <p:nvPicPr>
          <p:cNvPr id="10" name="Picture 9" descr="fig_bbox.png"/>
          <p:cNvPicPr>
            <a:picLocks noChangeAspect="1"/>
          </p:cNvPicPr>
          <p:nvPr/>
        </p:nvPicPr>
        <p:blipFill>
          <a:blip r:embed="rId2"/>
          <a:stretch>
            <a:fillRect/>
          </a:stretch>
        </p:blipFill>
        <p:spPr>
          <a:xfrm>
            <a:off x="6807520" y="1691640"/>
            <a:ext cx="4672958" cy="4389120"/>
          </a:xfrm>
          <a:prstGeom prst="rect">
            <a:avLst/>
          </a:prstGeom>
        </p:spPr>
      </p:pic>
      <p:sp>
        <p:nvSpPr>
          <p:cNvPr id="11" name="TextBox 10"/>
          <p:cNvSpPr txBox="1"/>
          <p:nvPr/>
        </p:nvSpPr>
        <p:spPr>
          <a:xfrm>
            <a:off x="6400800" y="6053328"/>
            <a:ext cx="548640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Trajectories crossing a bounding box (teal); context in grey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SLICE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Restrict Trajectories to a Time Interval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…/items?subtrajectory=true</a:t>
            </a:r>
          </a:p>
        </p:txBody>
      </p:sp>
      <p:sp>
        <p:nvSpPr>
          <p:cNvPr id="7" name="Rounded Rectangle 6"/>
          <p:cNvSpPr/>
          <p:nvPr/>
        </p:nvSpPr>
        <p:spPr>
          <a:xfrm>
            <a:off x="566928" y="1920240"/>
            <a:ext cx="5486400" cy="19659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78308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?subtrajectory=</a:t>
            </a:r>
            <a:r>
              <a:rPr sz="1200">
                <a:solidFill>
                  <a:srgbClr val="CBA0E8"/>
                </a:solidFill>
                <a:latin typeface="Consolas"/>
              </a:rPr>
              <a:t>true</a:t>
            </a:r>
          </a:p>
          <a:p>
            <a:pPr>
              <a:lnSpc>
                <a:spcPct val="102000"/>
              </a:lnSpc>
              <a:spcBef>
                <a:spcPts val="0"/>
              </a:spcBef>
              <a:spcAft>
                <a:spcPts val="0"/>
              </a:spcAft>
            </a:pPr>
            <a:r>
              <a:rPr sz="1200">
                <a:solidFill>
                  <a:srgbClr val="C2D0DA"/>
                </a:solidFill>
                <a:latin typeface="Consolas"/>
              </a:rPr>
              <a:t>      &amp;datetime=</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13</a:t>
            </a:r>
            <a:r>
              <a:rPr sz="1200">
                <a:solidFill>
                  <a:srgbClr val="C2D0DA"/>
                </a:solidFill>
                <a:latin typeface="Consolas"/>
              </a:rPr>
              <a:t>:</a:t>
            </a:r>
            <a:r>
              <a:rPr sz="1200">
                <a:solidFill>
                  <a:srgbClr val="C9E08A"/>
                </a:solidFill>
                <a:latin typeface="Consolas"/>
              </a:rPr>
              <a:t>30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13</a:t>
            </a:r>
            <a:r>
              <a:rPr sz="1200">
                <a:solidFill>
                  <a:srgbClr val="C2D0DA"/>
                </a:solidFill>
                <a:latin typeface="Consolas"/>
              </a:rPr>
              <a:t>:</a:t>
            </a:r>
            <a:r>
              <a:rPr sz="1200">
                <a:solidFill>
                  <a:srgbClr val="C9E08A"/>
                </a:solidFill>
                <a:latin typeface="Consolas"/>
              </a:rPr>
              <a:t>35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datetime is an RFC 3339 interval (start/end)</a:t>
            </a:r>
          </a:p>
          <a:p>
            <a:pPr>
              <a:lnSpc>
                <a:spcPct val="102000"/>
              </a:lnSpc>
              <a:spcBef>
                <a:spcPts val="0"/>
              </a:spcBef>
              <a:spcAft>
                <a:spcPts val="0"/>
              </a:spcAft>
            </a:pPr>
            <a:r>
              <a:rPr sz="1200">
                <a:solidFill>
                  <a:srgbClr val="7E94A6"/>
                </a:solidFill>
                <a:latin typeface="Consolas"/>
              </a:rPr>
              <a:t>// subtrajectory=true clips each trajectory to the</a:t>
            </a:r>
          </a:p>
          <a:p>
            <a:pPr>
              <a:lnSpc>
                <a:spcPct val="102000"/>
              </a:lnSpc>
              <a:spcBef>
                <a:spcPts val="0"/>
              </a:spcBef>
              <a:spcAft>
                <a:spcPts val="0"/>
              </a:spcAft>
            </a:pPr>
            <a:r>
              <a:rPr sz="1200">
                <a:solidFill>
                  <a:srgbClr val="7E94A6"/>
                </a:solidFill>
                <a:latin typeface="Consolas"/>
              </a:rPr>
              <a:t>// window with atTime, instead of filtering trips</a:t>
            </a:r>
          </a:p>
        </p:txBody>
      </p:sp>
      <p:sp>
        <p:nvSpPr>
          <p:cNvPr id="9" name="TextBox 8"/>
          <p:cNvSpPr txBox="1"/>
          <p:nvPr/>
        </p:nvSpPr>
        <p:spPr>
          <a:xfrm>
            <a:off x="566928" y="4114800"/>
            <a:ext cx="5486400" cy="1920240"/>
          </a:xfrm>
          <a:prstGeom prst="rect">
            <a:avLst/>
          </a:prstGeom>
          <a:noFill/>
        </p:spPr>
        <p:txBody>
          <a:bodyPr wrap="square" lIns="0" rIns="0" tIns="0" bIns="0">
            <a:noAutofit/>
          </a:bodyPr>
          <a:lstStyle/>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subtrajectory:  </a:t>
            </a:r>
            <a:r>
              <a:rPr sz="1400">
                <a:solidFill>
                  <a:srgbClr val="1E2B36"/>
                </a:solidFill>
                <a:latin typeface="Calibri"/>
              </a:rPr>
              <a:t>clips each trajectory to the datetime interval via atTime</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datetime:  </a:t>
            </a:r>
            <a:r>
              <a:rPr sz="1400">
                <a:solidFill>
                  <a:srgbClr val="1E2B36"/>
                </a:solidFill>
                <a:latin typeface="Calibri"/>
              </a:rPr>
              <a:t>RFC 3339 interval; a bare instant is also accepted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Gap aware:  </a:t>
            </a:r>
            <a:r>
              <a:rPr sz="1400">
                <a:solidFill>
                  <a:srgbClr val="1E2B36"/>
                </a:solidFill>
                <a:latin typeface="Calibri"/>
              </a:rPr>
              <a:t>rows whose values fall entirely in a temporal gap are dropped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Validation:  </a:t>
            </a:r>
            <a:r>
              <a:rPr sz="1400">
                <a:solidFill>
                  <a:srgbClr val="1E2B36"/>
                </a:solidFill>
                <a:latin typeface="Calibri"/>
              </a:rPr>
              <a:t>subtrajectory requires a bounded interval</a:t>
            </a:r>
          </a:p>
        </p:txBody>
      </p:sp>
      <p:pic>
        <p:nvPicPr>
          <p:cNvPr id="10" name="Picture 9" descr="fig_subtraj.png"/>
          <p:cNvPicPr>
            <a:picLocks noChangeAspect="1"/>
          </p:cNvPicPr>
          <p:nvPr/>
        </p:nvPicPr>
        <p:blipFill>
          <a:blip r:embed="rId2"/>
          <a:stretch>
            <a:fillRect/>
          </a:stretch>
        </p:blipFill>
        <p:spPr>
          <a:xfrm>
            <a:off x="6492240" y="1737360"/>
            <a:ext cx="5303520" cy="3559126"/>
          </a:xfrm>
          <a:prstGeom prst="rect">
            <a:avLst/>
          </a:prstGeom>
        </p:spPr>
      </p:pic>
      <p:sp>
        <p:nvSpPr>
          <p:cNvPr id="11" name="TextBox 10"/>
          <p:cNvSpPr txBox="1"/>
          <p:nvPr/>
        </p:nvSpPr>
        <p:spPr>
          <a:xfrm>
            <a:off x="6492240" y="6035040"/>
            <a:ext cx="530352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Subtrajectories within a time window (green) over full trajectories (brown)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WRITES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Create · Replace · Append · Delete</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6" name="TextBox 5"/>
          <p:cNvSpPr txBox="1"/>
          <p:nvPr/>
        </p:nvSpPr>
        <p:spPr>
          <a:xfrm>
            <a:off x="1389888" y="154533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a:t>
            </a:r>
          </a:p>
        </p:txBody>
      </p:sp>
      <p:sp>
        <p:nvSpPr>
          <p:cNvPr id="7" name="Rounded Rectangle 6"/>
          <p:cNvSpPr/>
          <p:nvPr/>
        </p:nvSpPr>
        <p:spPr>
          <a:xfrm>
            <a:off x="566928" y="1874519"/>
            <a:ext cx="548640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"demo"</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"2026-02-26T10:00:00+01"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600000</a:t>
            </a:r>
            <a:r>
              <a:rPr sz="1200">
                <a:solidFill>
                  <a:srgbClr val="C2D0DA"/>
                </a:solidFill>
                <a:latin typeface="Consolas"/>
              </a:rPr>
              <a:t>, </a:t>
            </a:r>
            <a:r>
              <a:rPr sz="1200">
                <a:solidFill>
                  <a:srgbClr val="C9E08A"/>
                </a:solidFill>
                <a:latin typeface="Consolas"/>
              </a:rPr>
              <a:t>6330000</a:t>
            </a:r>
            <a:r>
              <a:rPr sz="1200">
                <a:solidFill>
                  <a:srgbClr val="C2D0DA"/>
                </a:solidFill>
                <a:latin typeface="Consolas"/>
              </a:rPr>
              <a:t>], ...]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"created"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p:txBody>
      </p:sp>
      <p:sp>
        <p:nvSpPr>
          <p:cNvPr id="9" name="Rounded Rectangle 8"/>
          <p:cNvSpPr/>
          <p:nvPr/>
        </p:nvSpPr>
        <p:spPr>
          <a:xfrm>
            <a:off x="566928" y="434340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0" name="TextBox 9"/>
          <p:cNvSpPr txBox="1"/>
          <p:nvPr/>
        </p:nvSpPr>
        <p:spPr>
          <a:xfrm>
            <a:off x="1389888" y="433425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…/items/900001/tgsequence</a:t>
            </a:r>
          </a:p>
        </p:txBody>
      </p:sp>
      <p:sp>
        <p:nvSpPr>
          <p:cNvPr id="11" name="Rounded Rectangle 10"/>
          <p:cNvSpPr/>
          <p:nvPr/>
        </p:nvSpPr>
        <p:spPr>
          <a:xfrm>
            <a:off x="566928" y="4663440"/>
            <a:ext cx="548640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23036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7E94A6"/>
                </a:solidFill>
                <a:latin typeface="Consolas"/>
              </a:rPr>
              <a:t>// append a temporally-disjoint sub-trajectory</a:t>
            </a:r>
          </a:p>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"appended"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overlapping the existing time span:</a:t>
            </a:r>
          </a:p>
          <a:p>
            <a:pPr>
              <a:lnSpc>
                <a:spcPct val="102000"/>
              </a:lnSpc>
              <a:spcBef>
                <a:spcPts val="0"/>
              </a:spcBef>
              <a:spcAft>
                <a:spcPts val="0"/>
              </a:spcAft>
            </a:pPr>
            <a:r>
              <a:rPr sz="1200">
                <a:solidFill>
                  <a:srgbClr val="C9E08A"/>
                </a:solidFill>
                <a:latin typeface="Consolas"/>
              </a:rPr>
              <a:t>409</a:t>
            </a:r>
            <a:r>
              <a:rPr sz="1200">
                <a:solidFill>
                  <a:srgbClr val="C2D0DA"/>
                </a:solidFill>
                <a:latin typeface="Consolas"/>
              </a:rPr>
              <a:t>  {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"409"</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"the sub-trajectory overlaps</a:t>
            </a:r>
          </a:p>
          <a:p>
            <a:pPr>
              <a:lnSpc>
                <a:spcPct val="102000"/>
              </a:lnSpc>
              <a:spcBef>
                <a:spcPts val="0"/>
              </a:spcBef>
              <a:spcAft>
                <a:spcPts val="0"/>
              </a:spcAft>
            </a:pPr>
            <a:r>
              <a:rPr sz="1200">
                <a:solidFill>
                  <a:srgbClr val="C2D0DA"/>
                </a:solidFill>
                <a:latin typeface="Consolas"/>
              </a:rPr>
              <a:t>        the existing temporal geometry in time" }</a:t>
            </a:r>
          </a:p>
        </p:txBody>
      </p:sp>
      <p:sp>
        <p:nvSpPr>
          <p:cNvPr id="13" name="Rounded Rectangle 12"/>
          <p:cNvSpPr/>
          <p:nvPr/>
        </p:nvSpPr>
        <p:spPr>
          <a:xfrm>
            <a:off x="6281928" y="1801368"/>
            <a:ext cx="603504" cy="292608"/>
          </a:xfrm>
          <a:prstGeom prst="roundRect">
            <a:avLst>
              <a:gd name="adj" fmla="val 4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PUT</a:t>
            </a:r>
          </a:p>
        </p:txBody>
      </p:sp>
      <p:sp>
        <p:nvSpPr>
          <p:cNvPr id="14" name="TextBox 13"/>
          <p:cNvSpPr txBox="1"/>
          <p:nvPr/>
        </p:nvSpPr>
        <p:spPr>
          <a:xfrm>
            <a:off x="6976872" y="1783080"/>
            <a:ext cx="4647895"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…/items/900001</a:t>
            </a:r>
          </a:p>
        </p:txBody>
      </p:sp>
      <p:sp>
        <p:nvSpPr>
          <p:cNvPr id="15" name="TextBox 14"/>
          <p:cNvSpPr txBox="1"/>
          <p:nvPr/>
        </p:nvSpPr>
        <p:spPr>
          <a:xfrm>
            <a:off x="6281928" y="2075688"/>
            <a:ext cx="53428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200 replace the feature</a:t>
            </a:r>
          </a:p>
        </p:txBody>
      </p:sp>
      <p:sp>
        <p:nvSpPr>
          <p:cNvPr id="16" name="Rounded Rectangle 15"/>
          <p:cNvSpPr/>
          <p:nvPr/>
        </p:nvSpPr>
        <p:spPr>
          <a:xfrm>
            <a:off x="6281928" y="2514600"/>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7" name="TextBox 16"/>
          <p:cNvSpPr txBox="1"/>
          <p:nvPr/>
        </p:nvSpPr>
        <p:spPr>
          <a:xfrm>
            <a:off x="7306056" y="2496312"/>
            <a:ext cx="431871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…/items/900001</a:t>
            </a:r>
          </a:p>
        </p:txBody>
      </p:sp>
      <p:sp>
        <p:nvSpPr>
          <p:cNvPr id="18" name="TextBox 17"/>
          <p:cNvSpPr txBox="1"/>
          <p:nvPr/>
        </p:nvSpPr>
        <p:spPr>
          <a:xfrm>
            <a:off x="6281928" y="2788920"/>
            <a:ext cx="53428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204 remove the feature</a:t>
            </a:r>
          </a:p>
        </p:txBody>
      </p:sp>
      <p:sp>
        <p:nvSpPr>
          <p:cNvPr id="19" name="TextBox 18"/>
          <p:cNvSpPr txBox="1"/>
          <p:nvPr/>
        </p:nvSpPr>
        <p:spPr>
          <a:xfrm>
            <a:off x="6281928" y="3291840"/>
            <a:ext cx="5342839" cy="274320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merge:  </a:t>
            </a:r>
            <a:r>
              <a:rPr sz="1200">
                <a:solidFill>
                  <a:srgbClr val="1E2B36"/>
                </a:solidFill>
                <a:latin typeface="Calibri"/>
              </a:rPr>
              <a:t>append uses MobilityDB merge, which rejects time overlap; the tier maps that to 409</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Derived properties:  </a:t>
            </a:r>
            <a:r>
              <a:rPr sz="1200">
                <a:solidFill>
                  <a:srgbClr val="1E2B36"/>
                </a:solidFill>
                <a:latin typeface="Calibri"/>
              </a:rPr>
              <a:t>are computed from the geometry, so writes to them return 501; modify the geometry instead</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Single geometry:  </a:t>
            </a:r>
            <a:r>
              <a:rPr sz="1200">
                <a:solidFill>
                  <a:srgbClr val="1E2B36"/>
                </a:solidFill>
                <a:latin typeface="Calibri"/>
              </a:rPr>
              <a:t>a feature carries one temporal geometry; delete the feature rather than a primitive</a:t>
            </a:r>
          </a:p>
        </p:txBody>
      </p:sp>
      <p:sp>
        <p:nvSpPr>
          <p:cNvPr id="20" name="Rectangle 1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2" name="TextBox 2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GEOMETRY</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Temporal-Geometry Sequence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…/items/1/tgsequence</a:t>
            </a:r>
          </a:p>
        </p:txBody>
      </p:sp>
      <p:sp>
        <p:nvSpPr>
          <p:cNvPr id="7" name="Rounded Rectangle 6"/>
          <p:cNvSpPr/>
          <p:nvPr/>
        </p:nvSpPr>
        <p:spPr>
          <a:xfrm>
            <a:off x="566928" y="1874519"/>
            <a:ext cx="5486400" cy="32004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30175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"lower_inc"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r>
              <a:rPr sz="1200">
                <a:solidFill>
                  <a:srgbClr val="6FC3E0"/>
                </a:solidFill>
                <a:latin typeface="Consolas"/>
              </a:rPr>
              <a:t>"upper_inc"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Selectors on this resource</a:t>
            </a:r>
          </a:p>
        </p:txBody>
      </p:sp>
      <p:sp>
        <p:nvSpPr>
          <p:cNvPr id="10" name="TextBox 9"/>
          <p:cNvSpPr txBox="1"/>
          <p:nvPr/>
        </p:nvSpPr>
        <p:spPr>
          <a:xfrm>
            <a:off x="6281928" y="2057400"/>
            <a:ext cx="5342839" cy="201168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datetime:  </a:t>
            </a:r>
            <a:r>
              <a:rPr sz="1200">
                <a:solidFill>
                  <a:srgbClr val="1E2B36"/>
                </a:solidFill>
                <a:latin typeface="Calibri"/>
              </a:rPr>
              <a:t>clip the sequence to an interval (atTime)</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leaf:  </a:t>
            </a:r>
            <a:r>
              <a:rPr sz="1200">
                <a:solidFill>
                  <a:srgbClr val="1E2B36"/>
                </a:solidFill>
                <a:latin typeface="Calibri"/>
              </a:rPr>
              <a:t>return the geometry at one or more instants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POST:  </a:t>
            </a:r>
            <a:r>
              <a:rPr sz="1200">
                <a:solidFill>
                  <a:srgbClr val="1E2B36"/>
                </a:solidFill>
                <a:latin typeface="Calibri"/>
              </a:rPr>
              <a:t>append a temporally-disjoint sub-trajectory</a:t>
            </a:r>
          </a:p>
        </p:txBody>
      </p:sp>
      <p:sp>
        <p:nvSpPr>
          <p:cNvPr id="11" name="TextBox 10"/>
          <p:cNvSpPr txBox="1"/>
          <p:nvPr/>
        </p:nvSpPr>
        <p:spPr>
          <a:xfrm>
            <a:off x="6281928" y="4206240"/>
            <a:ext cx="5342839" cy="91440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The temporal geometry is the trajectory itself, returned as MovingFeaturesJSON straight from asMFJSON.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DERIVED MEASURES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Distance · Velocity  ·  Acceleration</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…/tgsequence/0/velocity</a:t>
            </a:r>
          </a:p>
        </p:txBody>
      </p:sp>
      <p:sp>
        <p:nvSpPr>
          <p:cNvPr id="7" name="Rounded Rectangle 6"/>
          <p:cNvSpPr/>
          <p:nvPr/>
        </p:nvSpPr>
        <p:spPr>
          <a:xfrm>
            <a:off x="566928" y="1874519"/>
            <a:ext cx="566928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41324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"Speed over ground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 </a:t>
            </a:r>
            <a:r>
              <a:rPr sz="1200">
                <a:solidFill>
                  <a:srgbClr val="C9E08A"/>
                </a:solidFill>
                <a:latin typeface="Consolas"/>
              </a:rPr>
              <a:t>11.03</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"Stepwise"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 }</a:t>
            </a:r>
          </a:p>
        </p:txBody>
      </p:sp>
      <p:sp>
        <p:nvSpPr>
          <p:cNvPr id="9" name="Rounded Rectangle 8"/>
          <p:cNvSpPr/>
          <p:nvPr/>
        </p:nvSpPr>
        <p:spPr>
          <a:xfrm>
            <a:off x="566928" y="434340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3425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…/tgsequence/0/acceleration</a:t>
            </a:r>
          </a:p>
        </p:txBody>
      </p:sp>
      <p:sp>
        <p:nvSpPr>
          <p:cNvPr id="11" name="Rounded Rectangle 10"/>
          <p:cNvSpPr/>
          <p:nvPr/>
        </p:nvSpPr>
        <p:spPr>
          <a:xfrm>
            <a:off x="566928" y="4663440"/>
            <a:ext cx="566928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41324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501</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"501"</a:t>
            </a: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"acceleration is not derivable: linearly</a:t>
            </a:r>
          </a:p>
          <a:p>
            <a:pPr>
              <a:lnSpc>
                <a:spcPct val="102000"/>
              </a:lnSpc>
              <a:spcBef>
                <a:spcPts val="0"/>
              </a:spcBef>
              <a:spcAft>
                <a:spcPts val="0"/>
              </a:spcAft>
            </a:pPr>
            <a:r>
              <a:rPr sz="1200">
                <a:solidFill>
                  <a:srgbClr val="C2D0DA"/>
                </a:solidFill>
                <a:latin typeface="Consolas"/>
              </a:rPr>
              <a:t>   interpolated position gives a piecewise-constant</a:t>
            </a:r>
          </a:p>
          <a:p>
            <a:pPr>
              <a:lnSpc>
                <a:spcPct val="102000"/>
              </a:lnSpc>
              <a:spcBef>
                <a:spcPts val="0"/>
              </a:spcBef>
              <a:spcAft>
                <a:spcPts val="0"/>
              </a:spcAft>
            </a:pPr>
            <a:r>
              <a:rPr sz="1200">
                <a:solidFill>
                  <a:srgbClr val="C2D0DA"/>
                </a:solidFill>
                <a:latin typeface="Consolas"/>
              </a:rPr>
              <a:t>   speed, whose derivative is zero within each</a:t>
            </a:r>
          </a:p>
          <a:p>
            <a:pPr>
              <a:lnSpc>
                <a:spcPct val="102000"/>
              </a:lnSpc>
              <a:spcBef>
                <a:spcPts val="0"/>
              </a:spcBef>
              <a:spcAft>
                <a:spcPts val="0"/>
              </a:spcAft>
            </a:pPr>
            <a:r>
              <a:rPr sz="1200">
                <a:solidFill>
                  <a:srgbClr val="C2D0DA"/>
                </a:solidFill>
                <a:latin typeface="Consolas"/>
              </a:rPr>
              <a:t>   segment and undefined at the vertices" }</a:t>
            </a:r>
          </a:p>
        </p:txBody>
      </p:sp>
      <p:sp>
        <p:nvSpPr>
          <p:cNvPr id="13" name="TextBox 12"/>
          <p:cNvSpPr txBox="1"/>
          <p:nvPr/>
        </p:nvSpPr>
        <p:spPr>
          <a:xfrm>
            <a:off x="6464808" y="1828800"/>
            <a:ext cx="5159959" cy="420624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velocity:  </a:t>
            </a:r>
            <a:r>
              <a:rPr sz="1200">
                <a:solidFill>
                  <a:srgbClr val="1E2B36"/>
                </a:solidFill>
                <a:latin typeface="Calibri"/>
              </a:rPr>
              <a:t>speed over ground from speed(trip), piecewise-constant (Stepwise)</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distance:  </a:t>
            </a:r>
            <a:r>
              <a:rPr sz="1200">
                <a:solidFill>
                  <a:srgbClr val="1E2B36"/>
                </a:solidFill>
                <a:latin typeface="Calibri"/>
              </a:rPr>
              <a:t>cumulative length from cumulativeLength(trip) (Linear)</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acceleration:  </a:t>
            </a:r>
            <a:r>
              <a:rPr sz="1200">
                <a:solidFill>
                  <a:srgbClr val="1E2B36"/>
                </a:solidFill>
                <a:latin typeface="Calibri"/>
              </a:rPr>
              <a:t>not fabricated: with linear position the speed is a step function, so its derivative is not a finite function</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Exact:  </a:t>
            </a:r>
            <a:r>
              <a:rPr sz="1200">
                <a:solidFill>
                  <a:srgbClr val="1E2B36"/>
                </a:solidFill>
                <a:latin typeface="Calibri"/>
              </a:rPr>
              <a:t>each measure is a MobilityDB function reshaped into an OGC temporalProperty (TReal)</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TEMPORAL PROPERTIES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Time-Varying Attributes per Feature</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…/items/1/tproperties</a:t>
            </a:r>
          </a:p>
        </p:txBody>
      </p:sp>
      <p:sp>
        <p:nvSpPr>
          <p:cNvPr id="7" name="Rounded Rectangle 6"/>
          <p:cNvSpPr/>
          <p:nvPr/>
        </p:nvSpPr>
        <p:spPr>
          <a:xfrm>
            <a:off x="566928" y="1874519"/>
            <a:ext cx="5486400" cy="23317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488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"distance"</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"heading"</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"rad"</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3</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a:t>
            </a:r>
          </a:p>
        </p:txBody>
      </p:sp>
      <p:sp>
        <p:nvSpPr>
          <p:cNvPr id="9" name="Rounded Rectangle 8"/>
          <p:cNvSpPr/>
          <p:nvPr/>
        </p:nvSpPr>
        <p:spPr>
          <a:xfrm>
            <a:off x="566928" y="438912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7997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…/tproperties/velocity?leaf=…</a:t>
            </a:r>
          </a:p>
        </p:txBody>
      </p:sp>
      <p:sp>
        <p:nvSpPr>
          <p:cNvPr id="11" name="Rounded Rectangle 10"/>
          <p:cNvSpPr/>
          <p:nvPr/>
        </p:nvSpPr>
        <p:spPr>
          <a:xfrm>
            <a:off x="566928" y="4709160"/>
            <a:ext cx="5486400" cy="14630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800600"/>
            <a:ext cx="5230368" cy="12801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"Discrete"</a:t>
            </a:r>
            <a:r>
              <a:rPr sz="1200">
                <a:solidFill>
                  <a:srgbClr val="C2D0DA"/>
                </a:solidFill>
                <a:latin typeface="Consolas"/>
              </a:rPr>
              <a:t> } ] }</a:t>
            </a:r>
          </a:p>
        </p:txBody>
      </p:sp>
      <p:sp>
        <p:nvSpPr>
          <p:cNvPr id="13" name="TextBox 12"/>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Property type</a:t>
            </a:r>
          </a:p>
        </p:txBody>
      </p:sp>
      <p:sp>
        <p:nvSpPr>
          <p:cNvPr id="14" name="TextBox 13"/>
          <p:cNvSpPr txBox="1"/>
          <p:nvPr/>
        </p:nvSpPr>
        <p:spPr>
          <a:xfrm>
            <a:off x="6281928" y="1938528"/>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TBoolean · TText · TInteger · TReal · TImage</a:t>
            </a:r>
          </a:p>
        </p:txBody>
      </p:sp>
      <p:sp>
        <p:nvSpPr>
          <p:cNvPr id="15" name="TextBox 14"/>
          <p:cNvSpPr txBox="1"/>
          <p:nvPr/>
        </p:nvSpPr>
        <p:spPr>
          <a:xfrm>
            <a:off x="6281928" y="2377440"/>
            <a:ext cx="5342839" cy="3474720"/>
          </a:xfrm>
          <a:prstGeom prst="rect">
            <a:avLst/>
          </a:prstGeom>
          <a:noFill/>
        </p:spPr>
        <p:txBody>
          <a:bodyPr wrap="square" lIns="0" rIns="0" tIns="0" bIns="0">
            <a:noAutofit/>
          </a:bodyPr>
          <a:lstStyle/>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Derived:  </a:t>
            </a:r>
            <a:r>
              <a:rPr sz="1200">
                <a:solidFill>
                  <a:srgbClr val="1E2B36"/>
                </a:solidFill>
                <a:latin typeface="Calibri"/>
              </a:rPr>
              <a:t>velocity, distance and heading are computed from the trajectory, read-only</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valueSequence:  </a:t>
            </a:r>
            <a:r>
              <a:rPr sz="1200">
                <a:solidFill>
                  <a:srgbClr val="1E2B36"/>
                </a:solidFill>
                <a:latin typeface="Calibri"/>
              </a:rPr>
              <a:t>datetimes and values with each segment's true interpolation</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leaf:  </a:t>
            </a:r>
            <a:r>
              <a:rPr sz="1200">
                <a:solidFill>
                  <a:srgbClr val="1E2B36"/>
                </a:solidFill>
                <a:latin typeface="Calibri"/>
              </a:rPr>
              <a:t>selects values at given instants; the result is Discrete</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datetime:  </a:t>
            </a:r>
            <a:r>
              <a:rPr sz="1200">
                <a:solidFill>
                  <a:srgbClr val="1E2B36"/>
                </a:solidFill>
                <a:latin typeface="Calibri"/>
              </a:rPr>
              <a:t>clips the property to an interval</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CONFORMANCE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Declared Classes, API Definition, Errors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45920"/>
            <a:ext cx="3503066" cy="45720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Conformance classes</a:t>
            </a:r>
          </a:p>
        </p:txBody>
      </p:sp>
      <p:sp>
        <p:nvSpPr>
          <p:cNvPr id="8" name="TextBox 7"/>
          <p:cNvSpPr txBox="1"/>
          <p:nvPr/>
        </p:nvSpPr>
        <p:spPr>
          <a:xfrm>
            <a:off x="795528"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movingfeatures / conf / common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mf-collection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movingfeatures</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ogcapi-common-1 / conf / core</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ogcapi-common-2 / conf / collections</a:t>
            </a:r>
          </a:p>
        </p:txBody>
      </p:sp>
      <p:sp>
        <p:nvSpPr>
          <p:cNvPr id="9" name="Rounded Rectangle 8"/>
          <p:cNvSpPr/>
          <p:nvPr/>
        </p:nvSpPr>
        <p:spPr>
          <a:xfrm>
            <a:off x="4344314"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4314" y="1645920"/>
            <a:ext cx="3503066" cy="457200"/>
          </a:xfrm>
          <a:prstGeom prst="roundRect">
            <a:avLst>
              <a:gd name="adj" fmla="val 6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914"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API definition</a:t>
            </a:r>
          </a:p>
        </p:txBody>
      </p:sp>
      <p:sp>
        <p:nvSpPr>
          <p:cNvPr id="12" name="TextBox 11"/>
          <p:cNvSpPr txBox="1"/>
          <p:nvPr/>
        </p:nvSpPr>
        <p:spPr>
          <a:xfrm>
            <a:off x="4572914"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/api:  </a:t>
            </a:r>
            <a:r>
              <a:rPr sz="1200">
                <a:solidFill>
                  <a:srgbClr val="1E2B36"/>
                </a:solidFill>
                <a:latin typeface="Calibri"/>
              </a:rPr>
              <a:t>an OpenAPI 3.0 definition</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service-desc:  </a:t>
            </a:r>
            <a:r>
              <a:rPr sz="1200">
                <a:solidFill>
                  <a:srgbClr val="1E2B36"/>
                </a:solidFill>
                <a:latin typeface="Calibri"/>
              </a:rPr>
              <a:t>linked from the landing page</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Landing:  </a:t>
            </a:r>
            <a:r>
              <a:rPr sz="1200">
                <a:solidFill>
                  <a:srgbClr val="1E2B36"/>
                </a:solidFill>
                <a:latin typeface="Calibri"/>
              </a:rPr>
              <a:t>self, service-desc, conformance, data</a:t>
            </a:r>
          </a:p>
          <a:p>
            <a:pPr>
              <a:lnSpc>
                <a:spcPct val="106000"/>
              </a:lnSpc>
              <a:spcBef>
                <a:spcPts val="0"/>
              </a:spcBef>
              <a:spcAft>
                <a:spcPts val="900"/>
              </a:spcAft>
            </a:pPr>
            <a:r>
              <a:rPr sz="1200" b="1">
                <a:solidFill>
                  <a:srgbClr val="A02B93"/>
                </a:solidFill>
                <a:latin typeface="Calibri"/>
              </a:rPr>
              <a:t>▸  </a:t>
            </a:r>
            <a:r>
              <a:rPr sz="1200">
                <a:solidFill>
                  <a:srgbClr val="1E2B36"/>
                </a:solidFill>
                <a:latin typeface="Calibri"/>
              </a:rPr>
              <a:t>Clients discover the surface at runtime</a:t>
            </a:r>
          </a:p>
        </p:txBody>
      </p:sp>
      <p:sp>
        <p:nvSpPr>
          <p:cNvPr id="13" name="Rounded Rectangle 12"/>
          <p:cNvSpPr/>
          <p:nvPr/>
        </p:nvSpPr>
        <p:spPr>
          <a:xfrm>
            <a:off x="8121700"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121700" y="1645920"/>
            <a:ext cx="3503066" cy="457200"/>
          </a:xfrm>
          <a:prstGeom prst="roundRect">
            <a:avLst>
              <a:gd name="adj" fmla="val 6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0300"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OGC error responses</a:t>
            </a:r>
          </a:p>
        </p:txBody>
      </p:sp>
      <p:sp>
        <p:nvSpPr>
          <p:cNvPr id="16" name="TextBox 15"/>
          <p:cNvSpPr txBox="1"/>
          <p:nvPr/>
        </p:nvSpPr>
        <p:spPr>
          <a:xfrm>
            <a:off x="8350300"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400:  </a:t>
            </a:r>
            <a:r>
              <a:rPr sz="1200">
                <a:solidFill>
                  <a:srgbClr val="1E2B36"/>
                </a:solidFill>
                <a:latin typeface="Calibri"/>
              </a:rPr>
              <a:t>invalid parameters or body</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404:  </a:t>
            </a:r>
            <a:r>
              <a:rPr sz="1200">
                <a:solidFill>
                  <a:srgbClr val="1E2B36"/>
                </a:solidFill>
                <a:latin typeface="Calibri"/>
              </a:rPr>
              <a:t>collection / feature not found</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409:  </a:t>
            </a:r>
            <a:r>
              <a:rPr sz="1200">
                <a:solidFill>
                  <a:srgbClr val="1E2B36"/>
                </a:solidFill>
                <a:latin typeface="Calibri"/>
              </a:rPr>
              <a:t>sub-trajectory overlaps in time</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501:  </a:t>
            </a:r>
            <a:r>
              <a:rPr sz="1200">
                <a:solidFill>
                  <a:srgbClr val="1E2B36"/>
                </a:solidFill>
                <a:latin typeface="Calibri"/>
              </a:rPr>
              <a:t>measure not derivable / derived write</a:t>
            </a:r>
          </a:p>
          <a:p>
            <a:pPr>
              <a:lnSpc>
                <a:spcPct val="106000"/>
              </a:lnSpc>
              <a:spcBef>
                <a:spcPts val="0"/>
              </a:spcBef>
              <a:spcAft>
                <a:spcPts val="900"/>
              </a:spcAft>
            </a:pPr>
            <a:r>
              <a:rPr sz="1200" b="1">
                <a:solidFill>
                  <a:srgbClr val="C0392B"/>
                </a:solidFill>
                <a:latin typeface="Calibri"/>
              </a:rPr>
              <a:t>▸  </a:t>
            </a:r>
            <a:r>
              <a:rPr sz="1200">
                <a:solidFill>
                  <a:srgbClr val="1E2B36"/>
                </a:solidFill>
                <a:latin typeface="Calibri"/>
              </a:rPr>
              <a:t>Body: { "code", "description" }</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SCALE AND LAKEHOUSE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Bounded Memory at Any Result Size</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783080"/>
            <a:ext cx="3840480" cy="27889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2011680"/>
            <a:ext cx="3291840" cy="731520"/>
          </a:xfrm>
          <a:prstGeom prst="rect">
            <a:avLst/>
          </a:prstGeom>
          <a:noFill/>
        </p:spPr>
        <p:txBody>
          <a:bodyPr wrap="square" anchor="t" lIns="0" rIns="0" tIns="0" bIns="0">
            <a:noAutofit/>
          </a:bodyPr>
          <a:lstStyle/>
          <a:p>
            <a:pPr algn="l">
              <a:spcBef>
                <a:spcPts val="0"/>
              </a:spcBef>
              <a:spcAft>
                <a:spcPts val="200"/>
              </a:spcAft>
            </a:pPr>
            <a:r>
              <a:rPr sz="4400" b="1" i="0">
                <a:solidFill>
                  <a:srgbClr val="196B24"/>
                </a:solidFill>
                <a:latin typeface="Calibri Light"/>
              </a:rPr>
              <a:t>393 MB</a:t>
            </a:r>
          </a:p>
        </p:txBody>
      </p:sp>
      <p:sp>
        <p:nvSpPr>
          <p:cNvPr id="7" name="TextBox 6"/>
          <p:cNvSpPr txBox="1"/>
          <p:nvPr/>
        </p:nvSpPr>
        <p:spPr>
          <a:xfrm>
            <a:off x="886968" y="2761488"/>
            <a:ext cx="329184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streamed in one NDJSON export</a:t>
            </a:r>
          </a:p>
        </p:txBody>
      </p:sp>
      <p:sp>
        <p:nvSpPr>
          <p:cNvPr id="8" name="TextBox 7"/>
          <p:cNvSpPr txBox="1"/>
          <p:nvPr/>
        </p:nvSpPr>
        <p:spPr>
          <a:xfrm>
            <a:off x="886968" y="3200400"/>
            <a:ext cx="3291840" cy="640080"/>
          </a:xfrm>
          <a:prstGeom prst="rect">
            <a:avLst/>
          </a:prstGeom>
          <a:noFill/>
        </p:spPr>
        <p:txBody>
          <a:bodyPr wrap="square" anchor="t" lIns="0" rIns="0" tIns="0" bIns="0">
            <a:noAutofit/>
          </a:bodyPr>
          <a:lstStyle/>
          <a:p>
            <a:pPr algn="l">
              <a:spcBef>
                <a:spcPts val="0"/>
              </a:spcBef>
              <a:spcAft>
                <a:spcPts val="200"/>
              </a:spcAft>
            </a:pPr>
            <a:r>
              <a:rPr sz="3600" b="1" i="0">
                <a:solidFill>
                  <a:srgbClr val="156082"/>
                </a:solidFill>
                <a:latin typeface="Calibri Light"/>
              </a:rPr>
              <a:t>≈18 MB</a:t>
            </a:r>
          </a:p>
        </p:txBody>
      </p:sp>
      <p:sp>
        <p:nvSpPr>
          <p:cNvPr id="9" name="TextBox 8"/>
          <p:cNvSpPr txBox="1"/>
          <p:nvPr/>
        </p:nvSpPr>
        <p:spPr>
          <a:xfrm>
            <a:off x="886968" y="3931920"/>
            <a:ext cx="3291840" cy="4572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resident memory, bounded by the stream and not the result size</a:t>
            </a:r>
          </a:p>
        </p:txBody>
      </p:sp>
      <p:sp>
        <p:nvSpPr>
          <p:cNvPr id="10" name="TextBox 9"/>
          <p:cNvSpPr txBox="1"/>
          <p:nvPr/>
        </p:nvSpPr>
        <p:spPr>
          <a:xfrm>
            <a:off x="4681728" y="1828800"/>
            <a:ext cx="6943039" cy="402336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Streaming responses:  </a:t>
            </a:r>
            <a:r>
              <a:rPr sz="1200">
                <a:solidFill>
                  <a:srgbClr val="1E2B36"/>
                </a:solidFill>
                <a:latin typeface="Calibri"/>
              </a:rPr>
              <a:t>the FeatureCollection is written row by row from a server-side cursor, so memory is bounded for any result size</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Keyset pagination:  </a:t>
            </a:r>
            <a:r>
              <a:rPr sz="1200">
                <a:solidFill>
                  <a:srgbClr val="1E2B36"/>
                </a:solidFill>
                <a:latin typeface="Calibri"/>
              </a:rPr>
              <a:t>next links advance by id with no OFFSET, so paging stays constant cost through arbitrarily large collections</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Index-using filters:  </a:t>
            </a:r>
            <a:r>
              <a:rPr sz="1200">
                <a:solidFill>
                  <a:srgbClr val="1E2B36"/>
                </a:solidFill>
                <a:latin typeface="Calibri"/>
              </a:rPr>
              <a:t>bbox and datetime push to the MobilityDB GiST index; subtrajectory clips with atTime</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Lakehouse export:  </a:t>
            </a:r>
            <a:r>
              <a:rPr sz="1200">
                <a:solidFill>
                  <a:srgbClr val="1E2B36"/>
                </a:solidFill>
                <a:latin typeface="Calibri"/>
              </a:rPr>
              <a:t>NDJSON for direct ingestion, or Parquet carrying trajectory WKB plus a bbox and time sidecar; the row group bounds export memory</a:t>
            </a:r>
          </a:p>
        </p:txBody>
      </p:sp>
      <p:sp>
        <p:nvSpPr>
          <p:cNvPr id="11" name="TextBox 10"/>
          <p:cNvSpPr txBox="1"/>
          <p:nvPr/>
        </p:nvSpPr>
        <p:spPr>
          <a:xfrm>
            <a:off x="566928" y="5760720"/>
            <a:ext cx="11057839" cy="54864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Every temporal computation stays in MobilityDB; the tier is a single static binary. A step toward the Data Lake House architecture in the MobilityDB ecosystem.</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RECAP</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Everything the Server Implements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64592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8" name="TextBox 7"/>
          <p:cNvSpPr txBox="1"/>
          <p:nvPr/>
        </p:nvSpPr>
        <p:spPr>
          <a:xfrm>
            <a:off x="822960"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list (GET)</a:t>
            </a:r>
          </a:p>
          <a:p>
            <a:pPr>
              <a:lnSpc>
                <a:spcPct val="100000"/>
              </a:lnSpc>
              <a:spcAft>
                <a:spcPts val="300"/>
              </a:spcAft>
            </a:pPr>
            <a:r>
              <a:rPr sz="1200" b="1">
                <a:solidFill>
                  <a:srgbClr val="156082"/>
                </a:solidFill>
                <a:latin typeface="Calibri"/>
              </a:rPr>
              <a:t>✓ </a:t>
            </a:r>
            <a:r>
              <a:rPr sz="1200">
                <a:solidFill>
                  <a:srgbClr val="1E2B36"/>
                </a:solidFill>
                <a:latin typeface="Calibri"/>
              </a:rPr>
              <a:t>retrieve (GET)</a:t>
            </a:r>
          </a:p>
          <a:p>
            <a:pPr>
              <a:lnSpc>
                <a:spcPct val="100000"/>
              </a:lnSpc>
              <a:spcAft>
                <a:spcPts val="300"/>
              </a:spcAft>
            </a:pPr>
            <a:r>
              <a:rPr sz="1200" b="1">
                <a:solidFill>
                  <a:srgbClr val="156082"/>
                </a:solidFill>
                <a:latin typeface="Calibri"/>
              </a:rPr>
              <a:t>✓ </a:t>
            </a:r>
            <a:r>
              <a:rPr sz="1200">
                <a:solidFill>
                  <a:srgbClr val="1E2B36"/>
                </a:solidFill>
                <a:latin typeface="Calibri"/>
              </a:rPr>
              <a:t>registry-backed</a:t>
            </a:r>
          </a:p>
        </p:txBody>
      </p:sp>
      <p:sp>
        <p:nvSpPr>
          <p:cNvPr id="9" name="Rounded Rectangle 8"/>
          <p:cNvSpPr/>
          <p:nvPr/>
        </p:nvSpPr>
        <p:spPr>
          <a:xfrm>
            <a:off x="4344314"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4314" y="164592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0346"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MOVING FEATURES</a:t>
            </a:r>
          </a:p>
        </p:txBody>
      </p:sp>
      <p:sp>
        <p:nvSpPr>
          <p:cNvPr id="12" name="TextBox 11"/>
          <p:cNvSpPr txBox="1"/>
          <p:nvPr/>
        </p:nvSpPr>
        <p:spPr>
          <a:xfrm>
            <a:off x="4600346"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insert (POST)</a:t>
            </a:r>
          </a:p>
          <a:p>
            <a:pPr>
              <a:lnSpc>
                <a:spcPct val="100000"/>
              </a:lnSpc>
              <a:spcAft>
                <a:spcPts val="300"/>
              </a:spcAft>
            </a:pPr>
            <a:r>
              <a:rPr sz="1200" b="1">
                <a:solidFill>
                  <a:srgbClr val="E97132"/>
                </a:solidFill>
                <a:latin typeface="Calibri"/>
              </a:rPr>
              <a:t>✓ </a:t>
            </a:r>
            <a:r>
              <a:rPr sz="1200">
                <a:solidFill>
                  <a:srgbClr val="1E2B36"/>
                </a:solidFill>
                <a:latin typeface="Calibri"/>
              </a:rPr>
              <a:t>retrieve / stream</a:t>
            </a:r>
          </a:p>
          <a:p>
            <a:pPr>
              <a:lnSpc>
                <a:spcPct val="100000"/>
              </a:lnSpc>
              <a:spcAft>
                <a:spcPts val="300"/>
              </a:spcAft>
            </a:pPr>
            <a:r>
              <a:rPr sz="1200" b="1">
                <a:solidFill>
                  <a:srgbClr val="E97132"/>
                </a:solidFill>
                <a:latin typeface="Calibri"/>
              </a:rPr>
              <a:t>✓ </a:t>
            </a:r>
            <a:r>
              <a:rPr sz="1200">
                <a:solidFill>
                  <a:srgbClr val="1E2B36"/>
                </a:solidFill>
                <a:latin typeface="Calibri"/>
              </a:rPr>
              <a:t>replace (PUT)</a:t>
            </a:r>
          </a:p>
          <a:p>
            <a:pPr>
              <a:lnSpc>
                <a:spcPct val="100000"/>
              </a:lnSpc>
              <a:spcAft>
                <a:spcPts val="300"/>
              </a:spcAft>
            </a:pPr>
            <a:r>
              <a:rPr sz="1200" b="1">
                <a:solidFill>
                  <a:srgbClr val="E97132"/>
                </a:solidFill>
                <a:latin typeface="Calibri"/>
              </a:rPr>
              <a:t>✓ </a:t>
            </a:r>
            <a:r>
              <a:rPr sz="1200">
                <a:solidFill>
                  <a:srgbClr val="1E2B36"/>
                </a:solidFill>
                <a:latin typeface="Calibri"/>
              </a:rPr>
              <a:t>delete (DELETE)</a:t>
            </a:r>
          </a:p>
          <a:p>
            <a:pPr>
              <a:lnSpc>
                <a:spcPct val="100000"/>
              </a:lnSpc>
              <a:spcAft>
                <a:spcPts val="300"/>
              </a:spcAft>
            </a:pPr>
            <a:r>
              <a:rPr sz="1200" b="1">
                <a:solidFill>
                  <a:srgbClr val="E97132"/>
                </a:solidFill>
                <a:latin typeface="Calibri"/>
              </a:rPr>
              <a:t>✓ </a:t>
            </a:r>
            <a:r>
              <a:rPr sz="1200">
                <a:solidFill>
                  <a:srgbClr val="1E2B36"/>
                </a:solidFill>
                <a:latin typeface="Calibri"/>
              </a:rPr>
              <a:t>keyset paging</a:t>
            </a:r>
          </a:p>
        </p:txBody>
      </p:sp>
      <p:sp>
        <p:nvSpPr>
          <p:cNvPr id="13" name="Rounded Rectangle 12"/>
          <p:cNvSpPr/>
          <p:nvPr/>
        </p:nvSpPr>
        <p:spPr>
          <a:xfrm>
            <a:off x="8121700"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1700" y="1645920"/>
            <a:ext cx="82296" cy="205740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77732"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QUERYING</a:t>
            </a:r>
          </a:p>
        </p:txBody>
      </p:sp>
      <p:sp>
        <p:nvSpPr>
          <p:cNvPr id="16" name="TextBox 15"/>
          <p:cNvSpPr txBox="1"/>
          <p:nvPr/>
        </p:nvSpPr>
        <p:spPr>
          <a:xfrm>
            <a:off x="8377732"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96B24"/>
                </a:solidFill>
                <a:latin typeface="Calibri"/>
              </a:rPr>
              <a:t>✓ </a:t>
            </a:r>
            <a:r>
              <a:rPr sz="1200">
                <a:solidFill>
                  <a:srgbClr val="1E2B36"/>
                </a:solidFill>
                <a:latin typeface="Calibri"/>
              </a:rPr>
              <a:t>bbox spatial filter</a:t>
            </a:r>
          </a:p>
          <a:p>
            <a:pPr>
              <a:lnSpc>
                <a:spcPct val="100000"/>
              </a:lnSpc>
              <a:spcAft>
                <a:spcPts val="300"/>
              </a:spcAft>
            </a:pPr>
            <a:r>
              <a:rPr sz="1200" b="1">
                <a:solidFill>
                  <a:srgbClr val="196B24"/>
                </a:solidFill>
                <a:latin typeface="Calibri"/>
              </a:rPr>
              <a:t>✓ </a:t>
            </a:r>
            <a:r>
              <a:rPr sz="1200">
                <a:solidFill>
                  <a:srgbClr val="1E2B36"/>
                </a:solidFill>
                <a:latin typeface="Calibri"/>
              </a:rPr>
              <a:t>datetime interval / instant</a:t>
            </a:r>
          </a:p>
          <a:p>
            <a:pPr>
              <a:lnSpc>
                <a:spcPct val="100000"/>
              </a:lnSpc>
              <a:spcAft>
                <a:spcPts val="300"/>
              </a:spcAft>
            </a:pPr>
            <a:r>
              <a:rPr sz="1200" b="1">
                <a:solidFill>
                  <a:srgbClr val="196B24"/>
                </a:solidFill>
                <a:latin typeface="Calibri"/>
              </a:rPr>
              <a:t>✓ </a:t>
            </a:r>
            <a:r>
              <a:rPr sz="1200">
                <a:solidFill>
                  <a:srgbClr val="1E2B36"/>
                </a:solidFill>
                <a:latin typeface="Calibri"/>
              </a:rPr>
              <a:t>subtrajectory clipping</a:t>
            </a:r>
          </a:p>
          <a:p>
            <a:pPr>
              <a:lnSpc>
                <a:spcPct val="100000"/>
              </a:lnSpc>
              <a:spcAft>
                <a:spcPts val="300"/>
              </a:spcAft>
            </a:pPr>
            <a:r>
              <a:rPr sz="1200" b="1">
                <a:solidFill>
                  <a:srgbClr val="196B24"/>
                </a:solidFill>
                <a:latin typeface="Calibri"/>
              </a:rPr>
              <a:t>✓ </a:t>
            </a:r>
            <a:r>
              <a:rPr sz="1200">
                <a:solidFill>
                  <a:srgbClr val="1E2B36"/>
                </a:solidFill>
                <a:latin typeface="Calibri"/>
              </a:rPr>
              <a:t>leaf selector</a:t>
            </a:r>
          </a:p>
        </p:txBody>
      </p:sp>
      <p:sp>
        <p:nvSpPr>
          <p:cNvPr id="17" name="Rounded Rectangle 16"/>
          <p:cNvSpPr/>
          <p:nvPr/>
        </p:nvSpPr>
        <p:spPr>
          <a:xfrm>
            <a:off x="566928"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886200"/>
            <a:ext cx="82296" cy="205740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TEMPORAL GEOMETRY</a:t>
            </a:r>
          </a:p>
        </p:txBody>
      </p:sp>
      <p:sp>
        <p:nvSpPr>
          <p:cNvPr id="20" name="TextBox 19"/>
          <p:cNvSpPr txBox="1"/>
          <p:nvPr/>
        </p:nvSpPr>
        <p:spPr>
          <a:xfrm>
            <a:off x="822960"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A02B93"/>
                </a:solidFill>
                <a:latin typeface="Calibri"/>
              </a:rPr>
              <a:t>✓ </a:t>
            </a:r>
            <a:r>
              <a:rPr sz="1200">
                <a:solidFill>
                  <a:srgbClr val="1E2B36"/>
                </a:solidFill>
                <a:latin typeface="Calibri"/>
              </a:rPr>
              <a:t>get sequence (GET)</a:t>
            </a:r>
          </a:p>
          <a:p>
            <a:pPr>
              <a:lnSpc>
                <a:spcPct val="100000"/>
              </a:lnSpc>
              <a:spcAft>
                <a:spcPts val="300"/>
              </a:spcAft>
            </a:pPr>
            <a:r>
              <a:rPr sz="1200" b="1">
                <a:solidFill>
                  <a:srgbClr val="A02B93"/>
                </a:solidFill>
                <a:latin typeface="Calibri"/>
              </a:rPr>
              <a:t>✓ </a:t>
            </a:r>
            <a:r>
              <a:rPr sz="1200">
                <a:solidFill>
                  <a:srgbClr val="1E2B36"/>
                </a:solidFill>
                <a:latin typeface="Calibri"/>
              </a:rPr>
              <a:t>append sub-trajectory (POST)</a:t>
            </a:r>
          </a:p>
          <a:p>
            <a:pPr>
              <a:lnSpc>
                <a:spcPct val="100000"/>
              </a:lnSpc>
              <a:spcAft>
                <a:spcPts val="300"/>
              </a:spcAft>
            </a:pPr>
            <a:r>
              <a:rPr sz="1200" b="1">
                <a:solidFill>
                  <a:srgbClr val="A02B93"/>
                </a:solidFill>
                <a:latin typeface="Calibri"/>
              </a:rPr>
              <a:t>✓ </a:t>
            </a:r>
            <a:r>
              <a:rPr sz="1200">
                <a:solidFill>
                  <a:srgbClr val="1E2B36"/>
                </a:solidFill>
                <a:latin typeface="Calibri"/>
              </a:rPr>
              <a:t>datetime / leaf clip</a:t>
            </a:r>
          </a:p>
        </p:txBody>
      </p:sp>
      <p:sp>
        <p:nvSpPr>
          <p:cNvPr id="21" name="Rounded Rectangle 20"/>
          <p:cNvSpPr/>
          <p:nvPr/>
        </p:nvSpPr>
        <p:spPr>
          <a:xfrm>
            <a:off x="4344314"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4314" y="388620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0346"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DERIVED MEASURES</a:t>
            </a:r>
          </a:p>
        </p:txBody>
      </p:sp>
      <p:sp>
        <p:nvSpPr>
          <p:cNvPr id="24" name="TextBox 23"/>
          <p:cNvSpPr txBox="1"/>
          <p:nvPr/>
        </p:nvSpPr>
        <p:spPr>
          <a:xfrm>
            <a:off x="4600346"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distance</a:t>
            </a:r>
          </a:p>
          <a:p>
            <a:pPr>
              <a:lnSpc>
                <a:spcPct val="100000"/>
              </a:lnSpc>
              <a:spcAft>
                <a:spcPts val="300"/>
              </a:spcAft>
            </a:pPr>
            <a:r>
              <a:rPr sz="1200" b="1">
                <a:solidFill>
                  <a:srgbClr val="156082"/>
                </a:solidFill>
                <a:latin typeface="Calibri"/>
              </a:rPr>
              <a:t>✓ </a:t>
            </a:r>
            <a:r>
              <a:rPr sz="1200">
                <a:solidFill>
                  <a:srgbClr val="1E2B36"/>
                </a:solidFill>
                <a:latin typeface="Calibri"/>
              </a:rPr>
              <a:t>velocity</a:t>
            </a:r>
          </a:p>
          <a:p>
            <a:pPr>
              <a:lnSpc>
                <a:spcPct val="100000"/>
              </a:lnSpc>
              <a:spcAft>
                <a:spcPts val="300"/>
              </a:spcAft>
            </a:pPr>
            <a:r>
              <a:rPr sz="1200" b="1">
                <a:solidFill>
                  <a:srgbClr val="156082"/>
                </a:solidFill>
                <a:latin typeface="Calibri"/>
              </a:rPr>
              <a:t>✓ </a:t>
            </a:r>
            <a:r>
              <a:rPr sz="1200">
                <a:solidFill>
                  <a:srgbClr val="1E2B36"/>
                </a:solidFill>
                <a:latin typeface="Calibri"/>
              </a:rPr>
              <a:t>acceleration → 501 (not derivable)</a:t>
            </a:r>
          </a:p>
          <a:p>
            <a:pPr>
              <a:lnSpc>
                <a:spcPct val="100000"/>
              </a:lnSpc>
              <a:spcAft>
                <a:spcPts val="300"/>
              </a:spcAft>
            </a:pPr>
            <a:r>
              <a:rPr sz="1200" b="1">
                <a:solidFill>
                  <a:srgbClr val="156082"/>
                </a:solidFill>
                <a:latin typeface="Calibri"/>
              </a:rPr>
              <a:t>✓ </a:t>
            </a:r>
            <a:r>
              <a:rPr sz="1200">
                <a:solidFill>
                  <a:srgbClr val="1E2B36"/>
                </a:solidFill>
                <a:latin typeface="Calibri"/>
              </a:rPr>
              <a:t>exact, as TReal</a:t>
            </a:r>
          </a:p>
        </p:txBody>
      </p:sp>
      <p:sp>
        <p:nvSpPr>
          <p:cNvPr id="25" name="Rounded Rectangle 24"/>
          <p:cNvSpPr/>
          <p:nvPr/>
        </p:nvSpPr>
        <p:spPr>
          <a:xfrm>
            <a:off x="8121700"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1700" y="388620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77732"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CONFORMANCE &amp; SCALE</a:t>
            </a:r>
          </a:p>
        </p:txBody>
      </p:sp>
      <p:sp>
        <p:nvSpPr>
          <p:cNvPr id="28" name="TextBox 27"/>
          <p:cNvSpPr txBox="1"/>
          <p:nvPr/>
        </p:nvSpPr>
        <p:spPr>
          <a:xfrm>
            <a:off x="8377732"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5 conformance classes</a:t>
            </a:r>
          </a:p>
          <a:p>
            <a:pPr>
              <a:lnSpc>
                <a:spcPct val="100000"/>
              </a:lnSpc>
              <a:spcAft>
                <a:spcPts val="300"/>
              </a:spcAft>
            </a:pPr>
            <a:r>
              <a:rPr sz="1200" b="1">
                <a:solidFill>
                  <a:srgbClr val="E97132"/>
                </a:solidFill>
                <a:latin typeface="Calibri"/>
              </a:rPr>
              <a:t>✓ </a:t>
            </a:r>
            <a:r>
              <a:rPr sz="1200">
                <a:solidFill>
                  <a:srgbClr val="1E2B36"/>
                </a:solidFill>
                <a:latin typeface="Calibri"/>
              </a:rPr>
              <a:t>OpenAPI at /api</a:t>
            </a:r>
          </a:p>
          <a:p>
            <a:pPr>
              <a:lnSpc>
                <a:spcPct val="100000"/>
              </a:lnSpc>
              <a:spcAft>
                <a:spcPts val="300"/>
              </a:spcAft>
            </a:pPr>
            <a:r>
              <a:rPr sz="1200" b="1">
                <a:solidFill>
                  <a:srgbClr val="E97132"/>
                </a:solidFill>
                <a:latin typeface="Calibri"/>
              </a:rPr>
              <a:t>✓ </a:t>
            </a:r>
            <a:r>
              <a:rPr sz="1200">
                <a:solidFill>
                  <a:srgbClr val="1E2B36"/>
                </a:solidFill>
                <a:latin typeface="Calibri"/>
              </a:rPr>
              <a:t>streaming + keyset</a:t>
            </a:r>
          </a:p>
          <a:p>
            <a:pPr>
              <a:lnSpc>
                <a:spcPct val="100000"/>
              </a:lnSpc>
              <a:spcAft>
                <a:spcPts val="300"/>
              </a:spcAft>
            </a:pPr>
            <a:r>
              <a:rPr sz="1200" b="1">
                <a:solidFill>
                  <a:srgbClr val="E97132"/>
                </a:solidFill>
                <a:latin typeface="Calibri"/>
              </a:rPr>
              <a:t>✓ </a:t>
            </a:r>
            <a:r>
              <a:rPr sz="1200">
                <a:solidFill>
                  <a:srgbClr val="1E2B36"/>
                </a:solidFill>
                <a:latin typeface="Calibri"/>
              </a:rPr>
              <a:t>NDJSON · Parquet export</a:t>
            </a:r>
          </a:p>
        </p:txBody>
      </p:sp>
      <p:sp>
        <p:nvSpPr>
          <p:cNvPr id="29" name="Rectangle 2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1" name="TextBox 30"/>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468880"/>
            <a:ext cx="100584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Thanks for Listening</a:t>
            </a:r>
          </a:p>
        </p:txBody>
      </p:sp>
      <p:sp>
        <p:nvSpPr>
          <p:cNvPr id="5" name="TextBox 4"/>
          <p:cNvSpPr txBox="1"/>
          <p:nvPr/>
        </p:nvSpPr>
        <p:spPr>
          <a:xfrm>
            <a:off x="566928" y="3566160"/>
            <a:ext cx="10058400" cy="548640"/>
          </a:xfrm>
          <a:prstGeom prst="rect">
            <a:avLst/>
          </a:prstGeom>
          <a:noFill/>
        </p:spPr>
        <p:txBody>
          <a:bodyPr wrap="square" anchor="t" lIns="0" rIns="0" tIns="0" bIns="0">
            <a:noAutofit/>
          </a:bodyPr>
          <a:lstStyle/>
          <a:p>
            <a:pPr algn="l">
              <a:spcBef>
                <a:spcPts val="0"/>
              </a:spcBef>
              <a:spcAft>
                <a:spcPts val="200"/>
              </a:spcAft>
            </a:pPr>
            <a:r>
              <a:rPr sz="2400" b="1" i="0">
                <a:solidFill>
                  <a:srgbClr val="E97132"/>
                </a:solidFill>
                <a:latin typeface="Calibri"/>
              </a:rPr>
              <a:t>Questions?</a:t>
            </a:r>
          </a:p>
        </p:txBody>
      </p:sp>
      <p:pic>
        <p:nvPicPr>
          <p:cNvPr id="6" name="Picture 5" descr="mobilitydb-logo.png"/>
          <p:cNvPicPr>
            <a:picLocks noChangeAspect="1"/>
          </p:cNvPicPr>
          <p:nvPr/>
        </p:nvPicPr>
        <p:blipFill>
          <a:blip r:embed="rId2"/>
          <a:stretch>
            <a:fillRect/>
          </a:stretch>
        </p:blipFill>
        <p:spPr>
          <a:xfrm>
            <a:off x="10070970" y="4297680"/>
            <a:ext cx="1633349" cy="173736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Find Out More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199339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20240"/>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OGC API – Moving Features – Part 1: Core</a:t>
            </a:r>
          </a:p>
        </p:txBody>
      </p:sp>
      <p:sp>
        <p:nvSpPr>
          <p:cNvPr id="7" name="TextBox 6"/>
          <p:cNvSpPr txBox="1"/>
          <p:nvPr/>
        </p:nvSpPr>
        <p:spPr>
          <a:xfrm>
            <a:off x="932688" y="2231136"/>
            <a:ext cx="10515600" cy="292608"/>
          </a:xfrm>
          <a:prstGeom prst="rect">
            <a:avLst/>
          </a:prstGeom>
          <a:noFill/>
        </p:spPr>
        <p:txBody>
          <a:bodyPr wrap="none" lIns="0" rIns="0" tIns="0" bIns="0">
            <a:noAutofit/>
          </a:bodyPr>
          <a:lstStyle/>
          <a:p>
            <a:pPr algn="l"/>
            <a:r>
              <a:rPr sz="1200" u="none">
                <a:solidFill>
                  <a:srgbClr val="156082"/>
                </a:solidFill>
                <a:latin typeface="Consolas"/>
                <a:hlinkClick r:id="rId2"/>
              </a:rPr>
              <a:t>https://docs.ogc.org/is/22-003r3/22-003r3.html</a:t>
            </a:r>
          </a:p>
        </p:txBody>
      </p:sp>
      <p:sp>
        <p:nvSpPr>
          <p:cNvPr id="8" name="Rectangle 7"/>
          <p:cNvSpPr/>
          <p:nvPr/>
        </p:nvSpPr>
        <p:spPr>
          <a:xfrm>
            <a:off x="566928" y="283464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761488"/>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MobilityDB</a:t>
            </a:r>
          </a:p>
        </p:txBody>
      </p:sp>
      <p:sp>
        <p:nvSpPr>
          <p:cNvPr id="10" name="TextBox 9"/>
          <p:cNvSpPr txBox="1"/>
          <p:nvPr/>
        </p:nvSpPr>
        <p:spPr>
          <a:xfrm>
            <a:off x="932688" y="3072384"/>
            <a:ext cx="10515600" cy="292608"/>
          </a:xfrm>
          <a:prstGeom prst="rect">
            <a:avLst/>
          </a:prstGeom>
          <a:noFill/>
        </p:spPr>
        <p:txBody>
          <a:bodyPr wrap="none" lIns="0" rIns="0" tIns="0" bIns="0">
            <a:noAutofit/>
          </a:bodyPr>
          <a:lstStyle/>
          <a:p>
            <a:pPr algn="l"/>
            <a:r>
              <a:rPr sz="1200" u="none">
                <a:solidFill>
                  <a:srgbClr val="156082"/>
                </a:solidFill>
                <a:latin typeface="Consolas"/>
                <a:hlinkClick r:id="rId3"/>
              </a:rPr>
              <a:t>https://github.com/MobilityDB/MobilityDB</a:t>
            </a:r>
            <a:r>
              <a:rPr sz="1200">
                <a:solidFill>
                  <a:srgbClr val="5B6B78"/>
                </a:solidFill>
                <a:latin typeface="Consolas"/>
              </a:rPr>
              <a:t>    ·    </a:t>
            </a:r>
            <a:r>
              <a:rPr sz="1200" u="none">
                <a:solidFill>
                  <a:srgbClr val="156082"/>
                </a:solidFill>
                <a:latin typeface="Consolas"/>
                <a:hlinkClick r:id="rId4"/>
              </a:rPr>
              <a:t>https://mobilitydb.com</a:t>
            </a:r>
          </a:p>
        </p:txBody>
      </p:sp>
      <p:sp>
        <p:nvSpPr>
          <p:cNvPr id="11" name="Rectangle 10"/>
          <p:cNvSpPr/>
          <p:nvPr/>
        </p:nvSpPr>
        <p:spPr>
          <a:xfrm>
            <a:off x="566928" y="3675887"/>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602736"/>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MEOS / ecosystem overview</a:t>
            </a:r>
          </a:p>
        </p:txBody>
      </p:sp>
      <p:sp>
        <p:nvSpPr>
          <p:cNvPr id="13" name="TextBox 12"/>
          <p:cNvSpPr txBox="1"/>
          <p:nvPr/>
        </p:nvSpPr>
        <p:spPr>
          <a:xfrm>
            <a:off x="932688" y="3913632"/>
            <a:ext cx="10515600" cy="292608"/>
          </a:xfrm>
          <a:prstGeom prst="rect">
            <a:avLst/>
          </a:prstGeom>
          <a:noFill/>
        </p:spPr>
        <p:txBody>
          <a:bodyPr wrap="none" lIns="0" rIns="0" tIns="0" bIns="0">
            <a:noAutofit/>
          </a:bodyPr>
          <a:lstStyle/>
          <a:p>
            <a:pPr algn="l"/>
            <a:r>
              <a:rPr sz="1200" u="none">
                <a:solidFill>
                  <a:srgbClr val="156082"/>
                </a:solidFill>
                <a:latin typeface="Consolas"/>
                <a:hlinkClick r:id="rId5"/>
              </a:rPr>
              <a:t>https://libmeos.org</a:t>
            </a:r>
          </a:p>
        </p:txBody>
      </p:sp>
      <p:sp>
        <p:nvSpPr>
          <p:cNvPr id="14" name="Rectangle 13"/>
          <p:cNvSpPr/>
          <p:nvPr/>
        </p:nvSpPr>
        <p:spPr>
          <a:xfrm>
            <a:off x="566928" y="4517136"/>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443984"/>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AIS data — Danish Maritime Authority</a:t>
            </a:r>
          </a:p>
        </p:txBody>
      </p:sp>
      <p:sp>
        <p:nvSpPr>
          <p:cNvPr id="16" name="TextBox 15"/>
          <p:cNvSpPr txBox="1"/>
          <p:nvPr/>
        </p:nvSpPr>
        <p:spPr>
          <a:xfrm>
            <a:off x="932688" y="4754880"/>
            <a:ext cx="10515600" cy="292608"/>
          </a:xfrm>
          <a:prstGeom prst="rect">
            <a:avLst/>
          </a:prstGeom>
          <a:noFill/>
        </p:spPr>
        <p:txBody>
          <a:bodyPr wrap="none" lIns="0" rIns="0" tIns="0" bIns="0">
            <a:noAutofit/>
          </a:bodyPr>
          <a:lstStyle/>
          <a:p>
            <a:pPr algn="l"/>
            <a:r>
              <a:rPr sz="1200" u="none">
                <a:solidFill>
                  <a:srgbClr val="156082"/>
                </a:solidFill>
                <a:latin typeface="Consolas"/>
                <a:hlinkClick r:id="rId6"/>
              </a:rPr>
              <a:t>http://aisdata.ais.dk</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