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MobilityAPI is an OGC API – Moving Features server over MobilityDB: a thin compiled tier that keeps every temporal computation in the database and ships as a single static binary. This deck walks the implemented surface against a day of Danish AIS ship-trajectory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Positioning: a thin HTTP/OGC facade in front of MobilityDB. Reads stream asMFJSON assembled in SQL; writes call tgeompointFromMFJSON. The only application logic is a small crs and interpolation adapter.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division of labour: the tier routes, pools and streams; MobilityDB does all temporal work and (de)serialization. No MEOS runs in the tier.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OGC data model maps one to one onto MobilityAPI's REST resources.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Zoomed view of the OGC API – Moving Features class diagram for class-level detail.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Zoomed view of the OGC API – Moving Features class diagram for class-level detail.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backing model is small: a collections registry and one feature table holding a tgeompoint, indexed by GiST. Temporal properties are derived from the geometry, not stored in side tables.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loaded ships collection: 2,833 vessel trajectories from 1,878 MMSI over one day, 6.2 million observed instants, in EPSG:25832.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implemented endpoint and method. The walkthrough demonstrates each group against the ships collection.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the live walkthrough against the ships collection.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/collections lists every registered collection from the registry; GET /collections/{id} returns one collection's metadata.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items streams a FeatureCollection from a cursor and pages by keyset. The temporalGeometry is MovingFeaturesJSON produced by asMFJSON.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bbox query is a spatial pre-filter executed by MobilityDB's GiST index over the inline STBOX.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Writes: POST creates, PUT replaces, DELETE removes, and POST tgsequence appends a temporally-disjoint sub-trajectory via merge (overlap returns 409). Derived-property writes and primitive deletes return 501 with the reason.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distance and velocity are exact MobilityDB functions. Acceleration returns 501 because the derivative of a piecewise-constant speed is zero within segments and undefined at the vertices; the server does not fabricate it by resampling speed to linear.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tproperties lists the derived temporal properties; GET tproperties/{name} returns its valueSequence. The leaf selector returns Discrete values at given instants.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server declares the three Moving Features conformance classes plus OGC Common core and collections, serves an OpenAPI definition at /api, and returns the OGC exception schema on errors.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Streaming responses keep memory bounded (a 393 MB NDJSON export held about 18 MB resident), keyset pagination pages through arbitrarily large collections, bbox and datetime use the index, and the export feeds the lakehouse as NDJSON or as Parquet with a WKB and bbox/time sidecar whose row group bounds memory.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thin-tier pattern generalises across the MEOS ecosystem: the tier speaks MF-JSON and WKB and keeps all temporal work in the engine, so the storage and compute engine becomes a configuration choice. MobilityDB is implemented today; MobilityDuck (embedded lakehouse), MobilitySpark (distributed batch) and MobilityFlink (streaming, real time) reuse the same surface.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ogc.org/is/22-003r3/22-003r3.html" TargetMode="External"/><Relationship Id="rId3" Type="http://schemas.openxmlformats.org/officeDocument/2006/relationships/hyperlink" Target="https://github.com/MobilityDB/MobilityDB" TargetMode="External"/><Relationship Id="rId4" Type="http://schemas.openxmlformats.org/officeDocument/2006/relationships/hyperlink" Target="https://mobilitydb.com" TargetMode="External"/><Relationship Id="rId5" Type="http://schemas.openxmlformats.org/officeDocument/2006/relationships/hyperlink" Target="https://libmeos.org" TargetMode="External"/><Relationship Id="rId6" Type="http://schemas.openxmlformats.org/officeDocument/2006/relationships/hyperlink" Target="http://aisdata.ais.dk"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965960"/>
            <a:ext cx="8686800" cy="1097280"/>
          </a:xfrm>
          <a:prstGeom prst="rect">
            <a:avLst/>
          </a:prstGeom>
          <a:noFill/>
        </p:spPr>
        <p:txBody>
          <a:bodyPr wrap="square" anchor="t" lIns="0" rIns="0" tIns="0" bIns="0">
            <a:noAutofit/>
          </a:bodyPr>
          <a:lstStyle/>
          <a:p>
            <a:pPr algn="l">
              <a:spcBef>
                <a:spcPts val="0"/>
              </a:spcBef>
              <a:spcAft>
                <a:spcPts val="200"/>
              </a:spcAft>
            </a:pPr>
            <a:r>
              <a:rPr sz="6600" b="1" i="0">
                <a:solidFill>
                  <a:srgbClr val="FFFFFF"/>
                </a:solidFill>
                <a:latin typeface="Calibri Light"/>
              </a:rPr>
              <a:t>MobilityAPI</a:t>
            </a:r>
          </a:p>
        </p:txBody>
      </p:sp>
      <p:sp>
        <p:nvSpPr>
          <p:cNvPr id="5" name="TextBox 4"/>
          <p:cNvSpPr txBox="1"/>
          <p:nvPr/>
        </p:nvSpPr>
        <p:spPr>
          <a:xfrm>
            <a:off x="566928" y="3127248"/>
            <a:ext cx="8961120" cy="731520"/>
          </a:xfrm>
          <a:prstGeom prst="rect">
            <a:avLst/>
          </a:prstGeom>
          <a:noFill/>
        </p:spPr>
        <p:txBody>
          <a:bodyPr wrap="square" anchor="t" lIns="0" rIns="0" tIns="0" bIns="0">
            <a:noAutofit/>
          </a:bodyPr>
          <a:lstStyle/>
          <a:p>
            <a:pPr algn="l">
              <a:spcBef>
                <a:spcPts val="0"/>
              </a:spcBef>
              <a:spcAft>
                <a:spcPts val="200"/>
              </a:spcAft>
            </a:pPr>
            <a:r>
              <a:rPr sz="2000" b="0" i="0">
                <a:solidFill>
                  <a:srgbClr val="BFD6E2"/>
                </a:solidFill>
                <a:latin typeface="Calibri"/>
              </a:rPr>
              <a:t>An OGC API – Moving Features server over MobilityDB</a:t>
            </a:r>
          </a:p>
        </p:txBody>
      </p:sp>
      <p:sp>
        <p:nvSpPr>
          <p:cNvPr id="6" name="Rectangle 5"/>
          <p:cNvSpPr/>
          <p:nvPr/>
        </p:nvSpPr>
        <p:spPr>
          <a:xfrm>
            <a:off x="566928" y="3913632"/>
            <a:ext cx="1828800" cy="4572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4096512"/>
            <a:ext cx="9326880" cy="457200"/>
          </a:xfrm>
          <a:prstGeom prst="rect">
            <a:avLst/>
          </a:prstGeom>
          <a:noFill/>
        </p:spPr>
        <p:txBody>
          <a:bodyPr wrap="square" anchor="t" lIns="0" rIns="0" tIns="0" bIns="0">
            <a:noAutofit/>
          </a:bodyPr>
          <a:lstStyle/>
          <a:p>
            <a:pPr algn="l">
              <a:spcBef>
                <a:spcPts val="0"/>
              </a:spcBef>
              <a:spcAft>
                <a:spcPts val="200"/>
              </a:spcAft>
            </a:pPr>
            <a:r>
              <a:rPr sz="1400" b="0" i="0">
                <a:solidFill>
                  <a:srgbClr val="9EB8C8"/>
                </a:solidFill>
                <a:latin typeface="Calibri"/>
              </a:rPr>
              <a:t>A thin compiled tier over MobilityDB  ·  canonical Danish AIS example</a:t>
            </a:r>
          </a:p>
        </p:txBody>
      </p:sp>
      <p:pic>
        <p:nvPicPr>
          <p:cNvPr id="8" name="Picture 7" descr="mobilitydb-logo.png"/>
          <p:cNvPicPr>
            <a:picLocks noChangeAspect="1"/>
          </p:cNvPicPr>
          <p:nvPr/>
        </p:nvPicPr>
        <p:blipFill>
          <a:blip r:embed="rId2"/>
          <a:stretch>
            <a:fillRect/>
          </a:stretch>
        </p:blipFill>
        <p:spPr>
          <a:xfrm>
            <a:off x="10414833" y="457200"/>
            <a:ext cx="1289486" cy="1371600"/>
          </a:xfrm>
          <a:prstGeom prst="rect">
            <a:avLst/>
          </a:prstGeom>
        </p:spPr>
      </p:pic>
      <p:pic>
        <p:nvPicPr>
          <p:cNvPr id="9" name="Picture 8" descr="OGC_navy.png"/>
          <p:cNvPicPr>
            <a:picLocks noChangeAspect="1"/>
          </p:cNvPicPr>
          <p:nvPr/>
        </p:nvPicPr>
        <p:blipFill>
          <a:blip r:embed="rId3"/>
          <a:stretch>
            <a:fillRect/>
          </a:stretch>
        </p:blipFill>
        <p:spPr>
          <a:xfrm>
            <a:off x="10058400" y="5166359"/>
            <a:ext cx="1645920" cy="1234440"/>
          </a:xfrm>
          <a:prstGeom prst="rect">
            <a:avLst/>
          </a:prstGeom>
        </p:spPr>
      </p:pic>
      <p:sp>
        <p:nvSpPr>
          <p:cNvPr id="10" name="TextBox 9"/>
          <p:cNvSpPr txBox="1"/>
          <p:nvPr/>
        </p:nvSpPr>
        <p:spPr>
          <a:xfrm>
            <a:off x="566928" y="5943600"/>
            <a:ext cx="9144000" cy="274320"/>
          </a:xfrm>
          <a:prstGeom prst="rect">
            <a:avLst/>
          </a:prstGeom>
          <a:noFill/>
        </p:spPr>
        <p:txBody>
          <a:bodyPr wrap="square" anchor="t" lIns="0" rIns="0" tIns="0" bIns="0">
            <a:noAutofit/>
          </a:bodyPr>
          <a:lstStyle/>
          <a:p>
            <a:pPr algn="l">
              <a:spcBef>
                <a:spcPts val="0"/>
              </a:spcBef>
              <a:spcAft>
                <a:spcPts val="200"/>
              </a:spcAft>
            </a:pPr>
            <a:r>
              <a:rPr sz="1200" b="0" i="0">
                <a:solidFill>
                  <a:srgbClr val="7F9BAD"/>
                </a:solidFill>
                <a:latin typeface="Consolas"/>
              </a:rPr>
              <a:t>net/http + pgxpool  ·  single static binary  ·  no MEOS in the tier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WHAT IT IS</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A Thin Tier over MobilityDB, Fat Database</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645920"/>
            <a:ext cx="6400800" cy="4206240"/>
          </a:xfrm>
          <a:prstGeom prst="rect">
            <a:avLst/>
          </a:prstGeom>
          <a:noFill/>
        </p:spPr>
        <p:txBody>
          <a:bodyPr wrap="square" lIns="0" rIns="0" tIns="0" bIns="0">
            <a:noAutofit/>
          </a:bodyPr>
          <a:lstStyle/>
          <a:p>
            <a:pPr>
              <a:lnSpc>
                <a:spcPct val="106000"/>
              </a:lnSpc>
              <a:spcBef>
                <a:spcPts val="0"/>
              </a:spcBef>
              <a:spcAft>
                <a:spcPts val="1200"/>
              </a:spcAft>
            </a:pPr>
            <a:r>
              <a:rPr sz="1400" b="1">
                <a:solidFill>
                  <a:srgbClr val="156082"/>
                </a:solidFill>
                <a:latin typeface="Calibri"/>
              </a:rPr>
              <a:t>▸  </a:t>
            </a:r>
            <a:r>
              <a:rPr sz="1400" b="1">
                <a:solidFill>
                  <a:srgbClr val="0E2841"/>
                </a:solidFill>
                <a:latin typeface="Calibri"/>
              </a:rPr>
              <a:t>OGC-compliant:  </a:t>
            </a:r>
            <a:r>
              <a:rPr sz="1400">
                <a:solidFill>
                  <a:srgbClr val="1E2B36"/>
                </a:solidFill>
                <a:latin typeface="Calibri"/>
              </a:rPr>
              <a:t>implements OGC API – Moving Features – Part 1: Core: collections, items, temporal geometry, derived queries, temporal properties</a:t>
            </a:r>
          </a:p>
          <a:p>
            <a:pPr>
              <a:lnSpc>
                <a:spcPct val="106000"/>
              </a:lnSpc>
              <a:spcBef>
                <a:spcPts val="0"/>
              </a:spcBef>
              <a:spcAft>
                <a:spcPts val="1200"/>
              </a:spcAft>
            </a:pPr>
            <a:r>
              <a:rPr sz="1400" b="1">
                <a:solidFill>
                  <a:srgbClr val="156082"/>
                </a:solidFill>
                <a:latin typeface="Calibri"/>
              </a:rPr>
              <a:t>▸  </a:t>
            </a:r>
            <a:r>
              <a:rPr sz="1400" b="1">
                <a:solidFill>
                  <a:srgbClr val="0E2841"/>
                </a:solidFill>
                <a:latin typeface="Calibri"/>
              </a:rPr>
              <a:t>Thin compiled tier:  </a:t>
            </a:r>
            <a:r>
              <a:rPr sz="1400">
                <a:solidFill>
                  <a:srgbClr val="1E2B36"/>
                </a:solidFill>
                <a:latin typeface="Calibri"/>
              </a:rPr>
              <a:t>net/http and a pgx connection pool; a single static binary, no cgo and no MEOS in the process</a:t>
            </a:r>
          </a:p>
          <a:p>
            <a:pPr>
              <a:lnSpc>
                <a:spcPct val="106000"/>
              </a:lnSpc>
              <a:spcBef>
                <a:spcPts val="0"/>
              </a:spcBef>
              <a:spcAft>
                <a:spcPts val="1200"/>
              </a:spcAft>
            </a:pPr>
            <a:r>
              <a:rPr sz="1400" b="1">
                <a:solidFill>
                  <a:srgbClr val="156082"/>
                </a:solidFill>
                <a:latin typeface="Calibri"/>
              </a:rPr>
              <a:t>▸  </a:t>
            </a:r>
            <a:r>
              <a:rPr sz="1400" b="1">
                <a:solidFill>
                  <a:srgbClr val="0E2841"/>
                </a:solidFill>
                <a:latin typeface="Calibri"/>
              </a:rPr>
              <a:t>Fat database:  </a:t>
            </a:r>
            <a:r>
              <a:rPr sz="1400">
                <a:solidFill>
                  <a:srgbClr val="1E2B36"/>
                </a:solidFill>
                <a:latin typeface="Calibri"/>
              </a:rPr>
              <a:t>every temporal computation stays in MobilityDB; the tier never parses or transforms a trajectory in memory</a:t>
            </a:r>
          </a:p>
          <a:p>
            <a:pPr>
              <a:lnSpc>
                <a:spcPct val="106000"/>
              </a:lnSpc>
              <a:spcBef>
                <a:spcPts val="0"/>
              </a:spcBef>
              <a:spcAft>
                <a:spcPts val="1200"/>
              </a:spcAft>
            </a:pPr>
            <a:r>
              <a:rPr sz="1400" b="1">
                <a:solidFill>
                  <a:srgbClr val="156082"/>
                </a:solidFill>
                <a:latin typeface="Calibri"/>
              </a:rPr>
              <a:t>▸  </a:t>
            </a:r>
            <a:r>
              <a:rPr sz="1400" b="1">
                <a:solidFill>
                  <a:srgbClr val="0E2841"/>
                </a:solidFill>
                <a:latin typeface="Calibri"/>
              </a:rPr>
              <a:t>REST for any client:  </a:t>
            </a:r>
            <a:r>
              <a:rPr sz="1400">
                <a:solidFill>
                  <a:srgbClr val="1E2B36"/>
                </a:solidFill>
                <a:latin typeface="Calibri"/>
              </a:rPr>
              <a:t>browsers, mobile, microservices and ETL consume mobility data without SQL or the PostgreSQL wire protocol</a:t>
            </a:r>
          </a:p>
          <a:p>
            <a:pPr>
              <a:lnSpc>
                <a:spcPct val="106000"/>
              </a:lnSpc>
              <a:spcBef>
                <a:spcPts val="0"/>
              </a:spcBef>
              <a:spcAft>
                <a:spcPts val="1200"/>
              </a:spcAft>
            </a:pPr>
            <a:r>
              <a:rPr sz="1400" b="1">
                <a:solidFill>
                  <a:srgbClr val="156082"/>
                </a:solidFill>
                <a:latin typeface="Calibri"/>
              </a:rPr>
              <a:t>▸  </a:t>
            </a:r>
            <a:r>
              <a:rPr sz="1400" b="1">
                <a:solidFill>
                  <a:srgbClr val="0E2841"/>
                </a:solidFill>
                <a:latin typeface="Calibri"/>
              </a:rPr>
              <a:t>Bounded as data grows:  </a:t>
            </a:r>
            <a:r>
              <a:rPr sz="1400">
                <a:solidFill>
                  <a:srgbClr val="1E2B36"/>
                </a:solidFill>
                <a:latin typeface="Calibri"/>
              </a:rPr>
              <a:t>streaming responses, keyset pagination and index-using filters keep memory and paging bounded as collections grow</a:t>
            </a:r>
          </a:p>
        </p:txBody>
      </p:sp>
      <p:sp>
        <p:nvSpPr>
          <p:cNvPr id="6" name="Rounded Rectangle 5"/>
          <p:cNvSpPr/>
          <p:nvPr/>
        </p:nvSpPr>
        <p:spPr>
          <a:xfrm>
            <a:off x="7589520" y="1783080"/>
            <a:ext cx="4023360" cy="3977639"/>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0" y="1984248"/>
            <a:ext cx="3474720"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REQUEST FLOW</a:t>
            </a:r>
          </a:p>
        </p:txBody>
      </p:sp>
      <p:sp>
        <p:nvSpPr>
          <p:cNvPr id="8" name="Rounded Rectangle 7"/>
          <p:cNvSpPr/>
          <p:nvPr/>
        </p:nvSpPr>
        <p:spPr>
          <a:xfrm>
            <a:off x="7909560" y="2560320"/>
            <a:ext cx="3383280" cy="676656"/>
          </a:xfrm>
          <a:prstGeom prst="roundRect">
            <a:avLst>
              <a:gd name="adj" fmla="val 12000"/>
            </a:avLst>
          </a:prstGeom>
          <a:solidFill>
            <a:srgbClr val="FFFFFF"/>
          </a:solidFill>
          <a:ln w="19050">
            <a:solidFill>
              <a:srgbClr val="0E28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92440" y="2660903"/>
            <a:ext cx="3017520" cy="274320"/>
          </a:xfrm>
          <a:prstGeom prst="rect">
            <a:avLst/>
          </a:prstGeom>
          <a:noFill/>
        </p:spPr>
        <p:txBody>
          <a:bodyPr wrap="square" anchor="t" lIns="0" rIns="0" tIns="0" bIns="0">
            <a:noAutofit/>
          </a:bodyPr>
          <a:lstStyle/>
          <a:p>
            <a:pPr algn="l">
              <a:spcBef>
                <a:spcPts val="0"/>
              </a:spcBef>
              <a:spcAft>
                <a:spcPts val="200"/>
              </a:spcAft>
            </a:pPr>
            <a:r>
              <a:rPr sz="1400" b="1" i="0">
                <a:solidFill>
                  <a:srgbClr val="0E2841"/>
                </a:solidFill>
                <a:latin typeface="Calibri"/>
              </a:rPr>
              <a:t>HTTP client</a:t>
            </a:r>
          </a:p>
        </p:txBody>
      </p:sp>
      <p:sp>
        <p:nvSpPr>
          <p:cNvPr id="10" name="TextBox 9"/>
          <p:cNvSpPr txBox="1"/>
          <p:nvPr/>
        </p:nvSpPr>
        <p:spPr>
          <a:xfrm>
            <a:off x="8092440" y="2944368"/>
            <a:ext cx="3017520" cy="22860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onsolas"/>
              </a:rPr>
              <a:t>browser · mobile · ETL</a:t>
            </a:r>
          </a:p>
        </p:txBody>
      </p:sp>
      <p:sp>
        <p:nvSpPr>
          <p:cNvPr id="11" name="TextBox 10"/>
          <p:cNvSpPr txBox="1"/>
          <p:nvPr/>
        </p:nvSpPr>
        <p:spPr>
          <a:xfrm>
            <a:off x="7909560" y="3236976"/>
            <a:ext cx="3383280" cy="237744"/>
          </a:xfrm>
          <a:prstGeom prst="rect">
            <a:avLst/>
          </a:prstGeom>
          <a:noFill/>
        </p:spPr>
        <p:txBody>
          <a:bodyPr wrap="square" anchor="t" lIns="0" rIns="0" tIns="0" bIns="0">
            <a:noAutofit/>
          </a:bodyPr>
          <a:lstStyle/>
          <a:p>
            <a:pPr algn="ctr">
              <a:spcBef>
                <a:spcPts val="0"/>
              </a:spcBef>
              <a:spcAft>
                <a:spcPts val="200"/>
              </a:spcAft>
            </a:pPr>
            <a:r>
              <a:rPr sz="1200" b="0" i="0">
                <a:solidFill>
                  <a:srgbClr val="5B6B78"/>
                </a:solidFill>
                <a:latin typeface="Calibri"/>
              </a:rPr>
              <a:t>▼</a:t>
            </a:r>
          </a:p>
        </p:txBody>
      </p:sp>
      <p:sp>
        <p:nvSpPr>
          <p:cNvPr id="12" name="Rounded Rectangle 11"/>
          <p:cNvSpPr/>
          <p:nvPr/>
        </p:nvSpPr>
        <p:spPr>
          <a:xfrm>
            <a:off x="7909560" y="3547872"/>
            <a:ext cx="3383280" cy="676656"/>
          </a:xfrm>
          <a:prstGeom prst="roundRect">
            <a:avLst>
              <a:gd name="adj" fmla="val 12000"/>
            </a:avLst>
          </a:prstGeom>
          <a:solidFill>
            <a:srgbClr val="FFFFFF"/>
          </a:solidFill>
          <a:ln w="19050">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3648456"/>
            <a:ext cx="3017520" cy="274320"/>
          </a:xfrm>
          <a:prstGeom prst="rect">
            <a:avLst/>
          </a:prstGeom>
          <a:noFill/>
        </p:spPr>
        <p:txBody>
          <a:bodyPr wrap="square" anchor="t" lIns="0" rIns="0" tIns="0" bIns="0">
            <a:noAutofit/>
          </a:bodyPr>
          <a:lstStyle/>
          <a:p>
            <a:pPr algn="l">
              <a:spcBef>
                <a:spcPts val="0"/>
              </a:spcBef>
              <a:spcAft>
                <a:spcPts val="200"/>
              </a:spcAft>
            </a:pPr>
            <a:r>
              <a:rPr sz="1400" b="1" i="0">
                <a:solidFill>
                  <a:srgbClr val="156082"/>
                </a:solidFill>
                <a:latin typeface="Calibri"/>
              </a:rPr>
              <a:t>MobilityAPI</a:t>
            </a:r>
          </a:p>
        </p:txBody>
      </p:sp>
      <p:sp>
        <p:nvSpPr>
          <p:cNvPr id="14" name="TextBox 13"/>
          <p:cNvSpPr txBox="1"/>
          <p:nvPr/>
        </p:nvSpPr>
        <p:spPr>
          <a:xfrm>
            <a:off x="8092440" y="3931920"/>
            <a:ext cx="3017520" cy="22860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onsolas"/>
              </a:rPr>
              <a:t>net/http + pgxpool (Go)</a:t>
            </a:r>
          </a:p>
        </p:txBody>
      </p:sp>
      <p:sp>
        <p:nvSpPr>
          <p:cNvPr id="15" name="TextBox 14"/>
          <p:cNvSpPr txBox="1"/>
          <p:nvPr/>
        </p:nvSpPr>
        <p:spPr>
          <a:xfrm>
            <a:off x="7909560" y="4224528"/>
            <a:ext cx="3383280" cy="237744"/>
          </a:xfrm>
          <a:prstGeom prst="rect">
            <a:avLst/>
          </a:prstGeom>
          <a:noFill/>
        </p:spPr>
        <p:txBody>
          <a:bodyPr wrap="square" anchor="t" lIns="0" rIns="0" tIns="0" bIns="0">
            <a:noAutofit/>
          </a:bodyPr>
          <a:lstStyle/>
          <a:p>
            <a:pPr algn="ctr">
              <a:spcBef>
                <a:spcPts val="0"/>
              </a:spcBef>
              <a:spcAft>
                <a:spcPts val="200"/>
              </a:spcAft>
            </a:pPr>
            <a:r>
              <a:rPr sz="1200" b="0" i="0">
                <a:solidFill>
                  <a:srgbClr val="5B6B78"/>
                </a:solidFill>
                <a:latin typeface="Calibri"/>
              </a:rPr>
              <a:t>▼</a:t>
            </a:r>
          </a:p>
        </p:txBody>
      </p:sp>
      <p:sp>
        <p:nvSpPr>
          <p:cNvPr id="16" name="Rounded Rectangle 15"/>
          <p:cNvSpPr/>
          <p:nvPr/>
        </p:nvSpPr>
        <p:spPr>
          <a:xfrm>
            <a:off x="7909560" y="4535424"/>
            <a:ext cx="3383280" cy="676656"/>
          </a:xfrm>
          <a:prstGeom prst="roundRect">
            <a:avLst>
              <a:gd name="adj" fmla="val 12000"/>
            </a:avLst>
          </a:prstGeom>
          <a:solidFill>
            <a:srgbClr val="FFFFFF"/>
          </a:solidFill>
          <a:ln w="19050">
            <a:solidFill>
              <a:srgbClr val="0E28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92440" y="4636008"/>
            <a:ext cx="3017520" cy="274320"/>
          </a:xfrm>
          <a:prstGeom prst="rect">
            <a:avLst/>
          </a:prstGeom>
          <a:noFill/>
        </p:spPr>
        <p:txBody>
          <a:bodyPr wrap="square" anchor="t" lIns="0" rIns="0" tIns="0" bIns="0">
            <a:noAutofit/>
          </a:bodyPr>
          <a:lstStyle/>
          <a:p>
            <a:pPr algn="l">
              <a:spcBef>
                <a:spcPts val="0"/>
              </a:spcBef>
              <a:spcAft>
                <a:spcPts val="200"/>
              </a:spcAft>
            </a:pPr>
            <a:r>
              <a:rPr sz="1400" b="1" i="0">
                <a:solidFill>
                  <a:srgbClr val="0E2841"/>
                </a:solidFill>
                <a:latin typeface="Calibri"/>
              </a:rPr>
              <a:t>MobilityDB / PostgreSQL</a:t>
            </a:r>
          </a:p>
        </p:txBody>
      </p:sp>
      <p:sp>
        <p:nvSpPr>
          <p:cNvPr id="18" name="TextBox 17"/>
          <p:cNvSpPr txBox="1"/>
          <p:nvPr/>
        </p:nvSpPr>
        <p:spPr>
          <a:xfrm>
            <a:off x="8092440" y="4919472"/>
            <a:ext cx="3017520" cy="22860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onsolas"/>
              </a:rPr>
              <a:t>tgeompoint · STBOX · TSTZSPAN</a:t>
            </a:r>
          </a:p>
        </p:txBody>
      </p:sp>
      <p:sp>
        <p:nvSpPr>
          <p:cNvPr id="19" name="Rectangle 18"/>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21" name="TextBox 20"/>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ARCHITECTURE</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Where the Work Happens</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5346039" cy="274320"/>
          </a:xfrm>
          <a:prstGeom prst="rect">
            <a:avLst/>
          </a:prstGeom>
          <a:noFill/>
        </p:spPr>
        <p:txBody>
          <a:bodyPr wrap="square" anchor="t" lIns="0" rIns="0" tIns="0" bIns="0">
            <a:noAutofit/>
          </a:bodyPr>
          <a:lstStyle/>
          <a:p>
            <a:pPr algn="l">
              <a:spcBef>
                <a:spcPts val="0"/>
              </a:spcBef>
              <a:spcAft>
                <a:spcPts val="200"/>
              </a:spcAft>
            </a:pPr>
            <a:r>
              <a:rPr sz="1400" b="1" i="0">
                <a:solidFill>
                  <a:srgbClr val="156082"/>
                </a:solidFill>
                <a:latin typeface="Calibri"/>
              </a:rPr>
              <a:t>In the tier (Go)</a:t>
            </a:r>
          </a:p>
        </p:txBody>
      </p:sp>
      <p:sp>
        <p:nvSpPr>
          <p:cNvPr id="6" name="TextBox 5"/>
          <p:cNvSpPr txBox="1"/>
          <p:nvPr/>
        </p:nvSpPr>
        <p:spPr>
          <a:xfrm>
            <a:off x="566928" y="1920240"/>
            <a:ext cx="5346039" cy="2377440"/>
          </a:xfrm>
          <a:prstGeom prst="rect">
            <a:avLst/>
          </a:prstGeom>
          <a:noFill/>
        </p:spPr>
        <p:txBody>
          <a:bodyPr wrap="square" lIns="0" rIns="0" tIns="0" bIns="0">
            <a:noAutofit/>
          </a:bodyPr>
          <a:lstStyle/>
          <a:p>
            <a:pPr>
              <a:lnSpc>
                <a:spcPct val="106000"/>
              </a:lnSpc>
              <a:spcBef>
                <a:spcPts val="0"/>
              </a:spcBef>
              <a:spcAft>
                <a:spcPts val="900"/>
              </a:spcAft>
            </a:pPr>
            <a:r>
              <a:rPr sz="1400" b="1">
                <a:solidFill>
                  <a:srgbClr val="156082"/>
                </a:solidFill>
                <a:latin typeface="Calibri"/>
              </a:rPr>
              <a:t>▸  </a:t>
            </a:r>
            <a:r>
              <a:rPr sz="1400" b="1">
                <a:solidFill>
                  <a:srgbClr val="0E2841"/>
                </a:solidFill>
                <a:latin typeface="Calibri"/>
              </a:rPr>
              <a:t>Routing:  </a:t>
            </a:r>
            <a:r>
              <a:rPr sz="1400">
                <a:solidFill>
                  <a:srgbClr val="1E2B36"/>
                </a:solidFill>
                <a:latin typeface="Calibri"/>
              </a:rPr>
              <a:t>net/http with the Go 1.22 pattern mux; one handler per OGC resource</a:t>
            </a:r>
          </a:p>
          <a:p>
            <a:pPr>
              <a:lnSpc>
                <a:spcPct val="106000"/>
              </a:lnSpc>
              <a:spcBef>
                <a:spcPts val="0"/>
              </a:spcBef>
              <a:spcAft>
                <a:spcPts val="900"/>
              </a:spcAft>
            </a:pPr>
            <a:r>
              <a:rPr sz="1400" b="1">
                <a:solidFill>
                  <a:srgbClr val="156082"/>
                </a:solidFill>
                <a:latin typeface="Calibri"/>
              </a:rPr>
              <a:t>▸  </a:t>
            </a:r>
            <a:r>
              <a:rPr sz="1400" b="1">
                <a:solidFill>
                  <a:srgbClr val="0E2841"/>
                </a:solidFill>
                <a:latin typeface="Calibri"/>
              </a:rPr>
              <a:t>Pooling:  </a:t>
            </a:r>
            <a:r>
              <a:rPr sz="1400">
                <a:solidFill>
                  <a:srgbClr val="1E2B36"/>
                </a:solidFill>
                <a:latin typeface="Calibri"/>
              </a:rPr>
              <a:t>a pgx pool multiplexes requests onto a bounded set of database connections</a:t>
            </a:r>
          </a:p>
          <a:p>
            <a:pPr>
              <a:lnSpc>
                <a:spcPct val="106000"/>
              </a:lnSpc>
              <a:spcBef>
                <a:spcPts val="0"/>
              </a:spcBef>
              <a:spcAft>
                <a:spcPts val="900"/>
              </a:spcAft>
            </a:pPr>
            <a:r>
              <a:rPr sz="1400" b="1">
                <a:solidFill>
                  <a:srgbClr val="156082"/>
                </a:solidFill>
                <a:latin typeface="Calibri"/>
              </a:rPr>
              <a:t>▸  </a:t>
            </a:r>
            <a:r>
              <a:rPr sz="1400" b="1">
                <a:solidFill>
                  <a:srgbClr val="0E2841"/>
                </a:solidFill>
                <a:latin typeface="Calibri"/>
              </a:rPr>
              <a:t>Adapter:  </a:t>
            </a:r>
            <a:r>
              <a:rPr sz="1400">
                <a:solidFill>
                  <a:srgbClr val="1E2B36"/>
                </a:solidFill>
                <a:latin typeface="Calibri"/>
              </a:rPr>
              <a:t>crs URN to EPSG and interpolation Stepwise to Step, roughly fifty lines</a:t>
            </a:r>
          </a:p>
          <a:p>
            <a:pPr>
              <a:lnSpc>
                <a:spcPct val="106000"/>
              </a:lnSpc>
              <a:spcBef>
                <a:spcPts val="0"/>
              </a:spcBef>
              <a:spcAft>
                <a:spcPts val="900"/>
              </a:spcAft>
            </a:pPr>
            <a:r>
              <a:rPr sz="1400" b="1">
                <a:solidFill>
                  <a:srgbClr val="156082"/>
                </a:solidFill>
                <a:latin typeface="Calibri"/>
              </a:rPr>
              <a:t>▸  </a:t>
            </a:r>
            <a:r>
              <a:rPr sz="1400" b="1">
                <a:solidFill>
                  <a:srgbClr val="0E2841"/>
                </a:solidFill>
                <a:latin typeface="Calibri"/>
              </a:rPr>
              <a:t>Streaming:  </a:t>
            </a:r>
            <a:r>
              <a:rPr sz="1400">
                <a:solidFill>
                  <a:srgbClr val="1E2B36"/>
                </a:solidFill>
                <a:latin typeface="Calibri"/>
              </a:rPr>
              <a:t>responses are written row by row from a server-side cursor</a:t>
            </a:r>
          </a:p>
        </p:txBody>
      </p:sp>
      <p:sp>
        <p:nvSpPr>
          <p:cNvPr id="7" name="TextBox 6"/>
          <p:cNvSpPr txBox="1"/>
          <p:nvPr/>
        </p:nvSpPr>
        <p:spPr>
          <a:xfrm>
            <a:off x="6278727" y="1572768"/>
            <a:ext cx="5346039" cy="274320"/>
          </a:xfrm>
          <a:prstGeom prst="rect">
            <a:avLst/>
          </a:prstGeom>
          <a:noFill/>
        </p:spPr>
        <p:txBody>
          <a:bodyPr wrap="square" anchor="t" lIns="0" rIns="0" tIns="0" bIns="0">
            <a:noAutofit/>
          </a:bodyPr>
          <a:lstStyle/>
          <a:p>
            <a:pPr algn="l">
              <a:spcBef>
                <a:spcPts val="0"/>
              </a:spcBef>
              <a:spcAft>
                <a:spcPts val="200"/>
              </a:spcAft>
            </a:pPr>
            <a:r>
              <a:rPr sz="1400" b="1" i="0">
                <a:solidFill>
                  <a:srgbClr val="E97132"/>
                </a:solidFill>
                <a:latin typeface="Calibri"/>
              </a:rPr>
              <a:t>In the database (MobilityDB)</a:t>
            </a:r>
          </a:p>
        </p:txBody>
      </p:sp>
      <p:sp>
        <p:nvSpPr>
          <p:cNvPr id="8" name="TextBox 7"/>
          <p:cNvSpPr txBox="1"/>
          <p:nvPr/>
        </p:nvSpPr>
        <p:spPr>
          <a:xfrm>
            <a:off x="6278727" y="1920240"/>
            <a:ext cx="5346039" cy="2377440"/>
          </a:xfrm>
          <a:prstGeom prst="rect">
            <a:avLst/>
          </a:prstGeom>
          <a:noFill/>
        </p:spPr>
        <p:txBody>
          <a:bodyPr wrap="square" lIns="0" rIns="0" tIns="0" bIns="0">
            <a:noAutofit/>
          </a:bodyPr>
          <a:lstStyle/>
          <a:p>
            <a:pPr>
              <a:lnSpc>
                <a:spcPct val="106000"/>
              </a:lnSpc>
              <a:spcBef>
                <a:spcPts val="0"/>
              </a:spcBef>
              <a:spcAft>
                <a:spcPts val="900"/>
              </a:spcAft>
            </a:pPr>
            <a:r>
              <a:rPr sz="1400" b="1">
                <a:solidFill>
                  <a:srgbClr val="E97132"/>
                </a:solidFill>
                <a:latin typeface="Calibri"/>
              </a:rPr>
              <a:t>▸  </a:t>
            </a:r>
            <a:r>
              <a:rPr sz="1400" b="1">
                <a:solidFill>
                  <a:srgbClr val="0E2841"/>
                </a:solidFill>
                <a:latin typeface="Calibri"/>
              </a:rPr>
              <a:t>Reads:  </a:t>
            </a:r>
            <a:r>
              <a:rPr sz="1400">
                <a:solidFill>
                  <a:srgbClr val="1E2B36"/>
                </a:solidFill>
                <a:latin typeface="Calibri"/>
              </a:rPr>
              <a:t>asMFJSON assembles MovingFeaturesJSON in SQL; the tier streams the text</a:t>
            </a:r>
          </a:p>
          <a:p>
            <a:pPr>
              <a:lnSpc>
                <a:spcPct val="106000"/>
              </a:lnSpc>
              <a:spcBef>
                <a:spcPts val="0"/>
              </a:spcBef>
              <a:spcAft>
                <a:spcPts val="900"/>
              </a:spcAft>
            </a:pPr>
            <a:r>
              <a:rPr sz="1400" b="1">
                <a:solidFill>
                  <a:srgbClr val="E97132"/>
                </a:solidFill>
                <a:latin typeface="Calibri"/>
              </a:rPr>
              <a:t>▸  </a:t>
            </a:r>
            <a:r>
              <a:rPr sz="1400" b="1">
                <a:solidFill>
                  <a:srgbClr val="0E2841"/>
                </a:solidFill>
                <a:latin typeface="Calibri"/>
              </a:rPr>
              <a:t>Writes:  </a:t>
            </a:r>
            <a:r>
              <a:rPr sz="1400">
                <a:solidFill>
                  <a:srgbClr val="1E2B36"/>
                </a:solidFill>
                <a:latin typeface="Calibri"/>
              </a:rPr>
              <a:t>tgeompointFromMFJSON parses the payload into a tgeompoint</a:t>
            </a:r>
          </a:p>
          <a:p>
            <a:pPr>
              <a:lnSpc>
                <a:spcPct val="106000"/>
              </a:lnSpc>
              <a:spcBef>
                <a:spcPts val="0"/>
              </a:spcBef>
              <a:spcAft>
                <a:spcPts val="900"/>
              </a:spcAft>
            </a:pPr>
            <a:r>
              <a:rPr sz="1400" b="1">
                <a:solidFill>
                  <a:srgbClr val="E97132"/>
                </a:solidFill>
                <a:latin typeface="Calibri"/>
              </a:rPr>
              <a:t>▸  </a:t>
            </a:r>
            <a:r>
              <a:rPr sz="1400" b="1">
                <a:solidFill>
                  <a:srgbClr val="0E2841"/>
                </a:solidFill>
                <a:latin typeface="Calibri"/>
              </a:rPr>
              <a:t>Filters:  </a:t>
            </a:r>
            <a:r>
              <a:rPr sz="1400">
                <a:solidFill>
                  <a:srgbClr val="1E2B36"/>
                </a:solidFill>
                <a:latin typeface="Calibri"/>
              </a:rPr>
              <a:t>bbox and datetime push to the GiST index; atTime clips</a:t>
            </a:r>
          </a:p>
          <a:p>
            <a:pPr>
              <a:lnSpc>
                <a:spcPct val="106000"/>
              </a:lnSpc>
              <a:spcBef>
                <a:spcPts val="0"/>
              </a:spcBef>
              <a:spcAft>
                <a:spcPts val="900"/>
              </a:spcAft>
            </a:pPr>
            <a:r>
              <a:rPr sz="1400" b="1">
                <a:solidFill>
                  <a:srgbClr val="E97132"/>
                </a:solidFill>
                <a:latin typeface="Calibri"/>
              </a:rPr>
              <a:t>▸  </a:t>
            </a:r>
            <a:r>
              <a:rPr sz="1400" b="1">
                <a:solidFill>
                  <a:srgbClr val="0E2841"/>
                </a:solidFill>
                <a:latin typeface="Calibri"/>
              </a:rPr>
              <a:t>Measures:  </a:t>
            </a:r>
            <a:r>
              <a:rPr sz="1400">
                <a:solidFill>
                  <a:srgbClr val="1E2B36"/>
                </a:solidFill>
                <a:latin typeface="Calibri"/>
              </a:rPr>
              <a:t>speed, cumulativeLength and azimuth compute the derived properties</a:t>
            </a:r>
          </a:p>
        </p:txBody>
      </p:sp>
      <p:sp>
        <p:nvSpPr>
          <p:cNvPr id="9" name="Rounded Rectangle 8"/>
          <p:cNvSpPr/>
          <p:nvPr/>
        </p:nvSpPr>
        <p:spPr>
          <a:xfrm>
            <a:off x="566928" y="4617720"/>
            <a:ext cx="11057839" cy="123444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4754880"/>
            <a:ext cx="5486400"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NO MEOS IN THE TIER</a:t>
            </a:r>
          </a:p>
        </p:txBody>
      </p:sp>
      <p:sp>
        <p:nvSpPr>
          <p:cNvPr id="11" name="TextBox 10"/>
          <p:cNvSpPr txBox="1"/>
          <p:nvPr/>
        </p:nvSpPr>
        <p:spPr>
          <a:xfrm>
            <a:off x="841247" y="5029200"/>
            <a:ext cx="10509199" cy="731520"/>
          </a:xfrm>
          <a:prstGeom prst="rect">
            <a:avLst/>
          </a:prstGeom>
          <a:noFill/>
        </p:spPr>
        <p:txBody>
          <a:bodyPr wrap="square" anchor="t" lIns="0" rIns="0" tIns="0" bIns="0">
            <a:noAutofit/>
          </a:bodyPr>
          <a:lstStyle/>
          <a:p>
            <a:pPr algn="l">
              <a:spcBef>
                <a:spcPts val="0"/>
              </a:spcBef>
              <a:spcAft>
                <a:spcPts val="200"/>
              </a:spcAft>
            </a:pPr>
            <a:r>
              <a:rPr sz="1200" b="0" i="0">
                <a:solidFill>
                  <a:srgbClr val="1E2B36"/>
                </a:solidFill>
                <a:latin typeface="Calibri"/>
              </a:rPr>
              <a:t>The trajectory is never materialised, parsed or transformed in the tier. It travels as asMFJSON text on the way out and as a MovingFeaturesJSON payload on the way in; MobilityDB does the parsing, the geometry algebra and the temporal computations. The result is a single static binary with no cgo dependency.</a:t>
            </a:r>
          </a:p>
        </p:txBody>
      </p:sp>
      <p:sp>
        <p:nvSpPr>
          <p:cNvPr id="12" name="Rectangle 11"/>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4" name="TextBox 13"/>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SAME DATA, TWO INTERFACES</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MobilityDB SQL  vs  MobilityAPI REST</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600200"/>
            <a:ext cx="5346039" cy="274320"/>
          </a:xfrm>
          <a:prstGeom prst="rect">
            <a:avLst/>
          </a:prstGeom>
          <a:noFill/>
        </p:spPr>
        <p:txBody>
          <a:bodyPr wrap="square" anchor="t" lIns="0" rIns="0" tIns="0" bIns="0">
            <a:noAutofit/>
          </a:bodyPr>
          <a:lstStyle/>
          <a:p>
            <a:pPr algn="l">
              <a:spcBef>
                <a:spcPts val="0"/>
              </a:spcBef>
              <a:spcAft>
                <a:spcPts val="200"/>
              </a:spcAft>
            </a:pPr>
            <a:r>
              <a:rPr sz="1400" b="1" i="0">
                <a:solidFill>
                  <a:srgbClr val="156082"/>
                </a:solidFill>
                <a:latin typeface="Calibri"/>
              </a:rPr>
              <a:t>PostgreSQL / MobilityDB</a:t>
            </a:r>
          </a:p>
        </p:txBody>
      </p:sp>
      <p:sp>
        <p:nvSpPr>
          <p:cNvPr id="6" name="Rounded Rectangle 5"/>
          <p:cNvSpPr/>
          <p:nvPr/>
        </p:nvSpPr>
        <p:spPr>
          <a:xfrm>
            <a:off x="566928" y="1920240"/>
            <a:ext cx="5346039" cy="246888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ODEPANEL"/>
          <p:cNvSpPr txBox="1"/>
          <p:nvPr/>
        </p:nvSpPr>
        <p:spPr>
          <a:xfrm>
            <a:off x="694944" y="2011680"/>
            <a:ext cx="5090007" cy="2286000"/>
          </a:xfrm>
          <a:prstGeom prst="rect">
            <a:avLst/>
          </a:prstGeom>
          <a:noFill/>
        </p:spPr>
        <p:txBody>
          <a:bodyPr wrap="square" lIns="0" rIns="0" tIns="0" bIns="0">
            <a:noAutofit/>
          </a:bodyPr>
          <a:lstStyle/>
          <a:p>
            <a:pPr>
              <a:lnSpc>
                <a:spcPct val="102000"/>
              </a:lnSpc>
              <a:spcBef>
                <a:spcPts val="0"/>
              </a:spcBef>
              <a:spcAft>
                <a:spcPts val="0"/>
              </a:spcAft>
            </a:pPr>
            <a:r>
              <a:rPr sz="1200">
                <a:solidFill>
                  <a:srgbClr val="C2D0DA"/>
                </a:solidFill>
                <a:latin typeface="Consolas"/>
              </a:rPr>
              <a:t>INSERT INTO ships (id, mmsi, name, trip)</a:t>
            </a:r>
          </a:p>
          <a:p>
            <a:pPr>
              <a:lnSpc>
                <a:spcPct val="102000"/>
              </a:lnSpc>
              <a:spcBef>
                <a:spcPts val="0"/>
              </a:spcBef>
              <a:spcAft>
                <a:spcPts val="0"/>
              </a:spcAft>
            </a:pPr>
            <a:r>
              <a:rPr sz="1200">
                <a:solidFill>
                  <a:srgbClr val="C2D0DA"/>
                </a:solidFill>
                <a:latin typeface="Consolas"/>
              </a:rPr>
              <a:t>VALUES (</a:t>
            </a:r>
          </a:p>
          <a:p>
            <a:pPr>
              <a:lnSpc>
                <a:spcPct val="102000"/>
              </a:lnSpc>
              <a:spcBef>
                <a:spcPts val="0"/>
              </a:spcBef>
              <a:spcAft>
                <a:spcPts val="0"/>
              </a:spcAft>
            </a:pPr>
            <a:r>
              <a:rPr sz="1200">
                <a:solidFill>
                  <a:srgbClr val="C2D0DA"/>
                </a:solidFill>
                <a:latin typeface="Consolas"/>
              </a:rPr>
              <a:t>  </a:t>
            </a:r>
            <a:r>
              <a:rPr sz="1200">
                <a:solidFill>
                  <a:srgbClr val="C9E08A"/>
                </a:solidFill>
                <a:latin typeface="Consolas"/>
              </a:rPr>
              <a:t>205106000</a:t>
            </a:r>
            <a:r>
              <a:rPr sz="1200">
                <a:solidFill>
                  <a:srgbClr val="C2D0DA"/>
                </a:solidFill>
                <a:latin typeface="Consolas"/>
              </a:rPr>
              <a:t>, </a:t>
            </a:r>
            <a:r>
              <a:rPr sz="1200">
                <a:solidFill>
                  <a:srgbClr val="C9E08A"/>
                </a:solidFill>
                <a:latin typeface="Consolas"/>
              </a:rPr>
              <a:t>205106000</a:t>
            </a:r>
            <a:r>
              <a:rPr sz="1200">
                <a:solidFill>
                  <a:srgbClr val="C2D0DA"/>
                </a:solidFill>
                <a:latin typeface="Consolas"/>
              </a:rPr>
              <a:t>, 'MARCUS',</a:t>
            </a:r>
          </a:p>
          <a:p>
            <a:pPr>
              <a:lnSpc>
                <a:spcPct val="102000"/>
              </a:lnSpc>
              <a:spcBef>
                <a:spcPts val="0"/>
              </a:spcBef>
              <a:spcAft>
                <a:spcPts val="0"/>
              </a:spcAft>
            </a:pPr>
            <a:r>
              <a:rPr sz="1200">
                <a:solidFill>
                  <a:srgbClr val="C2D0DA"/>
                </a:solidFill>
                <a:latin typeface="Consolas"/>
              </a:rPr>
              <a:t>  tgeompoint '[Point(</a:t>
            </a:r>
            <a:r>
              <a:rPr sz="1200">
                <a:solidFill>
                  <a:srgbClr val="C9E08A"/>
                </a:solidFill>
                <a:latin typeface="Consolas"/>
              </a:rPr>
              <a:t>645829</a:t>
            </a:r>
            <a:r>
              <a:rPr sz="1200">
                <a:solidFill>
                  <a:srgbClr val="C2D0DA"/>
                </a:solidFill>
                <a:latin typeface="Consolas"/>
              </a:rPr>
              <a:t> </a:t>
            </a:r>
            <a:r>
              <a:rPr sz="1200">
                <a:solidFill>
                  <a:srgbClr val="C9E08A"/>
                </a:solidFill>
                <a:latin typeface="Consolas"/>
              </a:rPr>
              <a:t>6058110</a:t>
            </a:r>
            <a:r>
              <a:rPr sz="1200">
                <a:solidFill>
                  <a:srgbClr val="C2D0DA"/>
                </a:solidFill>
                <a:latin typeface="Consolas"/>
              </a:rPr>
              <a:t>)@</a:t>
            </a:r>
            <a:r>
              <a:rPr sz="1200">
                <a:solidFill>
                  <a:srgbClr val="C9E08A"/>
                </a:solidFill>
                <a:latin typeface="Consolas"/>
              </a:rPr>
              <a:t>2026</a:t>
            </a:r>
            <a:r>
              <a:rPr sz="1200">
                <a:solidFill>
                  <a:srgbClr val="C9E08A"/>
                </a:solidFill>
                <a:latin typeface="Consolas"/>
              </a:rPr>
              <a:t>-02</a:t>
            </a:r>
            <a:r>
              <a:rPr sz="1200">
                <a:solidFill>
                  <a:srgbClr val="C9E08A"/>
                </a:solidFill>
                <a:latin typeface="Consolas"/>
              </a:rPr>
              <a:t>-26</a:t>
            </a:r>
            <a:r>
              <a:rPr sz="1200">
                <a:solidFill>
                  <a:srgbClr val="C2D0DA"/>
                </a:solidFill>
                <a:latin typeface="Consolas"/>
              </a:rPr>
              <a:t> </a:t>
            </a:r>
            <a:r>
              <a:rPr sz="1200">
                <a:solidFill>
                  <a:srgbClr val="C9E08A"/>
                </a:solidFill>
                <a:latin typeface="Consolas"/>
              </a:rPr>
              <a:t>06</a:t>
            </a:r>
            <a:r>
              <a:rPr sz="1200">
                <a:solidFill>
                  <a:srgbClr val="C2D0DA"/>
                </a:solidFill>
                <a:latin typeface="Consolas"/>
              </a:rPr>
              <a:t>:</a:t>
            </a:r>
            <a:r>
              <a:rPr sz="1200">
                <a:solidFill>
                  <a:srgbClr val="C9E08A"/>
                </a:solidFill>
                <a:latin typeface="Consolas"/>
              </a:rPr>
              <a:t>00</a:t>
            </a:r>
            <a:r>
              <a:rPr sz="1200">
                <a:solidFill>
                  <a:srgbClr val="C2D0DA"/>
                </a:solidFill>
                <a:latin typeface="Consolas"/>
              </a:rPr>
              <a:t>+</a:t>
            </a:r>
            <a:r>
              <a:rPr sz="1200">
                <a:solidFill>
                  <a:srgbClr val="C9E08A"/>
                </a:solidFill>
                <a:latin typeface="Consolas"/>
              </a:rPr>
              <a:t>00</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Point(</a:t>
            </a:r>
            <a:r>
              <a:rPr sz="1200">
                <a:solidFill>
                  <a:srgbClr val="C9E08A"/>
                </a:solidFill>
                <a:latin typeface="Consolas"/>
              </a:rPr>
              <a:t>651280</a:t>
            </a:r>
            <a:r>
              <a:rPr sz="1200">
                <a:solidFill>
                  <a:srgbClr val="C2D0DA"/>
                </a:solidFill>
                <a:latin typeface="Consolas"/>
              </a:rPr>
              <a:t> </a:t>
            </a:r>
            <a:r>
              <a:rPr sz="1200">
                <a:solidFill>
                  <a:srgbClr val="C9E08A"/>
                </a:solidFill>
                <a:latin typeface="Consolas"/>
              </a:rPr>
              <a:t>6058390</a:t>
            </a:r>
            <a:r>
              <a:rPr sz="1200">
                <a:solidFill>
                  <a:srgbClr val="C2D0DA"/>
                </a:solidFill>
                <a:latin typeface="Consolas"/>
              </a:rPr>
              <a:t>)@</a:t>
            </a:r>
            <a:r>
              <a:rPr sz="1200">
                <a:solidFill>
                  <a:srgbClr val="C9E08A"/>
                </a:solidFill>
                <a:latin typeface="Consolas"/>
              </a:rPr>
              <a:t>2026</a:t>
            </a:r>
            <a:r>
              <a:rPr sz="1200">
                <a:solidFill>
                  <a:srgbClr val="C9E08A"/>
                </a:solidFill>
                <a:latin typeface="Consolas"/>
              </a:rPr>
              <a:t>-02</a:t>
            </a:r>
            <a:r>
              <a:rPr sz="1200">
                <a:solidFill>
                  <a:srgbClr val="C9E08A"/>
                </a:solidFill>
                <a:latin typeface="Consolas"/>
              </a:rPr>
              <a:t>-26</a:t>
            </a:r>
            <a:r>
              <a:rPr sz="1200">
                <a:solidFill>
                  <a:srgbClr val="C2D0DA"/>
                </a:solidFill>
                <a:latin typeface="Consolas"/>
              </a:rPr>
              <a:t> </a:t>
            </a:r>
            <a:r>
              <a:rPr sz="1200">
                <a:solidFill>
                  <a:srgbClr val="C9E08A"/>
                </a:solidFill>
                <a:latin typeface="Consolas"/>
              </a:rPr>
              <a:t>06</a:t>
            </a:r>
            <a:r>
              <a:rPr sz="1200">
                <a:solidFill>
                  <a:srgbClr val="C2D0DA"/>
                </a:solidFill>
                <a:latin typeface="Consolas"/>
              </a:rPr>
              <a:t>:</a:t>
            </a:r>
            <a:r>
              <a:rPr sz="1200">
                <a:solidFill>
                  <a:srgbClr val="C9E08A"/>
                </a:solidFill>
                <a:latin typeface="Consolas"/>
              </a:rPr>
              <a:t>25</a:t>
            </a:r>
            <a:r>
              <a:rPr sz="1200">
                <a:solidFill>
                  <a:srgbClr val="C2D0DA"/>
                </a:solidFill>
                <a:latin typeface="Consolas"/>
              </a:rPr>
              <a:t>+</a:t>
            </a:r>
            <a:r>
              <a:rPr sz="1200">
                <a:solidFill>
                  <a:srgbClr val="C9E08A"/>
                </a:solidFill>
                <a:latin typeface="Consolas"/>
              </a:rPr>
              <a:t>00</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Point(</a:t>
            </a:r>
            <a:r>
              <a:rPr sz="1200">
                <a:solidFill>
                  <a:srgbClr val="C9E08A"/>
                </a:solidFill>
                <a:latin typeface="Consolas"/>
              </a:rPr>
              <a:t>656731</a:t>
            </a:r>
            <a:r>
              <a:rPr sz="1200">
                <a:solidFill>
                  <a:srgbClr val="C2D0DA"/>
                </a:solidFill>
                <a:latin typeface="Consolas"/>
              </a:rPr>
              <a:t> </a:t>
            </a:r>
            <a:r>
              <a:rPr sz="1200">
                <a:solidFill>
                  <a:srgbClr val="C9E08A"/>
                </a:solidFill>
                <a:latin typeface="Consolas"/>
              </a:rPr>
              <a:t>6058670</a:t>
            </a:r>
            <a:r>
              <a:rPr sz="1200">
                <a:solidFill>
                  <a:srgbClr val="C2D0DA"/>
                </a:solidFill>
                <a:latin typeface="Consolas"/>
              </a:rPr>
              <a:t>)@</a:t>
            </a:r>
            <a:r>
              <a:rPr sz="1200">
                <a:solidFill>
                  <a:srgbClr val="C9E08A"/>
                </a:solidFill>
                <a:latin typeface="Consolas"/>
              </a:rPr>
              <a:t>2026</a:t>
            </a:r>
            <a:r>
              <a:rPr sz="1200">
                <a:solidFill>
                  <a:srgbClr val="C9E08A"/>
                </a:solidFill>
                <a:latin typeface="Consolas"/>
              </a:rPr>
              <a:t>-02</a:t>
            </a:r>
            <a:r>
              <a:rPr sz="1200">
                <a:solidFill>
                  <a:srgbClr val="C9E08A"/>
                </a:solidFill>
                <a:latin typeface="Consolas"/>
              </a:rPr>
              <a:t>-26</a:t>
            </a:r>
            <a:r>
              <a:rPr sz="1200">
                <a:solidFill>
                  <a:srgbClr val="C2D0DA"/>
                </a:solidFill>
                <a:latin typeface="Consolas"/>
              </a:rPr>
              <a:t> </a:t>
            </a:r>
            <a:r>
              <a:rPr sz="1200">
                <a:solidFill>
                  <a:srgbClr val="C9E08A"/>
                </a:solidFill>
                <a:latin typeface="Consolas"/>
              </a:rPr>
              <a:t>06</a:t>
            </a:r>
            <a:r>
              <a:rPr sz="1200">
                <a:solidFill>
                  <a:srgbClr val="C2D0DA"/>
                </a:solidFill>
                <a:latin typeface="Consolas"/>
              </a:rPr>
              <a:t>:</a:t>
            </a:r>
            <a:r>
              <a:rPr sz="1200">
                <a:solidFill>
                  <a:srgbClr val="C9E08A"/>
                </a:solidFill>
                <a:latin typeface="Consolas"/>
              </a:rPr>
              <a:t>50</a:t>
            </a:r>
            <a:r>
              <a:rPr sz="1200">
                <a:solidFill>
                  <a:srgbClr val="C2D0DA"/>
                </a:solidFill>
                <a:latin typeface="Consolas"/>
              </a:rPr>
              <a:t>+</a:t>
            </a:r>
            <a:r>
              <a:rPr sz="1200">
                <a:solidFill>
                  <a:srgbClr val="C9E08A"/>
                </a:solidFill>
                <a:latin typeface="Consolas"/>
              </a:rPr>
              <a:t>00</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a:t>
            </a:r>
          </a:p>
        </p:txBody>
      </p:sp>
      <p:sp>
        <p:nvSpPr>
          <p:cNvPr id="8" name="TextBox 7"/>
          <p:cNvSpPr txBox="1"/>
          <p:nvPr/>
        </p:nvSpPr>
        <p:spPr>
          <a:xfrm>
            <a:off x="6278727" y="1600200"/>
            <a:ext cx="5346039" cy="274320"/>
          </a:xfrm>
          <a:prstGeom prst="rect">
            <a:avLst/>
          </a:prstGeom>
          <a:noFill/>
        </p:spPr>
        <p:txBody>
          <a:bodyPr wrap="square" anchor="t" lIns="0" rIns="0" tIns="0" bIns="0">
            <a:noAutofit/>
          </a:bodyPr>
          <a:lstStyle/>
          <a:p>
            <a:pPr algn="l">
              <a:spcBef>
                <a:spcPts val="0"/>
              </a:spcBef>
              <a:spcAft>
                <a:spcPts val="200"/>
              </a:spcAft>
            </a:pPr>
            <a:r>
              <a:rPr sz="1400" b="1" i="0">
                <a:solidFill>
                  <a:srgbClr val="E97132"/>
                </a:solidFill>
                <a:latin typeface="Calibri"/>
              </a:rPr>
              <a:t>MobilityAPI</a:t>
            </a:r>
          </a:p>
        </p:txBody>
      </p:sp>
      <p:sp>
        <p:nvSpPr>
          <p:cNvPr id="9" name="Rounded Rectangle 8"/>
          <p:cNvSpPr/>
          <p:nvPr/>
        </p:nvSpPr>
        <p:spPr>
          <a:xfrm>
            <a:off x="6278727" y="1920240"/>
            <a:ext cx="5346039" cy="352044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ODEPANEL"/>
          <p:cNvSpPr txBox="1"/>
          <p:nvPr/>
        </p:nvSpPr>
        <p:spPr>
          <a:xfrm>
            <a:off x="6406743" y="2011680"/>
            <a:ext cx="5090007" cy="3337560"/>
          </a:xfrm>
          <a:prstGeom prst="rect">
            <a:avLst/>
          </a:prstGeom>
          <a:noFill/>
        </p:spPr>
        <p:txBody>
          <a:bodyPr wrap="square" lIns="0" rIns="0" tIns="0" bIns="0">
            <a:noAutofit/>
          </a:bodyPr>
          <a:lstStyle/>
          <a:p>
            <a:pPr>
              <a:lnSpc>
                <a:spcPct val="102000"/>
              </a:lnSpc>
              <a:spcBef>
                <a:spcPts val="0"/>
              </a:spcBef>
              <a:spcAft>
                <a:spcPts val="0"/>
              </a:spcAft>
            </a:pPr>
            <a:r>
              <a:rPr sz="1200">
                <a:solidFill>
                  <a:srgbClr val="C2D0DA"/>
                </a:solidFill>
                <a:latin typeface="Consolas"/>
              </a:rPr>
              <a:t>POST /collections/ships/items</a:t>
            </a:r>
          </a:p>
          <a:p>
            <a:pPr>
              <a:lnSpc>
                <a:spcPct val="102000"/>
              </a:lnSpc>
              <a:spcBef>
                <a:spcPts val="0"/>
              </a:spcBef>
              <a:spcAft>
                <a:spcPts val="0"/>
              </a:spcAft>
            </a:pPr>
            <a:r>
              <a:rPr sz="1200">
                <a:solidFill>
                  <a:srgbClr val="C2D0DA"/>
                </a:solidFill>
                <a:latin typeface="Consolas"/>
              </a:rPr>
              <a:t>Content-Type: application/json</a:t>
            </a:r>
          </a:p>
          <a:p>
            <a:pPr>
              <a:lnSpc>
                <a:spcPct val="102000"/>
              </a:lnSpc>
              <a:spcBef>
                <a:spcPts val="0"/>
              </a:spcBef>
              <a:spcAft>
                <a:spcPts val="0"/>
              </a:spcAft>
            </a:pPr>
            <a:r>
              <a:rPr sz="1200">
                <a:latin typeface="Consolas"/>
              </a:rPr>
              <a:t> </a:t>
            </a:r>
          </a:p>
          <a:p>
            <a:pPr>
              <a:lnSpc>
                <a:spcPct val="102000"/>
              </a:lnSpc>
              <a:spcBef>
                <a:spcPts val="0"/>
              </a:spcBef>
              <a:spcAft>
                <a:spcPts val="0"/>
              </a:spcAft>
            </a:pP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"Feature"</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"205106000"</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"properties"</a:t>
            </a:r>
            <a:r>
              <a:rPr sz="1200">
                <a:solidFill>
                  <a:srgbClr val="C2D0DA"/>
                </a:solidFill>
                <a:latin typeface="Consolas"/>
              </a:rPr>
              <a:t>: {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"MARCUS"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"temporalGeometry"</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"MovingPoint"</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"datetimes"</a:t>
            </a:r>
            <a:r>
              <a:rPr sz="1200">
                <a:solidFill>
                  <a:srgbClr val="C2D0DA"/>
                </a:solidFill>
                <a:latin typeface="Consolas"/>
              </a:rPr>
              <a:t>: [</a:t>
            </a:r>
            <a:r>
              <a:rPr sz="1200">
                <a:solidFill>
                  <a:srgbClr val="E6A36A"/>
                </a:solidFill>
                <a:latin typeface="Consolas"/>
              </a:rPr>
              <a:t>"2026-02-26T06:00:00+00"</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"coordinates"</a:t>
            </a:r>
            <a:r>
              <a:rPr sz="1200">
                <a:solidFill>
                  <a:srgbClr val="C2D0DA"/>
                </a:solidFill>
                <a:latin typeface="Consolas"/>
              </a:rPr>
              <a:t>: [[</a:t>
            </a:r>
            <a:r>
              <a:rPr sz="1200">
                <a:solidFill>
                  <a:srgbClr val="C9E08A"/>
                </a:solidFill>
                <a:latin typeface="Consolas"/>
              </a:rPr>
              <a:t>645829</a:t>
            </a:r>
            <a:r>
              <a:rPr sz="1200">
                <a:solidFill>
                  <a:srgbClr val="C2D0DA"/>
                </a:solidFill>
                <a:latin typeface="Consolas"/>
              </a:rPr>
              <a:t>, </a:t>
            </a:r>
            <a:r>
              <a:rPr sz="1200">
                <a:solidFill>
                  <a:srgbClr val="C9E08A"/>
                </a:solidFill>
                <a:latin typeface="Consolas"/>
              </a:rPr>
              <a:t>6058110</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"interpolation"</a:t>
            </a:r>
            <a:r>
              <a:rPr sz="1200">
                <a:solidFill>
                  <a:srgbClr val="C2D0DA"/>
                </a:solidFill>
                <a:latin typeface="Consolas"/>
              </a:rPr>
              <a:t>: </a:t>
            </a:r>
            <a:r>
              <a:rPr sz="1200">
                <a:solidFill>
                  <a:srgbClr val="E6A36A"/>
                </a:solidFill>
                <a:latin typeface="Consolas"/>
              </a:rPr>
              <a:t>"Linear"</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a:t>
            </a:r>
          </a:p>
        </p:txBody>
      </p:sp>
      <p:sp>
        <p:nvSpPr>
          <p:cNvPr id="11" name="TextBox 10"/>
          <p:cNvSpPr txBox="1"/>
          <p:nvPr/>
        </p:nvSpPr>
        <p:spPr>
          <a:xfrm>
            <a:off x="566928" y="5577840"/>
            <a:ext cx="11057839" cy="365760"/>
          </a:xfrm>
          <a:prstGeom prst="rect">
            <a:avLst/>
          </a:prstGeom>
          <a:noFill/>
        </p:spPr>
        <p:txBody>
          <a:bodyPr wrap="square" anchor="t" lIns="0" rIns="0" tIns="0" bIns="0">
            <a:noAutofit/>
          </a:bodyPr>
          <a:lstStyle/>
          <a:p>
            <a:pPr algn="ctr">
              <a:spcBef>
                <a:spcPts val="0"/>
              </a:spcBef>
              <a:spcAft>
                <a:spcPts val="200"/>
              </a:spcAft>
            </a:pPr>
            <a:r>
              <a:rPr sz="1200" b="0" i="1">
                <a:solidFill>
                  <a:srgbClr val="5B6B78"/>
                </a:solidFill>
                <a:latin typeface="Calibri"/>
              </a:rPr>
              <a:t>Identical trajectory. The REST client never writes SQL or opens a database connection.</a:t>
            </a:r>
          </a:p>
        </p:txBody>
      </p:sp>
      <p:sp>
        <p:nvSpPr>
          <p:cNvPr id="12" name="Rectangle 11"/>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4" name="TextBox 13"/>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STANDARD</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OGC API – Moving Features Data Model</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ogc-moving-features-class-diagram.png"/>
          <p:cNvPicPr>
            <a:picLocks noChangeAspect="1"/>
          </p:cNvPicPr>
          <p:nvPr/>
        </p:nvPicPr>
        <p:blipFill>
          <a:blip r:embed="rId2"/>
          <a:stretch>
            <a:fillRect/>
          </a:stretch>
        </p:blipFill>
        <p:spPr>
          <a:xfrm>
            <a:off x="566928" y="1600200"/>
            <a:ext cx="3579265" cy="4526280"/>
          </a:xfrm>
          <a:prstGeom prst="rect">
            <a:avLst/>
          </a:prstGeom>
        </p:spPr>
      </p:pic>
      <p:sp>
        <p:nvSpPr>
          <p:cNvPr id="6" name="TextBox 5"/>
          <p:cNvSpPr txBox="1"/>
          <p:nvPr/>
        </p:nvSpPr>
        <p:spPr>
          <a:xfrm>
            <a:off x="7955279" y="1828800"/>
            <a:ext cx="3749039" cy="4206240"/>
          </a:xfrm>
          <a:prstGeom prst="rect">
            <a:avLst/>
          </a:prstGeom>
          <a:noFill/>
        </p:spPr>
        <p:txBody>
          <a:bodyPr wrap="square" lIns="0" rIns="0" tIns="0" bIns="0">
            <a:noAutofit/>
          </a:bodyPr>
          <a:lstStyle/>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Collection:  </a:t>
            </a:r>
            <a:r>
              <a:rPr sz="1400">
                <a:solidFill>
                  <a:srgbClr val="1E2B36"/>
                </a:solidFill>
                <a:latin typeface="Calibri"/>
              </a:rPr>
              <a:t>a named group of moving features (itemType movingfeature)</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MovingFeature:  </a:t>
            </a:r>
            <a:r>
              <a:rPr sz="1400">
                <a:solidFill>
                  <a:srgbClr val="1E2B36"/>
                </a:solidFill>
                <a:latin typeface="Calibri"/>
              </a:rPr>
              <a:t>an item with id, properties, crs and trs</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TemporalGeometry:  </a:t>
            </a:r>
            <a:r>
              <a:rPr sz="1400">
                <a:solidFill>
                  <a:srgbClr val="1E2B36"/>
                </a:solidFill>
                <a:latin typeface="Calibri"/>
              </a:rPr>
              <a:t>a MovingPoint: parallel coordinates and datetimes plus interpolation</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Derived queries:  </a:t>
            </a:r>
            <a:r>
              <a:rPr sz="1400">
                <a:solidFill>
                  <a:srgbClr val="1E2B36"/>
                </a:solidFill>
                <a:latin typeface="Calibri"/>
              </a:rPr>
              <a:t>distance and velocity over a temporal geometry</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TemporalProperties:  </a:t>
            </a:r>
            <a:r>
              <a:rPr sz="1400">
                <a:solidFill>
                  <a:srgbClr val="1E2B36"/>
                </a:solidFill>
                <a:latin typeface="Calibri"/>
              </a:rPr>
              <a:t>time-varying attributes derived from the trajectory</a:t>
            </a:r>
          </a:p>
        </p:txBody>
      </p:sp>
      <p:sp>
        <p:nvSpPr>
          <p:cNvPr id="7" name="TextBox 6"/>
          <p:cNvSpPr txBox="1"/>
          <p:nvPr/>
        </p:nvSpPr>
        <p:spPr>
          <a:xfrm>
            <a:off x="566928" y="6163056"/>
            <a:ext cx="7040880" cy="274320"/>
          </a:xfrm>
          <a:prstGeom prst="rect">
            <a:avLst/>
          </a:prstGeom>
          <a:noFill/>
        </p:spPr>
        <p:txBody>
          <a:bodyPr wrap="square" anchor="t" lIns="0" rIns="0" tIns="0" bIns="0">
            <a:noAutofit/>
          </a:bodyPr>
          <a:lstStyle/>
          <a:p>
            <a:pPr algn="l">
              <a:spcBef>
                <a:spcPts val="0"/>
              </a:spcBef>
              <a:spcAft>
                <a:spcPts val="200"/>
              </a:spcAft>
            </a:pPr>
            <a:r>
              <a:rPr sz="1200" b="0" i="1">
                <a:solidFill>
                  <a:srgbClr val="5B6B78"/>
                </a:solidFill>
                <a:latin typeface="Calibri"/>
              </a:rPr>
              <a:t>Class diagram — OGC API – Moving Features – Part 1: Core (fig. 1)</a:t>
            </a:r>
          </a:p>
        </p:txBody>
      </p:sp>
      <p:sp>
        <p:nvSpPr>
          <p:cNvPr id="8" name="Rectangle 7"/>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0" name="TextBox 9"/>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74320"/>
            <a:ext cx="8229600"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OGC DATA MODEL — DETAIL</a:t>
            </a:r>
          </a:p>
        </p:txBody>
      </p:sp>
      <p:sp>
        <p:nvSpPr>
          <p:cNvPr id="3" name="TextBox 2"/>
          <p:cNvSpPr txBox="1"/>
          <p:nvPr/>
        </p:nvSpPr>
        <p:spPr>
          <a:xfrm>
            <a:off x="9082735" y="274320"/>
            <a:ext cx="2743200" cy="274320"/>
          </a:xfrm>
          <a:prstGeom prst="rect">
            <a:avLst/>
          </a:prstGeom>
          <a:noFill/>
        </p:spPr>
        <p:txBody>
          <a:bodyPr wrap="square" anchor="t" lIns="0" rIns="0" tIns="0" bIns="0">
            <a:noAutofit/>
          </a:bodyPr>
          <a:lstStyle/>
          <a:p>
            <a:pPr algn="r">
              <a:spcBef>
                <a:spcPts val="0"/>
              </a:spcBef>
              <a:spcAft>
                <a:spcPts val="200"/>
              </a:spcAft>
            </a:pPr>
            <a:r>
              <a:rPr sz="1200" b="1" i="0">
                <a:solidFill>
                  <a:srgbClr val="5B6B78"/>
                </a:solidFill>
                <a:latin typeface="Calibri"/>
              </a:rPr>
              <a:t>upper half · 1 / 2</a:t>
            </a:r>
          </a:p>
        </p:txBody>
      </p:sp>
      <p:sp>
        <p:nvSpPr>
          <p:cNvPr id="4" name="Rectangle 3"/>
          <p:cNvSpPr/>
          <p:nvPr/>
        </p:nvSpPr>
        <p:spPr>
          <a:xfrm>
            <a:off x="566928" y="548640"/>
            <a:ext cx="1554480" cy="41148"/>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ogc_top.png"/>
          <p:cNvPicPr>
            <a:picLocks noChangeAspect="1"/>
          </p:cNvPicPr>
          <p:nvPr/>
        </p:nvPicPr>
        <p:blipFill>
          <a:blip r:embed="rId2"/>
          <a:stretch>
            <a:fillRect/>
          </a:stretch>
        </p:blipFill>
        <p:spPr>
          <a:xfrm>
            <a:off x="1888257" y="749808"/>
            <a:ext cx="8415180" cy="5559552"/>
          </a:xfrm>
          <a:prstGeom prst="rect">
            <a:avLst/>
          </a:prstGeom>
        </p:spPr>
      </p:pic>
      <p:sp>
        <p:nvSpPr>
          <p:cNvPr id="6" name="Rectangle 5"/>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8" name="TextBox 7"/>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5.1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74320"/>
            <a:ext cx="8229600"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OGC DATA MODEL — DETAIL</a:t>
            </a:r>
          </a:p>
        </p:txBody>
      </p:sp>
      <p:sp>
        <p:nvSpPr>
          <p:cNvPr id="3" name="TextBox 2"/>
          <p:cNvSpPr txBox="1"/>
          <p:nvPr/>
        </p:nvSpPr>
        <p:spPr>
          <a:xfrm>
            <a:off x="9082735" y="274320"/>
            <a:ext cx="2743200" cy="274320"/>
          </a:xfrm>
          <a:prstGeom prst="rect">
            <a:avLst/>
          </a:prstGeom>
          <a:noFill/>
        </p:spPr>
        <p:txBody>
          <a:bodyPr wrap="square" anchor="t" lIns="0" rIns="0" tIns="0" bIns="0">
            <a:noAutofit/>
          </a:bodyPr>
          <a:lstStyle/>
          <a:p>
            <a:pPr algn="r">
              <a:spcBef>
                <a:spcPts val="0"/>
              </a:spcBef>
              <a:spcAft>
                <a:spcPts val="200"/>
              </a:spcAft>
            </a:pPr>
            <a:r>
              <a:rPr sz="1200" b="1" i="0">
                <a:solidFill>
                  <a:srgbClr val="5B6B78"/>
                </a:solidFill>
                <a:latin typeface="Calibri"/>
              </a:rPr>
              <a:t>lower half · 2 / 2</a:t>
            </a:r>
          </a:p>
        </p:txBody>
      </p:sp>
      <p:sp>
        <p:nvSpPr>
          <p:cNvPr id="4" name="Rectangle 3"/>
          <p:cNvSpPr/>
          <p:nvPr/>
        </p:nvSpPr>
        <p:spPr>
          <a:xfrm>
            <a:off x="566928" y="548640"/>
            <a:ext cx="1554480" cy="41148"/>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ogc_bot.png"/>
          <p:cNvPicPr>
            <a:picLocks noChangeAspect="1"/>
          </p:cNvPicPr>
          <p:nvPr/>
        </p:nvPicPr>
        <p:blipFill>
          <a:blip r:embed="rId2"/>
          <a:stretch>
            <a:fillRect/>
          </a:stretch>
        </p:blipFill>
        <p:spPr>
          <a:xfrm>
            <a:off x="1895000" y="749808"/>
            <a:ext cx="8401694" cy="5559552"/>
          </a:xfrm>
          <a:prstGeom prst="rect">
            <a:avLst/>
          </a:prstGeom>
        </p:spPr>
      </p:pic>
      <p:sp>
        <p:nvSpPr>
          <p:cNvPr id="6" name="Rectangle 5"/>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8" name="TextBox 7"/>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5.2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UNDER THE HOOD</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How MobilityAPI Persists Moving Features</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691640"/>
            <a:ext cx="4297680" cy="1901952"/>
          </a:xfrm>
          <a:prstGeom prst="roundRect">
            <a:avLst>
              <a:gd name="adj" fmla="val 4000"/>
            </a:avLst>
          </a:prstGeom>
          <a:solidFill>
            <a:srgbClr val="FFFFFF"/>
          </a:solidFill>
          <a:ln w="19050">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691640"/>
            <a:ext cx="4297680" cy="402336"/>
          </a:xfrm>
          <a:prstGeom prst="roundRect">
            <a:avLst>
              <a:gd name="adj" fmla="val 7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09928"/>
            <a:ext cx="4023360" cy="402336"/>
          </a:xfrm>
          <a:prstGeom prst="rect">
            <a:avLst/>
          </a:prstGeom>
          <a:noFill/>
        </p:spPr>
        <p:txBody>
          <a:bodyPr wrap="square" anchor="ctr" lIns="0" rIns="0" tIns="0" bIns="0">
            <a:noAutofit/>
          </a:bodyPr>
          <a:lstStyle/>
          <a:p>
            <a:pPr algn="l">
              <a:spcBef>
                <a:spcPts val="0"/>
              </a:spcBef>
              <a:spcAft>
                <a:spcPts val="200"/>
              </a:spcAft>
            </a:pPr>
            <a:r>
              <a:rPr sz="1600" b="1" i="0">
                <a:solidFill>
                  <a:srgbClr val="FFFFFF"/>
                </a:solidFill>
                <a:latin typeface="Consolas"/>
              </a:rPr>
              <a:t>collections</a:t>
            </a:r>
          </a:p>
        </p:txBody>
      </p:sp>
      <p:sp>
        <p:nvSpPr>
          <p:cNvPr id="8" name="TextBox 7"/>
          <p:cNvSpPr txBox="1"/>
          <p:nvPr/>
        </p:nvSpPr>
        <p:spPr>
          <a:xfrm>
            <a:off x="731520" y="2148840"/>
            <a:ext cx="4005072" cy="1463040"/>
          </a:xfrm>
          <a:prstGeom prst="rect">
            <a:avLst/>
          </a:prstGeom>
          <a:noFill/>
        </p:spPr>
        <p:txBody>
          <a:bodyPr wrap="none" lIns="0" rIns="0" tIns="0" bIns="0">
            <a:noAutofit/>
          </a:bodyPr>
          <a:lstStyle/>
          <a:p>
            <a:pPr>
              <a:lnSpc>
                <a:spcPct val="100000"/>
              </a:lnSpc>
              <a:spcBef>
                <a:spcPts val="0"/>
              </a:spcBef>
              <a:spcAft>
                <a:spcPts val="300"/>
              </a:spcAft>
            </a:pPr>
            <a:r>
              <a:rPr sz="1200" b="1">
                <a:solidFill>
                  <a:srgbClr val="156082"/>
                </a:solidFill>
                <a:latin typeface="Calibri"/>
              </a:rPr>
              <a:t>PK </a:t>
            </a:r>
            <a:r>
              <a:rPr sz="1400" b="1">
                <a:solidFill>
                  <a:srgbClr val="1E2B36"/>
                </a:solidFill>
                <a:latin typeface="Consolas"/>
              </a:rPr>
              <a:t>id   </a:t>
            </a:r>
            <a:r>
              <a:rPr sz="1400">
                <a:solidFill>
                  <a:srgbClr val="5B6B78"/>
                </a:solidFill>
                <a:latin typeface="Consolas"/>
              </a:rPr>
              <a:t>TEXT</a:t>
            </a:r>
          </a:p>
          <a:p>
            <a:pPr>
              <a:lnSpc>
                <a:spcPct val="100000"/>
              </a:lnSpc>
              <a:spcBef>
                <a:spcPts val="0"/>
              </a:spcBef>
              <a:spcAft>
                <a:spcPts val="300"/>
              </a:spcAft>
            </a:pPr>
            <a:r>
              <a:rPr sz="1400" b="1">
                <a:solidFill>
                  <a:srgbClr val="1E2B36"/>
                </a:solidFill>
                <a:latin typeface="Consolas"/>
              </a:rPr>
              <a:t>title   </a:t>
            </a:r>
            <a:r>
              <a:rPr sz="1400">
                <a:solidFill>
                  <a:srgbClr val="5B6B78"/>
                </a:solidFill>
                <a:latin typeface="Consolas"/>
              </a:rPr>
              <a:t>TEXT</a:t>
            </a:r>
          </a:p>
          <a:p>
            <a:pPr>
              <a:lnSpc>
                <a:spcPct val="100000"/>
              </a:lnSpc>
              <a:spcBef>
                <a:spcPts val="0"/>
              </a:spcBef>
              <a:spcAft>
                <a:spcPts val="300"/>
              </a:spcAft>
            </a:pPr>
            <a:r>
              <a:rPr sz="1400" b="1">
                <a:solidFill>
                  <a:srgbClr val="1E2B36"/>
                </a:solidFill>
                <a:latin typeface="Consolas"/>
              </a:rPr>
              <a:t>description   </a:t>
            </a:r>
            <a:r>
              <a:rPr sz="1400">
                <a:solidFill>
                  <a:srgbClr val="5B6B78"/>
                </a:solidFill>
                <a:latin typeface="Consolas"/>
              </a:rPr>
              <a:t>TEXT</a:t>
            </a:r>
          </a:p>
          <a:p>
            <a:pPr>
              <a:lnSpc>
                <a:spcPct val="100000"/>
              </a:lnSpc>
              <a:spcBef>
                <a:spcPts val="0"/>
              </a:spcBef>
              <a:spcAft>
                <a:spcPts val="300"/>
              </a:spcAft>
            </a:pPr>
            <a:r>
              <a:rPr sz="1400" b="1">
                <a:solidFill>
                  <a:srgbClr val="1E2B36"/>
                </a:solidFill>
                <a:latin typeface="Consolas"/>
              </a:rPr>
              <a:t>item_type   </a:t>
            </a:r>
            <a:r>
              <a:rPr sz="1400">
                <a:solidFill>
                  <a:srgbClr val="5B6B78"/>
                </a:solidFill>
                <a:latin typeface="Consolas"/>
              </a:rPr>
              <a:t>TEXT</a:t>
            </a:r>
          </a:p>
          <a:p>
            <a:pPr>
              <a:lnSpc>
                <a:spcPct val="100000"/>
              </a:lnSpc>
              <a:spcBef>
                <a:spcPts val="0"/>
              </a:spcBef>
              <a:spcAft>
                <a:spcPts val="300"/>
              </a:spcAft>
            </a:pPr>
            <a:r>
              <a:rPr sz="1400" b="1">
                <a:solidFill>
                  <a:srgbClr val="1E2B36"/>
                </a:solidFill>
                <a:latin typeface="Consolas"/>
              </a:rPr>
              <a:t>crs   </a:t>
            </a:r>
            <a:r>
              <a:rPr sz="1400">
                <a:solidFill>
                  <a:srgbClr val="5B6B78"/>
                </a:solidFill>
                <a:latin typeface="Consolas"/>
              </a:rPr>
              <a:t>INTEGER</a:t>
            </a:r>
          </a:p>
        </p:txBody>
      </p:sp>
      <p:sp>
        <p:nvSpPr>
          <p:cNvPr id="9" name="Rounded Rectangle 8"/>
          <p:cNvSpPr/>
          <p:nvPr/>
        </p:nvSpPr>
        <p:spPr>
          <a:xfrm>
            <a:off x="566928" y="3959352"/>
            <a:ext cx="4297680" cy="1627631"/>
          </a:xfrm>
          <a:prstGeom prst="roundRect">
            <a:avLst>
              <a:gd name="adj" fmla="val 4000"/>
            </a:avLst>
          </a:prstGeom>
          <a:solidFill>
            <a:srgbClr val="FFFFFF"/>
          </a:solidFill>
          <a:ln w="1905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66928" y="3959352"/>
            <a:ext cx="4297680" cy="402336"/>
          </a:xfrm>
          <a:prstGeom prst="roundRect">
            <a:avLst>
              <a:gd name="adj" fmla="val 7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977639"/>
            <a:ext cx="4023360" cy="402336"/>
          </a:xfrm>
          <a:prstGeom prst="rect">
            <a:avLst/>
          </a:prstGeom>
          <a:noFill/>
        </p:spPr>
        <p:txBody>
          <a:bodyPr wrap="square" anchor="ctr" lIns="0" rIns="0" tIns="0" bIns="0">
            <a:noAutofit/>
          </a:bodyPr>
          <a:lstStyle/>
          <a:p>
            <a:pPr algn="l">
              <a:spcBef>
                <a:spcPts val="0"/>
              </a:spcBef>
              <a:spcAft>
                <a:spcPts val="200"/>
              </a:spcAft>
            </a:pPr>
            <a:r>
              <a:rPr sz="1600" b="1" i="0">
                <a:solidFill>
                  <a:srgbClr val="FFFFFF"/>
                </a:solidFill>
                <a:latin typeface="Consolas"/>
              </a:rPr>
              <a:t>ships  (one table per collection)</a:t>
            </a:r>
          </a:p>
        </p:txBody>
      </p:sp>
      <p:sp>
        <p:nvSpPr>
          <p:cNvPr id="12" name="TextBox 11"/>
          <p:cNvSpPr txBox="1"/>
          <p:nvPr/>
        </p:nvSpPr>
        <p:spPr>
          <a:xfrm>
            <a:off x="731520" y="4416552"/>
            <a:ext cx="4005072" cy="1188720"/>
          </a:xfrm>
          <a:prstGeom prst="rect">
            <a:avLst/>
          </a:prstGeom>
          <a:noFill/>
        </p:spPr>
        <p:txBody>
          <a:bodyPr wrap="none" lIns="0" rIns="0" tIns="0" bIns="0">
            <a:noAutofit/>
          </a:bodyPr>
          <a:lstStyle/>
          <a:p>
            <a:pPr>
              <a:lnSpc>
                <a:spcPct val="100000"/>
              </a:lnSpc>
              <a:spcBef>
                <a:spcPts val="0"/>
              </a:spcBef>
              <a:spcAft>
                <a:spcPts val="300"/>
              </a:spcAft>
            </a:pPr>
            <a:r>
              <a:rPr sz="1200" b="1">
                <a:solidFill>
                  <a:srgbClr val="E97132"/>
                </a:solidFill>
                <a:latin typeface="Calibri"/>
              </a:rPr>
              <a:t>PK </a:t>
            </a:r>
            <a:r>
              <a:rPr sz="1400" b="1">
                <a:solidFill>
                  <a:srgbClr val="1E2B36"/>
                </a:solidFill>
                <a:latin typeface="Consolas"/>
              </a:rPr>
              <a:t>id   </a:t>
            </a:r>
            <a:r>
              <a:rPr sz="1400">
                <a:solidFill>
                  <a:srgbClr val="5B6B78"/>
                </a:solidFill>
                <a:latin typeface="Consolas"/>
              </a:rPr>
              <a:t>INTEGER</a:t>
            </a:r>
          </a:p>
          <a:p>
            <a:pPr>
              <a:lnSpc>
                <a:spcPct val="100000"/>
              </a:lnSpc>
              <a:spcBef>
                <a:spcPts val="0"/>
              </a:spcBef>
              <a:spcAft>
                <a:spcPts val="300"/>
              </a:spcAft>
            </a:pPr>
            <a:r>
              <a:rPr sz="1400" b="1">
                <a:solidFill>
                  <a:srgbClr val="1E2B36"/>
                </a:solidFill>
                <a:latin typeface="Consolas"/>
              </a:rPr>
              <a:t>mmsi   </a:t>
            </a:r>
            <a:r>
              <a:rPr sz="1400">
                <a:solidFill>
                  <a:srgbClr val="5B6B78"/>
                </a:solidFill>
                <a:latin typeface="Consolas"/>
              </a:rPr>
              <a:t>BIGINT</a:t>
            </a:r>
          </a:p>
          <a:p>
            <a:pPr>
              <a:lnSpc>
                <a:spcPct val="100000"/>
              </a:lnSpc>
              <a:spcBef>
                <a:spcPts val="0"/>
              </a:spcBef>
              <a:spcAft>
                <a:spcPts val="300"/>
              </a:spcAft>
            </a:pPr>
            <a:r>
              <a:rPr sz="1400" b="1">
                <a:solidFill>
                  <a:srgbClr val="1E2B36"/>
                </a:solidFill>
                <a:latin typeface="Consolas"/>
              </a:rPr>
              <a:t>name   </a:t>
            </a:r>
            <a:r>
              <a:rPr sz="1400">
                <a:solidFill>
                  <a:srgbClr val="5B6B78"/>
                </a:solidFill>
                <a:latin typeface="Consolas"/>
              </a:rPr>
              <a:t>TEXT</a:t>
            </a:r>
          </a:p>
          <a:p>
            <a:pPr>
              <a:lnSpc>
                <a:spcPct val="100000"/>
              </a:lnSpc>
              <a:spcBef>
                <a:spcPts val="0"/>
              </a:spcBef>
              <a:spcAft>
                <a:spcPts val="300"/>
              </a:spcAft>
            </a:pPr>
            <a:r>
              <a:rPr sz="1400" b="1">
                <a:solidFill>
                  <a:srgbClr val="1E2B36"/>
                </a:solidFill>
                <a:latin typeface="Consolas"/>
              </a:rPr>
              <a:t>trip   </a:t>
            </a:r>
            <a:r>
              <a:rPr sz="1400">
                <a:solidFill>
                  <a:srgbClr val="E97132"/>
                </a:solidFill>
                <a:latin typeface="Consolas"/>
              </a:rPr>
              <a:t>tgeompoint</a:t>
            </a:r>
          </a:p>
        </p:txBody>
      </p:sp>
      <p:sp>
        <p:nvSpPr>
          <p:cNvPr id="13" name="TextBox 12"/>
          <p:cNvSpPr txBox="1"/>
          <p:nvPr/>
        </p:nvSpPr>
        <p:spPr>
          <a:xfrm>
            <a:off x="5532120" y="1783080"/>
            <a:ext cx="6092647" cy="4023360"/>
          </a:xfrm>
          <a:prstGeom prst="rect">
            <a:avLst/>
          </a:prstGeom>
          <a:noFill/>
        </p:spPr>
        <p:txBody>
          <a:bodyPr wrap="square" lIns="0" rIns="0" tIns="0" bIns="0">
            <a:noAutofit/>
          </a:bodyPr>
          <a:lstStyle/>
          <a:p>
            <a:pPr>
              <a:lnSpc>
                <a:spcPct val="106000"/>
              </a:lnSpc>
              <a:spcBef>
                <a:spcPts val="0"/>
              </a:spcBef>
              <a:spcAft>
                <a:spcPts val="1300"/>
              </a:spcAft>
            </a:pPr>
            <a:r>
              <a:rPr sz="1400" b="1">
                <a:solidFill>
                  <a:srgbClr val="E97132"/>
                </a:solidFill>
                <a:latin typeface="Calibri"/>
              </a:rPr>
              <a:t>▸  </a:t>
            </a:r>
            <a:r>
              <a:rPr sz="1400" b="1">
                <a:solidFill>
                  <a:srgbClr val="0E2841"/>
                </a:solidFill>
                <a:latin typeface="Calibri"/>
              </a:rPr>
              <a:t>collections:  </a:t>
            </a:r>
            <a:r>
              <a:rPr sz="1400">
                <a:solidFill>
                  <a:srgbClr val="1E2B36"/>
                </a:solidFill>
                <a:latin typeface="Calibri"/>
              </a:rPr>
              <a:t>a small registry: each row maps a collection id to its feature table and CRS</a:t>
            </a:r>
          </a:p>
          <a:p>
            <a:pPr>
              <a:lnSpc>
                <a:spcPct val="106000"/>
              </a:lnSpc>
              <a:spcBef>
                <a:spcPts val="0"/>
              </a:spcBef>
              <a:spcAft>
                <a:spcPts val="1300"/>
              </a:spcAft>
            </a:pPr>
            <a:r>
              <a:rPr sz="1400" b="1">
                <a:solidFill>
                  <a:srgbClr val="E97132"/>
                </a:solidFill>
                <a:latin typeface="Calibri"/>
              </a:rPr>
              <a:t>▸  </a:t>
            </a:r>
            <a:r>
              <a:rPr sz="1400" b="1">
                <a:solidFill>
                  <a:srgbClr val="0E2841"/>
                </a:solidFill>
                <a:latin typeface="Calibri"/>
              </a:rPr>
              <a:t>feature table:  </a:t>
            </a:r>
            <a:r>
              <a:rPr sz="1400">
                <a:solidFill>
                  <a:srgbClr val="1E2B36"/>
                </a:solidFill>
                <a:latin typeface="Calibri"/>
              </a:rPr>
              <a:t>one row per moving feature; the trajectory is a single MobilityDB tgeompoint column</a:t>
            </a:r>
          </a:p>
          <a:p>
            <a:pPr>
              <a:lnSpc>
                <a:spcPct val="106000"/>
              </a:lnSpc>
              <a:spcBef>
                <a:spcPts val="0"/>
              </a:spcBef>
              <a:spcAft>
                <a:spcPts val="1300"/>
              </a:spcAft>
            </a:pPr>
            <a:r>
              <a:rPr sz="1400" b="1">
                <a:solidFill>
                  <a:srgbClr val="E97132"/>
                </a:solidFill>
                <a:latin typeface="Calibri"/>
              </a:rPr>
              <a:t>▸  </a:t>
            </a:r>
            <a:r>
              <a:rPr sz="1400" b="1">
                <a:solidFill>
                  <a:srgbClr val="0E2841"/>
                </a:solidFill>
                <a:latin typeface="Calibri"/>
              </a:rPr>
              <a:t>GiST index:  </a:t>
            </a:r>
            <a:r>
              <a:rPr sz="1400">
                <a:solidFill>
                  <a:srgbClr val="1E2B36"/>
                </a:solidFill>
                <a:latin typeface="Calibri"/>
              </a:rPr>
              <a:t>gist (trip) backs the bbox and datetime filters with one spatio-temporal index</a:t>
            </a:r>
          </a:p>
          <a:p>
            <a:pPr>
              <a:lnSpc>
                <a:spcPct val="106000"/>
              </a:lnSpc>
              <a:spcBef>
                <a:spcPts val="0"/>
              </a:spcBef>
              <a:spcAft>
                <a:spcPts val="1300"/>
              </a:spcAft>
            </a:pPr>
            <a:r>
              <a:rPr sz="1400" b="1">
                <a:solidFill>
                  <a:srgbClr val="E97132"/>
                </a:solidFill>
                <a:latin typeface="Calibri"/>
              </a:rPr>
              <a:t>▸  </a:t>
            </a:r>
            <a:r>
              <a:rPr sz="1400" b="1">
                <a:solidFill>
                  <a:srgbClr val="0E2841"/>
                </a:solidFill>
                <a:latin typeface="Calibri"/>
              </a:rPr>
              <a:t>Derived properties:  </a:t>
            </a:r>
            <a:r>
              <a:rPr sz="1400">
                <a:solidFill>
                  <a:srgbClr val="1E2B36"/>
                </a:solidFill>
                <a:latin typeface="Calibri"/>
              </a:rPr>
              <a:t>speed, distance and heading are computed from trip on demand, not stored</a:t>
            </a:r>
          </a:p>
        </p:txBody>
      </p:sp>
      <p:sp>
        <p:nvSpPr>
          <p:cNvPr id="14" name="TextBox 13"/>
          <p:cNvSpPr txBox="1"/>
          <p:nvPr/>
        </p:nvSpPr>
        <p:spPr>
          <a:xfrm>
            <a:off x="566928" y="6126480"/>
            <a:ext cx="6400800" cy="274320"/>
          </a:xfrm>
          <a:prstGeom prst="rect">
            <a:avLst/>
          </a:prstGeom>
          <a:noFill/>
        </p:spPr>
        <p:txBody>
          <a:bodyPr wrap="square" anchor="t" lIns="0" rIns="0" tIns="0" bIns="0">
            <a:noAutofit/>
          </a:bodyPr>
          <a:lstStyle/>
          <a:p>
            <a:pPr algn="l">
              <a:spcBef>
                <a:spcPts val="0"/>
              </a:spcBef>
              <a:spcAft>
                <a:spcPts val="200"/>
              </a:spcAft>
            </a:pPr>
            <a:r>
              <a:rPr sz="1200" b="0" i="1">
                <a:solidFill>
                  <a:srgbClr val="5B6B78"/>
                </a:solidFill>
                <a:latin typeface="Calibri"/>
              </a:rPr>
              <a:t>trip is a native MobilityDB type; the bounding box and time span come from its inline STBOX at O(1) cost.</a:t>
            </a:r>
          </a:p>
        </p:txBody>
      </p:sp>
      <p:sp>
        <p:nvSpPr>
          <p:cNvPr id="15" name="Rectangle 14"/>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7" name="TextBox 16"/>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06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CANONICAL EXAMPLE</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A Day of Danish AIS Ship Traffic</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overview_real.png"/>
          <p:cNvPicPr>
            <a:picLocks noChangeAspect="1"/>
          </p:cNvPicPr>
          <p:nvPr/>
        </p:nvPicPr>
        <p:blipFill>
          <a:blip r:embed="rId2"/>
          <a:stretch>
            <a:fillRect/>
          </a:stretch>
        </p:blipFill>
        <p:spPr>
          <a:xfrm>
            <a:off x="6400800" y="1554480"/>
            <a:ext cx="5394960" cy="4002455"/>
          </a:xfrm>
          <a:prstGeom prst="rect">
            <a:avLst/>
          </a:prstGeom>
        </p:spPr>
      </p:pic>
      <p:sp>
        <p:nvSpPr>
          <p:cNvPr id="6" name="TextBox 5"/>
          <p:cNvSpPr txBox="1"/>
          <p:nvPr/>
        </p:nvSpPr>
        <p:spPr>
          <a:xfrm>
            <a:off x="566928" y="1828800"/>
            <a:ext cx="5486400" cy="4023360"/>
          </a:xfrm>
          <a:prstGeom prst="rect">
            <a:avLst/>
          </a:prstGeom>
          <a:noFill/>
        </p:spPr>
        <p:txBody>
          <a:bodyPr wrap="square" lIns="0" rIns="0" tIns="0" bIns="0">
            <a:noAutofit/>
          </a:bodyPr>
          <a:lstStyle/>
          <a:p>
            <a:pPr>
              <a:lnSpc>
                <a:spcPct val="106000"/>
              </a:lnSpc>
              <a:spcBef>
                <a:spcPts val="0"/>
              </a:spcBef>
              <a:spcAft>
                <a:spcPts val="1300"/>
              </a:spcAft>
            </a:pPr>
            <a:r>
              <a:rPr sz="1400" b="1">
                <a:solidFill>
                  <a:srgbClr val="156082"/>
                </a:solidFill>
                <a:latin typeface="Calibri"/>
              </a:rPr>
              <a:t>▸  </a:t>
            </a:r>
            <a:r>
              <a:rPr sz="1400" b="1">
                <a:solidFill>
                  <a:srgbClr val="0E2841"/>
                </a:solidFill>
                <a:latin typeface="Calibri"/>
              </a:rPr>
              <a:t>Source:  </a:t>
            </a:r>
            <a:r>
              <a:rPr sz="1400">
                <a:solidFill>
                  <a:srgbClr val="1E2B36"/>
                </a:solidFill>
                <a:latin typeface="Calibri"/>
              </a:rPr>
              <a:t>Danish Maritime Authority AIS feed (aisdata.ais.dk)</a:t>
            </a:r>
          </a:p>
          <a:p>
            <a:pPr>
              <a:lnSpc>
                <a:spcPct val="106000"/>
              </a:lnSpc>
              <a:spcBef>
                <a:spcPts val="0"/>
              </a:spcBef>
              <a:spcAft>
                <a:spcPts val="1300"/>
              </a:spcAft>
            </a:pPr>
            <a:r>
              <a:rPr sz="1400" b="1">
                <a:solidFill>
                  <a:srgbClr val="156082"/>
                </a:solidFill>
                <a:latin typeface="Calibri"/>
              </a:rPr>
              <a:t>▸  </a:t>
            </a:r>
            <a:r>
              <a:rPr sz="1400" b="1">
                <a:solidFill>
                  <a:srgbClr val="0E2841"/>
                </a:solidFill>
                <a:latin typeface="Calibri"/>
              </a:rPr>
              <a:t>Window:  </a:t>
            </a:r>
            <a:r>
              <a:rPr sz="1400">
                <a:solidFill>
                  <a:srgbClr val="1E2B36"/>
                </a:solidFill>
                <a:latin typeface="Calibri"/>
              </a:rPr>
              <a:t>2026-02-26 to 2026-02-27</a:t>
            </a:r>
          </a:p>
          <a:p>
            <a:pPr>
              <a:lnSpc>
                <a:spcPct val="106000"/>
              </a:lnSpc>
              <a:spcBef>
                <a:spcPts val="0"/>
              </a:spcBef>
              <a:spcAft>
                <a:spcPts val="1300"/>
              </a:spcAft>
            </a:pPr>
            <a:r>
              <a:rPr sz="1400" b="1">
                <a:solidFill>
                  <a:srgbClr val="156082"/>
                </a:solidFill>
                <a:latin typeface="Calibri"/>
              </a:rPr>
              <a:t>▸  </a:t>
            </a:r>
            <a:r>
              <a:rPr sz="1400" b="1">
                <a:solidFill>
                  <a:srgbClr val="0E2841"/>
                </a:solidFill>
                <a:latin typeface="Calibri"/>
              </a:rPr>
              <a:t>2,833 trajectories:  </a:t>
            </a:r>
            <a:r>
              <a:rPr sz="1400">
                <a:solidFill>
                  <a:srgbClr val="1E2B36"/>
                </a:solidFill>
                <a:latin typeface="Calibri"/>
              </a:rPr>
              <a:t>from 1,878 distinct vessels (MMSI), each a MovingPoint</a:t>
            </a:r>
          </a:p>
          <a:p>
            <a:pPr>
              <a:lnSpc>
                <a:spcPct val="106000"/>
              </a:lnSpc>
              <a:spcBef>
                <a:spcPts val="0"/>
              </a:spcBef>
              <a:spcAft>
                <a:spcPts val="1300"/>
              </a:spcAft>
            </a:pPr>
            <a:r>
              <a:rPr sz="1400" b="1">
                <a:solidFill>
                  <a:srgbClr val="156082"/>
                </a:solidFill>
                <a:latin typeface="Calibri"/>
              </a:rPr>
              <a:t>▸  </a:t>
            </a:r>
            <a:r>
              <a:rPr sz="1400" b="1">
                <a:solidFill>
                  <a:srgbClr val="0E2841"/>
                </a:solidFill>
                <a:latin typeface="Calibri"/>
              </a:rPr>
              <a:t>6.2 million instants:  </a:t>
            </a:r>
            <a:r>
              <a:rPr sz="1400">
                <a:solidFill>
                  <a:srgbClr val="1E2B36"/>
                </a:solidFill>
                <a:latin typeface="Calibri"/>
              </a:rPr>
              <a:t>of observed position across the collection</a:t>
            </a:r>
          </a:p>
          <a:p>
            <a:pPr>
              <a:lnSpc>
                <a:spcPct val="106000"/>
              </a:lnSpc>
              <a:spcBef>
                <a:spcPts val="0"/>
              </a:spcBef>
              <a:spcAft>
                <a:spcPts val="1300"/>
              </a:spcAft>
            </a:pPr>
            <a:r>
              <a:rPr sz="1400" b="1">
                <a:solidFill>
                  <a:srgbClr val="156082"/>
                </a:solidFill>
                <a:latin typeface="Calibri"/>
              </a:rPr>
              <a:t>▸  </a:t>
            </a:r>
            <a:r>
              <a:rPr sz="1400" b="1">
                <a:solidFill>
                  <a:srgbClr val="0E2841"/>
                </a:solidFill>
                <a:latin typeface="Calibri"/>
              </a:rPr>
              <a:t>CRS:  </a:t>
            </a:r>
            <a:r>
              <a:rPr sz="1400">
                <a:solidFill>
                  <a:srgbClr val="1E2B36"/>
                </a:solidFill>
                <a:latin typeface="Calibri"/>
              </a:rPr>
              <a:t>EPSG:25832 (ETRS89 / UTM 32N, metres)</a:t>
            </a:r>
          </a:p>
        </p:txBody>
      </p:sp>
      <p:sp>
        <p:nvSpPr>
          <p:cNvPr id="7" name="TextBox 6"/>
          <p:cNvSpPr txBox="1"/>
          <p:nvPr/>
        </p:nvSpPr>
        <p:spPr>
          <a:xfrm>
            <a:off x="6035040" y="5648375"/>
            <a:ext cx="6126480" cy="274320"/>
          </a:xfrm>
          <a:prstGeom prst="rect">
            <a:avLst/>
          </a:prstGeom>
          <a:noFill/>
        </p:spPr>
        <p:txBody>
          <a:bodyPr wrap="square" anchor="t" lIns="0" rIns="0" tIns="0" bIns="0">
            <a:noAutofit/>
          </a:bodyPr>
          <a:lstStyle/>
          <a:p>
            <a:pPr algn="ctr">
              <a:spcBef>
                <a:spcPts val="0"/>
              </a:spcBef>
              <a:spcAft>
                <a:spcPts val="200"/>
              </a:spcAft>
            </a:pPr>
            <a:r>
              <a:rPr sz="1200" b="0" i="1">
                <a:solidFill>
                  <a:srgbClr val="5B6B78"/>
                </a:solidFill>
                <a:latin typeface="Calibri"/>
              </a:rPr>
              <a:t>Danish AIS vessel trajectories, 2026-02-26</a:t>
            </a:r>
          </a:p>
        </p:txBody>
      </p:sp>
      <p:sp>
        <p:nvSpPr>
          <p:cNvPr id="8" name="Rectangle 7"/>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0" name="TextBox 9"/>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REFERENCE</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The Implemented Endpoint Surface</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72768"/>
            <a:ext cx="5440680" cy="146304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72768"/>
            <a:ext cx="82296" cy="146304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00784"/>
            <a:ext cx="5074920"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COLLECTIONS</a:t>
            </a:r>
          </a:p>
        </p:txBody>
      </p:sp>
      <p:sp>
        <p:nvSpPr>
          <p:cNvPr id="8" name="Rounded Rectangle 7"/>
          <p:cNvSpPr/>
          <p:nvPr/>
        </p:nvSpPr>
        <p:spPr>
          <a:xfrm>
            <a:off x="822960" y="2066543"/>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9" name="TextBox 8"/>
          <p:cNvSpPr txBox="1"/>
          <p:nvPr/>
        </p:nvSpPr>
        <p:spPr>
          <a:xfrm>
            <a:off x="1581912" y="2057400"/>
            <a:ext cx="4370832" cy="256032"/>
          </a:xfrm>
          <a:prstGeom prst="rect">
            <a:avLst/>
          </a:prstGeom>
          <a:noFill/>
        </p:spPr>
        <p:txBody>
          <a:bodyPr wrap="square" anchor="ctr" lIns="0" rIns="0" tIns="0" bIns="0">
            <a:noAutofit/>
          </a:bodyPr>
          <a:lstStyle/>
          <a:p>
            <a:pPr algn="l">
              <a:spcBef>
                <a:spcPts val="0"/>
              </a:spcBef>
              <a:spcAft>
                <a:spcPts val="200"/>
              </a:spcAft>
            </a:pPr>
            <a:r>
              <a:rPr sz="1200" b="0" i="0">
                <a:solidFill>
                  <a:srgbClr val="0E2841"/>
                </a:solidFill>
                <a:latin typeface="Consolas"/>
              </a:rPr>
              <a:t>/collections</a:t>
            </a:r>
          </a:p>
        </p:txBody>
      </p:sp>
      <p:sp>
        <p:nvSpPr>
          <p:cNvPr id="10" name="Rounded Rectangle 9"/>
          <p:cNvSpPr/>
          <p:nvPr/>
        </p:nvSpPr>
        <p:spPr>
          <a:xfrm>
            <a:off x="822960" y="2523744"/>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11" name="TextBox 10"/>
          <p:cNvSpPr txBox="1"/>
          <p:nvPr/>
        </p:nvSpPr>
        <p:spPr>
          <a:xfrm>
            <a:off x="1581912" y="2514600"/>
            <a:ext cx="4370832" cy="256032"/>
          </a:xfrm>
          <a:prstGeom prst="rect">
            <a:avLst/>
          </a:prstGeom>
          <a:noFill/>
        </p:spPr>
        <p:txBody>
          <a:bodyPr wrap="square" anchor="ctr" lIns="0" rIns="0" tIns="0" bIns="0">
            <a:noAutofit/>
          </a:bodyPr>
          <a:lstStyle/>
          <a:p>
            <a:pPr algn="l">
              <a:spcBef>
                <a:spcPts val="0"/>
              </a:spcBef>
              <a:spcAft>
                <a:spcPts val="200"/>
              </a:spcAft>
            </a:pPr>
            <a:r>
              <a:rPr sz="1200" b="0" i="0">
                <a:solidFill>
                  <a:srgbClr val="0E2841"/>
                </a:solidFill>
                <a:latin typeface="Consolas"/>
              </a:rPr>
              <a:t>/collections/{id}</a:t>
            </a:r>
          </a:p>
        </p:txBody>
      </p:sp>
      <p:sp>
        <p:nvSpPr>
          <p:cNvPr id="12" name="Rounded Rectangle 11"/>
          <p:cNvSpPr/>
          <p:nvPr/>
        </p:nvSpPr>
        <p:spPr>
          <a:xfrm>
            <a:off x="566928" y="3054096"/>
            <a:ext cx="5440680" cy="146304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3054096"/>
            <a:ext cx="82296" cy="146304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182112"/>
            <a:ext cx="5074920" cy="274320"/>
          </a:xfrm>
          <a:prstGeom prst="rect">
            <a:avLst/>
          </a:prstGeom>
          <a:noFill/>
        </p:spPr>
        <p:txBody>
          <a:bodyPr wrap="square" anchor="t" lIns="0" rIns="0" tIns="0" bIns="0">
            <a:noAutofit/>
          </a:bodyPr>
          <a:lstStyle/>
          <a:p>
            <a:pPr algn="l">
              <a:spcBef>
                <a:spcPts val="0"/>
              </a:spcBef>
              <a:spcAft>
                <a:spcPts val="200"/>
              </a:spcAft>
            </a:pPr>
            <a:r>
              <a:rPr sz="1200" b="1" i="0">
                <a:solidFill>
                  <a:srgbClr val="E97132"/>
                </a:solidFill>
                <a:latin typeface="Calibri"/>
              </a:rPr>
              <a:t>MOVING FEATURES</a:t>
            </a:r>
          </a:p>
        </p:txBody>
      </p:sp>
      <p:sp>
        <p:nvSpPr>
          <p:cNvPr id="15" name="Rounded Rectangle 14"/>
          <p:cNvSpPr/>
          <p:nvPr/>
        </p:nvSpPr>
        <p:spPr>
          <a:xfrm>
            <a:off x="822960" y="3547872"/>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16" name="Rounded Rectangle 15"/>
          <p:cNvSpPr/>
          <p:nvPr/>
        </p:nvSpPr>
        <p:spPr>
          <a:xfrm>
            <a:off x="1527048" y="3547872"/>
            <a:ext cx="713232" cy="292608"/>
          </a:xfrm>
          <a:prstGeom prst="roundRect">
            <a:avLst>
              <a:gd name="adj" fmla="val 4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POST</a:t>
            </a:r>
          </a:p>
        </p:txBody>
      </p:sp>
      <p:sp>
        <p:nvSpPr>
          <p:cNvPr id="17" name="TextBox 16"/>
          <p:cNvSpPr txBox="1"/>
          <p:nvPr/>
        </p:nvSpPr>
        <p:spPr>
          <a:xfrm>
            <a:off x="2359152" y="3538728"/>
            <a:ext cx="3593592" cy="256032"/>
          </a:xfrm>
          <a:prstGeom prst="rect">
            <a:avLst/>
          </a:prstGeom>
          <a:noFill/>
        </p:spPr>
        <p:txBody>
          <a:bodyPr wrap="square" anchor="ctr" lIns="0" rIns="0" tIns="0" bIns="0">
            <a:noAutofit/>
          </a:bodyPr>
          <a:lstStyle/>
          <a:p>
            <a:pPr algn="l">
              <a:spcBef>
                <a:spcPts val="0"/>
              </a:spcBef>
              <a:spcAft>
                <a:spcPts val="200"/>
              </a:spcAft>
            </a:pPr>
            <a:r>
              <a:rPr sz="1200" b="0" i="0">
                <a:solidFill>
                  <a:srgbClr val="0E2841"/>
                </a:solidFill>
                <a:latin typeface="Consolas"/>
              </a:rPr>
              <a:t>/collections/{id}/items</a:t>
            </a:r>
          </a:p>
        </p:txBody>
      </p:sp>
      <p:sp>
        <p:nvSpPr>
          <p:cNvPr id="18" name="Rounded Rectangle 17"/>
          <p:cNvSpPr/>
          <p:nvPr/>
        </p:nvSpPr>
        <p:spPr>
          <a:xfrm>
            <a:off x="822960" y="4005072"/>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19" name="Rounded Rectangle 18"/>
          <p:cNvSpPr/>
          <p:nvPr/>
        </p:nvSpPr>
        <p:spPr>
          <a:xfrm>
            <a:off x="1527048" y="4005072"/>
            <a:ext cx="603504" cy="292608"/>
          </a:xfrm>
          <a:prstGeom prst="roundRect">
            <a:avLst>
              <a:gd name="adj" fmla="val 40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PUT</a:t>
            </a:r>
          </a:p>
        </p:txBody>
      </p:sp>
      <p:sp>
        <p:nvSpPr>
          <p:cNvPr id="20" name="Rounded Rectangle 19"/>
          <p:cNvSpPr/>
          <p:nvPr/>
        </p:nvSpPr>
        <p:spPr>
          <a:xfrm>
            <a:off x="2194560" y="4005072"/>
            <a:ext cx="932688" cy="292608"/>
          </a:xfrm>
          <a:prstGeom prst="roundRect">
            <a:avLst>
              <a:gd name="adj" fmla="val 4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DELETE</a:t>
            </a:r>
          </a:p>
        </p:txBody>
      </p:sp>
      <p:sp>
        <p:nvSpPr>
          <p:cNvPr id="21" name="TextBox 20"/>
          <p:cNvSpPr txBox="1"/>
          <p:nvPr/>
        </p:nvSpPr>
        <p:spPr>
          <a:xfrm>
            <a:off x="3246120" y="3995928"/>
            <a:ext cx="2706624" cy="256032"/>
          </a:xfrm>
          <a:prstGeom prst="rect">
            <a:avLst/>
          </a:prstGeom>
          <a:noFill/>
        </p:spPr>
        <p:txBody>
          <a:bodyPr wrap="square" anchor="ctr" lIns="0" rIns="0" tIns="0" bIns="0">
            <a:noAutofit/>
          </a:bodyPr>
          <a:lstStyle/>
          <a:p>
            <a:pPr algn="l">
              <a:spcBef>
                <a:spcPts val="0"/>
              </a:spcBef>
              <a:spcAft>
                <a:spcPts val="200"/>
              </a:spcAft>
            </a:pPr>
            <a:r>
              <a:rPr sz="1200" b="0" i="0">
                <a:solidFill>
                  <a:srgbClr val="0E2841"/>
                </a:solidFill>
                <a:latin typeface="Consolas"/>
              </a:rPr>
              <a:t>…/items/{fid}</a:t>
            </a:r>
          </a:p>
        </p:txBody>
      </p:sp>
      <p:sp>
        <p:nvSpPr>
          <p:cNvPr id="22" name="Rounded Rectangle 21"/>
          <p:cNvSpPr/>
          <p:nvPr/>
        </p:nvSpPr>
        <p:spPr>
          <a:xfrm>
            <a:off x="566928" y="4681728"/>
            <a:ext cx="5440680" cy="146304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4681728"/>
            <a:ext cx="82296" cy="1463040"/>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4809744"/>
            <a:ext cx="5074920" cy="274320"/>
          </a:xfrm>
          <a:prstGeom prst="rect">
            <a:avLst/>
          </a:prstGeom>
          <a:noFill/>
        </p:spPr>
        <p:txBody>
          <a:bodyPr wrap="square" anchor="t" lIns="0" rIns="0" tIns="0" bIns="0">
            <a:noAutofit/>
          </a:bodyPr>
          <a:lstStyle/>
          <a:p>
            <a:pPr algn="l">
              <a:spcBef>
                <a:spcPts val="0"/>
              </a:spcBef>
              <a:spcAft>
                <a:spcPts val="200"/>
              </a:spcAft>
            </a:pPr>
            <a:r>
              <a:rPr sz="1200" b="1" i="0">
                <a:solidFill>
                  <a:srgbClr val="196B24"/>
                </a:solidFill>
                <a:latin typeface="Calibri"/>
              </a:rPr>
              <a:t>TEMPORAL GEOMETRY</a:t>
            </a:r>
          </a:p>
        </p:txBody>
      </p:sp>
      <p:sp>
        <p:nvSpPr>
          <p:cNvPr id="25" name="Rounded Rectangle 24"/>
          <p:cNvSpPr/>
          <p:nvPr/>
        </p:nvSpPr>
        <p:spPr>
          <a:xfrm>
            <a:off x="822960" y="5175504"/>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26" name="Rounded Rectangle 25"/>
          <p:cNvSpPr/>
          <p:nvPr/>
        </p:nvSpPr>
        <p:spPr>
          <a:xfrm>
            <a:off x="1527048" y="5175504"/>
            <a:ext cx="713232" cy="292608"/>
          </a:xfrm>
          <a:prstGeom prst="roundRect">
            <a:avLst>
              <a:gd name="adj" fmla="val 4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POST</a:t>
            </a:r>
          </a:p>
        </p:txBody>
      </p:sp>
      <p:sp>
        <p:nvSpPr>
          <p:cNvPr id="27" name="TextBox 26"/>
          <p:cNvSpPr txBox="1"/>
          <p:nvPr/>
        </p:nvSpPr>
        <p:spPr>
          <a:xfrm>
            <a:off x="2359152" y="5166360"/>
            <a:ext cx="3593592" cy="256032"/>
          </a:xfrm>
          <a:prstGeom prst="rect">
            <a:avLst/>
          </a:prstGeom>
          <a:noFill/>
        </p:spPr>
        <p:txBody>
          <a:bodyPr wrap="square" anchor="ctr" lIns="0" rIns="0" tIns="0" bIns="0">
            <a:noAutofit/>
          </a:bodyPr>
          <a:lstStyle/>
          <a:p>
            <a:pPr algn="l">
              <a:spcBef>
                <a:spcPts val="0"/>
              </a:spcBef>
              <a:spcAft>
                <a:spcPts val="200"/>
              </a:spcAft>
            </a:pPr>
            <a:r>
              <a:rPr sz="1200" b="0" i="0">
                <a:solidFill>
                  <a:srgbClr val="0E2841"/>
                </a:solidFill>
                <a:latin typeface="Consolas"/>
              </a:rPr>
              <a:t>…/items/{fid}/tgsequence</a:t>
            </a:r>
          </a:p>
        </p:txBody>
      </p:sp>
      <p:sp>
        <p:nvSpPr>
          <p:cNvPr id="28" name="Rounded Rectangle 27"/>
          <p:cNvSpPr/>
          <p:nvPr/>
        </p:nvSpPr>
        <p:spPr>
          <a:xfrm>
            <a:off x="822960" y="5632704"/>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29" name="TextBox 28"/>
          <p:cNvSpPr txBox="1"/>
          <p:nvPr/>
        </p:nvSpPr>
        <p:spPr>
          <a:xfrm>
            <a:off x="1581912" y="5623560"/>
            <a:ext cx="4370832" cy="256032"/>
          </a:xfrm>
          <a:prstGeom prst="rect">
            <a:avLst/>
          </a:prstGeom>
          <a:noFill/>
        </p:spPr>
        <p:txBody>
          <a:bodyPr wrap="square" anchor="ctr" lIns="0" rIns="0" tIns="0" bIns="0">
            <a:noAutofit/>
          </a:bodyPr>
          <a:lstStyle/>
          <a:p>
            <a:pPr algn="l">
              <a:spcBef>
                <a:spcPts val="0"/>
              </a:spcBef>
              <a:spcAft>
                <a:spcPts val="200"/>
              </a:spcAft>
            </a:pPr>
            <a:r>
              <a:rPr sz="1200" b="0" i="0">
                <a:solidFill>
                  <a:srgbClr val="0E2841"/>
                </a:solidFill>
                <a:latin typeface="Consolas"/>
              </a:rPr>
              <a:t>…/tgsequence/{tgid}/distance · velocity</a:t>
            </a:r>
          </a:p>
        </p:txBody>
      </p:sp>
      <p:sp>
        <p:nvSpPr>
          <p:cNvPr id="30" name="Rounded Rectangle 29"/>
          <p:cNvSpPr/>
          <p:nvPr/>
        </p:nvSpPr>
        <p:spPr>
          <a:xfrm>
            <a:off x="6190488" y="1572768"/>
            <a:ext cx="5434279" cy="146304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90488" y="1572768"/>
            <a:ext cx="82296" cy="1463040"/>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46520" y="1700784"/>
            <a:ext cx="5068519" cy="274320"/>
          </a:xfrm>
          <a:prstGeom prst="rect">
            <a:avLst/>
          </a:prstGeom>
          <a:noFill/>
        </p:spPr>
        <p:txBody>
          <a:bodyPr wrap="square" anchor="t" lIns="0" rIns="0" tIns="0" bIns="0">
            <a:noAutofit/>
          </a:bodyPr>
          <a:lstStyle/>
          <a:p>
            <a:pPr algn="l">
              <a:spcBef>
                <a:spcPts val="0"/>
              </a:spcBef>
              <a:spcAft>
                <a:spcPts val="200"/>
              </a:spcAft>
            </a:pPr>
            <a:r>
              <a:rPr sz="1200" b="1" i="0">
                <a:solidFill>
                  <a:srgbClr val="0E2841"/>
                </a:solidFill>
                <a:latin typeface="Calibri"/>
              </a:rPr>
              <a:t>TEMPORAL PROPERTIES</a:t>
            </a:r>
          </a:p>
        </p:txBody>
      </p:sp>
      <p:sp>
        <p:nvSpPr>
          <p:cNvPr id="33" name="Rounded Rectangle 32"/>
          <p:cNvSpPr/>
          <p:nvPr/>
        </p:nvSpPr>
        <p:spPr>
          <a:xfrm>
            <a:off x="6446520" y="2066543"/>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34" name="TextBox 33"/>
          <p:cNvSpPr txBox="1"/>
          <p:nvPr/>
        </p:nvSpPr>
        <p:spPr>
          <a:xfrm>
            <a:off x="7205472" y="2057400"/>
            <a:ext cx="4364431" cy="256032"/>
          </a:xfrm>
          <a:prstGeom prst="rect">
            <a:avLst/>
          </a:prstGeom>
          <a:noFill/>
        </p:spPr>
        <p:txBody>
          <a:bodyPr wrap="square" anchor="ctr" lIns="0" rIns="0" tIns="0" bIns="0">
            <a:noAutofit/>
          </a:bodyPr>
          <a:lstStyle/>
          <a:p>
            <a:pPr algn="l">
              <a:spcBef>
                <a:spcPts val="0"/>
              </a:spcBef>
              <a:spcAft>
                <a:spcPts val="200"/>
              </a:spcAft>
            </a:pPr>
            <a:r>
              <a:rPr sz="1200" b="0" i="0">
                <a:solidFill>
                  <a:srgbClr val="0E2841"/>
                </a:solidFill>
                <a:latin typeface="Consolas"/>
              </a:rPr>
              <a:t>…/items/{fid}/tproperties</a:t>
            </a:r>
          </a:p>
        </p:txBody>
      </p:sp>
      <p:sp>
        <p:nvSpPr>
          <p:cNvPr id="35" name="Rounded Rectangle 34"/>
          <p:cNvSpPr/>
          <p:nvPr/>
        </p:nvSpPr>
        <p:spPr>
          <a:xfrm>
            <a:off x="6446520" y="2523744"/>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36" name="TextBox 35"/>
          <p:cNvSpPr txBox="1"/>
          <p:nvPr/>
        </p:nvSpPr>
        <p:spPr>
          <a:xfrm>
            <a:off x="7205472" y="2514600"/>
            <a:ext cx="4364431" cy="256032"/>
          </a:xfrm>
          <a:prstGeom prst="rect">
            <a:avLst/>
          </a:prstGeom>
          <a:noFill/>
        </p:spPr>
        <p:txBody>
          <a:bodyPr wrap="square" anchor="ctr" lIns="0" rIns="0" tIns="0" bIns="0">
            <a:noAutofit/>
          </a:bodyPr>
          <a:lstStyle/>
          <a:p>
            <a:pPr algn="l">
              <a:spcBef>
                <a:spcPts val="0"/>
              </a:spcBef>
              <a:spcAft>
                <a:spcPts val="200"/>
              </a:spcAft>
            </a:pPr>
            <a:r>
              <a:rPr sz="1200" b="0" i="0">
                <a:solidFill>
                  <a:srgbClr val="0E2841"/>
                </a:solidFill>
                <a:latin typeface="Consolas"/>
              </a:rPr>
              <a:t>…/tproperties/{name}</a:t>
            </a:r>
          </a:p>
        </p:txBody>
      </p:sp>
      <p:sp>
        <p:nvSpPr>
          <p:cNvPr id="37" name="Rounded Rectangle 36"/>
          <p:cNvSpPr/>
          <p:nvPr/>
        </p:nvSpPr>
        <p:spPr>
          <a:xfrm>
            <a:off x="6190488" y="3054096"/>
            <a:ext cx="5434279" cy="146304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190488" y="3054096"/>
            <a:ext cx="82296" cy="1463040"/>
          </a:xfrm>
          <a:prstGeom prst="rect">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46520" y="3182112"/>
            <a:ext cx="5068519" cy="274320"/>
          </a:xfrm>
          <a:prstGeom prst="rect">
            <a:avLst/>
          </a:prstGeom>
          <a:noFill/>
        </p:spPr>
        <p:txBody>
          <a:bodyPr wrap="square" anchor="t" lIns="0" rIns="0" tIns="0" bIns="0">
            <a:noAutofit/>
          </a:bodyPr>
          <a:lstStyle/>
          <a:p>
            <a:pPr algn="l">
              <a:spcBef>
                <a:spcPts val="0"/>
              </a:spcBef>
              <a:spcAft>
                <a:spcPts val="200"/>
              </a:spcAft>
            </a:pPr>
            <a:r>
              <a:rPr sz="1200" b="1" i="0">
                <a:solidFill>
                  <a:srgbClr val="A02B93"/>
                </a:solidFill>
                <a:latin typeface="Calibri"/>
              </a:rPr>
              <a:t>SERVICE</a:t>
            </a:r>
          </a:p>
        </p:txBody>
      </p:sp>
      <p:sp>
        <p:nvSpPr>
          <p:cNvPr id="40" name="Rounded Rectangle 39"/>
          <p:cNvSpPr/>
          <p:nvPr/>
        </p:nvSpPr>
        <p:spPr>
          <a:xfrm>
            <a:off x="6446520" y="3547872"/>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41" name="TextBox 40"/>
          <p:cNvSpPr txBox="1"/>
          <p:nvPr/>
        </p:nvSpPr>
        <p:spPr>
          <a:xfrm>
            <a:off x="7205472" y="3538728"/>
            <a:ext cx="4364431" cy="256032"/>
          </a:xfrm>
          <a:prstGeom prst="rect">
            <a:avLst/>
          </a:prstGeom>
          <a:noFill/>
        </p:spPr>
        <p:txBody>
          <a:bodyPr wrap="square" anchor="ctr" lIns="0" rIns="0" tIns="0" bIns="0">
            <a:noAutofit/>
          </a:bodyPr>
          <a:lstStyle/>
          <a:p>
            <a:pPr algn="l">
              <a:spcBef>
                <a:spcPts val="0"/>
              </a:spcBef>
              <a:spcAft>
                <a:spcPts val="200"/>
              </a:spcAft>
            </a:pPr>
            <a:r>
              <a:rPr sz="1200" b="0" i="0">
                <a:solidFill>
                  <a:srgbClr val="0E2841"/>
                </a:solidFill>
                <a:latin typeface="Consolas"/>
              </a:rPr>
              <a:t>/conformance · /api</a:t>
            </a:r>
          </a:p>
        </p:txBody>
      </p:sp>
      <p:sp>
        <p:nvSpPr>
          <p:cNvPr id="42" name="Rounded Rectangle 41"/>
          <p:cNvSpPr/>
          <p:nvPr/>
        </p:nvSpPr>
        <p:spPr>
          <a:xfrm>
            <a:off x="6446520" y="4005072"/>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43" name="TextBox 42"/>
          <p:cNvSpPr txBox="1"/>
          <p:nvPr/>
        </p:nvSpPr>
        <p:spPr>
          <a:xfrm>
            <a:off x="7205472" y="3995928"/>
            <a:ext cx="4364431" cy="256032"/>
          </a:xfrm>
          <a:prstGeom prst="rect">
            <a:avLst/>
          </a:prstGeom>
          <a:noFill/>
        </p:spPr>
        <p:txBody>
          <a:bodyPr wrap="square" anchor="ctr" lIns="0" rIns="0" tIns="0" bIns="0">
            <a:noAutofit/>
          </a:bodyPr>
          <a:lstStyle/>
          <a:p>
            <a:pPr algn="l">
              <a:spcBef>
                <a:spcPts val="0"/>
              </a:spcBef>
              <a:spcAft>
                <a:spcPts val="200"/>
              </a:spcAft>
            </a:pPr>
            <a:r>
              <a:rPr sz="1200" b="0" i="0">
                <a:solidFill>
                  <a:srgbClr val="0E2841"/>
                </a:solidFill>
                <a:latin typeface="Consolas"/>
              </a:rPr>
              <a:t>…/export  (NDJSON · Parquet)</a:t>
            </a:r>
          </a:p>
        </p:txBody>
      </p:sp>
      <p:sp>
        <p:nvSpPr>
          <p:cNvPr id="44" name="TextBox 43"/>
          <p:cNvSpPr txBox="1"/>
          <p:nvPr/>
        </p:nvSpPr>
        <p:spPr>
          <a:xfrm>
            <a:off x="6190488" y="4754880"/>
            <a:ext cx="5434279" cy="822960"/>
          </a:xfrm>
          <a:prstGeom prst="rect">
            <a:avLst/>
          </a:prstGeom>
          <a:noFill/>
        </p:spPr>
        <p:txBody>
          <a:bodyPr wrap="square" anchor="t" lIns="0" rIns="0" tIns="0" bIns="0">
            <a:noAutofit/>
          </a:bodyPr>
          <a:lstStyle/>
          <a:p>
            <a:pPr algn="l">
              <a:spcBef>
                <a:spcPts val="0"/>
              </a:spcBef>
              <a:spcAft>
                <a:spcPts val="200"/>
              </a:spcAft>
            </a:pPr>
            <a:r>
              <a:rPr sz="1200" b="0" i="1">
                <a:solidFill>
                  <a:srgbClr val="5B6B78"/>
                </a:solidFill>
                <a:latin typeface="Calibri"/>
              </a:rPr>
              <a:t>Filters on the items resource: bbox, datetime, subtrajectory, leaf, limit, after (keyset).</a:t>
            </a:r>
          </a:p>
        </p:txBody>
      </p:sp>
      <p:sp>
        <p:nvSpPr>
          <p:cNvPr id="45" name="Rectangle 44"/>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47" name="TextBox 46"/>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08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240280"/>
            <a:ext cx="8229600" cy="365760"/>
          </a:xfrm>
          <a:prstGeom prst="rect">
            <a:avLst/>
          </a:prstGeom>
          <a:noFill/>
        </p:spPr>
        <p:txBody>
          <a:bodyPr wrap="square" anchor="t" lIns="0" rIns="0" tIns="0" bIns="0">
            <a:noAutofit/>
          </a:bodyPr>
          <a:lstStyle/>
          <a:p>
            <a:pPr algn="l">
              <a:spcBef>
                <a:spcPts val="0"/>
              </a:spcBef>
              <a:spcAft>
                <a:spcPts val="200"/>
              </a:spcAft>
            </a:pPr>
            <a:r>
              <a:rPr sz="1600" b="1" i="0">
                <a:solidFill>
                  <a:srgbClr val="156082"/>
                </a:solidFill>
                <a:latin typeface="Calibri"/>
              </a:rPr>
              <a:t>WALKTHROUGH</a:t>
            </a:r>
          </a:p>
        </p:txBody>
      </p:sp>
      <p:sp>
        <p:nvSpPr>
          <p:cNvPr id="5" name="TextBox 4"/>
          <p:cNvSpPr txBox="1"/>
          <p:nvPr/>
        </p:nvSpPr>
        <p:spPr>
          <a:xfrm>
            <a:off x="566928" y="2697480"/>
            <a:ext cx="10515600" cy="914400"/>
          </a:xfrm>
          <a:prstGeom prst="rect">
            <a:avLst/>
          </a:prstGeom>
          <a:noFill/>
        </p:spPr>
        <p:txBody>
          <a:bodyPr wrap="square" anchor="t" lIns="0" rIns="0" tIns="0" bIns="0">
            <a:noAutofit/>
          </a:bodyPr>
          <a:lstStyle/>
          <a:p>
            <a:pPr algn="l">
              <a:spcBef>
                <a:spcPts val="0"/>
              </a:spcBef>
              <a:spcAft>
                <a:spcPts val="200"/>
              </a:spcAft>
            </a:pPr>
            <a:r>
              <a:rPr sz="4400" b="1" i="0">
                <a:solidFill>
                  <a:srgbClr val="FFFFFF"/>
                </a:solidFill>
                <a:latin typeface="Calibri Light"/>
              </a:rPr>
              <a:t>The Ships Collection, End to End</a:t>
            </a:r>
          </a:p>
        </p:txBody>
      </p:sp>
      <p:sp>
        <p:nvSpPr>
          <p:cNvPr id="6" name="TextBox 5"/>
          <p:cNvSpPr txBox="1"/>
          <p:nvPr/>
        </p:nvSpPr>
        <p:spPr>
          <a:xfrm>
            <a:off x="566928" y="3794760"/>
            <a:ext cx="10058400" cy="457200"/>
          </a:xfrm>
          <a:prstGeom prst="rect">
            <a:avLst/>
          </a:prstGeom>
          <a:noFill/>
        </p:spPr>
        <p:txBody>
          <a:bodyPr wrap="square" anchor="t" lIns="0" rIns="0" tIns="0" bIns="0">
            <a:noAutofit/>
          </a:bodyPr>
          <a:lstStyle/>
          <a:p>
            <a:pPr algn="l">
              <a:spcBef>
                <a:spcPts val="0"/>
              </a:spcBef>
              <a:spcAft>
                <a:spcPts val="200"/>
              </a:spcAft>
            </a:pPr>
            <a:r>
              <a:rPr sz="1600" b="0" i="0">
                <a:solidFill>
                  <a:srgbClr val="9EB8C8"/>
                </a:solidFill>
                <a:latin typeface="Calibri"/>
              </a:rPr>
              <a:t>List  →  filter  →  retrieve  →  derive  →  write, all over HTTP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COLLECTIONS</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List Collections · Retrieve One</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5448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6" name="TextBox 5"/>
          <p:cNvSpPr txBox="1"/>
          <p:nvPr/>
        </p:nvSpPr>
        <p:spPr>
          <a:xfrm>
            <a:off x="1316736" y="1545336"/>
            <a:ext cx="4736592" cy="274320"/>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/collections</a:t>
            </a:r>
          </a:p>
        </p:txBody>
      </p:sp>
      <p:sp>
        <p:nvSpPr>
          <p:cNvPr id="7" name="TextBox 6"/>
          <p:cNvSpPr txBox="1"/>
          <p:nvPr/>
        </p:nvSpPr>
        <p:spPr>
          <a:xfrm>
            <a:off x="566928" y="1883664"/>
            <a:ext cx="5486400" cy="274320"/>
          </a:xfrm>
          <a:prstGeom prst="rect">
            <a:avLst/>
          </a:prstGeom>
          <a:noFill/>
        </p:spPr>
        <p:txBody>
          <a:bodyPr wrap="square" anchor="t" lIns="0" rIns="0" tIns="0" bIns="0">
            <a:noAutofit/>
          </a:bodyPr>
          <a:lstStyle/>
          <a:p>
            <a:pPr algn="l">
              <a:spcBef>
                <a:spcPts val="0"/>
              </a:spcBef>
              <a:spcAft>
                <a:spcPts val="200"/>
              </a:spcAft>
            </a:pPr>
            <a:r>
              <a:rPr sz="1200" b="1" i="0">
                <a:solidFill>
                  <a:srgbClr val="196B24"/>
                </a:solidFill>
                <a:latin typeface="Consolas"/>
              </a:rPr>
              <a:t>200 OK</a:t>
            </a:r>
          </a:p>
        </p:txBody>
      </p:sp>
      <p:sp>
        <p:nvSpPr>
          <p:cNvPr id="8" name="Rounded Rectangle 7"/>
          <p:cNvSpPr/>
          <p:nvPr/>
        </p:nvSpPr>
        <p:spPr>
          <a:xfrm>
            <a:off x="566928" y="2194560"/>
            <a:ext cx="5486400" cy="393192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ODEPANEL"/>
          <p:cNvSpPr txBox="1"/>
          <p:nvPr/>
        </p:nvSpPr>
        <p:spPr>
          <a:xfrm>
            <a:off x="694944" y="2286000"/>
            <a:ext cx="5230368" cy="3749039"/>
          </a:xfrm>
          <a:prstGeom prst="rect">
            <a:avLst/>
          </a:prstGeom>
          <a:noFill/>
        </p:spPr>
        <p:txBody>
          <a:bodyPr wrap="square" lIns="0" rIns="0" tIns="0" bIns="0">
            <a:noAutofit/>
          </a:bodyPr>
          <a:lstStyle/>
          <a:p>
            <a:pPr>
              <a:lnSpc>
                <a:spcPct val="102000"/>
              </a:lnSpc>
              <a:spcBef>
                <a:spcPts val="0"/>
              </a:spcBef>
              <a:spcAft>
                <a:spcPts val="0"/>
              </a:spcAft>
            </a:pP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"collections"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"ships"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"title"</a:t>
            </a:r>
            <a:r>
              <a:rPr sz="1200">
                <a:solidFill>
                  <a:srgbClr val="C2D0DA"/>
                </a:solidFill>
                <a:latin typeface="Consolas"/>
              </a:rPr>
              <a:t>: </a:t>
            </a:r>
            <a:r>
              <a:rPr sz="1200">
                <a:solidFill>
                  <a:srgbClr val="E6A36A"/>
                </a:solidFill>
                <a:latin typeface="Consolas"/>
              </a:rPr>
              <a:t>"ships"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"itemType"</a:t>
            </a:r>
            <a:r>
              <a:rPr sz="1200">
                <a:solidFill>
                  <a:srgbClr val="C2D0DA"/>
                </a:solidFill>
                <a:latin typeface="Consolas"/>
              </a:rPr>
              <a:t>: </a:t>
            </a:r>
            <a:r>
              <a:rPr sz="1200">
                <a:solidFill>
                  <a:srgbClr val="E6A36A"/>
                </a:solidFill>
                <a:latin typeface="Consolas"/>
              </a:rPr>
              <a:t>"movingfeature"</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"description"</a:t>
            </a:r>
            <a:r>
              <a:rPr sz="1200">
                <a:solidFill>
                  <a:srgbClr val="C2D0DA"/>
                </a:solidFill>
                <a:latin typeface="Consolas"/>
              </a:rPr>
              <a:t>: </a:t>
            </a:r>
            <a:r>
              <a:rPr sz="1200">
                <a:solidFill>
                  <a:srgbClr val="E6A36A"/>
                </a:solidFill>
                <a:latin typeface="Consolas"/>
              </a:rPr>
              <a:t>"Danish AIS vessel trajectories"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"links"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"items"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"href"</a:t>
            </a:r>
            <a:r>
              <a:rPr sz="1200">
                <a:solidFill>
                  <a:srgbClr val="C2D0DA"/>
                </a:solidFill>
                <a:latin typeface="Consolas"/>
              </a:rPr>
              <a:t>: </a:t>
            </a:r>
            <a:r>
              <a:rPr sz="1200">
                <a:solidFill>
                  <a:srgbClr val="E6A36A"/>
                </a:solidFill>
                <a:latin typeface="Consolas"/>
              </a:rPr>
              <a:t>"/collections/ships/items"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"enclosure"</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"href"</a:t>
            </a:r>
            <a:r>
              <a:rPr sz="1200">
                <a:solidFill>
                  <a:srgbClr val="C2D0DA"/>
                </a:solidFill>
                <a:latin typeface="Consolas"/>
              </a:rPr>
              <a:t>: </a:t>
            </a:r>
            <a:r>
              <a:rPr sz="1200">
                <a:solidFill>
                  <a:srgbClr val="E6A36A"/>
                </a:solidFill>
                <a:latin typeface="Consolas"/>
              </a:rPr>
              <a:t>"/collections/ships/export"</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"application/x-ndjson"</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a:t>
            </a:r>
          </a:p>
        </p:txBody>
      </p:sp>
      <p:sp>
        <p:nvSpPr>
          <p:cNvPr id="10" name="Rounded Rectangle 9"/>
          <p:cNvSpPr/>
          <p:nvPr/>
        </p:nvSpPr>
        <p:spPr>
          <a:xfrm>
            <a:off x="6281928" y="155448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11" name="TextBox 10"/>
          <p:cNvSpPr txBox="1"/>
          <p:nvPr/>
        </p:nvSpPr>
        <p:spPr>
          <a:xfrm>
            <a:off x="7031736" y="1545336"/>
            <a:ext cx="4593031" cy="274320"/>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/collections/ships</a:t>
            </a:r>
          </a:p>
        </p:txBody>
      </p:sp>
      <p:sp>
        <p:nvSpPr>
          <p:cNvPr id="12" name="TextBox 11"/>
          <p:cNvSpPr txBox="1"/>
          <p:nvPr/>
        </p:nvSpPr>
        <p:spPr>
          <a:xfrm>
            <a:off x="6281928" y="1883664"/>
            <a:ext cx="5342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96B24"/>
                </a:solidFill>
                <a:latin typeface="Consolas"/>
              </a:rPr>
              <a:t>200 OK</a:t>
            </a:r>
          </a:p>
        </p:txBody>
      </p:sp>
      <p:sp>
        <p:nvSpPr>
          <p:cNvPr id="13" name="Rounded Rectangle 12"/>
          <p:cNvSpPr/>
          <p:nvPr/>
        </p:nvSpPr>
        <p:spPr>
          <a:xfrm>
            <a:off x="6281928" y="2194560"/>
            <a:ext cx="5342839" cy="210312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ODEPANEL"/>
          <p:cNvSpPr txBox="1"/>
          <p:nvPr/>
        </p:nvSpPr>
        <p:spPr>
          <a:xfrm>
            <a:off x="6409944" y="2286000"/>
            <a:ext cx="5086807" cy="1920239"/>
          </a:xfrm>
          <a:prstGeom prst="rect">
            <a:avLst/>
          </a:prstGeom>
          <a:noFill/>
        </p:spPr>
        <p:txBody>
          <a:bodyPr wrap="square" lIns="0" rIns="0" tIns="0" bIns="0">
            <a:noAutofit/>
          </a:bodyPr>
          <a:lstStyle/>
          <a:p>
            <a:pPr>
              <a:lnSpc>
                <a:spcPct val="102000"/>
              </a:lnSpc>
              <a:spcBef>
                <a:spcPts val="0"/>
              </a:spcBef>
              <a:spcAft>
                <a:spcPts val="0"/>
              </a:spcAft>
            </a:pP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"ships"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"title"</a:t>
            </a:r>
            <a:r>
              <a:rPr sz="1200">
                <a:solidFill>
                  <a:srgbClr val="C2D0DA"/>
                </a:solidFill>
                <a:latin typeface="Consolas"/>
              </a:rPr>
              <a:t>: </a:t>
            </a:r>
            <a:r>
              <a:rPr sz="1200">
                <a:solidFill>
                  <a:srgbClr val="E6A36A"/>
                </a:solidFill>
                <a:latin typeface="Consolas"/>
              </a:rPr>
              <a:t>"ships"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"itemType"</a:t>
            </a:r>
            <a:r>
              <a:rPr sz="1200">
                <a:solidFill>
                  <a:srgbClr val="C2D0DA"/>
                </a:solidFill>
                <a:latin typeface="Consolas"/>
              </a:rPr>
              <a:t>: </a:t>
            </a:r>
            <a:r>
              <a:rPr sz="1200">
                <a:solidFill>
                  <a:srgbClr val="E6A36A"/>
                </a:solidFill>
                <a:latin typeface="Consolas"/>
              </a:rPr>
              <a:t>"movingfeature"</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"description"</a:t>
            </a:r>
            <a:r>
              <a:rPr sz="1200">
                <a:solidFill>
                  <a:srgbClr val="C2D0DA"/>
                </a:solidFill>
                <a:latin typeface="Consolas"/>
              </a:rPr>
              <a:t>: "Danish AIS vessel</a:t>
            </a:r>
          </a:p>
          <a:p>
            <a:pPr>
              <a:lnSpc>
                <a:spcPct val="102000"/>
              </a:lnSpc>
              <a:spcBef>
                <a:spcPts val="0"/>
              </a:spcBef>
              <a:spcAft>
                <a:spcPts val="0"/>
              </a:spcAft>
            </a:pPr>
            <a:r>
              <a:rPr sz="1200">
                <a:solidFill>
                  <a:srgbClr val="C2D0DA"/>
                </a:solidFill>
                <a:latin typeface="Consolas"/>
              </a:rPr>
              <a:t>                  trajectories</a:t>
            </a:r>
          </a:p>
          <a:p>
            <a:pPr>
              <a:lnSpc>
                <a:spcPct val="102000"/>
              </a:lnSpc>
              <a:spcBef>
                <a:spcPts val="0"/>
              </a:spcBef>
              <a:spcAft>
                <a:spcPts val="0"/>
              </a:spcAft>
            </a:pPr>
            <a:r>
              <a:rPr sz="1200">
                <a:solidFill>
                  <a:srgbClr val="C2D0DA"/>
                </a:solidFill>
                <a:latin typeface="Consolas"/>
              </a:rPr>
              <a:t>                  (MobilityDB tgeompoint)"</a:t>
            </a:r>
          </a:p>
          <a:p>
            <a:pPr>
              <a:lnSpc>
                <a:spcPct val="102000"/>
              </a:lnSpc>
              <a:spcBef>
                <a:spcPts val="0"/>
              </a:spcBef>
              <a:spcAft>
                <a:spcPts val="0"/>
              </a:spcAft>
            </a:pPr>
            <a:r>
              <a:rPr sz="1200">
                <a:solidFill>
                  <a:srgbClr val="C2D0DA"/>
                </a:solidFill>
                <a:latin typeface="Consolas"/>
              </a:rPr>
              <a:t>}</a:t>
            </a:r>
          </a:p>
        </p:txBody>
      </p:sp>
      <p:sp>
        <p:nvSpPr>
          <p:cNvPr id="15" name="TextBox 14"/>
          <p:cNvSpPr txBox="1"/>
          <p:nvPr/>
        </p:nvSpPr>
        <p:spPr>
          <a:xfrm>
            <a:off x="6281928" y="4526280"/>
            <a:ext cx="5342839" cy="1463040"/>
          </a:xfrm>
          <a:prstGeom prst="rect">
            <a:avLst/>
          </a:prstGeom>
          <a:noFill/>
        </p:spPr>
        <p:txBody>
          <a:bodyPr wrap="square" lIns="0" rIns="0" tIns="0" bIns="0">
            <a:noAutofit/>
          </a:bodyPr>
          <a:lstStyle/>
          <a:p>
            <a:pPr>
              <a:lnSpc>
                <a:spcPct val="106000"/>
              </a:lnSpc>
              <a:spcBef>
                <a:spcPts val="0"/>
              </a:spcBef>
              <a:spcAft>
                <a:spcPts val="800"/>
              </a:spcAft>
            </a:pPr>
            <a:r>
              <a:rPr sz="1200" b="1">
                <a:solidFill>
                  <a:srgbClr val="156082"/>
                </a:solidFill>
                <a:latin typeface="Calibri"/>
              </a:rPr>
              <a:t>▸  </a:t>
            </a:r>
            <a:r>
              <a:rPr sz="1200">
                <a:solidFill>
                  <a:srgbClr val="1E2B36"/>
                </a:solidFill>
                <a:latin typeface="Calibri"/>
              </a:rPr>
              <a:t>itemType is movingfeature, per OGC API – Moving Features</a:t>
            </a:r>
          </a:p>
          <a:p>
            <a:pPr>
              <a:lnSpc>
                <a:spcPct val="106000"/>
              </a:lnSpc>
              <a:spcBef>
                <a:spcPts val="0"/>
              </a:spcBef>
              <a:spcAft>
                <a:spcPts val="800"/>
              </a:spcAft>
            </a:pPr>
            <a:r>
              <a:rPr sz="1200" b="1">
                <a:solidFill>
                  <a:srgbClr val="156082"/>
                </a:solidFill>
                <a:latin typeface="Calibri"/>
              </a:rPr>
              <a:t>▸  </a:t>
            </a:r>
            <a:r>
              <a:rPr sz="1200">
                <a:solidFill>
                  <a:srgbClr val="1E2B36"/>
                </a:solidFill>
                <a:latin typeface="Calibri"/>
              </a:rPr>
              <a:t>Links are relative; the client follows them without hard-coding paths</a:t>
            </a:r>
          </a:p>
        </p:txBody>
      </p:sp>
      <p:sp>
        <p:nvSpPr>
          <p:cNvPr id="16" name="Rectangle 15"/>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8" name="TextBox 17"/>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09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MOVING FEATURES</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Stream the FeatureCollection, Page by Keyset</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5448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6" name="TextBox 5"/>
          <p:cNvSpPr txBox="1"/>
          <p:nvPr/>
        </p:nvSpPr>
        <p:spPr>
          <a:xfrm>
            <a:off x="1316736" y="1545336"/>
            <a:ext cx="10308031" cy="274320"/>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/collections/ships/items?limit=2</a:t>
            </a:r>
          </a:p>
        </p:txBody>
      </p:sp>
      <p:sp>
        <p:nvSpPr>
          <p:cNvPr id="7" name="Rounded Rectangle 6"/>
          <p:cNvSpPr/>
          <p:nvPr/>
        </p:nvSpPr>
        <p:spPr>
          <a:xfrm>
            <a:off x="566928" y="1874519"/>
            <a:ext cx="7040880" cy="443484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ODEPANEL"/>
          <p:cNvSpPr txBox="1"/>
          <p:nvPr/>
        </p:nvSpPr>
        <p:spPr>
          <a:xfrm>
            <a:off x="694944" y="1965960"/>
            <a:ext cx="6784848" cy="4251959"/>
          </a:xfrm>
          <a:prstGeom prst="rect">
            <a:avLst/>
          </a:prstGeom>
          <a:noFill/>
        </p:spPr>
        <p:txBody>
          <a:bodyPr wrap="square" lIns="0" rIns="0" tIns="0" bIns="0">
            <a:noAutofit/>
          </a:bodyPr>
          <a:lstStyle/>
          <a:p>
            <a:pPr>
              <a:lnSpc>
                <a:spcPct val="102000"/>
              </a:lnSpc>
              <a:spcBef>
                <a:spcPts val="0"/>
              </a:spcBef>
              <a:spcAft>
                <a:spcPts val="0"/>
              </a:spcAft>
            </a:pPr>
            <a:r>
              <a:rPr sz="1200">
                <a:solidFill>
                  <a:srgbClr val="C9E08A"/>
                </a:solidFill>
                <a:latin typeface="Consolas"/>
              </a:rPr>
              <a:t>200</a:t>
            </a:r>
            <a:r>
              <a:rPr sz="1200">
                <a:solidFill>
                  <a:srgbClr val="C2D0DA"/>
                </a:solidFill>
                <a:latin typeface="Consolas"/>
              </a:rPr>
              <a:t> OK   Content-Type: application/json</a:t>
            </a:r>
          </a:p>
          <a:p>
            <a:pPr>
              <a:lnSpc>
                <a:spcPct val="102000"/>
              </a:lnSpc>
              <a:spcBef>
                <a:spcPts val="0"/>
              </a:spcBef>
              <a:spcAft>
                <a:spcPts val="0"/>
              </a:spcAft>
            </a:pP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"FeatureCollection"</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"features"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"1"</a:t>
            </a: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"Feature"</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"properties"</a:t>
            </a:r>
            <a:r>
              <a:rPr sz="1200">
                <a:solidFill>
                  <a:srgbClr val="C2D0DA"/>
                </a:solidFill>
                <a:latin typeface="Consolas"/>
              </a:rPr>
              <a:t>: { </a:t>
            </a:r>
            <a:r>
              <a:rPr sz="1200">
                <a:solidFill>
                  <a:srgbClr val="6FC3E0"/>
                </a:solidFill>
                <a:latin typeface="Consolas"/>
              </a:rPr>
              <a:t>"mmsi"</a:t>
            </a:r>
            <a:r>
              <a:rPr sz="1200">
                <a:solidFill>
                  <a:srgbClr val="C2D0DA"/>
                </a:solidFill>
                <a:latin typeface="Consolas"/>
              </a:rPr>
              <a:t>: </a:t>
            </a:r>
            <a:r>
              <a:rPr sz="1200">
                <a:solidFill>
                  <a:srgbClr val="C9E08A"/>
                </a:solidFill>
                <a:latin typeface="Consolas"/>
              </a:rPr>
              <a:t>111219510</a:t>
            </a:r>
            <a:r>
              <a:rPr sz="1200">
                <a:solidFill>
                  <a:srgbClr val="C2D0DA"/>
                </a:solidFill>
                <a:latin typeface="Consolas"/>
              </a:rPr>
              <a:t>,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"vessel 111219510"</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"temporalGeometry"</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"MovingPoint"</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"crs"</a:t>
            </a:r>
            <a:r>
              <a:rPr sz="1200">
                <a:solidFill>
                  <a:srgbClr val="C2D0DA"/>
                </a:solidFill>
                <a:latin typeface="Consolas"/>
              </a:rPr>
              <a:t>: {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"Name"</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"properties"</a:t>
            </a:r>
            <a:r>
              <a:rPr sz="1200">
                <a:solidFill>
                  <a:srgbClr val="C2D0DA"/>
                </a:solidFill>
                <a:latin typeface="Consolas"/>
              </a:rPr>
              <a:t>: {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"urn:ogc:def:crs:EPSG::25832"</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"sequences"</a:t>
            </a:r>
            <a:r>
              <a:rPr sz="1200">
                <a:solidFill>
                  <a:srgbClr val="C2D0DA"/>
                </a:solidFill>
                <a:latin typeface="Consolas"/>
              </a:rPr>
              <a:t>: [ { </a:t>
            </a:r>
            <a:r>
              <a:rPr sz="1200">
                <a:solidFill>
                  <a:srgbClr val="6FC3E0"/>
                </a:solidFill>
                <a:latin typeface="Consolas"/>
              </a:rPr>
              <a:t>"datetimes"</a:t>
            </a:r>
            <a:r>
              <a:rPr sz="1200">
                <a:solidFill>
                  <a:srgbClr val="C2D0DA"/>
                </a:solidFill>
                <a:latin typeface="Consolas"/>
              </a:rPr>
              <a:t>: [</a:t>
            </a:r>
            <a:r>
              <a:rPr sz="1200">
                <a:solidFill>
                  <a:srgbClr val="E6A36A"/>
                </a:solidFill>
                <a:latin typeface="Consolas"/>
              </a:rPr>
              <a:t>"2026-02-26T13:28:08+01"</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"coordinates"</a:t>
            </a:r>
            <a:r>
              <a:rPr sz="1200">
                <a:solidFill>
                  <a:srgbClr val="C2D0DA"/>
                </a:solidFill>
                <a:latin typeface="Consolas"/>
              </a:rPr>
              <a:t>: [[</a:t>
            </a:r>
            <a:r>
              <a:rPr sz="1200">
                <a:solidFill>
                  <a:srgbClr val="C9E08A"/>
                </a:solidFill>
                <a:latin typeface="Consolas"/>
              </a:rPr>
              <a:t>721000.4</a:t>
            </a:r>
            <a:r>
              <a:rPr sz="1200">
                <a:solidFill>
                  <a:srgbClr val="C2D0DA"/>
                </a:solidFill>
                <a:latin typeface="Consolas"/>
              </a:rPr>
              <a:t>, </a:t>
            </a:r>
            <a:r>
              <a:rPr sz="1200">
                <a:solidFill>
                  <a:srgbClr val="C9E08A"/>
                </a:solidFill>
                <a:latin typeface="Consolas"/>
              </a:rPr>
              <a:t>6178001.2</a:t>
            </a:r>
            <a:r>
              <a:rPr sz="1200">
                <a:solidFill>
                  <a:srgbClr val="C2D0DA"/>
                </a:solidFill>
                <a:latin typeface="Consolas"/>
              </a:rPr>
              <a:t>], ...] }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"interpolation"</a:t>
            </a:r>
            <a:r>
              <a:rPr sz="1200">
                <a:solidFill>
                  <a:srgbClr val="C2D0DA"/>
                </a:solidFill>
                <a:latin typeface="Consolas"/>
              </a:rPr>
              <a:t>: </a:t>
            </a:r>
            <a:r>
              <a:rPr sz="1200">
                <a:solidFill>
                  <a:srgbClr val="E6A36A"/>
                </a:solidFill>
                <a:latin typeface="Consolas"/>
              </a:rPr>
              <a:t>"Linear"</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"2"</a:t>
            </a: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"Feature"</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"numberReturned"</a:t>
            </a:r>
            <a:r>
              <a:rPr sz="1200">
                <a:solidFill>
                  <a:srgbClr val="C2D0DA"/>
                </a:solidFill>
                <a:latin typeface="Consolas"/>
              </a:rPr>
              <a:t>: </a:t>
            </a:r>
            <a:r>
              <a:rPr sz="1200">
                <a:solidFill>
                  <a:srgbClr val="C9E08A"/>
                </a:solidFill>
                <a:latin typeface="Consolas"/>
              </a:rPr>
              <a:t>2</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"links"</a:t>
            </a:r>
            <a:r>
              <a:rPr sz="1200">
                <a:solidFill>
                  <a:srgbClr val="C2D0DA"/>
                </a:solidFill>
                <a:latin typeface="Consolas"/>
              </a:rPr>
              <a:t>: [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"next"</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"href"</a:t>
            </a:r>
            <a:r>
              <a:rPr sz="1200">
                <a:solidFill>
                  <a:srgbClr val="C2D0DA"/>
                </a:solidFill>
                <a:latin typeface="Consolas"/>
              </a:rPr>
              <a:t>: </a:t>
            </a:r>
            <a:r>
              <a:rPr sz="1200">
                <a:solidFill>
                  <a:srgbClr val="E6A36A"/>
                </a:solidFill>
                <a:latin typeface="Consolas"/>
              </a:rPr>
              <a:t>"/collections/ships/items?after=2&amp;limit=2"</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a:t>
            </a:r>
          </a:p>
        </p:txBody>
      </p:sp>
      <p:sp>
        <p:nvSpPr>
          <p:cNvPr id="9" name="TextBox 8"/>
          <p:cNvSpPr txBox="1"/>
          <p:nvPr/>
        </p:nvSpPr>
        <p:spPr>
          <a:xfrm>
            <a:off x="7836408" y="1828800"/>
            <a:ext cx="3788359" cy="4206240"/>
          </a:xfrm>
          <a:prstGeom prst="rect">
            <a:avLst/>
          </a:prstGeom>
          <a:noFill/>
        </p:spPr>
        <p:txBody>
          <a:bodyPr wrap="square" lIns="0" rIns="0" tIns="0" bIns="0">
            <a:noAutofit/>
          </a:bodyPr>
          <a:lstStyle/>
          <a:p>
            <a:pPr>
              <a:lnSpc>
                <a:spcPct val="106000"/>
              </a:lnSpc>
              <a:spcBef>
                <a:spcPts val="0"/>
              </a:spcBef>
              <a:spcAft>
                <a:spcPts val="1300"/>
              </a:spcAft>
            </a:pPr>
            <a:r>
              <a:rPr sz="1200" b="1">
                <a:solidFill>
                  <a:srgbClr val="156082"/>
                </a:solidFill>
                <a:latin typeface="Calibri"/>
              </a:rPr>
              <a:t>▸  </a:t>
            </a:r>
            <a:r>
              <a:rPr sz="1200" b="1">
                <a:solidFill>
                  <a:srgbClr val="0E2841"/>
                </a:solidFill>
                <a:latin typeface="Calibri"/>
              </a:rPr>
              <a:t>Streamed:  </a:t>
            </a:r>
            <a:r>
              <a:rPr sz="1200">
                <a:solidFill>
                  <a:srgbClr val="1E2B36"/>
                </a:solidFill>
                <a:latin typeface="Calibri"/>
              </a:rPr>
              <a:t>each Feature is written from a server-side cursor; memory is bounded for any page size</a:t>
            </a:r>
          </a:p>
          <a:p>
            <a:pPr>
              <a:lnSpc>
                <a:spcPct val="106000"/>
              </a:lnSpc>
              <a:spcBef>
                <a:spcPts val="0"/>
              </a:spcBef>
              <a:spcAft>
                <a:spcPts val="1300"/>
              </a:spcAft>
            </a:pPr>
            <a:r>
              <a:rPr sz="1200" b="1">
                <a:solidFill>
                  <a:srgbClr val="156082"/>
                </a:solidFill>
                <a:latin typeface="Calibri"/>
              </a:rPr>
              <a:t>▸  </a:t>
            </a:r>
            <a:r>
              <a:rPr sz="1200" b="1">
                <a:solidFill>
                  <a:srgbClr val="0E2841"/>
                </a:solidFill>
                <a:latin typeface="Calibri"/>
              </a:rPr>
              <a:t>Keyset next:  </a:t>
            </a:r>
            <a:r>
              <a:rPr sz="1200">
                <a:solidFill>
                  <a:srgbClr val="1E2B36"/>
                </a:solidFill>
                <a:latin typeface="Calibri"/>
              </a:rPr>
              <a:t>the next link advances by id (after=), with no OFFSET</a:t>
            </a:r>
          </a:p>
          <a:p>
            <a:pPr>
              <a:lnSpc>
                <a:spcPct val="106000"/>
              </a:lnSpc>
              <a:spcBef>
                <a:spcPts val="0"/>
              </a:spcBef>
              <a:spcAft>
                <a:spcPts val="1300"/>
              </a:spcAft>
            </a:pPr>
            <a:r>
              <a:rPr sz="1200" b="1">
                <a:solidFill>
                  <a:srgbClr val="156082"/>
                </a:solidFill>
                <a:latin typeface="Calibri"/>
              </a:rPr>
              <a:t>▸  </a:t>
            </a:r>
            <a:r>
              <a:rPr sz="1200" b="1">
                <a:solidFill>
                  <a:srgbClr val="0E2841"/>
                </a:solidFill>
                <a:latin typeface="Calibri"/>
              </a:rPr>
              <a:t>asMFJSON:  </a:t>
            </a:r>
            <a:r>
              <a:rPr sz="1200">
                <a:solidFill>
                  <a:srgbClr val="1E2B36"/>
                </a:solidFill>
                <a:latin typeface="Calibri"/>
              </a:rPr>
              <a:t>the temporalGeometry is assembled in SQL and streamed as text</a:t>
            </a:r>
          </a:p>
          <a:p>
            <a:pPr>
              <a:lnSpc>
                <a:spcPct val="106000"/>
              </a:lnSpc>
              <a:spcBef>
                <a:spcPts val="0"/>
              </a:spcBef>
              <a:spcAft>
                <a:spcPts val="1300"/>
              </a:spcAft>
            </a:pPr>
            <a:r>
              <a:rPr sz="1200" b="1">
                <a:solidFill>
                  <a:srgbClr val="156082"/>
                </a:solidFill>
                <a:latin typeface="Calibri"/>
              </a:rPr>
              <a:t>▸  </a:t>
            </a:r>
            <a:r>
              <a:rPr sz="1200" b="1">
                <a:solidFill>
                  <a:srgbClr val="0E2841"/>
                </a:solidFill>
                <a:latin typeface="Calibri"/>
              </a:rPr>
              <a:t>limit:  </a:t>
            </a:r>
            <a:r>
              <a:rPr sz="1200">
                <a:solidFill>
                  <a:srgbClr val="1E2B36"/>
                </a:solidFill>
                <a:latin typeface="Calibri"/>
              </a:rPr>
              <a:t>caps the page; the tier enforces a maximum</a:t>
            </a:r>
          </a:p>
        </p:txBody>
      </p:sp>
      <p:sp>
        <p:nvSpPr>
          <p:cNvPr id="10" name="Rectangle 9"/>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2" name="TextBox 11"/>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MOVING FEATURES</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Retrieve a Single Vessel</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5448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6" name="TextBox 5"/>
          <p:cNvSpPr txBox="1"/>
          <p:nvPr/>
        </p:nvSpPr>
        <p:spPr>
          <a:xfrm>
            <a:off x="1316736" y="1545336"/>
            <a:ext cx="4736592" cy="274320"/>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/collections/ships/items/1</a:t>
            </a:r>
          </a:p>
        </p:txBody>
      </p:sp>
      <p:sp>
        <p:nvSpPr>
          <p:cNvPr id="7" name="Rounded Rectangle 6"/>
          <p:cNvSpPr/>
          <p:nvPr/>
        </p:nvSpPr>
        <p:spPr>
          <a:xfrm>
            <a:off x="566928" y="1874519"/>
            <a:ext cx="6035040" cy="420624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ODEPANEL"/>
          <p:cNvSpPr txBox="1"/>
          <p:nvPr/>
        </p:nvSpPr>
        <p:spPr>
          <a:xfrm>
            <a:off x="694944" y="1965960"/>
            <a:ext cx="5779007" cy="4023359"/>
          </a:xfrm>
          <a:prstGeom prst="rect">
            <a:avLst/>
          </a:prstGeom>
          <a:noFill/>
        </p:spPr>
        <p:txBody>
          <a:bodyPr wrap="square" lIns="0" rIns="0" tIns="0" bIns="0">
            <a:noAutofit/>
          </a:bodyPr>
          <a:lstStyle/>
          <a:p>
            <a:pPr>
              <a:lnSpc>
                <a:spcPct val="102000"/>
              </a:lnSpc>
              <a:spcBef>
                <a:spcPts val="0"/>
              </a:spcBef>
              <a:spcAft>
                <a:spcPts val="0"/>
              </a:spcAft>
            </a:pPr>
            <a:r>
              <a:rPr sz="1200">
                <a:solidFill>
                  <a:srgbClr val="C9E08A"/>
                </a:solidFill>
                <a:latin typeface="Consolas"/>
              </a:rPr>
              <a:t>200</a:t>
            </a:r>
            <a:r>
              <a:rPr sz="1200">
                <a:solidFill>
                  <a:srgbClr val="C2D0DA"/>
                </a:solidFill>
                <a:latin typeface="Consolas"/>
              </a:rPr>
              <a:t> OK</a:t>
            </a:r>
          </a:p>
          <a:p>
            <a:pPr>
              <a:lnSpc>
                <a:spcPct val="102000"/>
              </a:lnSpc>
              <a:spcBef>
                <a:spcPts val="0"/>
              </a:spcBef>
              <a:spcAft>
                <a:spcPts val="0"/>
              </a:spcAft>
            </a:pP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"1"</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"Feature"</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"properties"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"mmsi"</a:t>
            </a:r>
            <a:r>
              <a:rPr sz="1200">
                <a:solidFill>
                  <a:srgbClr val="C2D0DA"/>
                </a:solidFill>
                <a:latin typeface="Consolas"/>
              </a:rPr>
              <a:t>: </a:t>
            </a:r>
            <a:r>
              <a:rPr sz="1200">
                <a:solidFill>
                  <a:srgbClr val="C9E08A"/>
                </a:solidFill>
                <a:latin typeface="Consolas"/>
              </a:rPr>
              <a:t>111219510</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"vessel 111219510"</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"temporalGeometry"</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"MovingPoint"</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"crs"</a:t>
            </a:r>
            <a:r>
              <a:rPr sz="1200">
                <a:solidFill>
                  <a:srgbClr val="C2D0DA"/>
                </a:solidFill>
                <a:latin typeface="Consolas"/>
              </a:rPr>
              <a:t>: {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"Name"</a:t>
            </a:r>
            <a:r>
              <a:rPr sz="1200">
                <a:solidFill>
                  <a:srgbClr val="C2D0DA"/>
                </a:solidFill>
                <a:latin typeface="Consolas"/>
              </a:rPr>
              <a:t>, </a:t>
            </a:r>
            <a:r>
              <a:rPr sz="1200">
                <a:solidFill>
                  <a:srgbClr val="6FC3E0"/>
                </a:solidFill>
                <a:latin typeface="Consolas"/>
              </a:rPr>
              <a:t>"properties"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"urn:ogc:def:crs:EPSG::25832"</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"sequences"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"datetimes"</a:t>
            </a:r>
            <a:r>
              <a:rPr sz="1200">
                <a:solidFill>
                  <a:srgbClr val="C2D0DA"/>
                </a:solidFill>
                <a:latin typeface="Consolas"/>
              </a:rPr>
              <a:t>: [</a:t>
            </a:r>
            <a:r>
              <a:rPr sz="1200">
                <a:solidFill>
                  <a:srgbClr val="E6A36A"/>
                </a:solidFill>
                <a:latin typeface="Consolas"/>
              </a:rPr>
              <a:t>"2026-02-26T13:28:08+01"</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"coordinates"</a:t>
            </a:r>
            <a:r>
              <a:rPr sz="1200">
                <a:solidFill>
                  <a:srgbClr val="C2D0DA"/>
                </a:solidFill>
                <a:latin typeface="Consolas"/>
              </a:rPr>
              <a:t>: [[</a:t>
            </a:r>
            <a:r>
              <a:rPr sz="1200">
                <a:solidFill>
                  <a:srgbClr val="C9E08A"/>
                </a:solidFill>
                <a:latin typeface="Consolas"/>
              </a:rPr>
              <a:t>721000.4</a:t>
            </a:r>
            <a:r>
              <a:rPr sz="1200">
                <a:solidFill>
                  <a:srgbClr val="C2D0DA"/>
                </a:solidFill>
                <a:latin typeface="Consolas"/>
              </a:rPr>
              <a:t>, </a:t>
            </a:r>
            <a:r>
              <a:rPr sz="1200">
                <a:solidFill>
                  <a:srgbClr val="C9E08A"/>
                </a:solidFill>
                <a:latin typeface="Consolas"/>
              </a:rPr>
              <a:t>6178001.2</a:t>
            </a:r>
            <a:r>
              <a:rPr sz="1200">
                <a:solidFill>
                  <a:srgbClr val="C2D0DA"/>
                </a:solidFill>
                <a:latin typeface="Consolas"/>
              </a:rPr>
              <a:t>], ...] }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"interpolation"</a:t>
            </a:r>
            <a:r>
              <a:rPr sz="1200">
                <a:solidFill>
                  <a:srgbClr val="C2D0DA"/>
                </a:solidFill>
                <a:latin typeface="Consolas"/>
              </a:rPr>
              <a:t>: </a:t>
            </a:r>
            <a:r>
              <a:rPr sz="1200">
                <a:solidFill>
                  <a:srgbClr val="E6A36A"/>
                </a:solidFill>
                <a:latin typeface="Consolas"/>
              </a:rPr>
              <a:t>"Linear"</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a:t>
            </a:r>
          </a:p>
        </p:txBody>
      </p:sp>
      <p:sp>
        <p:nvSpPr>
          <p:cNvPr id="9" name="TextBox 8"/>
          <p:cNvSpPr txBox="1"/>
          <p:nvPr/>
        </p:nvSpPr>
        <p:spPr>
          <a:xfrm>
            <a:off x="6830568" y="1828800"/>
            <a:ext cx="4794199" cy="4206240"/>
          </a:xfrm>
          <a:prstGeom prst="rect">
            <a:avLst/>
          </a:prstGeom>
          <a:noFill/>
        </p:spPr>
        <p:txBody>
          <a:bodyPr wrap="square" lIns="0" rIns="0" tIns="0" bIns="0">
            <a:noAutofit/>
          </a:bodyPr>
          <a:lstStyle/>
          <a:p>
            <a:pPr>
              <a:lnSpc>
                <a:spcPct val="106000"/>
              </a:lnSpc>
              <a:spcBef>
                <a:spcPts val="0"/>
              </a:spcBef>
              <a:spcAft>
                <a:spcPts val="1300"/>
              </a:spcAft>
            </a:pPr>
            <a:r>
              <a:rPr sz="1200" b="1">
                <a:solidFill>
                  <a:srgbClr val="156082"/>
                </a:solidFill>
                <a:latin typeface="Calibri"/>
              </a:rPr>
              <a:t>▸  </a:t>
            </a:r>
            <a:r>
              <a:rPr sz="1200" b="1">
                <a:solidFill>
                  <a:srgbClr val="0E2841"/>
                </a:solidFill>
                <a:latin typeface="Calibri"/>
              </a:rPr>
              <a:t>One movement:  </a:t>
            </a:r>
            <a:r>
              <a:rPr sz="1200">
                <a:solidFill>
                  <a:srgbClr val="1E2B36"/>
                </a:solidFill>
                <a:latin typeface="Calibri"/>
              </a:rPr>
              <a:t>the full trajectory of one vessel as MovingFeaturesJSON</a:t>
            </a:r>
          </a:p>
          <a:p>
            <a:pPr>
              <a:lnSpc>
                <a:spcPct val="106000"/>
              </a:lnSpc>
              <a:spcBef>
                <a:spcPts val="0"/>
              </a:spcBef>
              <a:spcAft>
                <a:spcPts val="1300"/>
              </a:spcAft>
            </a:pPr>
            <a:r>
              <a:rPr sz="1200" b="1">
                <a:solidFill>
                  <a:srgbClr val="156082"/>
                </a:solidFill>
                <a:latin typeface="Calibri"/>
              </a:rPr>
              <a:t>▸  </a:t>
            </a:r>
            <a:r>
              <a:rPr sz="1200" b="1">
                <a:solidFill>
                  <a:srgbClr val="0E2841"/>
                </a:solidFill>
                <a:latin typeface="Calibri"/>
              </a:rPr>
              <a:t>crs:  </a:t>
            </a:r>
            <a:r>
              <a:rPr sz="1200">
                <a:solidFill>
                  <a:srgbClr val="1E2B36"/>
                </a:solidFill>
                <a:latin typeface="Calibri"/>
              </a:rPr>
              <a:t>carried as an OGC URN; the tier maps to and from the EPSG form</a:t>
            </a:r>
          </a:p>
          <a:p>
            <a:pPr>
              <a:lnSpc>
                <a:spcPct val="106000"/>
              </a:lnSpc>
              <a:spcBef>
                <a:spcPts val="0"/>
              </a:spcBef>
              <a:spcAft>
                <a:spcPts val="1300"/>
              </a:spcAft>
            </a:pPr>
            <a:r>
              <a:rPr sz="1200" b="1">
                <a:solidFill>
                  <a:srgbClr val="156082"/>
                </a:solidFill>
                <a:latin typeface="Calibri"/>
              </a:rPr>
              <a:t>▸  </a:t>
            </a:r>
            <a:r>
              <a:rPr sz="1200" b="1">
                <a:solidFill>
                  <a:srgbClr val="0E2841"/>
                </a:solidFill>
                <a:latin typeface="Calibri"/>
              </a:rPr>
              <a:t>interpolation:  </a:t>
            </a:r>
            <a:r>
              <a:rPr sz="1200">
                <a:solidFill>
                  <a:srgbClr val="1E2B36"/>
                </a:solidFill>
                <a:latin typeface="Calibri"/>
              </a:rPr>
              <a:t>Linear: the vessel moves continuously between fixes</a:t>
            </a:r>
          </a:p>
          <a:p>
            <a:pPr>
              <a:lnSpc>
                <a:spcPct val="106000"/>
              </a:lnSpc>
              <a:spcBef>
                <a:spcPts val="0"/>
              </a:spcBef>
              <a:spcAft>
                <a:spcPts val="1300"/>
              </a:spcAft>
            </a:pPr>
            <a:r>
              <a:rPr sz="1200" b="1">
                <a:solidFill>
                  <a:srgbClr val="156082"/>
                </a:solidFill>
                <a:latin typeface="Calibri"/>
              </a:rPr>
              <a:t>▸  </a:t>
            </a:r>
            <a:r>
              <a:rPr sz="1200" b="1">
                <a:solidFill>
                  <a:srgbClr val="0E2841"/>
                </a:solidFill>
                <a:latin typeface="Calibri"/>
              </a:rPr>
              <a:t>sequences:  </a:t>
            </a:r>
            <a:r>
              <a:rPr sz="1200">
                <a:solidFill>
                  <a:srgbClr val="1E2B36"/>
                </a:solidFill>
                <a:latin typeface="Calibri"/>
              </a:rPr>
              <a:t>one per continuous run; gaps split the trajectory</a:t>
            </a:r>
          </a:p>
        </p:txBody>
      </p:sp>
      <p:sp>
        <p:nvSpPr>
          <p:cNvPr id="10" name="Rectangle 9"/>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2" name="TextBox 11"/>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11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SPATIAL FILTER</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Vessels Intersecting a Bounding Box</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72768"/>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6" name="TextBox 5"/>
          <p:cNvSpPr txBox="1"/>
          <p:nvPr/>
        </p:nvSpPr>
        <p:spPr>
          <a:xfrm>
            <a:off x="1316736" y="1563624"/>
            <a:ext cx="4736592" cy="274320"/>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/collections/ships/items?bbox=…</a:t>
            </a:r>
          </a:p>
        </p:txBody>
      </p:sp>
      <p:sp>
        <p:nvSpPr>
          <p:cNvPr id="7" name="Rounded Rectangle 6"/>
          <p:cNvSpPr/>
          <p:nvPr/>
        </p:nvSpPr>
        <p:spPr>
          <a:xfrm>
            <a:off x="566928" y="1920240"/>
            <a:ext cx="5486400" cy="178308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ODEPANEL"/>
          <p:cNvSpPr txBox="1"/>
          <p:nvPr/>
        </p:nvSpPr>
        <p:spPr>
          <a:xfrm>
            <a:off x="694944" y="2011680"/>
            <a:ext cx="5230368" cy="1600200"/>
          </a:xfrm>
          <a:prstGeom prst="rect">
            <a:avLst/>
          </a:prstGeom>
          <a:noFill/>
        </p:spPr>
        <p:txBody>
          <a:bodyPr wrap="square" lIns="0" rIns="0" tIns="0" bIns="0">
            <a:noAutofit/>
          </a:bodyPr>
          <a:lstStyle/>
          <a:p>
            <a:pPr>
              <a:lnSpc>
                <a:spcPct val="102000"/>
              </a:lnSpc>
              <a:spcBef>
                <a:spcPts val="0"/>
              </a:spcBef>
              <a:spcAft>
                <a:spcPts val="0"/>
              </a:spcAft>
            </a:pPr>
            <a:r>
              <a:rPr sz="1200">
                <a:solidFill>
                  <a:srgbClr val="C2D0DA"/>
                </a:solidFill>
                <a:latin typeface="Consolas"/>
              </a:rPr>
              <a:t>GET /collections/ships/items</a:t>
            </a:r>
          </a:p>
          <a:p>
            <a:pPr>
              <a:lnSpc>
                <a:spcPct val="102000"/>
              </a:lnSpc>
              <a:spcBef>
                <a:spcPts val="0"/>
              </a:spcBef>
              <a:spcAft>
                <a:spcPts val="0"/>
              </a:spcAft>
            </a:pPr>
            <a:r>
              <a:rPr sz="1200">
                <a:solidFill>
                  <a:srgbClr val="C2D0DA"/>
                </a:solidFill>
                <a:latin typeface="Consolas"/>
              </a:rPr>
              <a:t>      ?bbox=</a:t>
            </a:r>
            <a:r>
              <a:rPr sz="1200">
                <a:solidFill>
                  <a:srgbClr val="C9E08A"/>
                </a:solidFill>
                <a:latin typeface="Consolas"/>
              </a:rPr>
              <a:t>720000</a:t>
            </a:r>
            <a:r>
              <a:rPr sz="1200">
                <a:solidFill>
                  <a:srgbClr val="C2D0DA"/>
                </a:solidFill>
                <a:latin typeface="Consolas"/>
              </a:rPr>
              <a:t>,</a:t>
            </a:r>
            <a:r>
              <a:rPr sz="1200">
                <a:solidFill>
                  <a:srgbClr val="C9E08A"/>
                </a:solidFill>
                <a:latin typeface="Consolas"/>
              </a:rPr>
              <a:t>6160000</a:t>
            </a:r>
            <a:r>
              <a:rPr sz="1200">
                <a:solidFill>
                  <a:srgbClr val="C2D0DA"/>
                </a:solidFill>
                <a:latin typeface="Consolas"/>
              </a:rPr>
              <a:t>,</a:t>
            </a:r>
            <a:r>
              <a:rPr sz="1200">
                <a:solidFill>
                  <a:srgbClr val="C9E08A"/>
                </a:solidFill>
                <a:latin typeface="Consolas"/>
              </a:rPr>
              <a:t>738000</a:t>
            </a:r>
            <a:r>
              <a:rPr sz="1200">
                <a:solidFill>
                  <a:srgbClr val="C2D0DA"/>
                </a:solidFill>
                <a:latin typeface="Consolas"/>
              </a:rPr>
              <a:t>,</a:t>
            </a:r>
            <a:r>
              <a:rPr sz="1200">
                <a:solidFill>
                  <a:srgbClr val="C9E08A"/>
                </a:solidFill>
                <a:latin typeface="Consolas"/>
              </a:rPr>
              <a:t>6178000</a:t>
            </a:r>
          </a:p>
          <a:p>
            <a:pPr>
              <a:lnSpc>
                <a:spcPct val="102000"/>
              </a:lnSpc>
              <a:spcBef>
                <a:spcPts val="0"/>
              </a:spcBef>
              <a:spcAft>
                <a:spcPts val="0"/>
              </a:spcAft>
            </a:pPr>
            <a:r>
              <a:rPr sz="1200">
                <a:solidFill>
                  <a:srgbClr val="C2D0DA"/>
                </a:solidFill>
                <a:latin typeface="Consolas"/>
              </a:rPr>
              <a:t>      &amp;limit=</a:t>
            </a:r>
            <a:r>
              <a:rPr sz="1200">
                <a:solidFill>
                  <a:srgbClr val="C9E08A"/>
                </a:solidFill>
                <a:latin typeface="Consolas"/>
              </a:rPr>
              <a:t>10000</a:t>
            </a:r>
          </a:p>
          <a:p>
            <a:pPr>
              <a:lnSpc>
                <a:spcPct val="102000"/>
              </a:lnSpc>
              <a:spcBef>
                <a:spcPts val="0"/>
              </a:spcBef>
              <a:spcAft>
                <a:spcPts val="0"/>
              </a:spcAft>
            </a:pPr>
            <a:r>
              <a:rPr sz="1200">
                <a:latin typeface="Consolas"/>
              </a:rPr>
              <a:t> </a:t>
            </a:r>
          </a:p>
          <a:p>
            <a:pPr>
              <a:lnSpc>
                <a:spcPct val="102000"/>
              </a:lnSpc>
              <a:spcBef>
                <a:spcPts val="0"/>
              </a:spcBef>
              <a:spcAft>
                <a:spcPts val="0"/>
              </a:spcAft>
            </a:pPr>
            <a:r>
              <a:rPr sz="1200">
                <a:solidFill>
                  <a:srgbClr val="7E94A6"/>
                </a:solidFill>
                <a:latin typeface="Consolas"/>
              </a:rPr>
              <a:t>// bbox = minx,miny,maxx,maxy in the storage CRS</a:t>
            </a:r>
          </a:p>
          <a:p>
            <a:pPr>
              <a:lnSpc>
                <a:spcPct val="102000"/>
              </a:lnSpc>
              <a:spcBef>
                <a:spcPts val="0"/>
              </a:spcBef>
              <a:spcAft>
                <a:spcPts val="0"/>
              </a:spcAft>
            </a:pPr>
            <a:r>
              <a:rPr sz="1200">
                <a:solidFill>
                  <a:srgbClr val="7E94A6"/>
                </a:solidFill>
                <a:latin typeface="Consolas"/>
              </a:rPr>
              <a:t>// EPSG:25832 (metres)</a:t>
            </a:r>
          </a:p>
          <a:p>
            <a:pPr>
              <a:lnSpc>
                <a:spcPct val="102000"/>
              </a:lnSpc>
              <a:spcBef>
                <a:spcPts val="0"/>
              </a:spcBef>
              <a:spcAft>
                <a:spcPts val="0"/>
              </a:spcAft>
            </a:pPr>
            <a:r>
              <a:rPr sz="1200">
                <a:solidFill>
                  <a:srgbClr val="7E94A6"/>
                </a:solidFill>
                <a:latin typeface="Consolas"/>
              </a:rPr>
              <a:t>// 170 of 2,833 trajectories cross the box</a:t>
            </a:r>
          </a:p>
        </p:txBody>
      </p:sp>
      <p:sp>
        <p:nvSpPr>
          <p:cNvPr id="9" name="TextBox 8"/>
          <p:cNvSpPr txBox="1"/>
          <p:nvPr/>
        </p:nvSpPr>
        <p:spPr>
          <a:xfrm>
            <a:off x="566928" y="3931920"/>
            <a:ext cx="5486400" cy="2103120"/>
          </a:xfrm>
          <a:prstGeom prst="rect">
            <a:avLst/>
          </a:prstGeom>
          <a:noFill/>
        </p:spPr>
        <p:txBody>
          <a:bodyPr wrap="square" lIns="0" rIns="0" tIns="0" bIns="0">
            <a:noAutofit/>
          </a:bodyPr>
          <a:lstStyle/>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bbox:  </a:t>
            </a:r>
            <a:r>
              <a:rPr sz="1400">
                <a:solidFill>
                  <a:srgbClr val="1E2B36"/>
                </a:solidFill>
                <a:latin typeface="Calibri"/>
              </a:rPr>
              <a:t>keeps vessels whose trajectory intersects the envelope</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Index:  </a:t>
            </a:r>
            <a:r>
              <a:rPr sz="1400">
                <a:solidFill>
                  <a:srgbClr val="1E2B36"/>
                </a:solidFill>
                <a:latin typeface="Calibri"/>
              </a:rPr>
              <a:t>pushed to the MobilityDB GiST index via the overlap operator</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CRS:  </a:t>
            </a:r>
            <a:r>
              <a:rPr sz="1400">
                <a:solidFill>
                  <a:srgbClr val="1E2B36"/>
                </a:solidFill>
                <a:latin typeface="Calibri"/>
              </a:rPr>
              <a:t>coordinates are in the collection's storage CRS (EPSG:25832)</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Composable:  </a:t>
            </a:r>
            <a:r>
              <a:rPr sz="1400">
                <a:solidFill>
                  <a:srgbClr val="1E2B36"/>
                </a:solidFill>
                <a:latin typeface="Calibri"/>
              </a:rPr>
              <a:t>with datetime, subtrajectory, limit and after</a:t>
            </a:r>
          </a:p>
        </p:txBody>
      </p:sp>
      <p:pic>
        <p:nvPicPr>
          <p:cNvPr id="10" name="Picture 9" descr="fig_bbox_real.png"/>
          <p:cNvPicPr>
            <a:picLocks noChangeAspect="1"/>
          </p:cNvPicPr>
          <p:nvPr/>
        </p:nvPicPr>
        <p:blipFill>
          <a:blip r:embed="rId2"/>
          <a:stretch>
            <a:fillRect/>
          </a:stretch>
        </p:blipFill>
        <p:spPr>
          <a:xfrm>
            <a:off x="6995160" y="1627632"/>
            <a:ext cx="4297680" cy="4297680"/>
          </a:xfrm>
          <a:prstGeom prst="rect">
            <a:avLst/>
          </a:prstGeom>
        </p:spPr>
      </p:pic>
      <p:sp>
        <p:nvSpPr>
          <p:cNvPr id="11" name="TextBox 10"/>
          <p:cNvSpPr txBox="1"/>
          <p:nvPr/>
        </p:nvSpPr>
        <p:spPr>
          <a:xfrm>
            <a:off x="6629400" y="6016752"/>
            <a:ext cx="5029200" cy="274320"/>
          </a:xfrm>
          <a:prstGeom prst="rect">
            <a:avLst/>
          </a:prstGeom>
          <a:noFill/>
        </p:spPr>
        <p:txBody>
          <a:bodyPr wrap="square" anchor="t" lIns="0" rIns="0" tIns="0" bIns="0">
            <a:noAutofit/>
          </a:bodyPr>
          <a:lstStyle/>
          <a:p>
            <a:pPr algn="ctr">
              <a:spcBef>
                <a:spcPts val="0"/>
              </a:spcBef>
              <a:spcAft>
                <a:spcPts val="200"/>
              </a:spcAft>
            </a:pPr>
            <a:r>
              <a:rPr sz="1200" b="0" i="1">
                <a:solidFill>
                  <a:srgbClr val="5B6B78"/>
                </a:solidFill>
                <a:latin typeface="Calibri"/>
              </a:rPr>
              <a:t>Trajectories crossing the box (teal) over other traffic (grey); the box in red</a:t>
            </a:r>
          </a:p>
        </p:txBody>
      </p:sp>
      <p:sp>
        <p:nvSpPr>
          <p:cNvPr id="12" name="Rectangle 11"/>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4" name="TextBox 13"/>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12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TEMPORAL SLICE</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Restrict Trajectories to a Time Interval</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72768"/>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6" name="TextBox 5"/>
          <p:cNvSpPr txBox="1"/>
          <p:nvPr/>
        </p:nvSpPr>
        <p:spPr>
          <a:xfrm>
            <a:off x="1316736" y="1563624"/>
            <a:ext cx="4736592" cy="274320"/>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…/items?subtrajectory=true</a:t>
            </a:r>
          </a:p>
        </p:txBody>
      </p:sp>
      <p:sp>
        <p:nvSpPr>
          <p:cNvPr id="7" name="Rounded Rectangle 6"/>
          <p:cNvSpPr/>
          <p:nvPr/>
        </p:nvSpPr>
        <p:spPr>
          <a:xfrm>
            <a:off x="566928" y="1920240"/>
            <a:ext cx="5486400" cy="196596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ODEPANEL"/>
          <p:cNvSpPr txBox="1"/>
          <p:nvPr/>
        </p:nvSpPr>
        <p:spPr>
          <a:xfrm>
            <a:off x="694944" y="2011680"/>
            <a:ext cx="5230368" cy="1783080"/>
          </a:xfrm>
          <a:prstGeom prst="rect">
            <a:avLst/>
          </a:prstGeom>
          <a:noFill/>
        </p:spPr>
        <p:txBody>
          <a:bodyPr wrap="square" lIns="0" rIns="0" tIns="0" bIns="0">
            <a:noAutofit/>
          </a:bodyPr>
          <a:lstStyle/>
          <a:p>
            <a:pPr>
              <a:lnSpc>
                <a:spcPct val="102000"/>
              </a:lnSpc>
              <a:spcBef>
                <a:spcPts val="0"/>
              </a:spcBef>
              <a:spcAft>
                <a:spcPts val="0"/>
              </a:spcAft>
            </a:pPr>
            <a:r>
              <a:rPr sz="1200">
                <a:solidFill>
                  <a:srgbClr val="C2D0DA"/>
                </a:solidFill>
                <a:latin typeface="Consolas"/>
              </a:rPr>
              <a:t>GET /collections/ships/items</a:t>
            </a:r>
          </a:p>
          <a:p>
            <a:pPr>
              <a:lnSpc>
                <a:spcPct val="102000"/>
              </a:lnSpc>
              <a:spcBef>
                <a:spcPts val="0"/>
              </a:spcBef>
              <a:spcAft>
                <a:spcPts val="0"/>
              </a:spcAft>
            </a:pPr>
            <a:r>
              <a:rPr sz="1200">
                <a:solidFill>
                  <a:srgbClr val="C2D0DA"/>
                </a:solidFill>
                <a:latin typeface="Consolas"/>
              </a:rPr>
              <a:t>      ?subtrajectory=</a:t>
            </a:r>
            <a:r>
              <a:rPr sz="1200">
                <a:solidFill>
                  <a:srgbClr val="CBA0E8"/>
                </a:solidFill>
                <a:latin typeface="Consolas"/>
              </a:rPr>
              <a:t>true</a:t>
            </a:r>
          </a:p>
          <a:p>
            <a:pPr>
              <a:lnSpc>
                <a:spcPct val="102000"/>
              </a:lnSpc>
              <a:spcBef>
                <a:spcPts val="0"/>
              </a:spcBef>
              <a:spcAft>
                <a:spcPts val="0"/>
              </a:spcAft>
            </a:pPr>
            <a:r>
              <a:rPr sz="1200">
                <a:solidFill>
                  <a:srgbClr val="C2D0DA"/>
                </a:solidFill>
                <a:latin typeface="Consolas"/>
              </a:rPr>
              <a:t>      &amp;datetime=</a:t>
            </a:r>
            <a:r>
              <a:rPr sz="1200">
                <a:solidFill>
                  <a:srgbClr val="C9E08A"/>
                </a:solidFill>
                <a:latin typeface="Consolas"/>
              </a:rPr>
              <a:t>2026</a:t>
            </a:r>
            <a:r>
              <a:rPr sz="1200">
                <a:solidFill>
                  <a:srgbClr val="C9E08A"/>
                </a:solidFill>
                <a:latin typeface="Consolas"/>
              </a:rPr>
              <a:t>-02</a:t>
            </a:r>
            <a:r>
              <a:rPr sz="1200">
                <a:solidFill>
                  <a:srgbClr val="C9E08A"/>
                </a:solidFill>
                <a:latin typeface="Consolas"/>
              </a:rPr>
              <a:t>-26</a:t>
            </a:r>
            <a:r>
              <a:rPr sz="1200">
                <a:solidFill>
                  <a:srgbClr val="C2D0DA"/>
                </a:solidFill>
                <a:latin typeface="Consolas"/>
              </a:rPr>
              <a:t>T</a:t>
            </a:r>
            <a:r>
              <a:rPr sz="1200">
                <a:solidFill>
                  <a:srgbClr val="C9E08A"/>
                </a:solidFill>
                <a:latin typeface="Consolas"/>
              </a:rPr>
              <a:t>14</a:t>
            </a:r>
            <a:r>
              <a:rPr sz="1200">
                <a:solidFill>
                  <a:srgbClr val="C2D0DA"/>
                </a:solidFill>
                <a:latin typeface="Consolas"/>
              </a:rPr>
              <a:t>:</a:t>
            </a:r>
            <a:r>
              <a:rPr sz="1200">
                <a:solidFill>
                  <a:srgbClr val="C9E08A"/>
                </a:solidFill>
                <a:latin typeface="Consolas"/>
              </a:rPr>
              <a:t>00</a:t>
            </a:r>
            <a:r>
              <a:rPr sz="1200">
                <a:solidFill>
                  <a:srgbClr val="C2D0DA"/>
                </a:solidFill>
                <a:latin typeface="Consolas"/>
              </a:rPr>
              <a:t>:</a:t>
            </a:r>
            <a:r>
              <a:rPr sz="1200">
                <a:solidFill>
                  <a:srgbClr val="C9E08A"/>
                </a:solidFill>
                <a:latin typeface="Consolas"/>
              </a:rPr>
              <a:t>00</a:t>
            </a:r>
            <a:r>
              <a:rPr sz="1200">
                <a:solidFill>
                  <a:srgbClr val="C2D0DA"/>
                </a:solidFill>
                <a:latin typeface="Consolas"/>
              </a:rPr>
              <a:t>+</a:t>
            </a:r>
            <a:r>
              <a:rPr sz="1200">
                <a:solidFill>
                  <a:srgbClr val="C9E08A"/>
                </a:solidFill>
                <a:latin typeface="Consolas"/>
              </a:rPr>
              <a:t>01</a:t>
            </a:r>
          </a:p>
          <a:p>
            <a:pPr>
              <a:lnSpc>
                <a:spcPct val="102000"/>
              </a:lnSpc>
              <a:spcBef>
                <a:spcPts val="0"/>
              </a:spcBef>
              <a:spcAft>
                <a:spcPts val="0"/>
              </a:spcAft>
            </a:pPr>
            <a:r>
              <a:rPr sz="1200">
                <a:solidFill>
                  <a:srgbClr val="C2D0DA"/>
                </a:solidFill>
                <a:latin typeface="Consolas"/>
              </a:rPr>
              <a:t>               /</a:t>
            </a:r>
            <a:r>
              <a:rPr sz="1200">
                <a:solidFill>
                  <a:srgbClr val="C9E08A"/>
                </a:solidFill>
                <a:latin typeface="Consolas"/>
              </a:rPr>
              <a:t>2026</a:t>
            </a:r>
            <a:r>
              <a:rPr sz="1200">
                <a:solidFill>
                  <a:srgbClr val="C9E08A"/>
                </a:solidFill>
                <a:latin typeface="Consolas"/>
              </a:rPr>
              <a:t>-02</a:t>
            </a:r>
            <a:r>
              <a:rPr sz="1200">
                <a:solidFill>
                  <a:srgbClr val="C9E08A"/>
                </a:solidFill>
                <a:latin typeface="Consolas"/>
              </a:rPr>
              <a:t>-26</a:t>
            </a:r>
            <a:r>
              <a:rPr sz="1200">
                <a:solidFill>
                  <a:srgbClr val="C2D0DA"/>
                </a:solidFill>
                <a:latin typeface="Consolas"/>
              </a:rPr>
              <a:t>T</a:t>
            </a:r>
            <a:r>
              <a:rPr sz="1200">
                <a:solidFill>
                  <a:srgbClr val="C9E08A"/>
                </a:solidFill>
                <a:latin typeface="Consolas"/>
              </a:rPr>
              <a:t>15</a:t>
            </a:r>
            <a:r>
              <a:rPr sz="1200">
                <a:solidFill>
                  <a:srgbClr val="C2D0DA"/>
                </a:solidFill>
                <a:latin typeface="Consolas"/>
              </a:rPr>
              <a:t>:</a:t>
            </a:r>
            <a:r>
              <a:rPr sz="1200">
                <a:solidFill>
                  <a:srgbClr val="C9E08A"/>
                </a:solidFill>
                <a:latin typeface="Consolas"/>
              </a:rPr>
              <a:t>00</a:t>
            </a:r>
            <a:r>
              <a:rPr sz="1200">
                <a:solidFill>
                  <a:srgbClr val="C2D0DA"/>
                </a:solidFill>
                <a:latin typeface="Consolas"/>
              </a:rPr>
              <a:t>:</a:t>
            </a:r>
            <a:r>
              <a:rPr sz="1200">
                <a:solidFill>
                  <a:srgbClr val="C9E08A"/>
                </a:solidFill>
                <a:latin typeface="Consolas"/>
              </a:rPr>
              <a:t>00</a:t>
            </a:r>
            <a:r>
              <a:rPr sz="1200">
                <a:solidFill>
                  <a:srgbClr val="C2D0DA"/>
                </a:solidFill>
                <a:latin typeface="Consolas"/>
              </a:rPr>
              <a:t>+</a:t>
            </a:r>
            <a:r>
              <a:rPr sz="1200">
                <a:solidFill>
                  <a:srgbClr val="C9E08A"/>
                </a:solidFill>
                <a:latin typeface="Consolas"/>
              </a:rPr>
              <a:t>01</a:t>
            </a:r>
          </a:p>
          <a:p>
            <a:pPr>
              <a:lnSpc>
                <a:spcPct val="102000"/>
              </a:lnSpc>
              <a:spcBef>
                <a:spcPts val="0"/>
              </a:spcBef>
              <a:spcAft>
                <a:spcPts val="0"/>
              </a:spcAft>
            </a:pPr>
            <a:r>
              <a:rPr sz="1200">
                <a:latin typeface="Consolas"/>
              </a:rPr>
              <a:t> </a:t>
            </a:r>
          </a:p>
          <a:p>
            <a:pPr>
              <a:lnSpc>
                <a:spcPct val="102000"/>
              </a:lnSpc>
              <a:spcBef>
                <a:spcPts val="0"/>
              </a:spcBef>
              <a:spcAft>
                <a:spcPts val="0"/>
              </a:spcAft>
            </a:pPr>
            <a:r>
              <a:rPr sz="1200">
                <a:solidFill>
                  <a:srgbClr val="7E94A6"/>
                </a:solidFill>
                <a:latin typeface="Consolas"/>
              </a:rPr>
              <a:t>// datetime is an RFC 3339 interval (start/end)</a:t>
            </a:r>
          </a:p>
          <a:p>
            <a:pPr>
              <a:lnSpc>
                <a:spcPct val="102000"/>
              </a:lnSpc>
              <a:spcBef>
                <a:spcPts val="0"/>
              </a:spcBef>
              <a:spcAft>
                <a:spcPts val="0"/>
              </a:spcAft>
            </a:pPr>
            <a:r>
              <a:rPr sz="1200">
                <a:solidFill>
                  <a:srgbClr val="7E94A6"/>
                </a:solidFill>
                <a:latin typeface="Consolas"/>
              </a:rPr>
              <a:t>// subtrajectory=true clips each trajectory to the</a:t>
            </a:r>
          </a:p>
          <a:p>
            <a:pPr>
              <a:lnSpc>
                <a:spcPct val="102000"/>
              </a:lnSpc>
              <a:spcBef>
                <a:spcPts val="0"/>
              </a:spcBef>
              <a:spcAft>
                <a:spcPts val="0"/>
              </a:spcAft>
            </a:pPr>
            <a:r>
              <a:rPr sz="1200">
                <a:solidFill>
                  <a:srgbClr val="7E94A6"/>
                </a:solidFill>
                <a:latin typeface="Consolas"/>
              </a:rPr>
              <a:t>// window with atTime, instead of filtering trips</a:t>
            </a:r>
          </a:p>
        </p:txBody>
      </p:sp>
      <p:sp>
        <p:nvSpPr>
          <p:cNvPr id="9" name="TextBox 8"/>
          <p:cNvSpPr txBox="1"/>
          <p:nvPr/>
        </p:nvSpPr>
        <p:spPr>
          <a:xfrm>
            <a:off x="566928" y="4114800"/>
            <a:ext cx="5486400" cy="1920240"/>
          </a:xfrm>
          <a:prstGeom prst="rect">
            <a:avLst/>
          </a:prstGeom>
          <a:noFill/>
        </p:spPr>
        <p:txBody>
          <a:bodyPr wrap="square" lIns="0" rIns="0" tIns="0" bIns="0">
            <a:noAutofit/>
          </a:bodyPr>
          <a:lstStyle/>
          <a:p>
            <a:pPr>
              <a:lnSpc>
                <a:spcPct val="106000"/>
              </a:lnSpc>
              <a:spcBef>
                <a:spcPts val="0"/>
              </a:spcBef>
              <a:spcAft>
                <a:spcPts val="1000"/>
              </a:spcAft>
            </a:pPr>
            <a:r>
              <a:rPr sz="1400" b="1">
                <a:solidFill>
                  <a:srgbClr val="156082"/>
                </a:solidFill>
                <a:latin typeface="Calibri"/>
              </a:rPr>
              <a:t>▸  </a:t>
            </a:r>
            <a:r>
              <a:rPr sz="1400" b="1">
                <a:solidFill>
                  <a:srgbClr val="0E2841"/>
                </a:solidFill>
                <a:latin typeface="Calibri"/>
              </a:rPr>
              <a:t>subtrajectory:  </a:t>
            </a:r>
            <a:r>
              <a:rPr sz="1400">
                <a:solidFill>
                  <a:srgbClr val="1E2B36"/>
                </a:solidFill>
                <a:latin typeface="Calibri"/>
              </a:rPr>
              <a:t>clips each trajectory to the datetime interval via atTime</a:t>
            </a:r>
          </a:p>
          <a:p>
            <a:pPr>
              <a:lnSpc>
                <a:spcPct val="106000"/>
              </a:lnSpc>
              <a:spcBef>
                <a:spcPts val="0"/>
              </a:spcBef>
              <a:spcAft>
                <a:spcPts val="1000"/>
              </a:spcAft>
            </a:pPr>
            <a:r>
              <a:rPr sz="1400" b="1">
                <a:solidFill>
                  <a:srgbClr val="156082"/>
                </a:solidFill>
                <a:latin typeface="Calibri"/>
              </a:rPr>
              <a:t>▸  </a:t>
            </a:r>
            <a:r>
              <a:rPr sz="1400" b="1">
                <a:solidFill>
                  <a:srgbClr val="0E2841"/>
                </a:solidFill>
                <a:latin typeface="Calibri"/>
              </a:rPr>
              <a:t>datetime:  </a:t>
            </a:r>
            <a:r>
              <a:rPr sz="1400">
                <a:solidFill>
                  <a:srgbClr val="1E2B36"/>
                </a:solidFill>
                <a:latin typeface="Calibri"/>
              </a:rPr>
              <a:t>RFC 3339 interval; a bare instant is also accepted</a:t>
            </a:r>
          </a:p>
          <a:p>
            <a:pPr>
              <a:lnSpc>
                <a:spcPct val="106000"/>
              </a:lnSpc>
              <a:spcBef>
                <a:spcPts val="0"/>
              </a:spcBef>
              <a:spcAft>
                <a:spcPts val="1000"/>
              </a:spcAft>
            </a:pPr>
            <a:r>
              <a:rPr sz="1400" b="1">
                <a:solidFill>
                  <a:srgbClr val="156082"/>
                </a:solidFill>
                <a:latin typeface="Calibri"/>
              </a:rPr>
              <a:t>▸  </a:t>
            </a:r>
            <a:r>
              <a:rPr sz="1400" b="1">
                <a:solidFill>
                  <a:srgbClr val="0E2841"/>
                </a:solidFill>
                <a:latin typeface="Calibri"/>
              </a:rPr>
              <a:t>Gap aware:  </a:t>
            </a:r>
            <a:r>
              <a:rPr sz="1400">
                <a:solidFill>
                  <a:srgbClr val="1E2B36"/>
                </a:solidFill>
                <a:latin typeface="Calibri"/>
              </a:rPr>
              <a:t>rows whose values fall entirely in a temporal gap are dropped</a:t>
            </a:r>
          </a:p>
          <a:p>
            <a:pPr>
              <a:lnSpc>
                <a:spcPct val="106000"/>
              </a:lnSpc>
              <a:spcBef>
                <a:spcPts val="0"/>
              </a:spcBef>
              <a:spcAft>
                <a:spcPts val="1000"/>
              </a:spcAft>
            </a:pPr>
            <a:r>
              <a:rPr sz="1400" b="1">
                <a:solidFill>
                  <a:srgbClr val="156082"/>
                </a:solidFill>
                <a:latin typeface="Calibri"/>
              </a:rPr>
              <a:t>▸  </a:t>
            </a:r>
            <a:r>
              <a:rPr sz="1400" b="1">
                <a:solidFill>
                  <a:srgbClr val="0E2841"/>
                </a:solidFill>
                <a:latin typeface="Calibri"/>
              </a:rPr>
              <a:t>Validation:  </a:t>
            </a:r>
            <a:r>
              <a:rPr sz="1400">
                <a:solidFill>
                  <a:srgbClr val="1E2B36"/>
                </a:solidFill>
                <a:latin typeface="Calibri"/>
              </a:rPr>
              <a:t>subtrajectory requires a bounded interval</a:t>
            </a:r>
          </a:p>
        </p:txBody>
      </p:sp>
      <p:pic>
        <p:nvPicPr>
          <p:cNvPr id="10" name="Picture 9" descr="fig_subtraj_real.png"/>
          <p:cNvPicPr>
            <a:picLocks noChangeAspect="1"/>
          </p:cNvPicPr>
          <p:nvPr/>
        </p:nvPicPr>
        <p:blipFill>
          <a:blip r:embed="rId2"/>
          <a:stretch>
            <a:fillRect/>
          </a:stretch>
        </p:blipFill>
        <p:spPr>
          <a:xfrm>
            <a:off x="7040879" y="1664208"/>
            <a:ext cx="4206240" cy="4206240"/>
          </a:xfrm>
          <a:prstGeom prst="rect">
            <a:avLst/>
          </a:prstGeom>
        </p:spPr>
      </p:pic>
      <p:sp>
        <p:nvSpPr>
          <p:cNvPr id="11" name="TextBox 10"/>
          <p:cNvSpPr txBox="1"/>
          <p:nvPr/>
        </p:nvSpPr>
        <p:spPr>
          <a:xfrm>
            <a:off x="6675119" y="5961888"/>
            <a:ext cx="4937759" cy="274320"/>
          </a:xfrm>
          <a:prstGeom prst="rect">
            <a:avLst/>
          </a:prstGeom>
          <a:noFill/>
        </p:spPr>
        <p:txBody>
          <a:bodyPr wrap="square" anchor="t" lIns="0" rIns="0" tIns="0" bIns="0">
            <a:noAutofit/>
          </a:bodyPr>
          <a:lstStyle/>
          <a:p>
            <a:pPr algn="ctr">
              <a:spcBef>
                <a:spcPts val="0"/>
              </a:spcBef>
              <a:spcAft>
                <a:spcPts val="200"/>
              </a:spcAft>
            </a:pPr>
            <a:r>
              <a:rPr sz="1200" b="0" i="1">
                <a:solidFill>
                  <a:srgbClr val="5B6B78"/>
                </a:solidFill>
                <a:latin typeface="Calibri"/>
              </a:rPr>
              <a:t>Subtrajectories within a one-hour window (green) over full trajectories (grey)</a:t>
            </a:r>
          </a:p>
        </p:txBody>
      </p:sp>
      <p:sp>
        <p:nvSpPr>
          <p:cNvPr id="12" name="Rectangle 11"/>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4" name="TextBox 13"/>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13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96B24"/>
                </a:solidFill>
                <a:latin typeface="Calibri"/>
              </a:rPr>
              <a:t>WRITES</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Create · Replace · Append · Delete</a:t>
            </a:r>
          </a:p>
        </p:txBody>
      </p:sp>
      <p:sp>
        <p:nvSpPr>
          <p:cNvPr id="4" name="Rectangle 3"/>
          <p:cNvSpPr/>
          <p:nvPr/>
        </p:nvSpPr>
        <p:spPr>
          <a:xfrm>
            <a:off x="566928" y="1389888"/>
            <a:ext cx="1554480" cy="45720"/>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54480"/>
            <a:ext cx="713232" cy="292608"/>
          </a:xfrm>
          <a:prstGeom prst="roundRect">
            <a:avLst>
              <a:gd name="adj" fmla="val 4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POST</a:t>
            </a:r>
          </a:p>
        </p:txBody>
      </p:sp>
      <p:sp>
        <p:nvSpPr>
          <p:cNvPr id="6" name="TextBox 5"/>
          <p:cNvSpPr txBox="1"/>
          <p:nvPr/>
        </p:nvSpPr>
        <p:spPr>
          <a:xfrm>
            <a:off x="1389888" y="1545336"/>
            <a:ext cx="4663440" cy="274320"/>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/collections/ships/items</a:t>
            </a:r>
          </a:p>
        </p:txBody>
      </p:sp>
      <p:sp>
        <p:nvSpPr>
          <p:cNvPr id="7" name="Rounded Rectangle 6"/>
          <p:cNvSpPr/>
          <p:nvPr/>
        </p:nvSpPr>
        <p:spPr>
          <a:xfrm>
            <a:off x="566928" y="1874519"/>
            <a:ext cx="5486400" cy="228600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ODEPANEL"/>
          <p:cNvSpPr txBox="1"/>
          <p:nvPr/>
        </p:nvSpPr>
        <p:spPr>
          <a:xfrm>
            <a:off x="694944" y="1965960"/>
            <a:ext cx="5230368" cy="2103120"/>
          </a:xfrm>
          <a:prstGeom prst="rect">
            <a:avLst/>
          </a:prstGeom>
          <a:noFill/>
        </p:spPr>
        <p:txBody>
          <a:bodyPr wrap="square" lIns="0" rIns="0" tIns="0" bIns="0">
            <a:noAutofit/>
          </a:bodyPr>
          <a:lstStyle/>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"Feature"</a:t>
            </a:r>
            <a:r>
              <a:rPr sz="1200">
                <a:solidFill>
                  <a:srgbClr val="C2D0DA"/>
                </a:solidFill>
                <a:latin typeface="Consolas"/>
              </a:rPr>
              <a:t>,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"900001"</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"properties"</a:t>
            </a:r>
            <a:r>
              <a:rPr sz="1200">
                <a:solidFill>
                  <a:srgbClr val="C2D0DA"/>
                </a:solidFill>
                <a:latin typeface="Consolas"/>
              </a:rPr>
              <a:t>: {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"demo"</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"temporalGeometry"</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"MovingPoint"</a:t>
            </a:r>
            <a:r>
              <a:rPr sz="1200">
                <a:solidFill>
                  <a:srgbClr val="C2D0DA"/>
                </a:solidFill>
                <a:latin typeface="Consolas"/>
              </a:rPr>
              <a:t>, </a:t>
            </a:r>
            <a:r>
              <a:rPr sz="1200">
                <a:solidFill>
                  <a:srgbClr val="6FC3E0"/>
                </a:solidFill>
                <a:latin typeface="Consolas"/>
              </a:rPr>
              <a:t>"interpolation"</a:t>
            </a:r>
            <a:r>
              <a:rPr sz="1200">
                <a:solidFill>
                  <a:srgbClr val="C2D0DA"/>
                </a:solidFill>
                <a:latin typeface="Consolas"/>
              </a:rPr>
              <a:t>: </a:t>
            </a:r>
            <a:r>
              <a:rPr sz="1200">
                <a:solidFill>
                  <a:srgbClr val="E6A36A"/>
                </a:solidFill>
                <a:latin typeface="Consolas"/>
              </a:rPr>
              <a:t>"Linear"</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"datetimes"</a:t>
            </a:r>
            <a:r>
              <a:rPr sz="1200">
                <a:solidFill>
                  <a:srgbClr val="C2D0DA"/>
                </a:solidFill>
                <a:latin typeface="Consolas"/>
              </a:rPr>
              <a:t>: [</a:t>
            </a:r>
            <a:r>
              <a:rPr sz="1200">
                <a:solidFill>
                  <a:srgbClr val="E6A36A"/>
                </a:solidFill>
                <a:latin typeface="Consolas"/>
              </a:rPr>
              <a:t>"2026-02-26T10:00:00+01"</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"coordinates"</a:t>
            </a:r>
            <a:r>
              <a:rPr sz="1200">
                <a:solidFill>
                  <a:srgbClr val="C2D0DA"/>
                </a:solidFill>
                <a:latin typeface="Consolas"/>
              </a:rPr>
              <a:t>: [[</a:t>
            </a:r>
            <a:r>
              <a:rPr sz="1200">
                <a:solidFill>
                  <a:srgbClr val="C9E08A"/>
                </a:solidFill>
                <a:latin typeface="Consolas"/>
              </a:rPr>
              <a:t>600000</a:t>
            </a:r>
            <a:r>
              <a:rPr sz="1200">
                <a:solidFill>
                  <a:srgbClr val="C2D0DA"/>
                </a:solidFill>
                <a:latin typeface="Consolas"/>
              </a:rPr>
              <a:t>, </a:t>
            </a:r>
            <a:r>
              <a:rPr sz="1200">
                <a:solidFill>
                  <a:srgbClr val="C9E08A"/>
                </a:solidFill>
                <a:latin typeface="Consolas"/>
              </a:rPr>
              <a:t>6330000</a:t>
            </a:r>
            <a:r>
              <a:rPr sz="1200">
                <a:solidFill>
                  <a:srgbClr val="C2D0DA"/>
                </a:solidFill>
                <a:latin typeface="Consolas"/>
              </a:rPr>
              <a:t>], ...] } }</a:t>
            </a:r>
          </a:p>
          <a:p>
            <a:pPr>
              <a:lnSpc>
                <a:spcPct val="102000"/>
              </a:lnSpc>
              <a:spcBef>
                <a:spcPts val="0"/>
              </a:spcBef>
              <a:spcAft>
                <a:spcPts val="0"/>
              </a:spcAft>
            </a:pPr>
            <a:r>
              <a:rPr sz="1200">
                <a:latin typeface="Consolas"/>
              </a:rPr>
              <a:t> </a:t>
            </a:r>
          </a:p>
          <a:p>
            <a:pPr>
              <a:lnSpc>
                <a:spcPct val="102000"/>
              </a:lnSpc>
              <a:spcBef>
                <a:spcPts val="0"/>
              </a:spcBef>
              <a:spcAft>
                <a:spcPts val="0"/>
              </a:spcAft>
            </a:pPr>
            <a:r>
              <a:rPr sz="1200">
                <a:solidFill>
                  <a:srgbClr val="C9E08A"/>
                </a:solidFill>
                <a:latin typeface="Consolas"/>
              </a:rPr>
              <a:t>201</a:t>
            </a:r>
            <a:r>
              <a:rPr sz="1200">
                <a:solidFill>
                  <a:srgbClr val="C2D0DA"/>
                </a:solidFill>
                <a:latin typeface="Consolas"/>
              </a:rPr>
              <a:t>  { </a:t>
            </a:r>
            <a:r>
              <a:rPr sz="1200">
                <a:solidFill>
                  <a:srgbClr val="6FC3E0"/>
                </a:solidFill>
                <a:latin typeface="Consolas"/>
              </a:rPr>
              <a:t>"message"</a:t>
            </a:r>
            <a:r>
              <a:rPr sz="1200">
                <a:solidFill>
                  <a:srgbClr val="C2D0DA"/>
                </a:solidFill>
                <a:latin typeface="Consolas"/>
              </a:rPr>
              <a:t>: </a:t>
            </a:r>
            <a:r>
              <a:rPr sz="1200">
                <a:solidFill>
                  <a:srgbClr val="E6A36A"/>
                </a:solidFill>
                <a:latin typeface="Consolas"/>
              </a:rPr>
              <a:t>"created"</a:t>
            </a:r>
            <a:r>
              <a:rPr sz="1200">
                <a:solidFill>
                  <a:srgbClr val="C2D0DA"/>
                </a:solidFill>
                <a:latin typeface="Consolas"/>
              </a:rPr>
              <a:t>,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"900001"</a:t>
            </a:r>
            <a:r>
              <a:rPr sz="1200">
                <a:solidFill>
                  <a:srgbClr val="C2D0DA"/>
                </a:solidFill>
                <a:latin typeface="Consolas"/>
              </a:rPr>
              <a:t> }</a:t>
            </a:r>
          </a:p>
        </p:txBody>
      </p:sp>
      <p:sp>
        <p:nvSpPr>
          <p:cNvPr id="9" name="Rounded Rectangle 8"/>
          <p:cNvSpPr/>
          <p:nvPr/>
        </p:nvSpPr>
        <p:spPr>
          <a:xfrm>
            <a:off x="566928" y="4343400"/>
            <a:ext cx="713232" cy="292608"/>
          </a:xfrm>
          <a:prstGeom prst="roundRect">
            <a:avLst>
              <a:gd name="adj" fmla="val 4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POST</a:t>
            </a:r>
          </a:p>
        </p:txBody>
      </p:sp>
      <p:sp>
        <p:nvSpPr>
          <p:cNvPr id="10" name="TextBox 9"/>
          <p:cNvSpPr txBox="1"/>
          <p:nvPr/>
        </p:nvSpPr>
        <p:spPr>
          <a:xfrm>
            <a:off x="1389888" y="4334256"/>
            <a:ext cx="4663440" cy="274320"/>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…/items/900001/tgsequence</a:t>
            </a:r>
          </a:p>
        </p:txBody>
      </p:sp>
      <p:sp>
        <p:nvSpPr>
          <p:cNvPr id="11" name="Rounded Rectangle 10"/>
          <p:cNvSpPr/>
          <p:nvPr/>
        </p:nvSpPr>
        <p:spPr>
          <a:xfrm>
            <a:off x="566928" y="4663440"/>
            <a:ext cx="5486400" cy="155448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ODEPANEL"/>
          <p:cNvSpPr txBox="1"/>
          <p:nvPr/>
        </p:nvSpPr>
        <p:spPr>
          <a:xfrm>
            <a:off x="694944" y="4754879"/>
            <a:ext cx="5230368" cy="1371600"/>
          </a:xfrm>
          <a:prstGeom prst="rect">
            <a:avLst/>
          </a:prstGeom>
          <a:noFill/>
        </p:spPr>
        <p:txBody>
          <a:bodyPr wrap="square" lIns="0" rIns="0" tIns="0" bIns="0">
            <a:noAutofit/>
          </a:bodyPr>
          <a:lstStyle/>
          <a:p>
            <a:pPr>
              <a:lnSpc>
                <a:spcPct val="102000"/>
              </a:lnSpc>
              <a:spcBef>
                <a:spcPts val="0"/>
              </a:spcBef>
              <a:spcAft>
                <a:spcPts val="0"/>
              </a:spcAft>
            </a:pPr>
            <a:r>
              <a:rPr sz="1200">
                <a:solidFill>
                  <a:srgbClr val="7E94A6"/>
                </a:solidFill>
                <a:latin typeface="Consolas"/>
              </a:rPr>
              <a:t>// append a temporally-disjoint sub-trajectory</a:t>
            </a:r>
          </a:p>
          <a:p>
            <a:pPr>
              <a:lnSpc>
                <a:spcPct val="102000"/>
              </a:lnSpc>
              <a:spcBef>
                <a:spcPts val="0"/>
              </a:spcBef>
              <a:spcAft>
                <a:spcPts val="0"/>
              </a:spcAft>
            </a:pPr>
            <a:r>
              <a:rPr sz="1200">
                <a:solidFill>
                  <a:srgbClr val="C9E08A"/>
                </a:solidFill>
                <a:latin typeface="Consolas"/>
              </a:rPr>
              <a:t>200</a:t>
            </a:r>
            <a:r>
              <a:rPr sz="1200">
                <a:solidFill>
                  <a:srgbClr val="C2D0DA"/>
                </a:solidFill>
                <a:latin typeface="Consolas"/>
              </a:rPr>
              <a:t>  { </a:t>
            </a:r>
            <a:r>
              <a:rPr sz="1200">
                <a:solidFill>
                  <a:srgbClr val="6FC3E0"/>
                </a:solidFill>
                <a:latin typeface="Consolas"/>
              </a:rPr>
              <a:t>"message"</a:t>
            </a:r>
            <a:r>
              <a:rPr sz="1200">
                <a:solidFill>
                  <a:srgbClr val="C2D0DA"/>
                </a:solidFill>
                <a:latin typeface="Consolas"/>
              </a:rPr>
              <a:t>: </a:t>
            </a:r>
            <a:r>
              <a:rPr sz="1200">
                <a:solidFill>
                  <a:srgbClr val="E6A36A"/>
                </a:solidFill>
                <a:latin typeface="Consolas"/>
              </a:rPr>
              <a:t>"appended"</a:t>
            </a:r>
            <a:r>
              <a:rPr sz="1200">
                <a:solidFill>
                  <a:srgbClr val="C2D0DA"/>
                </a:solidFill>
                <a:latin typeface="Consolas"/>
              </a:rPr>
              <a:t>,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"900001"</a:t>
            </a:r>
            <a:r>
              <a:rPr sz="1200">
                <a:solidFill>
                  <a:srgbClr val="C2D0DA"/>
                </a:solidFill>
                <a:latin typeface="Consolas"/>
              </a:rPr>
              <a:t> }</a:t>
            </a:r>
          </a:p>
          <a:p>
            <a:pPr>
              <a:lnSpc>
                <a:spcPct val="102000"/>
              </a:lnSpc>
              <a:spcBef>
                <a:spcPts val="0"/>
              </a:spcBef>
              <a:spcAft>
                <a:spcPts val="0"/>
              </a:spcAft>
            </a:pPr>
            <a:r>
              <a:rPr sz="1200">
                <a:latin typeface="Consolas"/>
              </a:rPr>
              <a:t> </a:t>
            </a:r>
          </a:p>
          <a:p>
            <a:pPr>
              <a:lnSpc>
                <a:spcPct val="102000"/>
              </a:lnSpc>
              <a:spcBef>
                <a:spcPts val="0"/>
              </a:spcBef>
              <a:spcAft>
                <a:spcPts val="0"/>
              </a:spcAft>
            </a:pPr>
            <a:r>
              <a:rPr sz="1200">
                <a:solidFill>
                  <a:srgbClr val="7E94A6"/>
                </a:solidFill>
                <a:latin typeface="Consolas"/>
              </a:rPr>
              <a:t>// overlapping the existing time span:</a:t>
            </a:r>
          </a:p>
          <a:p>
            <a:pPr>
              <a:lnSpc>
                <a:spcPct val="102000"/>
              </a:lnSpc>
              <a:spcBef>
                <a:spcPts val="0"/>
              </a:spcBef>
              <a:spcAft>
                <a:spcPts val="0"/>
              </a:spcAft>
            </a:pPr>
            <a:r>
              <a:rPr sz="1200">
                <a:solidFill>
                  <a:srgbClr val="C9E08A"/>
                </a:solidFill>
                <a:latin typeface="Consolas"/>
              </a:rPr>
              <a:t>409</a:t>
            </a:r>
            <a:r>
              <a:rPr sz="1200">
                <a:solidFill>
                  <a:srgbClr val="C2D0DA"/>
                </a:solidFill>
                <a:latin typeface="Consolas"/>
              </a:rPr>
              <a:t>  { </a:t>
            </a:r>
            <a:r>
              <a:rPr sz="1200">
                <a:solidFill>
                  <a:srgbClr val="6FC3E0"/>
                </a:solidFill>
                <a:latin typeface="Consolas"/>
              </a:rPr>
              <a:t>"code"</a:t>
            </a:r>
            <a:r>
              <a:rPr sz="1200">
                <a:solidFill>
                  <a:srgbClr val="C2D0DA"/>
                </a:solidFill>
                <a:latin typeface="Consolas"/>
              </a:rPr>
              <a:t>: </a:t>
            </a:r>
            <a:r>
              <a:rPr sz="1200">
                <a:solidFill>
                  <a:srgbClr val="E6A36A"/>
                </a:solidFill>
                <a:latin typeface="Consolas"/>
              </a:rPr>
              <a:t>"409"</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"description"</a:t>
            </a:r>
            <a:r>
              <a:rPr sz="1200">
                <a:solidFill>
                  <a:srgbClr val="C2D0DA"/>
                </a:solidFill>
                <a:latin typeface="Consolas"/>
              </a:rPr>
              <a:t>: "the sub-trajectory overlaps</a:t>
            </a:r>
          </a:p>
          <a:p>
            <a:pPr>
              <a:lnSpc>
                <a:spcPct val="102000"/>
              </a:lnSpc>
              <a:spcBef>
                <a:spcPts val="0"/>
              </a:spcBef>
              <a:spcAft>
                <a:spcPts val="0"/>
              </a:spcAft>
            </a:pPr>
            <a:r>
              <a:rPr sz="1200">
                <a:solidFill>
                  <a:srgbClr val="C2D0DA"/>
                </a:solidFill>
                <a:latin typeface="Consolas"/>
              </a:rPr>
              <a:t>        the existing temporal geometry in time" }</a:t>
            </a:r>
          </a:p>
        </p:txBody>
      </p:sp>
      <p:sp>
        <p:nvSpPr>
          <p:cNvPr id="13" name="Rounded Rectangle 12"/>
          <p:cNvSpPr/>
          <p:nvPr/>
        </p:nvSpPr>
        <p:spPr>
          <a:xfrm>
            <a:off x="6281928" y="1801368"/>
            <a:ext cx="603504" cy="292608"/>
          </a:xfrm>
          <a:prstGeom prst="roundRect">
            <a:avLst>
              <a:gd name="adj" fmla="val 40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PUT</a:t>
            </a:r>
          </a:p>
        </p:txBody>
      </p:sp>
      <p:sp>
        <p:nvSpPr>
          <p:cNvPr id="14" name="TextBox 13"/>
          <p:cNvSpPr txBox="1"/>
          <p:nvPr/>
        </p:nvSpPr>
        <p:spPr>
          <a:xfrm>
            <a:off x="6976872" y="1783080"/>
            <a:ext cx="4647895" cy="274320"/>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…/items/900001</a:t>
            </a:r>
          </a:p>
        </p:txBody>
      </p:sp>
      <p:sp>
        <p:nvSpPr>
          <p:cNvPr id="15" name="TextBox 14"/>
          <p:cNvSpPr txBox="1"/>
          <p:nvPr/>
        </p:nvSpPr>
        <p:spPr>
          <a:xfrm>
            <a:off x="6281928" y="2075688"/>
            <a:ext cx="5342839"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200 replace the feature</a:t>
            </a:r>
          </a:p>
        </p:txBody>
      </p:sp>
      <p:sp>
        <p:nvSpPr>
          <p:cNvPr id="16" name="Rounded Rectangle 15"/>
          <p:cNvSpPr/>
          <p:nvPr/>
        </p:nvSpPr>
        <p:spPr>
          <a:xfrm>
            <a:off x="6281928" y="2514600"/>
            <a:ext cx="932688" cy="292608"/>
          </a:xfrm>
          <a:prstGeom prst="roundRect">
            <a:avLst>
              <a:gd name="adj" fmla="val 4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DELETE</a:t>
            </a:r>
          </a:p>
        </p:txBody>
      </p:sp>
      <p:sp>
        <p:nvSpPr>
          <p:cNvPr id="17" name="TextBox 16"/>
          <p:cNvSpPr txBox="1"/>
          <p:nvPr/>
        </p:nvSpPr>
        <p:spPr>
          <a:xfrm>
            <a:off x="7306056" y="2496312"/>
            <a:ext cx="4318711" cy="274320"/>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…/items/900001</a:t>
            </a:r>
          </a:p>
        </p:txBody>
      </p:sp>
      <p:sp>
        <p:nvSpPr>
          <p:cNvPr id="18" name="TextBox 17"/>
          <p:cNvSpPr txBox="1"/>
          <p:nvPr/>
        </p:nvSpPr>
        <p:spPr>
          <a:xfrm>
            <a:off x="6281928" y="2788920"/>
            <a:ext cx="5342839"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204 remove the feature</a:t>
            </a:r>
          </a:p>
        </p:txBody>
      </p:sp>
      <p:sp>
        <p:nvSpPr>
          <p:cNvPr id="19" name="TextBox 18"/>
          <p:cNvSpPr txBox="1"/>
          <p:nvPr/>
        </p:nvSpPr>
        <p:spPr>
          <a:xfrm>
            <a:off x="6281928" y="3291840"/>
            <a:ext cx="5342839" cy="2743200"/>
          </a:xfrm>
          <a:prstGeom prst="rect">
            <a:avLst/>
          </a:prstGeom>
          <a:noFill/>
        </p:spPr>
        <p:txBody>
          <a:bodyPr wrap="square" lIns="0" rIns="0" tIns="0" bIns="0">
            <a:noAutofit/>
          </a:bodyPr>
          <a:lstStyle/>
          <a:p>
            <a:pPr>
              <a:lnSpc>
                <a:spcPct val="106000"/>
              </a:lnSpc>
              <a:spcBef>
                <a:spcPts val="0"/>
              </a:spcBef>
              <a:spcAft>
                <a:spcPts val="1200"/>
              </a:spcAft>
            </a:pPr>
            <a:r>
              <a:rPr sz="1200" b="1">
                <a:solidFill>
                  <a:srgbClr val="196B24"/>
                </a:solidFill>
                <a:latin typeface="Calibri"/>
              </a:rPr>
              <a:t>▸  </a:t>
            </a:r>
            <a:r>
              <a:rPr sz="1200" b="1">
                <a:solidFill>
                  <a:srgbClr val="0E2841"/>
                </a:solidFill>
                <a:latin typeface="Calibri"/>
              </a:rPr>
              <a:t>merge:  </a:t>
            </a:r>
            <a:r>
              <a:rPr sz="1200">
                <a:solidFill>
                  <a:srgbClr val="1E2B36"/>
                </a:solidFill>
                <a:latin typeface="Calibri"/>
              </a:rPr>
              <a:t>append uses MobilityDB merge, which rejects time overlap; the tier maps that to 409</a:t>
            </a:r>
          </a:p>
          <a:p>
            <a:pPr>
              <a:lnSpc>
                <a:spcPct val="106000"/>
              </a:lnSpc>
              <a:spcBef>
                <a:spcPts val="0"/>
              </a:spcBef>
              <a:spcAft>
                <a:spcPts val="1200"/>
              </a:spcAft>
            </a:pPr>
            <a:r>
              <a:rPr sz="1200" b="1">
                <a:solidFill>
                  <a:srgbClr val="196B24"/>
                </a:solidFill>
                <a:latin typeface="Calibri"/>
              </a:rPr>
              <a:t>▸  </a:t>
            </a:r>
            <a:r>
              <a:rPr sz="1200" b="1">
                <a:solidFill>
                  <a:srgbClr val="0E2841"/>
                </a:solidFill>
                <a:latin typeface="Calibri"/>
              </a:rPr>
              <a:t>Derived properties:  </a:t>
            </a:r>
            <a:r>
              <a:rPr sz="1200">
                <a:solidFill>
                  <a:srgbClr val="1E2B36"/>
                </a:solidFill>
                <a:latin typeface="Calibri"/>
              </a:rPr>
              <a:t>are computed from the geometry, so writes to them return 501; modify the geometry instead</a:t>
            </a:r>
          </a:p>
          <a:p>
            <a:pPr>
              <a:lnSpc>
                <a:spcPct val="106000"/>
              </a:lnSpc>
              <a:spcBef>
                <a:spcPts val="0"/>
              </a:spcBef>
              <a:spcAft>
                <a:spcPts val="1200"/>
              </a:spcAft>
            </a:pPr>
            <a:r>
              <a:rPr sz="1200" b="1">
                <a:solidFill>
                  <a:srgbClr val="196B24"/>
                </a:solidFill>
                <a:latin typeface="Calibri"/>
              </a:rPr>
              <a:t>▸  </a:t>
            </a:r>
            <a:r>
              <a:rPr sz="1200" b="1">
                <a:solidFill>
                  <a:srgbClr val="0E2841"/>
                </a:solidFill>
                <a:latin typeface="Calibri"/>
              </a:rPr>
              <a:t>Single geometry:  </a:t>
            </a:r>
            <a:r>
              <a:rPr sz="1200">
                <a:solidFill>
                  <a:srgbClr val="1E2B36"/>
                </a:solidFill>
                <a:latin typeface="Calibri"/>
              </a:rPr>
              <a:t>a feature carries one temporal geometry; delete the feature rather than a primitive</a:t>
            </a:r>
          </a:p>
        </p:txBody>
      </p:sp>
      <p:sp>
        <p:nvSpPr>
          <p:cNvPr id="20" name="Rectangle 19"/>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22" name="TextBox 21"/>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14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TEMPORAL GEOMETRY</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The Temporal-Geometry Sequence</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5448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6" name="TextBox 5"/>
          <p:cNvSpPr txBox="1"/>
          <p:nvPr/>
        </p:nvSpPr>
        <p:spPr>
          <a:xfrm>
            <a:off x="1316736" y="1545336"/>
            <a:ext cx="4736592" cy="274320"/>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…/items/1/tgsequence</a:t>
            </a:r>
          </a:p>
        </p:txBody>
      </p:sp>
      <p:sp>
        <p:nvSpPr>
          <p:cNvPr id="7" name="Rounded Rectangle 6"/>
          <p:cNvSpPr/>
          <p:nvPr/>
        </p:nvSpPr>
        <p:spPr>
          <a:xfrm>
            <a:off x="566928" y="1874519"/>
            <a:ext cx="5486400" cy="320040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ODEPANEL"/>
          <p:cNvSpPr txBox="1"/>
          <p:nvPr/>
        </p:nvSpPr>
        <p:spPr>
          <a:xfrm>
            <a:off x="694944" y="1965960"/>
            <a:ext cx="5230368" cy="3017520"/>
          </a:xfrm>
          <a:prstGeom prst="rect">
            <a:avLst/>
          </a:prstGeom>
          <a:noFill/>
        </p:spPr>
        <p:txBody>
          <a:bodyPr wrap="square" lIns="0" rIns="0" tIns="0" bIns="0">
            <a:noAutofit/>
          </a:bodyPr>
          <a:lstStyle/>
          <a:p>
            <a:pPr>
              <a:lnSpc>
                <a:spcPct val="102000"/>
              </a:lnSpc>
              <a:spcBef>
                <a:spcPts val="0"/>
              </a:spcBef>
              <a:spcAft>
                <a:spcPts val="0"/>
              </a:spcAft>
            </a:pPr>
            <a:r>
              <a:rPr sz="1200">
                <a:solidFill>
                  <a:srgbClr val="C9E08A"/>
                </a:solidFill>
                <a:latin typeface="Consolas"/>
              </a:rPr>
              <a:t>200</a:t>
            </a:r>
            <a:r>
              <a:rPr sz="1200">
                <a:solidFill>
                  <a:srgbClr val="C2D0DA"/>
                </a:solidFill>
                <a:latin typeface="Consolas"/>
              </a:rPr>
              <a:t> OK</a:t>
            </a:r>
          </a:p>
          <a:p>
            <a:pPr>
              <a:lnSpc>
                <a:spcPct val="102000"/>
              </a:lnSpc>
              <a:spcBef>
                <a:spcPts val="0"/>
              </a:spcBef>
              <a:spcAft>
                <a:spcPts val="0"/>
              </a:spcAft>
            </a:pP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"MovingPoint"</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"crs"</a:t>
            </a:r>
            <a:r>
              <a:rPr sz="1200">
                <a:solidFill>
                  <a:srgbClr val="C2D0DA"/>
                </a:solidFill>
                <a:latin typeface="Consolas"/>
              </a:rPr>
              <a:t>: {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"Name"</a:t>
            </a:r>
            <a:r>
              <a:rPr sz="1200">
                <a:solidFill>
                  <a:srgbClr val="C2D0DA"/>
                </a:solidFill>
                <a:latin typeface="Consolas"/>
              </a:rPr>
              <a:t>, </a:t>
            </a:r>
            <a:r>
              <a:rPr sz="1200">
                <a:solidFill>
                  <a:srgbClr val="6FC3E0"/>
                </a:solidFill>
                <a:latin typeface="Consolas"/>
              </a:rPr>
              <a:t>"properties"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"urn:ogc:def:crs:EPSG::25832"</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"sequences"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"datetimes"</a:t>
            </a:r>
            <a:r>
              <a:rPr sz="1200">
                <a:solidFill>
                  <a:srgbClr val="C2D0DA"/>
                </a:solidFill>
                <a:latin typeface="Consolas"/>
              </a:rPr>
              <a:t>: [</a:t>
            </a:r>
            <a:r>
              <a:rPr sz="1200">
                <a:solidFill>
                  <a:srgbClr val="E6A36A"/>
                </a:solidFill>
                <a:latin typeface="Consolas"/>
              </a:rPr>
              <a:t>"2026-02-26T13:28:08+01"</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"coordinates"</a:t>
            </a:r>
            <a:r>
              <a:rPr sz="1200">
                <a:solidFill>
                  <a:srgbClr val="C2D0DA"/>
                </a:solidFill>
                <a:latin typeface="Consolas"/>
              </a:rPr>
              <a:t>: [[</a:t>
            </a:r>
            <a:r>
              <a:rPr sz="1200">
                <a:solidFill>
                  <a:srgbClr val="C9E08A"/>
                </a:solidFill>
                <a:latin typeface="Consolas"/>
              </a:rPr>
              <a:t>721000.4</a:t>
            </a:r>
            <a:r>
              <a:rPr sz="1200">
                <a:solidFill>
                  <a:srgbClr val="C2D0DA"/>
                </a:solidFill>
                <a:latin typeface="Consolas"/>
              </a:rPr>
              <a:t>, </a:t>
            </a:r>
            <a:r>
              <a:rPr sz="1200">
                <a:solidFill>
                  <a:srgbClr val="C9E08A"/>
                </a:solidFill>
                <a:latin typeface="Consolas"/>
              </a:rPr>
              <a:t>6178001.2</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"lower_inc"</a:t>
            </a:r>
            <a:r>
              <a:rPr sz="1200">
                <a:solidFill>
                  <a:srgbClr val="C2D0DA"/>
                </a:solidFill>
                <a:latin typeface="Consolas"/>
              </a:rPr>
              <a:t>: </a:t>
            </a:r>
            <a:r>
              <a:rPr sz="1200">
                <a:solidFill>
                  <a:srgbClr val="CBA0E8"/>
                </a:solidFill>
                <a:latin typeface="Consolas"/>
              </a:rPr>
              <a:t>true</a:t>
            </a:r>
            <a:r>
              <a:rPr sz="1200">
                <a:solidFill>
                  <a:srgbClr val="C2D0DA"/>
                </a:solidFill>
                <a:latin typeface="Consolas"/>
              </a:rPr>
              <a:t>, </a:t>
            </a:r>
            <a:r>
              <a:rPr sz="1200">
                <a:solidFill>
                  <a:srgbClr val="6FC3E0"/>
                </a:solidFill>
                <a:latin typeface="Consolas"/>
              </a:rPr>
              <a:t>"upper_inc"</a:t>
            </a:r>
            <a:r>
              <a:rPr sz="1200">
                <a:solidFill>
                  <a:srgbClr val="C2D0DA"/>
                </a:solidFill>
                <a:latin typeface="Consolas"/>
              </a:rPr>
              <a:t>: </a:t>
            </a:r>
            <a:r>
              <a:rPr sz="1200">
                <a:solidFill>
                  <a:srgbClr val="CBA0E8"/>
                </a:solidFill>
                <a:latin typeface="Consolas"/>
              </a:rPr>
              <a:t>true</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"interpolation"</a:t>
            </a:r>
            <a:r>
              <a:rPr sz="1200">
                <a:solidFill>
                  <a:srgbClr val="C2D0DA"/>
                </a:solidFill>
                <a:latin typeface="Consolas"/>
              </a:rPr>
              <a:t>: </a:t>
            </a:r>
            <a:r>
              <a:rPr sz="1200">
                <a:solidFill>
                  <a:srgbClr val="E6A36A"/>
                </a:solidFill>
                <a:latin typeface="Consolas"/>
              </a:rPr>
              <a:t>"Linear"</a:t>
            </a:r>
          </a:p>
          <a:p>
            <a:pPr>
              <a:lnSpc>
                <a:spcPct val="102000"/>
              </a:lnSpc>
              <a:spcBef>
                <a:spcPts val="0"/>
              </a:spcBef>
              <a:spcAft>
                <a:spcPts val="0"/>
              </a:spcAft>
            </a:pPr>
            <a:r>
              <a:rPr sz="1200">
                <a:solidFill>
                  <a:srgbClr val="C2D0DA"/>
                </a:solidFill>
                <a:latin typeface="Consolas"/>
              </a:rPr>
              <a:t>}</a:t>
            </a:r>
          </a:p>
        </p:txBody>
      </p:sp>
      <p:sp>
        <p:nvSpPr>
          <p:cNvPr id="9" name="TextBox 8"/>
          <p:cNvSpPr txBox="1"/>
          <p:nvPr/>
        </p:nvSpPr>
        <p:spPr>
          <a:xfrm>
            <a:off x="6281928" y="1627632"/>
            <a:ext cx="5342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0E2841"/>
                </a:solidFill>
                <a:latin typeface="Calibri"/>
              </a:rPr>
              <a:t>Selectors on this resource</a:t>
            </a:r>
          </a:p>
        </p:txBody>
      </p:sp>
      <p:sp>
        <p:nvSpPr>
          <p:cNvPr id="10" name="TextBox 9"/>
          <p:cNvSpPr txBox="1"/>
          <p:nvPr/>
        </p:nvSpPr>
        <p:spPr>
          <a:xfrm>
            <a:off x="6281928" y="2057400"/>
            <a:ext cx="5342839" cy="2011680"/>
          </a:xfrm>
          <a:prstGeom prst="rect">
            <a:avLst/>
          </a:prstGeom>
          <a:noFill/>
        </p:spPr>
        <p:txBody>
          <a:bodyPr wrap="square" lIns="0" rIns="0" tIns="0" bIns="0">
            <a:noAutofit/>
          </a:bodyPr>
          <a:lstStyle/>
          <a:p>
            <a:pPr>
              <a:lnSpc>
                <a:spcPct val="106000"/>
              </a:lnSpc>
              <a:spcBef>
                <a:spcPts val="0"/>
              </a:spcBef>
              <a:spcAft>
                <a:spcPts val="1200"/>
              </a:spcAft>
            </a:pPr>
            <a:r>
              <a:rPr sz="1200" b="1">
                <a:solidFill>
                  <a:srgbClr val="156082"/>
                </a:solidFill>
                <a:latin typeface="Calibri"/>
              </a:rPr>
              <a:t>▸  </a:t>
            </a:r>
            <a:r>
              <a:rPr sz="1200" b="1">
                <a:solidFill>
                  <a:srgbClr val="0E2841"/>
                </a:solidFill>
                <a:latin typeface="Calibri"/>
              </a:rPr>
              <a:t>datetime:  </a:t>
            </a:r>
            <a:r>
              <a:rPr sz="1200">
                <a:solidFill>
                  <a:srgbClr val="1E2B36"/>
                </a:solidFill>
                <a:latin typeface="Calibri"/>
              </a:rPr>
              <a:t>clip the sequence to an interval (atTime)</a:t>
            </a:r>
          </a:p>
          <a:p>
            <a:pPr>
              <a:lnSpc>
                <a:spcPct val="106000"/>
              </a:lnSpc>
              <a:spcBef>
                <a:spcPts val="0"/>
              </a:spcBef>
              <a:spcAft>
                <a:spcPts val="1200"/>
              </a:spcAft>
            </a:pPr>
            <a:r>
              <a:rPr sz="1200" b="1">
                <a:solidFill>
                  <a:srgbClr val="156082"/>
                </a:solidFill>
                <a:latin typeface="Calibri"/>
              </a:rPr>
              <a:t>▸  </a:t>
            </a:r>
            <a:r>
              <a:rPr sz="1200" b="1">
                <a:solidFill>
                  <a:srgbClr val="0E2841"/>
                </a:solidFill>
                <a:latin typeface="Calibri"/>
              </a:rPr>
              <a:t>leaf:  </a:t>
            </a:r>
            <a:r>
              <a:rPr sz="1200">
                <a:solidFill>
                  <a:srgbClr val="1E2B36"/>
                </a:solidFill>
                <a:latin typeface="Calibri"/>
              </a:rPr>
              <a:t>return the geometry at one or more instants</a:t>
            </a:r>
          </a:p>
          <a:p>
            <a:pPr>
              <a:lnSpc>
                <a:spcPct val="106000"/>
              </a:lnSpc>
              <a:spcBef>
                <a:spcPts val="0"/>
              </a:spcBef>
              <a:spcAft>
                <a:spcPts val="1200"/>
              </a:spcAft>
            </a:pPr>
            <a:r>
              <a:rPr sz="1200" b="1">
                <a:solidFill>
                  <a:srgbClr val="156082"/>
                </a:solidFill>
                <a:latin typeface="Calibri"/>
              </a:rPr>
              <a:t>▸  </a:t>
            </a:r>
            <a:r>
              <a:rPr sz="1200" b="1">
                <a:solidFill>
                  <a:srgbClr val="0E2841"/>
                </a:solidFill>
                <a:latin typeface="Calibri"/>
              </a:rPr>
              <a:t>POST:  </a:t>
            </a:r>
            <a:r>
              <a:rPr sz="1200">
                <a:solidFill>
                  <a:srgbClr val="1E2B36"/>
                </a:solidFill>
                <a:latin typeface="Calibri"/>
              </a:rPr>
              <a:t>append a temporally-disjoint sub-trajectory</a:t>
            </a:r>
          </a:p>
        </p:txBody>
      </p:sp>
      <p:sp>
        <p:nvSpPr>
          <p:cNvPr id="11" name="TextBox 10"/>
          <p:cNvSpPr txBox="1"/>
          <p:nvPr/>
        </p:nvSpPr>
        <p:spPr>
          <a:xfrm>
            <a:off x="6281928" y="4206240"/>
            <a:ext cx="5342839" cy="914400"/>
          </a:xfrm>
          <a:prstGeom prst="rect">
            <a:avLst/>
          </a:prstGeom>
          <a:noFill/>
        </p:spPr>
        <p:txBody>
          <a:bodyPr wrap="square" anchor="t" lIns="0" rIns="0" tIns="0" bIns="0">
            <a:noAutofit/>
          </a:bodyPr>
          <a:lstStyle/>
          <a:p>
            <a:pPr algn="l">
              <a:spcBef>
                <a:spcPts val="0"/>
              </a:spcBef>
              <a:spcAft>
                <a:spcPts val="200"/>
              </a:spcAft>
            </a:pPr>
            <a:r>
              <a:rPr sz="1200" b="0" i="1">
                <a:solidFill>
                  <a:srgbClr val="5B6B78"/>
                </a:solidFill>
                <a:latin typeface="Calibri"/>
              </a:rPr>
              <a:t>The temporal geometry is the trajectory itself, returned as MovingFeaturesJSON straight from asMFJSON.</a:t>
            </a:r>
          </a:p>
        </p:txBody>
      </p:sp>
      <p:sp>
        <p:nvSpPr>
          <p:cNvPr id="12" name="Rectangle 11"/>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4" name="TextBox 13"/>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15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A02B93"/>
                </a:solidFill>
                <a:latin typeface="Calibri"/>
              </a:rPr>
              <a:t>DERIVED MEASURES</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Distance · Velocity  ·  Acceleration</a:t>
            </a:r>
          </a:p>
        </p:txBody>
      </p:sp>
      <p:sp>
        <p:nvSpPr>
          <p:cNvPr id="4" name="Rectangle 3"/>
          <p:cNvSpPr/>
          <p:nvPr/>
        </p:nvSpPr>
        <p:spPr>
          <a:xfrm>
            <a:off x="566928" y="1389888"/>
            <a:ext cx="1554480" cy="45720"/>
          </a:xfrm>
          <a:prstGeom prst="rect">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5448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6" name="TextBox 5"/>
          <p:cNvSpPr txBox="1"/>
          <p:nvPr/>
        </p:nvSpPr>
        <p:spPr>
          <a:xfrm>
            <a:off x="1316736" y="1545336"/>
            <a:ext cx="4919472" cy="274320"/>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…/tgsequence/0/velocity</a:t>
            </a:r>
          </a:p>
        </p:txBody>
      </p:sp>
      <p:sp>
        <p:nvSpPr>
          <p:cNvPr id="7" name="Rounded Rectangle 6"/>
          <p:cNvSpPr/>
          <p:nvPr/>
        </p:nvSpPr>
        <p:spPr>
          <a:xfrm>
            <a:off x="566928" y="1874519"/>
            <a:ext cx="5669280" cy="228600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ODEPANEL"/>
          <p:cNvSpPr txBox="1"/>
          <p:nvPr/>
        </p:nvSpPr>
        <p:spPr>
          <a:xfrm>
            <a:off x="694944" y="1965960"/>
            <a:ext cx="5413248" cy="2103120"/>
          </a:xfrm>
          <a:prstGeom prst="rect">
            <a:avLst/>
          </a:prstGeom>
          <a:noFill/>
        </p:spPr>
        <p:txBody>
          <a:bodyPr wrap="square" lIns="0" rIns="0" tIns="0" bIns="0">
            <a:noAutofit/>
          </a:bodyPr>
          <a:lstStyle/>
          <a:p>
            <a:pPr>
              <a:lnSpc>
                <a:spcPct val="102000"/>
              </a:lnSpc>
              <a:spcBef>
                <a:spcPts val="0"/>
              </a:spcBef>
              <a:spcAft>
                <a:spcPts val="0"/>
              </a:spcAft>
            </a:pPr>
            <a:r>
              <a:rPr sz="1200">
                <a:solidFill>
                  <a:srgbClr val="C9E08A"/>
                </a:solidFill>
                <a:latin typeface="Consolas"/>
              </a:rPr>
              <a:t>200</a:t>
            </a:r>
            <a:r>
              <a:rPr sz="1200">
                <a:solidFill>
                  <a:srgbClr val="C2D0DA"/>
                </a:solidFill>
                <a:latin typeface="Consolas"/>
              </a:rPr>
              <a:t> OK</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"velocity"</a:t>
            </a: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"TReal"</a:t>
            </a:r>
            <a:r>
              <a:rPr sz="1200">
                <a:solidFill>
                  <a:srgbClr val="C2D0DA"/>
                </a:solidFill>
                <a:latin typeface="Consolas"/>
              </a:rPr>
              <a:t>, </a:t>
            </a:r>
            <a:r>
              <a:rPr sz="1200">
                <a:solidFill>
                  <a:srgbClr val="6FC3E0"/>
                </a:solidFill>
                <a:latin typeface="Consolas"/>
              </a:rPr>
              <a:t>"form"</a:t>
            </a:r>
            <a:r>
              <a:rPr sz="1200">
                <a:solidFill>
                  <a:srgbClr val="C2D0DA"/>
                </a:solidFill>
                <a:latin typeface="Consolas"/>
              </a:rPr>
              <a:t>: </a:t>
            </a:r>
            <a:r>
              <a:rPr sz="1200">
                <a:solidFill>
                  <a:srgbClr val="E6A36A"/>
                </a:solidFill>
                <a:latin typeface="Consolas"/>
              </a:rPr>
              <a:t>"m/s"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"description"</a:t>
            </a:r>
            <a:r>
              <a:rPr sz="1200">
                <a:solidFill>
                  <a:srgbClr val="C2D0DA"/>
                </a:solidFill>
                <a:latin typeface="Consolas"/>
              </a:rPr>
              <a:t>: </a:t>
            </a:r>
            <a:r>
              <a:rPr sz="1200">
                <a:solidFill>
                  <a:srgbClr val="E6A36A"/>
                </a:solidFill>
                <a:latin typeface="Consolas"/>
              </a:rPr>
              <a:t>"Speed over ground ..."</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"valueSequence"</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"datetimes"</a:t>
            </a:r>
            <a:r>
              <a:rPr sz="1200">
                <a:solidFill>
                  <a:srgbClr val="C2D0DA"/>
                </a:solidFill>
                <a:latin typeface="Consolas"/>
              </a:rPr>
              <a:t>: [</a:t>
            </a:r>
            <a:r>
              <a:rPr sz="1200">
                <a:solidFill>
                  <a:srgbClr val="E6A36A"/>
                </a:solidFill>
                <a:latin typeface="Consolas"/>
              </a:rPr>
              <a:t>"2026-02-26T13:28:08+01"</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"values"</a:t>
            </a:r>
            <a:r>
              <a:rPr sz="1200">
                <a:solidFill>
                  <a:srgbClr val="C2D0DA"/>
                </a:solidFill>
                <a:latin typeface="Consolas"/>
              </a:rPr>
              <a:t>: [</a:t>
            </a:r>
            <a:r>
              <a:rPr sz="1200">
                <a:solidFill>
                  <a:srgbClr val="C9E08A"/>
                </a:solidFill>
                <a:latin typeface="Consolas"/>
              </a:rPr>
              <a:t>22.78</a:t>
            </a:r>
            <a:r>
              <a:rPr sz="1200">
                <a:solidFill>
                  <a:srgbClr val="C2D0DA"/>
                </a:solidFill>
                <a:latin typeface="Consolas"/>
              </a:rPr>
              <a:t>, </a:t>
            </a:r>
            <a:r>
              <a:rPr sz="1200">
                <a:solidFill>
                  <a:srgbClr val="C9E08A"/>
                </a:solidFill>
                <a:latin typeface="Consolas"/>
              </a:rPr>
              <a:t>11.03</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"interpolation"</a:t>
            </a:r>
            <a:r>
              <a:rPr sz="1200">
                <a:solidFill>
                  <a:srgbClr val="C2D0DA"/>
                </a:solidFill>
                <a:latin typeface="Consolas"/>
              </a:rPr>
              <a:t>: </a:t>
            </a:r>
            <a:r>
              <a:rPr sz="1200">
                <a:solidFill>
                  <a:srgbClr val="E6A36A"/>
                </a:solidFill>
                <a:latin typeface="Consolas"/>
              </a:rPr>
              <a:t>"Stepwise"</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"links"</a:t>
            </a:r>
            <a:r>
              <a:rPr sz="1200">
                <a:solidFill>
                  <a:srgbClr val="C2D0DA"/>
                </a:solidFill>
                <a:latin typeface="Consolas"/>
              </a:rPr>
              <a:t>: [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"self"</a:t>
            </a:r>
            <a:r>
              <a:rPr sz="1200">
                <a:solidFill>
                  <a:srgbClr val="C2D0DA"/>
                </a:solidFill>
                <a:latin typeface="Consolas"/>
              </a:rPr>
              <a:t>, ... } ] }</a:t>
            </a:r>
          </a:p>
        </p:txBody>
      </p:sp>
      <p:sp>
        <p:nvSpPr>
          <p:cNvPr id="9" name="Rounded Rectangle 8"/>
          <p:cNvSpPr/>
          <p:nvPr/>
        </p:nvSpPr>
        <p:spPr>
          <a:xfrm>
            <a:off x="566928" y="434340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10" name="TextBox 9"/>
          <p:cNvSpPr txBox="1"/>
          <p:nvPr/>
        </p:nvSpPr>
        <p:spPr>
          <a:xfrm>
            <a:off x="1316736" y="4334256"/>
            <a:ext cx="4919472" cy="274320"/>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…/tgsequence/0/acceleration</a:t>
            </a:r>
          </a:p>
        </p:txBody>
      </p:sp>
      <p:sp>
        <p:nvSpPr>
          <p:cNvPr id="11" name="Rounded Rectangle 10"/>
          <p:cNvSpPr/>
          <p:nvPr/>
        </p:nvSpPr>
        <p:spPr>
          <a:xfrm>
            <a:off x="566928" y="4663440"/>
            <a:ext cx="5669280" cy="155448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ODEPANEL"/>
          <p:cNvSpPr txBox="1"/>
          <p:nvPr/>
        </p:nvSpPr>
        <p:spPr>
          <a:xfrm>
            <a:off x="694944" y="4754879"/>
            <a:ext cx="5413248" cy="1371600"/>
          </a:xfrm>
          <a:prstGeom prst="rect">
            <a:avLst/>
          </a:prstGeom>
          <a:noFill/>
        </p:spPr>
        <p:txBody>
          <a:bodyPr wrap="square" lIns="0" rIns="0" tIns="0" bIns="0">
            <a:noAutofit/>
          </a:bodyPr>
          <a:lstStyle/>
          <a:p>
            <a:pPr>
              <a:lnSpc>
                <a:spcPct val="102000"/>
              </a:lnSpc>
              <a:spcBef>
                <a:spcPts val="0"/>
              </a:spcBef>
              <a:spcAft>
                <a:spcPts val="0"/>
              </a:spcAft>
            </a:pPr>
            <a:r>
              <a:rPr sz="1200">
                <a:solidFill>
                  <a:srgbClr val="C9E08A"/>
                </a:solidFill>
                <a:latin typeface="Consolas"/>
              </a:rPr>
              <a:t>501</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"code"</a:t>
            </a:r>
            <a:r>
              <a:rPr sz="1200">
                <a:solidFill>
                  <a:srgbClr val="C2D0DA"/>
                </a:solidFill>
                <a:latin typeface="Consolas"/>
              </a:rPr>
              <a:t>: </a:t>
            </a:r>
            <a:r>
              <a:rPr sz="1200">
                <a:solidFill>
                  <a:srgbClr val="E6A36A"/>
                </a:solidFill>
                <a:latin typeface="Consolas"/>
              </a:rPr>
              <a:t>"501"</a:t>
            </a:r>
            <a:r>
              <a:rPr sz="1200">
                <a:solidFill>
                  <a:srgbClr val="C2D0DA"/>
                </a:solidFill>
                <a:latin typeface="Consolas"/>
              </a:rPr>
              <a:t>, </a:t>
            </a:r>
            <a:r>
              <a:rPr sz="1200">
                <a:solidFill>
                  <a:srgbClr val="6FC3E0"/>
                </a:solidFill>
                <a:latin typeface="Consolas"/>
              </a:rPr>
              <a:t>"description"</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"acceleration is not derivable: linearly</a:t>
            </a:r>
          </a:p>
          <a:p>
            <a:pPr>
              <a:lnSpc>
                <a:spcPct val="102000"/>
              </a:lnSpc>
              <a:spcBef>
                <a:spcPts val="0"/>
              </a:spcBef>
              <a:spcAft>
                <a:spcPts val="0"/>
              </a:spcAft>
            </a:pPr>
            <a:r>
              <a:rPr sz="1200">
                <a:solidFill>
                  <a:srgbClr val="C2D0DA"/>
                </a:solidFill>
                <a:latin typeface="Consolas"/>
              </a:rPr>
              <a:t>   interpolated position gives a piecewise-constant</a:t>
            </a:r>
          </a:p>
          <a:p>
            <a:pPr>
              <a:lnSpc>
                <a:spcPct val="102000"/>
              </a:lnSpc>
              <a:spcBef>
                <a:spcPts val="0"/>
              </a:spcBef>
              <a:spcAft>
                <a:spcPts val="0"/>
              </a:spcAft>
            </a:pPr>
            <a:r>
              <a:rPr sz="1200">
                <a:solidFill>
                  <a:srgbClr val="C2D0DA"/>
                </a:solidFill>
                <a:latin typeface="Consolas"/>
              </a:rPr>
              <a:t>   speed, whose derivative is zero within each</a:t>
            </a:r>
          </a:p>
          <a:p>
            <a:pPr>
              <a:lnSpc>
                <a:spcPct val="102000"/>
              </a:lnSpc>
              <a:spcBef>
                <a:spcPts val="0"/>
              </a:spcBef>
              <a:spcAft>
                <a:spcPts val="0"/>
              </a:spcAft>
            </a:pPr>
            <a:r>
              <a:rPr sz="1200">
                <a:solidFill>
                  <a:srgbClr val="C2D0DA"/>
                </a:solidFill>
                <a:latin typeface="Consolas"/>
              </a:rPr>
              <a:t>   segment and undefined at the vertices" }</a:t>
            </a:r>
          </a:p>
        </p:txBody>
      </p:sp>
      <p:sp>
        <p:nvSpPr>
          <p:cNvPr id="13" name="TextBox 12"/>
          <p:cNvSpPr txBox="1"/>
          <p:nvPr/>
        </p:nvSpPr>
        <p:spPr>
          <a:xfrm>
            <a:off x="6464808" y="1828800"/>
            <a:ext cx="5159959" cy="4206240"/>
          </a:xfrm>
          <a:prstGeom prst="rect">
            <a:avLst/>
          </a:prstGeom>
          <a:noFill/>
        </p:spPr>
        <p:txBody>
          <a:bodyPr wrap="square" lIns="0" rIns="0" tIns="0" bIns="0">
            <a:noAutofit/>
          </a:bodyPr>
          <a:lstStyle/>
          <a:p>
            <a:pPr>
              <a:lnSpc>
                <a:spcPct val="106000"/>
              </a:lnSpc>
              <a:spcBef>
                <a:spcPts val="0"/>
              </a:spcBef>
              <a:spcAft>
                <a:spcPts val="1200"/>
              </a:spcAft>
            </a:pPr>
            <a:r>
              <a:rPr sz="1200" b="1">
                <a:solidFill>
                  <a:srgbClr val="A02B93"/>
                </a:solidFill>
                <a:latin typeface="Calibri"/>
              </a:rPr>
              <a:t>▸  </a:t>
            </a:r>
            <a:r>
              <a:rPr sz="1200" b="1">
                <a:solidFill>
                  <a:srgbClr val="0E2841"/>
                </a:solidFill>
                <a:latin typeface="Calibri"/>
              </a:rPr>
              <a:t>velocity:  </a:t>
            </a:r>
            <a:r>
              <a:rPr sz="1200">
                <a:solidFill>
                  <a:srgbClr val="1E2B36"/>
                </a:solidFill>
                <a:latin typeface="Calibri"/>
              </a:rPr>
              <a:t>speed over ground from speed(trip), piecewise-constant (Stepwise)</a:t>
            </a:r>
          </a:p>
          <a:p>
            <a:pPr>
              <a:lnSpc>
                <a:spcPct val="106000"/>
              </a:lnSpc>
              <a:spcBef>
                <a:spcPts val="0"/>
              </a:spcBef>
              <a:spcAft>
                <a:spcPts val="1200"/>
              </a:spcAft>
            </a:pPr>
            <a:r>
              <a:rPr sz="1200" b="1">
                <a:solidFill>
                  <a:srgbClr val="A02B93"/>
                </a:solidFill>
                <a:latin typeface="Calibri"/>
              </a:rPr>
              <a:t>▸  </a:t>
            </a:r>
            <a:r>
              <a:rPr sz="1200" b="1">
                <a:solidFill>
                  <a:srgbClr val="0E2841"/>
                </a:solidFill>
                <a:latin typeface="Calibri"/>
              </a:rPr>
              <a:t>distance:  </a:t>
            </a:r>
            <a:r>
              <a:rPr sz="1200">
                <a:solidFill>
                  <a:srgbClr val="1E2B36"/>
                </a:solidFill>
                <a:latin typeface="Calibri"/>
              </a:rPr>
              <a:t>cumulative length from cumulativeLength(trip) (Linear)</a:t>
            </a:r>
          </a:p>
          <a:p>
            <a:pPr>
              <a:lnSpc>
                <a:spcPct val="106000"/>
              </a:lnSpc>
              <a:spcBef>
                <a:spcPts val="0"/>
              </a:spcBef>
              <a:spcAft>
                <a:spcPts val="1200"/>
              </a:spcAft>
            </a:pPr>
            <a:r>
              <a:rPr sz="1200" b="1">
                <a:solidFill>
                  <a:srgbClr val="A02B93"/>
                </a:solidFill>
                <a:latin typeface="Calibri"/>
              </a:rPr>
              <a:t>▸  </a:t>
            </a:r>
            <a:r>
              <a:rPr sz="1200" b="1">
                <a:solidFill>
                  <a:srgbClr val="0E2841"/>
                </a:solidFill>
                <a:latin typeface="Calibri"/>
              </a:rPr>
              <a:t>acceleration:  </a:t>
            </a:r>
            <a:r>
              <a:rPr sz="1200">
                <a:solidFill>
                  <a:srgbClr val="1E2B36"/>
                </a:solidFill>
                <a:latin typeface="Calibri"/>
              </a:rPr>
              <a:t>not fabricated: with linear position the speed is a step function, so its derivative is not a finite function</a:t>
            </a:r>
          </a:p>
          <a:p>
            <a:pPr>
              <a:lnSpc>
                <a:spcPct val="106000"/>
              </a:lnSpc>
              <a:spcBef>
                <a:spcPts val="0"/>
              </a:spcBef>
              <a:spcAft>
                <a:spcPts val="1200"/>
              </a:spcAft>
            </a:pPr>
            <a:r>
              <a:rPr sz="1200" b="1">
                <a:solidFill>
                  <a:srgbClr val="A02B93"/>
                </a:solidFill>
                <a:latin typeface="Calibri"/>
              </a:rPr>
              <a:t>▸  </a:t>
            </a:r>
            <a:r>
              <a:rPr sz="1200" b="1">
                <a:solidFill>
                  <a:srgbClr val="0E2841"/>
                </a:solidFill>
                <a:latin typeface="Calibri"/>
              </a:rPr>
              <a:t>Exact:  </a:t>
            </a:r>
            <a:r>
              <a:rPr sz="1200">
                <a:solidFill>
                  <a:srgbClr val="1E2B36"/>
                </a:solidFill>
                <a:latin typeface="Calibri"/>
              </a:rPr>
              <a:t>each measure is a MobilityDB function reshaped into an OGC temporalProperty (TReal)</a:t>
            </a:r>
          </a:p>
        </p:txBody>
      </p:sp>
      <p:sp>
        <p:nvSpPr>
          <p:cNvPr id="14" name="Rectangle 13"/>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6" name="TextBox 15"/>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16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E97132"/>
                </a:solidFill>
                <a:latin typeface="Calibri"/>
              </a:rPr>
              <a:t>TEMPORAL PROPERTIES</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Time-Varying Attributes per Feature</a:t>
            </a:r>
          </a:p>
        </p:txBody>
      </p:sp>
      <p:sp>
        <p:nvSpPr>
          <p:cNvPr id="4" name="Rectangle 3"/>
          <p:cNvSpPr/>
          <p:nvPr/>
        </p:nvSpPr>
        <p:spPr>
          <a:xfrm>
            <a:off x="566928" y="1389888"/>
            <a:ext cx="1554480" cy="4572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5448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6" name="TextBox 5"/>
          <p:cNvSpPr txBox="1"/>
          <p:nvPr/>
        </p:nvSpPr>
        <p:spPr>
          <a:xfrm>
            <a:off x="1316736" y="1545336"/>
            <a:ext cx="4736592" cy="274320"/>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…/items/1/tproperties</a:t>
            </a:r>
          </a:p>
        </p:txBody>
      </p:sp>
      <p:sp>
        <p:nvSpPr>
          <p:cNvPr id="7" name="Rounded Rectangle 6"/>
          <p:cNvSpPr/>
          <p:nvPr/>
        </p:nvSpPr>
        <p:spPr>
          <a:xfrm>
            <a:off x="566928" y="1874519"/>
            <a:ext cx="5486400" cy="233172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ODEPANEL"/>
          <p:cNvSpPr txBox="1"/>
          <p:nvPr/>
        </p:nvSpPr>
        <p:spPr>
          <a:xfrm>
            <a:off x="694944" y="1965960"/>
            <a:ext cx="5230368" cy="2148839"/>
          </a:xfrm>
          <a:prstGeom prst="rect">
            <a:avLst/>
          </a:prstGeom>
          <a:noFill/>
        </p:spPr>
        <p:txBody>
          <a:bodyPr wrap="square" lIns="0" rIns="0" tIns="0" bIns="0">
            <a:noAutofit/>
          </a:bodyPr>
          <a:lstStyle/>
          <a:p>
            <a:pPr>
              <a:lnSpc>
                <a:spcPct val="102000"/>
              </a:lnSpc>
              <a:spcBef>
                <a:spcPts val="0"/>
              </a:spcBef>
              <a:spcAft>
                <a:spcPts val="0"/>
              </a:spcAft>
            </a:pPr>
            <a:r>
              <a:rPr sz="1200">
                <a:solidFill>
                  <a:srgbClr val="C9E08A"/>
                </a:solidFill>
                <a:latin typeface="Consolas"/>
              </a:rPr>
              <a:t>200</a:t>
            </a:r>
            <a:r>
              <a:rPr sz="1200">
                <a:solidFill>
                  <a:srgbClr val="C2D0DA"/>
                </a:solidFill>
                <a:latin typeface="Consolas"/>
              </a:rPr>
              <a:t> OK</a:t>
            </a:r>
          </a:p>
          <a:p>
            <a:pPr>
              <a:lnSpc>
                <a:spcPct val="102000"/>
              </a:lnSpc>
              <a:spcBef>
                <a:spcPts val="0"/>
              </a:spcBef>
              <a:spcAft>
                <a:spcPts val="0"/>
              </a:spcAft>
            </a:pP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"temporalProperties"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"velocity"</a:t>
            </a: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"TReal"</a:t>
            </a:r>
            <a:r>
              <a:rPr sz="1200">
                <a:solidFill>
                  <a:srgbClr val="C2D0DA"/>
                </a:solidFill>
                <a:latin typeface="Consolas"/>
              </a:rPr>
              <a:t>, </a:t>
            </a:r>
            <a:r>
              <a:rPr sz="1200">
                <a:solidFill>
                  <a:srgbClr val="6FC3E0"/>
                </a:solidFill>
                <a:latin typeface="Consolas"/>
              </a:rPr>
              <a:t>"form"</a:t>
            </a:r>
            <a:r>
              <a:rPr sz="1200">
                <a:solidFill>
                  <a:srgbClr val="C2D0DA"/>
                </a:solidFill>
                <a:latin typeface="Consolas"/>
              </a:rPr>
              <a:t>: </a:t>
            </a:r>
            <a:r>
              <a:rPr sz="1200">
                <a:solidFill>
                  <a:srgbClr val="E6A36A"/>
                </a:solidFill>
                <a:latin typeface="Consolas"/>
              </a:rPr>
              <a:t>"m/s"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"distance"</a:t>
            </a: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"TReal"</a:t>
            </a:r>
            <a:r>
              <a:rPr sz="1200">
                <a:solidFill>
                  <a:srgbClr val="C2D0DA"/>
                </a:solidFill>
                <a:latin typeface="Consolas"/>
              </a:rPr>
              <a:t>, </a:t>
            </a:r>
            <a:r>
              <a:rPr sz="1200">
                <a:solidFill>
                  <a:srgbClr val="6FC3E0"/>
                </a:solidFill>
                <a:latin typeface="Consolas"/>
              </a:rPr>
              <a:t>"form"</a:t>
            </a:r>
            <a:r>
              <a:rPr sz="1200">
                <a:solidFill>
                  <a:srgbClr val="C2D0DA"/>
                </a:solidFill>
                <a:latin typeface="Consolas"/>
              </a:rPr>
              <a:t>: </a:t>
            </a:r>
            <a:r>
              <a:rPr sz="1200">
                <a:solidFill>
                  <a:srgbClr val="E6A36A"/>
                </a:solidFill>
                <a:latin typeface="Consolas"/>
              </a:rPr>
              <a:t>"m"</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"heading"</a:t>
            </a: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"TReal"</a:t>
            </a:r>
            <a:r>
              <a:rPr sz="1200">
                <a:solidFill>
                  <a:srgbClr val="C2D0DA"/>
                </a:solidFill>
                <a:latin typeface="Consolas"/>
              </a:rPr>
              <a:t>, </a:t>
            </a:r>
            <a:r>
              <a:rPr sz="1200">
                <a:solidFill>
                  <a:srgbClr val="6FC3E0"/>
                </a:solidFill>
                <a:latin typeface="Consolas"/>
              </a:rPr>
              <a:t>"form"</a:t>
            </a:r>
            <a:r>
              <a:rPr sz="1200">
                <a:solidFill>
                  <a:srgbClr val="C2D0DA"/>
                </a:solidFill>
                <a:latin typeface="Consolas"/>
              </a:rPr>
              <a:t>: </a:t>
            </a:r>
            <a:r>
              <a:rPr sz="1200">
                <a:solidFill>
                  <a:srgbClr val="E6A36A"/>
                </a:solidFill>
                <a:latin typeface="Consolas"/>
              </a:rPr>
              <a:t>"rad"</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"numberReturned"</a:t>
            </a:r>
            <a:r>
              <a:rPr sz="1200">
                <a:solidFill>
                  <a:srgbClr val="C2D0DA"/>
                </a:solidFill>
                <a:latin typeface="Consolas"/>
              </a:rPr>
              <a:t>: </a:t>
            </a:r>
            <a:r>
              <a:rPr sz="1200">
                <a:solidFill>
                  <a:srgbClr val="C9E08A"/>
                </a:solidFill>
                <a:latin typeface="Consolas"/>
              </a:rPr>
              <a:t>3</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"links"</a:t>
            </a:r>
            <a:r>
              <a:rPr sz="1200">
                <a:solidFill>
                  <a:srgbClr val="C2D0DA"/>
                </a:solidFill>
                <a:latin typeface="Consolas"/>
              </a:rPr>
              <a:t>: [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"self"</a:t>
            </a:r>
            <a:r>
              <a:rPr sz="1200">
                <a:solidFill>
                  <a:srgbClr val="C2D0DA"/>
                </a:solidFill>
                <a:latin typeface="Consolas"/>
              </a:rPr>
              <a:t>, ... } ]</a:t>
            </a:r>
          </a:p>
          <a:p>
            <a:pPr>
              <a:lnSpc>
                <a:spcPct val="102000"/>
              </a:lnSpc>
              <a:spcBef>
                <a:spcPts val="0"/>
              </a:spcBef>
              <a:spcAft>
                <a:spcPts val="0"/>
              </a:spcAft>
            </a:pPr>
            <a:r>
              <a:rPr sz="1200">
                <a:solidFill>
                  <a:srgbClr val="C2D0DA"/>
                </a:solidFill>
                <a:latin typeface="Consolas"/>
              </a:rPr>
              <a:t>}</a:t>
            </a:r>
          </a:p>
        </p:txBody>
      </p:sp>
      <p:sp>
        <p:nvSpPr>
          <p:cNvPr id="9" name="Rounded Rectangle 8"/>
          <p:cNvSpPr/>
          <p:nvPr/>
        </p:nvSpPr>
        <p:spPr>
          <a:xfrm>
            <a:off x="566928" y="438912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10" name="TextBox 9"/>
          <p:cNvSpPr txBox="1"/>
          <p:nvPr/>
        </p:nvSpPr>
        <p:spPr>
          <a:xfrm>
            <a:off x="1316736" y="4379976"/>
            <a:ext cx="4736592" cy="274320"/>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…/tproperties/velocity?leaf=…</a:t>
            </a:r>
          </a:p>
        </p:txBody>
      </p:sp>
      <p:sp>
        <p:nvSpPr>
          <p:cNvPr id="11" name="Rounded Rectangle 10"/>
          <p:cNvSpPr/>
          <p:nvPr/>
        </p:nvSpPr>
        <p:spPr>
          <a:xfrm>
            <a:off x="566928" y="4709160"/>
            <a:ext cx="5486400" cy="146304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ODEPANEL"/>
          <p:cNvSpPr txBox="1"/>
          <p:nvPr/>
        </p:nvSpPr>
        <p:spPr>
          <a:xfrm>
            <a:off x="694944" y="4800600"/>
            <a:ext cx="5230368" cy="1280160"/>
          </a:xfrm>
          <a:prstGeom prst="rect">
            <a:avLst/>
          </a:prstGeom>
          <a:noFill/>
        </p:spPr>
        <p:txBody>
          <a:bodyPr wrap="square" lIns="0" rIns="0" tIns="0" bIns="0">
            <a:noAutofit/>
          </a:bodyPr>
          <a:lstStyle/>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"velocity"</a:t>
            </a: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"TReal"</a:t>
            </a:r>
            <a:r>
              <a:rPr sz="1200">
                <a:solidFill>
                  <a:srgbClr val="C2D0DA"/>
                </a:solidFill>
                <a:latin typeface="Consolas"/>
              </a:rPr>
              <a:t>, </a:t>
            </a:r>
            <a:r>
              <a:rPr sz="1200">
                <a:solidFill>
                  <a:srgbClr val="6FC3E0"/>
                </a:solidFill>
                <a:latin typeface="Consolas"/>
              </a:rPr>
              <a:t>"form"</a:t>
            </a:r>
            <a:r>
              <a:rPr sz="1200">
                <a:solidFill>
                  <a:srgbClr val="C2D0DA"/>
                </a:solidFill>
                <a:latin typeface="Consolas"/>
              </a:rPr>
              <a:t>: </a:t>
            </a:r>
            <a:r>
              <a:rPr sz="1200">
                <a:solidFill>
                  <a:srgbClr val="E6A36A"/>
                </a:solidFill>
                <a:latin typeface="Consolas"/>
              </a:rPr>
              <a:t>"m/s"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"valueSequence"</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"datetimes"</a:t>
            </a:r>
            <a:r>
              <a:rPr sz="1200">
                <a:solidFill>
                  <a:srgbClr val="C2D0DA"/>
                </a:solidFill>
                <a:latin typeface="Consolas"/>
              </a:rPr>
              <a:t>: [</a:t>
            </a:r>
            <a:r>
              <a:rPr sz="1200">
                <a:solidFill>
                  <a:srgbClr val="E6A36A"/>
                </a:solidFill>
                <a:latin typeface="Consolas"/>
              </a:rPr>
              <a:t>"2026-02-26T13:28:08+01"</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"values"</a:t>
            </a:r>
            <a:r>
              <a:rPr sz="1200">
                <a:solidFill>
                  <a:srgbClr val="C2D0DA"/>
                </a:solidFill>
                <a:latin typeface="Consolas"/>
              </a:rPr>
              <a:t>: [</a:t>
            </a:r>
            <a:r>
              <a:rPr sz="1200">
                <a:solidFill>
                  <a:srgbClr val="C9E08A"/>
                </a:solidFill>
                <a:latin typeface="Consolas"/>
              </a:rPr>
              <a:t>22.78</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"interpolation"</a:t>
            </a:r>
            <a:r>
              <a:rPr sz="1200">
                <a:solidFill>
                  <a:srgbClr val="C2D0DA"/>
                </a:solidFill>
                <a:latin typeface="Consolas"/>
              </a:rPr>
              <a:t>: </a:t>
            </a:r>
            <a:r>
              <a:rPr sz="1200">
                <a:solidFill>
                  <a:srgbClr val="E6A36A"/>
                </a:solidFill>
                <a:latin typeface="Consolas"/>
              </a:rPr>
              <a:t>"Discrete"</a:t>
            </a:r>
            <a:r>
              <a:rPr sz="1200">
                <a:solidFill>
                  <a:srgbClr val="C2D0DA"/>
                </a:solidFill>
                <a:latin typeface="Consolas"/>
              </a:rPr>
              <a:t> } ] }</a:t>
            </a:r>
          </a:p>
        </p:txBody>
      </p:sp>
      <p:sp>
        <p:nvSpPr>
          <p:cNvPr id="13" name="TextBox 12"/>
          <p:cNvSpPr txBox="1"/>
          <p:nvPr/>
        </p:nvSpPr>
        <p:spPr>
          <a:xfrm>
            <a:off x="6281928" y="1627632"/>
            <a:ext cx="5342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0E2841"/>
                </a:solidFill>
                <a:latin typeface="Calibri"/>
              </a:rPr>
              <a:t>Property type</a:t>
            </a:r>
          </a:p>
        </p:txBody>
      </p:sp>
      <p:sp>
        <p:nvSpPr>
          <p:cNvPr id="14" name="TextBox 13"/>
          <p:cNvSpPr txBox="1"/>
          <p:nvPr/>
        </p:nvSpPr>
        <p:spPr>
          <a:xfrm>
            <a:off x="6281928" y="1938528"/>
            <a:ext cx="5342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E97132"/>
                </a:solidFill>
                <a:latin typeface="Calibri"/>
              </a:rPr>
              <a:t>TBoolean · TText · TInteger · TReal · TImage</a:t>
            </a:r>
          </a:p>
        </p:txBody>
      </p:sp>
      <p:sp>
        <p:nvSpPr>
          <p:cNvPr id="15" name="TextBox 14"/>
          <p:cNvSpPr txBox="1"/>
          <p:nvPr/>
        </p:nvSpPr>
        <p:spPr>
          <a:xfrm>
            <a:off x="6281928" y="2377440"/>
            <a:ext cx="5342839" cy="3474720"/>
          </a:xfrm>
          <a:prstGeom prst="rect">
            <a:avLst/>
          </a:prstGeom>
          <a:noFill/>
        </p:spPr>
        <p:txBody>
          <a:bodyPr wrap="square" lIns="0" rIns="0" tIns="0" bIns="0">
            <a:noAutofit/>
          </a:bodyPr>
          <a:lstStyle/>
          <a:p>
            <a:pPr>
              <a:lnSpc>
                <a:spcPct val="106000"/>
              </a:lnSpc>
              <a:spcBef>
                <a:spcPts val="0"/>
              </a:spcBef>
              <a:spcAft>
                <a:spcPts val="1100"/>
              </a:spcAft>
            </a:pPr>
            <a:r>
              <a:rPr sz="1200" b="1">
                <a:solidFill>
                  <a:srgbClr val="E97132"/>
                </a:solidFill>
                <a:latin typeface="Calibri"/>
              </a:rPr>
              <a:t>▸  </a:t>
            </a:r>
            <a:r>
              <a:rPr sz="1200" b="1">
                <a:solidFill>
                  <a:srgbClr val="0E2841"/>
                </a:solidFill>
                <a:latin typeface="Calibri"/>
              </a:rPr>
              <a:t>Derived:  </a:t>
            </a:r>
            <a:r>
              <a:rPr sz="1200">
                <a:solidFill>
                  <a:srgbClr val="1E2B36"/>
                </a:solidFill>
                <a:latin typeface="Calibri"/>
              </a:rPr>
              <a:t>velocity, distance and heading are computed from the trajectory, read-only</a:t>
            </a:r>
          </a:p>
          <a:p>
            <a:pPr>
              <a:lnSpc>
                <a:spcPct val="106000"/>
              </a:lnSpc>
              <a:spcBef>
                <a:spcPts val="0"/>
              </a:spcBef>
              <a:spcAft>
                <a:spcPts val="1100"/>
              </a:spcAft>
            </a:pPr>
            <a:r>
              <a:rPr sz="1200" b="1">
                <a:solidFill>
                  <a:srgbClr val="E97132"/>
                </a:solidFill>
                <a:latin typeface="Calibri"/>
              </a:rPr>
              <a:t>▸  </a:t>
            </a:r>
            <a:r>
              <a:rPr sz="1200" b="1">
                <a:solidFill>
                  <a:srgbClr val="0E2841"/>
                </a:solidFill>
                <a:latin typeface="Calibri"/>
              </a:rPr>
              <a:t>valueSequence:  </a:t>
            </a:r>
            <a:r>
              <a:rPr sz="1200">
                <a:solidFill>
                  <a:srgbClr val="1E2B36"/>
                </a:solidFill>
                <a:latin typeface="Calibri"/>
              </a:rPr>
              <a:t>datetimes and values with each segment's true interpolation</a:t>
            </a:r>
          </a:p>
          <a:p>
            <a:pPr>
              <a:lnSpc>
                <a:spcPct val="106000"/>
              </a:lnSpc>
              <a:spcBef>
                <a:spcPts val="0"/>
              </a:spcBef>
              <a:spcAft>
                <a:spcPts val="1100"/>
              </a:spcAft>
            </a:pPr>
            <a:r>
              <a:rPr sz="1200" b="1">
                <a:solidFill>
                  <a:srgbClr val="E97132"/>
                </a:solidFill>
                <a:latin typeface="Calibri"/>
              </a:rPr>
              <a:t>▸  </a:t>
            </a:r>
            <a:r>
              <a:rPr sz="1200" b="1">
                <a:solidFill>
                  <a:srgbClr val="0E2841"/>
                </a:solidFill>
                <a:latin typeface="Calibri"/>
              </a:rPr>
              <a:t>leaf:  </a:t>
            </a:r>
            <a:r>
              <a:rPr sz="1200">
                <a:solidFill>
                  <a:srgbClr val="1E2B36"/>
                </a:solidFill>
                <a:latin typeface="Calibri"/>
              </a:rPr>
              <a:t>selects values at given instants; the result is Discrete</a:t>
            </a:r>
          </a:p>
          <a:p>
            <a:pPr>
              <a:lnSpc>
                <a:spcPct val="106000"/>
              </a:lnSpc>
              <a:spcBef>
                <a:spcPts val="0"/>
              </a:spcBef>
              <a:spcAft>
                <a:spcPts val="1100"/>
              </a:spcAft>
            </a:pPr>
            <a:r>
              <a:rPr sz="1200" b="1">
                <a:solidFill>
                  <a:srgbClr val="E97132"/>
                </a:solidFill>
                <a:latin typeface="Calibri"/>
              </a:rPr>
              <a:t>▸  </a:t>
            </a:r>
            <a:r>
              <a:rPr sz="1200" b="1">
                <a:solidFill>
                  <a:srgbClr val="0E2841"/>
                </a:solidFill>
                <a:latin typeface="Calibri"/>
              </a:rPr>
              <a:t>datetime:  </a:t>
            </a:r>
            <a:r>
              <a:rPr sz="1200">
                <a:solidFill>
                  <a:srgbClr val="1E2B36"/>
                </a:solidFill>
                <a:latin typeface="Calibri"/>
              </a:rPr>
              <a:t>clips the property to an interval</a:t>
            </a:r>
          </a:p>
        </p:txBody>
      </p:sp>
      <p:sp>
        <p:nvSpPr>
          <p:cNvPr id="16" name="Rectangle 15"/>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8" name="TextBox 17"/>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17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CONFORMANCE</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Declared Classes, API Definition, Errors</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645920"/>
            <a:ext cx="3503066" cy="416052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645920"/>
            <a:ext cx="3503066" cy="457200"/>
          </a:xfrm>
          <a:prstGeom prst="roundRect">
            <a:avLst>
              <a:gd name="adj" fmla="val 6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700784"/>
            <a:ext cx="3137306" cy="320040"/>
          </a:xfrm>
          <a:prstGeom prst="rect">
            <a:avLst/>
          </a:prstGeom>
          <a:noFill/>
        </p:spPr>
        <p:txBody>
          <a:bodyPr wrap="square" anchor="ctr" lIns="0" rIns="0" tIns="0" bIns="0">
            <a:noAutofit/>
          </a:bodyPr>
          <a:lstStyle/>
          <a:p>
            <a:pPr algn="l">
              <a:spcBef>
                <a:spcPts val="0"/>
              </a:spcBef>
              <a:spcAft>
                <a:spcPts val="200"/>
              </a:spcAft>
            </a:pPr>
            <a:r>
              <a:rPr sz="1400" b="1" i="0">
                <a:solidFill>
                  <a:srgbClr val="FFFFFF"/>
                </a:solidFill>
                <a:latin typeface="Calibri"/>
              </a:rPr>
              <a:t>Conformance classes</a:t>
            </a:r>
          </a:p>
        </p:txBody>
      </p:sp>
      <p:sp>
        <p:nvSpPr>
          <p:cNvPr id="8" name="TextBox 7"/>
          <p:cNvSpPr txBox="1"/>
          <p:nvPr/>
        </p:nvSpPr>
        <p:spPr>
          <a:xfrm>
            <a:off x="795528" y="2286000"/>
            <a:ext cx="3045866" cy="3383280"/>
          </a:xfrm>
          <a:prstGeom prst="rect">
            <a:avLst/>
          </a:prstGeom>
          <a:noFill/>
        </p:spPr>
        <p:txBody>
          <a:bodyPr wrap="square" lIns="0" rIns="0" tIns="0" bIns="0">
            <a:noAutofit/>
          </a:bodyPr>
          <a:lstStyle/>
          <a:p>
            <a:pPr>
              <a:lnSpc>
                <a:spcPct val="106000"/>
              </a:lnSpc>
              <a:spcBef>
                <a:spcPts val="0"/>
              </a:spcBef>
              <a:spcAft>
                <a:spcPts val="900"/>
              </a:spcAft>
            </a:pPr>
            <a:r>
              <a:rPr sz="1200" b="1">
                <a:solidFill>
                  <a:srgbClr val="156082"/>
                </a:solidFill>
                <a:latin typeface="Calibri"/>
              </a:rPr>
              <a:t>▸  </a:t>
            </a:r>
            <a:r>
              <a:rPr sz="1200">
                <a:solidFill>
                  <a:srgbClr val="1E2B36"/>
                </a:solidFill>
                <a:latin typeface="Calibri"/>
              </a:rPr>
              <a:t>movingfeatures / conf / common</a:t>
            </a:r>
          </a:p>
          <a:p>
            <a:pPr>
              <a:lnSpc>
                <a:spcPct val="106000"/>
              </a:lnSpc>
              <a:spcBef>
                <a:spcPts val="0"/>
              </a:spcBef>
              <a:spcAft>
                <a:spcPts val="900"/>
              </a:spcAft>
            </a:pPr>
            <a:r>
              <a:rPr sz="1200" b="1">
                <a:solidFill>
                  <a:srgbClr val="156082"/>
                </a:solidFill>
                <a:latin typeface="Calibri"/>
              </a:rPr>
              <a:t>▸  </a:t>
            </a:r>
            <a:r>
              <a:rPr sz="1200">
                <a:solidFill>
                  <a:srgbClr val="1E2B36"/>
                </a:solidFill>
                <a:latin typeface="Calibri"/>
              </a:rPr>
              <a:t>/ conf / mf-collection</a:t>
            </a:r>
          </a:p>
          <a:p>
            <a:pPr>
              <a:lnSpc>
                <a:spcPct val="106000"/>
              </a:lnSpc>
              <a:spcBef>
                <a:spcPts val="0"/>
              </a:spcBef>
              <a:spcAft>
                <a:spcPts val="900"/>
              </a:spcAft>
            </a:pPr>
            <a:r>
              <a:rPr sz="1200" b="1">
                <a:solidFill>
                  <a:srgbClr val="156082"/>
                </a:solidFill>
                <a:latin typeface="Calibri"/>
              </a:rPr>
              <a:t>▸  </a:t>
            </a:r>
            <a:r>
              <a:rPr sz="1200">
                <a:solidFill>
                  <a:srgbClr val="1E2B36"/>
                </a:solidFill>
                <a:latin typeface="Calibri"/>
              </a:rPr>
              <a:t>/ conf / movingfeatures</a:t>
            </a:r>
          </a:p>
          <a:p>
            <a:pPr>
              <a:lnSpc>
                <a:spcPct val="106000"/>
              </a:lnSpc>
              <a:spcBef>
                <a:spcPts val="0"/>
              </a:spcBef>
              <a:spcAft>
                <a:spcPts val="900"/>
              </a:spcAft>
            </a:pPr>
            <a:r>
              <a:rPr sz="1200" b="1">
                <a:solidFill>
                  <a:srgbClr val="156082"/>
                </a:solidFill>
                <a:latin typeface="Calibri"/>
              </a:rPr>
              <a:t>▸  </a:t>
            </a:r>
            <a:r>
              <a:rPr sz="1200">
                <a:solidFill>
                  <a:srgbClr val="1E2B36"/>
                </a:solidFill>
                <a:latin typeface="Calibri"/>
              </a:rPr>
              <a:t>ogcapi-common-1 / conf / core</a:t>
            </a:r>
          </a:p>
          <a:p>
            <a:pPr>
              <a:lnSpc>
                <a:spcPct val="106000"/>
              </a:lnSpc>
              <a:spcBef>
                <a:spcPts val="0"/>
              </a:spcBef>
              <a:spcAft>
                <a:spcPts val="900"/>
              </a:spcAft>
            </a:pPr>
            <a:r>
              <a:rPr sz="1200" b="1">
                <a:solidFill>
                  <a:srgbClr val="156082"/>
                </a:solidFill>
                <a:latin typeface="Calibri"/>
              </a:rPr>
              <a:t>▸  </a:t>
            </a:r>
            <a:r>
              <a:rPr sz="1200">
                <a:solidFill>
                  <a:srgbClr val="1E2B36"/>
                </a:solidFill>
                <a:latin typeface="Calibri"/>
              </a:rPr>
              <a:t>ogcapi-common-2 / conf / collections</a:t>
            </a:r>
          </a:p>
        </p:txBody>
      </p:sp>
      <p:sp>
        <p:nvSpPr>
          <p:cNvPr id="9" name="Rounded Rectangle 8"/>
          <p:cNvSpPr/>
          <p:nvPr/>
        </p:nvSpPr>
        <p:spPr>
          <a:xfrm>
            <a:off x="4344314" y="1645920"/>
            <a:ext cx="3503066" cy="416052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44314" y="1645920"/>
            <a:ext cx="3503066" cy="457200"/>
          </a:xfrm>
          <a:prstGeom prst="roundRect">
            <a:avLst>
              <a:gd name="adj" fmla="val 6000"/>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914" y="1700784"/>
            <a:ext cx="3137306" cy="320040"/>
          </a:xfrm>
          <a:prstGeom prst="rect">
            <a:avLst/>
          </a:prstGeom>
          <a:noFill/>
        </p:spPr>
        <p:txBody>
          <a:bodyPr wrap="square" anchor="ctr" lIns="0" rIns="0" tIns="0" bIns="0">
            <a:noAutofit/>
          </a:bodyPr>
          <a:lstStyle/>
          <a:p>
            <a:pPr algn="l">
              <a:spcBef>
                <a:spcPts val="0"/>
              </a:spcBef>
              <a:spcAft>
                <a:spcPts val="200"/>
              </a:spcAft>
            </a:pPr>
            <a:r>
              <a:rPr sz="1400" b="1" i="0">
                <a:solidFill>
                  <a:srgbClr val="FFFFFF"/>
                </a:solidFill>
                <a:latin typeface="Calibri"/>
              </a:rPr>
              <a:t>API definition</a:t>
            </a:r>
          </a:p>
        </p:txBody>
      </p:sp>
      <p:sp>
        <p:nvSpPr>
          <p:cNvPr id="12" name="TextBox 11"/>
          <p:cNvSpPr txBox="1"/>
          <p:nvPr/>
        </p:nvSpPr>
        <p:spPr>
          <a:xfrm>
            <a:off x="4572914" y="2286000"/>
            <a:ext cx="3045866" cy="3383280"/>
          </a:xfrm>
          <a:prstGeom prst="rect">
            <a:avLst/>
          </a:prstGeom>
          <a:noFill/>
        </p:spPr>
        <p:txBody>
          <a:bodyPr wrap="square" lIns="0" rIns="0" tIns="0" bIns="0">
            <a:noAutofit/>
          </a:bodyPr>
          <a:lstStyle/>
          <a:p>
            <a:pPr>
              <a:lnSpc>
                <a:spcPct val="106000"/>
              </a:lnSpc>
              <a:spcBef>
                <a:spcPts val="0"/>
              </a:spcBef>
              <a:spcAft>
                <a:spcPts val="900"/>
              </a:spcAft>
            </a:pPr>
            <a:r>
              <a:rPr sz="1200" b="1">
                <a:solidFill>
                  <a:srgbClr val="A02B93"/>
                </a:solidFill>
                <a:latin typeface="Calibri"/>
              </a:rPr>
              <a:t>▸  </a:t>
            </a:r>
            <a:r>
              <a:rPr sz="1200" b="1">
                <a:solidFill>
                  <a:srgbClr val="0E2841"/>
                </a:solidFill>
                <a:latin typeface="Calibri"/>
              </a:rPr>
              <a:t>/api:  </a:t>
            </a:r>
            <a:r>
              <a:rPr sz="1200">
                <a:solidFill>
                  <a:srgbClr val="1E2B36"/>
                </a:solidFill>
                <a:latin typeface="Calibri"/>
              </a:rPr>
              <a:t>an OpenAPI 3.0 definition</a:t>
            </a:r>
          </a:p>
          <a:p>
            <a:pPr>
              <a:lnSpc>
                <a:spcPct val="106000"/>
              </a:lnSpc>
              <a:spcBef>
                <a:spcPts val="0"/>
              </a:spcBef>
              <a:spcAft>
                <a:spcPts val="900"/>
              </a:spcAft>
            </a:pPr>
            <a:r>
              <a:rPr sz="1200" b="1">
                <a:solidFill>
                  <a:srgbClr val="A02B93"/>
                </a:solidFill>
                <a:latin typeface="Calibri"/>
              </a:rPr>
              <a:t>▸  </a:t>
            </a:r>
            <a:r>
              <a:rPr sz="1200" b="1">
                <a:solidFill>
                  <a:srgbClr val="0E2841"/>
                </a:solidFill>
                <a:latin typeface="Calibri"/>
              </a:rPr>
              <a:t>service-desc:  </a:t>
            </a:r>
            <a:r>
              <a:rPr sz="1200">
                <a:solidFill>
                  <a:srgbClr val="1E2B36"/>
                </a:solidFill>
                <a:latin typeface="Calibri"/>
              </a:rPr>
              <a:t>linked from the landing page</a:t>
            </a:r>
          </a:p>
          <a:p>
            <a:pPr>
              <a:lnSpc>
                <a:spcPct val="106000"/>
              </a:lnSpc>
              <a:spcBef>
                <a:spcPts val="0"/>
              </a:spcBef>
              <a:spcAft>
                <a:spcPts val="900"/>
              </a:spcAft>
            </a:pPr>
            <a:r>
              <a:rPr sz="1200" b="1">
                <a:solidFill>
                  <a:srgbClr val="A02B93"/>
                </a:solidFill>
                <a:latin typeface="Calibri"/>
              </a:rPr>
              <a:t>▸  </a:t>
            </a:r>
            <a:r>
              <a:rPr sz="1200" b="1">
                <a:solidFill>
                  <a:srgbClr val="0E2841"/>
                </a:solidFill>
                <a:latin typeface="Calibri"/>
              </a:rPr>
              <a:t>Landing:  </a:t>
            </a:r>
            <a:r>
              <a:rPr sz="1200">
                <a:solidFill>
                  <a:srgbClr val="1E2B36"/>
                </a:solidFill>
                <a:latin typeface="Calibri"/>
              </a:rPr>
              <a:t>self, service-desc, conformance, data</a:t>
            </a:r>
          </a:p>
          <a:p>
            <a:pPr>
              <a:lnSpc>
                <a:spcPct val="106000"/>
              </a:lnSpc>
              <a:spcBef>
                <a:spcPts val="0"/>
              </a:spcBef>
              <a:spcAft>
                <a:spcPts val="900"/>
              </a:spcAft>
            </a:pPr>
            <a:r>
              <a:rPr sz="1200" b="1">
                <a:solidFill>
                  <a:srgbClr val="A02B93"/>
                </a:solidFill>
                <a:latin typeface="Calibri"/>
              </a:rPr>
              <a:t>▸  </a:t>
            </a:r>
            <a:r>
              <a:rPr sz="1200">
                <a:solidFill>
                  <a:srgbClr val="1E2B36"/>
                </a:solidFill>
                <a:latin typeface="Calibri"/>
              </a:rPr>
              <a:t>Clients discover the surface at runtime</a:t>
            </a:r>
          </a:p>
        </p:txBody>
      </p:sp>
      <p:sp>
        <p:nvSpPr>
          <p:cNvPr id="13" name="Rounded Rectangle 12"/>
          <p:cNvSpPr/>
          <p:nvPr/>
        </p:nvSpPr>
        <p:spPr>
          <a:xfrm>
            <a:off x="8121700" y="1645920"/>
            <a:ext cx="3503066" cy="416052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21700" y="1645920"/>
            <a:ext cx="3503066" cy="457200"/>
          </a:xfrm>
          <a:prstGeom prst="roundRect">
            <a:avLst>
              <a:gd name="adj" fmla="val 6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0300" y="1700784"/>
            <a:ext cx="3137306" cy="320040"/>
          </a:xfrm>
          <a:prstGeom prst="rect">
            <a:avLst/>
          </a:prstGeom>
          <a:noFill/>
        </p:spPr>
        <p:txBody>
          <a:bodyPr wrap="square" anchor="ctr" lIns="0" rIns="0" tIns="0" bIns="0">
            <a:noAutofit/>
          </a:bodyPr>
          <a:lstStyle/>
          <a:p>
            <a:pPr algn="l">
              <a:spcBef>
                <a:spcPts val="0"/>
              </a:spcBef>
              <a:spcAft>
                <a:spcPts val="200"/>
              </a:spcAft>
            </a:pPr>
            <a:r>
              <a:rPr sz="1400" b="1" i="0">
                <a:solidFill>
                  <a:srgbClr val="FFFFFF"/>
                </a:solidFill>
                <a:latin typeface="Calibri"/>
              </a:rPr>
              <a:t>OGC error responses</a:t>
            </a:r>
          </a:p>
        </p:txBody>
      </p:sp>
      <p:sp>
        <p:nvSpPr>
          <p:cNvPr id="16" name="TextBox 15"/>
          <p:cNvSpPr txBox="1"/>
          <p:nvPr/>
        </p:nvSpPr>
        <p:spPr>
          <a:xfrm>
            <a:off x="8350300" y="2286000"/>
            <a:ext cx="3045866" cy="3383280"/>
          </a:xfrm>
          <a:prstGeom prst="rect">
            <a:avLst/>
          </a:prstGeom>
          <a:noFill/>
        </p:spPr>
        <p:txBody>
          <a:bodyPr wrap="square" lIns="0" rIns="0" tIns="0" bIns="0">
            <a:noAutofit/>
          </a:bodyPr>
          <a:lstStyle/>
          <a:p>
            <a:pPr>
              <a:lnSpc>
                <a:spcPct val="106000"/>
              </a:lnSpc>
              <a:spcBef>
                <a:spcPts val="0"/>
              </a:spcBef>
              <a:spcAft>
                <a:spcPts val="900"/>
              </a:spcAft>
            </a:pPr>
            <a:r>
              <a:rPr sz="1200" b="1">
                <a:solidFill>
                  <a:srgbClr val="C0392B"/>
                </a:solidFill>
                <a:latin typeface="Calibri"/>
              </a:rPr>
              <a:t>▸  </a:t>
            </a:r>
            <a:r>
              <a:rPr sz="1200" b="1">
                <a:solidFill>
                  <a:srgbClr val="0E2841"/>
                </a:solidFill>
                <a:latin typeface="Calibri"/>
              </a:rPr>
              <a:t>400:  </a:t>
            </a:r>
            <a:r>
              <a:rPr sz="1200">
                <a:solidFill>
                  <a:srgbClr val="1E2B36"/>
                </a:solidFill>
                <a:latin typeface="Calibri"/>
              </a:rPr>
              <a:t>invalid parameters or body</a:t>
            </a:r>
          </a:p>
          <a:p>
            <a:pPr>
              <a:lnSpc>
                <a:spcPct val="106000"/>
              </a:lnSpc>
              <a:spcBef>
                <a:spcPts val="0"/>
              </a:spcBef>
              <a:spcAft>
                <a:spcPts val="900"/>
              </a:spcAft>
            </a:pPr>
            <a:r>
              <a:rPr sz="1200" b="1">
                <a:solidFill>
                  <a:srgbClr val="C0392B"/>
                </a:solidFill>
                <a:latin typeface="Calibri"/>
              </a:rPr>
              <a:t>▸  </a:t>
            </a:r>
            <a:r>
              <a:rPr sz="1200" b="1">
                <a:solidFill>
                  <a:srgbClr val="0E2841"/>
                </a:solidFill>
                <a:latin typeface="Calibri"/>
              </a:rPr>
              <a:t>404:  </a:t>
            </a:r>
            <a:r>
              <a:rPr sz="1200">
                <a:solidFill>
                  <a:srgbClr val="1E2B36"/>
                </a:solidFill>
                <a:latin typeface="Calibri"/>
              </a:rPr>
              <a:t>collection / feature not found</a:t>
            </a:r>
          </a:p>
          <a:p>
            <a:pPr>
              <a:lnSpc>
                <a:spcPct val="106000"/>
              </a:lnSpc>
              <a:spcBef>
                <a:spcPts val="0"/>
              </a:spcBef>
              <a:spcAft>
                <a:spcPts val="900"/>
              </a:spcAft>
            </a:pPr>
            <a:r>
              <a:rPr sz="1200" b="1">
                <a:solidFill>
                  <a:srgbClr val="C0392B"/>
                </a:solidFill>
                <a:latin typeface="Calibri"/>
              </a:rPr>
              <a:t>▸  </a:t>
            </a:r>
            <a:r>
              <a:rPr sz="1200" b="1">
                <a:solidFill>
                  <a:srgbClr val="0E2841"/>
                </a:solidFill>
                <a:latin typeface="Calibri"/>
              </a:rPr>
              <a:t>409:  </a:t>
            </a:r>
            <a:r>
              <a:rPr sz="1200">
                <a:solidFill>
                  <a:srgbClr val="1E2B36"/>
                </a:solidFill>
                <a:latin typeface="Calibri"/>
              </a:rPr>
              <a:t>sub-trajectory overlaps in time</a:t>
            </a:r>
          </a:p>
          <a:p>
            <a:pPr>
              <a:lnSpc>
                <a:spcPct val="106000"/>
              </a:lnSpc>
              <a:spcBef>
                <a:spcPts val="0"/>
              </a:spcBef>
              <a:spcAft>
                <a:spcPts val="900"/>
              </a:spcAft>
            </a:pPr>
            <a:r>
              <a:rPr sz="1200" b="1">
                <a:solidFill>
                  <a:srgbClr val="C0392B"/>
                </a:solidFill>
                <a:latin typeface="Calibri"/>
              </a:rPr>
              <a:t>▸  </a:t>
            </a:r>
            <a:r>
              <a:rPr sz="1200" b="1">
                <a:solidFill>
                  <a:srgbClr val="0E2841"/>
                </a:solidFill>
                <a:latin typeface="Calibri"/>
              </a:rPr>
              <a:t>501:  </a:t>
            </a:r>
            <a:r>
              <a:rPr sz="1200">
                <a:solidFill>
                  <a:srgbClr val="1E2B36"/>
                </a:solidFill>
                <a:latin typeface="Calibri"/>
              </a:rPr>
              <a:t>measure not derivable / derived write</a:t>
            </a:r>
          </a:p>
          <a:p>
            <a:pPr>
              <a:lnSpc>
                <a:spcPct val="106000"/>
              </a:lnSpc>
              <a:spcBef>
                <a:spcPts val="0"/>
              </a:spcBef>
              <a:spcAft>
                <a:spcPts val="900"/>
              </a:spcAft>
            </a:pPr>
            <a:r>
              <a:rPr sz="1200" b="1">
                <a:solidFill>
                  <a:srgbClr val="C0392B"/>
                </a:solidFill>
                <a:latin typeface="Calibri"/>
              </a:rPr>
              <a:t>▸  </a:t>
            </a:r>
            <a:r>
              <a:rPr sz="1200">
                <a:solidFill>
                  <a:srgbClr val="1E2B36"/>
                </a:solidFill>
                <a:latin typeface="Calibri"/>
              </a:rPr>
              <a:t>Body: { "code", "description" }</a:t>
            </a:r>
          </a:p>
        </p:txBody>
      </p:sp>
      <p:sp>
        <p:nvSpPr>
          <p:cNvPr id="17" name="Rectangle 16"/>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9" name="TextBox 18"/>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18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96B24"/>
                </a:solidFill>
                <a:latin typeface="Calibri"/>
              </a:rPr>
              <a:t>SCALE AND LAKEHOUSE</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Bounded Memory at Any Result Size</a:t>
            </a:r>
          </a:p>
        </p:txBody>
      </p:sp>
      <p:sp>
        <p:nvSpPr>
          <p:cNvPr id="4" name="Rectangle 3"/>
          <p:cNvSpPr/>
          <p:nvPr/>
        </p:nvSpPr>
        <p:spPr>
          <a:xfrm>
            <a:off x="566928" y="1389888"/>
            <a:ext cx="1554480" cy="45720"/>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783080"/>
            <a:ext cx="3840480" cy="278892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2011680"/>
            <a:ext cx="3291840" cy="731520"/>
          </a:xfrm>
          <a:prstGeom prst="rect">
            <a:avLst/>
          </a:prstGeom>
          <a:noFill/>
        </p:spPr>
        <p:txBody>
          <a:bodyPr wrap="square" anchor="t" lIns="0" rIns="0" tIns="0" bIns="0">
            <a:noAutofit/>
          </a:bodyPr>
          <a:lstStyle/>
          <a:p>
            <a:pPr algn="l">
              <a:spcBef>
                <a:spcPts val="0"/>
              </a:spcBef>
              <a:spcAft>
                <a:spcPts val="200"/>
              </a:spcAft>
            </a:pPr>
            <a:r>
              <a:rPr sz="4400" b="1" i="0">
                <a:solidFill>
                  <a:srgbClr val="196B24"/>
                </a:solidFill>
                <a:latin typeface="Calibri Light"/>
              </a:rPr>
              <a:t>393 MB</a:t>
            </a:r>
          </a:p>
        </p:txBody>
      </p:sp>
      <p:sp>
        <p:nvSpPr>
          <p:cNvPr id="7" name="TextBox 6"/>
          <p:cNvSpPr txBox="1"/>
          <p:nvPr/>
        </p:nvSpPr>
        <p:spPr>
          <a:xfrm>
            <a:off x="886968" y="2761488"/>
            <a:ext cx="329184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streamed in one NDJSON export</a:t>
            </a:r>
          </a:p>
        </p:txBody>
      </p:sp>
      <p:sp>
        <p:nvSpPr>
          <p:cNvPr id="8" name="TextBox 7"/>
          <p:cNvSpPr txBox="1"/>
          <p:nvPr/>
        </p:nvSpPr>
        <p:spPr>
          <a:xfrm>
            <a:off x="886968" y="3200400"/>
            <a:ext cx="3291840" cy="640080"/>
          </a:xfrm>
          <a:prstGeom prst="rect">
            <a:avLst/>
          </a:prstGeom>
          <a:noFill/>
        </p:spPr>
        <p:txBody>
          <a:bodyPr wrap="square" anchor="t" lIns="0" rIns="0" tIns="0" bIns="0">
            <a:noAutofit/>
          </a:bodyPr>
          <a:lstStyle/>
          <a:p>
            <a:pPr algn="l">
              <a:spcBef>
                <a:spcPts val="0"/>
              </a:spcBef>
              <a:spcAft>
                <a:spcPts val="200"/>
              </a:spcAft>
            </a:pPr>
            <a:r>
              <a:rPr sz="3600" b="1" i="0">
                <a:solidFill>
                  <a:srgbClr val="156082"/>
                </a:solidFill>
                <a:latin typeface="Calibri Light"/>
              </a:rPr>
              <a:t>≈18 MB</a:t>
            </a:r>
          </a:p>
        </p:txBody>
      </p:sp>
      <p:sp>
        <p:nvSpPr>
          <p:cNvPr id="9" name="TextBox 8"/>
          <p:cNvSpPr txBox="1"/>
          <p:nvPr/>
        </p:nvSpPr>
        <p:spPr>
          <a:xfrm>
            <a:off x="886968" y="3931920"/>
            <a:ext cx="3291840" cy="45720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resident memory, bounded by the stream and not the result size</a:t>
            </a:r>
          </a:p>
        </p:txBody>
      </p:sp>
      <p:sp>
        <p:nvSpPr>
          <p:cNvPr id="10" name="TextBox 9"/>
          <p:cNvSpPr txBox="1"/>
          <p:nvPr/>
        </p:nvSpPr>
        <p:spPr>
          <a:xfrm>
            <a:off x="4681728" y="1828800"/>
            <a:ext cx="6943039" cy="4023360"/>
          </a:xfrm>
          <a:prstGeom prst="rect">
            <a:avLst/>
          </a:prstGeom>
          <a:noFill/>
        </p:spPr>
        <p:txBody>
          <a:bodyPr wrap="square" lIns="0" rIns="0" tIns="0" bIns="0">
            <a:noAutofit/>
          </a:bodyPr>
          <a:lstStyle/>
          <a:p>
            <a:pPr>
              <a:lnSpc>
                <a:spcPct val="106000"/>
              </a:lnSpc>
              <a:spcBef>
                <a:spcPts val="0"/>
              </a:spcBef>
              <a:spcAft>
                <a:spcPts val="1200"/>
              </a:spcAft>
            </a:pPr>
            <a:r>
              <a:rPr sz="1200" b="1">
                <a:solidFill>
                  <a:srgbClr val="196B24"/>
                </a:solidFill>
                <a:latin typeface="Calibri"/>
              </a:rPr>
              <a:t>▸  </a:t>
            </a:r>
            <a:r>
              <a:rPr sz="1200" b="1">
                <a:solidFill>
                  <a:srgbClr val="0E2841"/>
                </a:solidFill>
                <a:latin typeface="Calibri"/>
              </a:rPr>
              <a:t>Streaming responses:  </a:t>
            </a:r>
            <a:r>
              <a:rPr sz="1200">
                <a:solidFill>
                  <a:srgbClr val="1E2B36"/>
                </a:solidFill>
                <a:latin typeface="Calibri"/>
              </a:rPr>
              <a:t>the FeatureCollection is written row by row from a server-side cursor, so memory is bounded for any result size</a:t>
            </a:r>
          </a:p>
          <a:p>
            <a:pPr>
              <a:lnSpc>
                <a:spcPct val="106000"/>
              </a:lnSpc>
              <a:spcBef>
                <a:spcPts val="0"/>
              </a:spcBef>
              <a:spcAft>
                <a:spcPts val="1200"/>
              </a:spcAft>
            </a:pPr>
            <a:r>
              <a:rPr sz="1200" b="1">
                <a:solidFill>
                  <a:srgbClr val="196B24"/>
                </a:solidFill>
                <a:latin typeface="Calibri"/>
              </a:rPr>
              <a:t>▸  </a:t>
            </a:r>
            <a:r>
              <a:rPr sz="1200" b="1">
                <a:solidFill>
                  <a:srgbClr val="0E2841"/>
                </a:solidFill>
                <a:latin typeface="Calibri"/>
              </a:rPr>
              <a:t>Keyset pagination:  </a:t>
            </a:r>
            <a:r>
              <a:rPr sz="1200">
                <a:solidFill>
                  <a:srgbClr val="1E2B36"/>
                </a:solidFill>
                <a:latin typeface="Calibri"/>
              </a:rPr>
              <a:t>next links advance by id with no OFFSET, so paging stays constant cost through arbitrarily large collections</a:t>
            </a:r>
          </a:p>
          <a:p>
            <a:pPr>
              <a:lnSpc>
                <a:spcPct val="106000"/>
              </a:lnSpc>
              <a:spcBef>
                <a:spcPts val="0"/>
              </a:spcBef>
              <a:spcAft>
                <a:spcPts val="1200"/>
              </a:spcAft>
            </a:pPr>
            <a:r>
              <a:rPr sz="1200" b="1">
                <a:solidFill>
                  <a:srgbClr val="196B24"/>
                </a:solidFill>
                <a:latin typeface="Calibri"/>
              </a:rPr>
              <a:t>▸  </a:t>
            </a:r>
            <a:r>
              <a:rPr sz="1200" b="1">
                <a:solidFill>
                  <a:srgbClr val="0E2841"/>
                </a:solidFill>
                <a:latin typeface="Calibri"/>
              </a:rPr>
              <a:t>Index-using filters:  </a:t>
            </a:r>
            <a:r>
              <a:rPr sz="1200">
                <a:solidFill>
                  <a:srgbClr val="1E2B36"/>
                </a:solidFill>
                <a:latin typeface="Calibri"/>
              </a:rPr>
              <a:t>bbox and datetime push to the MobilityDB GiST index; subtrajectory clips with atTime</a:t>
            </a:r>
          </a:p>
          <a:p>
            <a:pPr>
              <a:lnSpc>
                <a:spcPct val="106000"/>
              </a:lnSpc>
              <a:spcBef>
                <a:spcPts val="0"/>
              </a:spcBef>
              <a:spcAft>
                <a:spcPts val="1200"/>
              </a:spcAft>
            </a:pPr>
            <a:r>
              <a:rPr sz="1200" b="1">
                <a:solidFill>
                  <a:srgbClr val="196B24"/>
                </a:solidFill>
                <a:latin typeface="Calibri"/>
              </a:rPr>
              <a:t>▸  </a:t>
            </a:r>
            <a:r>
              <a:rPr sz="1200" b="1">
                <a:solidFill>
                  <a:srgbClr val="0E2841"/>
                </a:solidFill>
                <a:latin typeface="Calibri"/>
              </a:rPr>
              <a:t>Lakehouse export:  </a:t>
            </a:r>
            <a:r>
              <a:rPr sz="1200">
                <a:solidFill>
                  <a:srgbClr val="1E2B36"/>
                </a:solidFill>
                <a:latin typeface="Calibri"/>
              </a:rPr>
              <a:t>NDJSON for direct ingestion, or Parquet carrying trajectory WKB plus a bbox and time sidecar; the row group bounds export memory</a:t>
            </a:r>
          </a:p>
        </p:txBody>
      </p:sp>
      <p:sp>
        <p:nvSpPr>
          <p:cNvPr id="11" name="TextBox 10"/>
          <p:cNvSpPr txBox="1"/>
          <p:nvPr/>
        </p:nvSpPr>
        <p:spPr>
          <a:xfrm>
            <a:off x="566928" y="5760720"/>
            <a:ext cx="11057839" cy="548640"/>
          </a:xfrm>
          <a:prstGeom prst="rect">
            <a:avLst/>
          </a:prstGeom>
          <a:noFill/>
        </p:spPr>
        <p:txBody>
          <a:bodyPr wrap="square" anchor="t" lIns="0" rIns="0" tIns="0" bIns="0">
            <a:noAutofit/>
          </a:bodyPr>
          <a:lstStyle/>
          <a:p>
            <a:pPr algn="ctr">
              <a:spcBef>
                <a:spcPts val="0"/>
              </a:spcBef>
              <a:spcAft>
                <a:spcPts val="200"/>
              </a:spcAft>
            </a:pPr>
            <a:r>
              <a:rPr sz="1200" b="0" i="1">
                <a:solidFill>
                  <a:srgbClr val="5B6B78"/>
                </a:solidFill>
                <a:latin typeface="Calibri"/>
              </a:rPr>
              <a:t>Every temporal computation stays in MobilityDB; the tier is a single static binary. A step toward the Data Lake House architecture in the MobilityDB ecosystem.</a:t>
            </a:r>
          </a:p>
        </p:txBody>
      </p:sp>
      <p:sp>
        <p:nvSpPr>
          <p:cNvPr id="12" name="Rectangle 11"/>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4" name="TextBox 13"/>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19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A02B93"/>
                </a:solidFill>
                <a:latin typeface="Calibri"/>
              </a:rPr>
              <a:t>FUTURE WORK</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One Tier, Many MEOS Engines</a:t>
            </a:r>
          </a:p>
        </p:txBody>
      </p:sp>
      <p:sp>
        <p:nvSpPr>
          <p:cNvPr id="4" name="Rectangle 3"/>
          <p:cNvSpPr/>
          <p:nvPr/>
        </p:nvSpPr>
        <p:spPr>
          <a:xfrm>
            <a:off x="566928" y="1389888"/>
            <a:ext cx="1554480" cy="45720"/>
          </a:xfrm>
          <a:prstGeom prst="rect">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645920"/>
            <a:ext cx="11057839" cy="868680"/>
          </a:xfrm>
          <a:prstGeom prst="roundRect">
            <a:avLst>
              <a:gd name="adj" fmla="val 6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1755648"/>
            <a:ext cx="10472623" cy="320040"/>
          </a:xfrm>
          <a:prstGeom prst="rect">
            <a:avLst/>
          </a:prstGeom>
          <a:noFill/>
        </p:spPr>
        <p:txBody>
          <a:bodyPr wrap="square" anchor="t" lIns="0" rIns="0" tIns="0" bIns="0">
            <a:noAutofit/>
          </a:bodyPr>
          <a:lstStyle/>
          <a:p>
            <a:pPr algn="l">
              <a:spcBef>
                <a:spcPts val="0"/>
              </a:spcBef>
              <a:spcAft>
                <a:spcPts val="200"/>
              </a:spcAft>
            </a:pPr>
            <a:r>
              <a:rPr sz="1600" b="1" i="0">
                <a:solidFill>
                  <a:srgbClr val="FFFFFF"/>
                </a:solidFill>
                <a:latin typeface="Calibri"/>
              </a:rPr>
              <a:t>Thin OGC API – Moving Features tier</a:t>
            </a:r>
          </a:p>
        </p:txBody>
      </p:sp>
      <p:sp>
        <p:nvSpPr>
          <p:cNvPr id="7" name="TextBox 6"/>
          <p:cNvSpPr txBox="1"/>
          <p:nvPr/>
        </p:nvSpPr>
        <p:spPr>
          <a:xfrm>
            <a:off x="859536" y="2139696"/>
            <a:ext cx="10472623" cy="274320"/>
          </a:xfrm>
          <a:prstGeom prst="rect">
            <a:avLst/>
          </a:prstGeom>
          <a:noFill/>
        </p:spPr>
        <p:txBody>
          <a:bodyPr wrap="square" anchor="t" lIns="0" rIns="0" tIns="0" bIns="0">
            <a:noAutofit/>
          </a:bodyPr>
          <a:lstStyle/>
          <a:p>
            <a:pPr algn="l">
              <a:spcBef>
                <a:spcPts val="0"/>
              </a:spcBef>
              <a:spcAft>
                <a:spcPts val="200"/>
              </a:spcAft>
            </a:pPr>
            <a:r>
              <a:rPr sz="1200" b="0" i="0">
                <a:solidFill>
                  <a:srgbClr val="CFE2EC"/>
                </a:solidFill>
                <a:latin typeface="Calibri"/>
              </a:rPr>
              <a:t>MF-JSON / WKB wire format  ·  streaming  ·  keyset paging  ·  index pushdown  ·  no MEOS in the tier</a:t>
            </a:r>
          </a:p>
        </p:txBody>
      </p:sp>
      <p:sp>
        <p:nvSpPr>
          <p:cNvPr id="8" name="TextBox 7"/>
          <p:cNvSpPr txBox="1"/>
          <p:nvPr/>
        </p:nvSpPr>
        <p:spPr>
          <a:xfrm>
            <a:off x="566928" y="2633472"/>
            <a:ext cx="11057839" cy="274320"/>
          </a:xfrm>
          <a:prstGeom prst="rect">
            <a:avLst/>
          </a:prstGeom>
          <a:noFill/>
        </p:spPr>
        <p:txBody>
          <a:bodyPr wrap="square" anchor="t" lIns="0" rIns="0" tIns="0" bIns="0">
            <a:noAutofit/>
          </a:bodyPr>
          <a:lstStyle/>
          <a:p>
            <a:pPr algn="ctr">
              <a:spcBef>
                <a:spcPts val="0"/>
              </a:spcBef>
              <a:spcAft>
                <a:spcPts val="200"/>
              </a:spcAft>
            </a:pPr>
            <a:r>
              <a:rPr sz="1200" b="0" i="0">
                <a:solidFill>
                  <a:srgbClr val="5B6B78"/>
                </a:solidFill>
                <a:latin typeface="Calibri"/>
              </a:rPr>
              <a:t>▼   serves any MEOS-backed engine; the engine becomes a configuration choice</a:t>
            </a:r>
          </a:p>
        </p:txBody>
      </p:sp>
      <p:sp>
        <p:nvSpPr>
          <p:cNvPr id="9" name="Rounded Rectangle 8"/>
          <p:cNvSpPr/>
          <p:nvPr/>
        </p:nvSpPr>
        <p:spPr>
          <a:xfrm>
            <a:off x="566928" y="3108960"/>
            <a:ext cx="2558719" cy="233172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66928" y="3108960"/>
            <a:ext cx="2558719" cy="475488"/>
          </a:xfrm>
          <a:prstGeom prst="roundRect">
            <a:avLst>
              <a:gd name="adj" fmla="val 8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63824"/>
            <a:ext cx="2284399" cy="365760"/>
          </a:xfrm>
          <a:prstGeom prst="rect">
            <a:avLst/>
          </a:prstGeom>
          <a:noFill/>
        </p:spPr>
        <p:txBody>
          <a:bodyPr wrap="square" anchor="ctr" lIns="0" rIns="0" tIns="0" bIns="0">
            <a:noAutofit/>
          </a:bodyPr>
          <a:lstStyle/>
          <a:p>
            <a:pPr algn="l">
              <a:spcBef>
                <a:spcPts val="0"/>
              </a:spcBef>
              <a:spcAft>
                <a:spcPts val="200"/>
              </a:spcAft>
            </a:pPr>
            <a:r>
              <a:rPr sz="1400" b="1" i="0">
                <a:solidFill>
                  <a:srgbClr val="FFFFFF"/>
                </a:solidFill>
                <a:latin typeface="Calibri"/>
              </a:rPr>
              <a:t>MobilityDB</a:t>
            </a:r>
          </a:p>
        </p:txBody>
      </p:sp>
      <p:sp>
        <p:nvSpPr>
          <p:cNvPr id="12" name="TextBox 11"/>
          <p:cNvSpPr txBox="1"/>
          <p:nvPr/>
        </p:nvSpPr>
        <p:spPr>
          <a:xfrm>
            <a:off x="731520" y="3703320"/>
            <a:ext cx="228439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onsolas"/>
              </a:rPr>
              <a:t>PostgreSQL</a:t>
            </a:r>
          </a:p>
        </p:txBody>
      </p:sp>
      <p:sp>
        <p:nvSpPr>
          <p:cNvPr id="13" name="TextBox 12"/>
          <p:cNvSpPr txBox="1"/>
          <p:nvPr/>
        </p:nvSpPr>
        <p:spPr>
          <a:xfrm>
            <a:off x="731520" y="4041648"/>
            <a:ext cx="2229535" cy="914400"/>
          </a:xfrm>
          <a:prstGeom prst="rect">
            <a:avLst/>
          </a:prstGeom>
          <a:noFill/>
        </p:spPr>
        <p:txBody>
          <a:bodyPr wrap="square" anchor="t" lIns="0" rIns="0" tIns="0" bIns="0">
            <a:noAutofit/>
          </a:bodyPr>
          <a:lstStyle/>
          <a:p>
            <a:pPr algn="l">
              <a:spcBef>
                <a:spcPts val="0"/>
              </a:spcBef>
              <a:spcAft>
                <a:spcPts val="200"/>
              </a:spcAft>
            </a:pPr>
            <a:r>
              <a:rPr sz="1200" b="0" i="0">
                <a:solidFill>
                  <a:srgbClr val="1E2B36"/>
                </a:solidFill>
                <a:latin typeface="Calibri"/>
              </a:rPr>
              <a:t>Transactional serving over a live database.</a:t>
            </a:r>
          </a:p>
        </p:txBody>
      </p:sp>
      <p:sp>
        <p:nvSpPr>
          <p:cNvPr id="14" name="TextBox 13"/>
          <p:cNvSpPr txBox="1"/>
          <p:nvPr/>
        </p:nvSpPr>
        <p:spPr>
          <a:xfrm>
            <a:off x="731520" y="5074920"/>
            <a:ext cx="2284399" cy="274320"/>
          </a:xfrm>
          <a:prstGeom prst="rect">
            <a:avLst/>
          </a:prstGeom>
          <a:noFill/>
        </p:spPr>
        <p:txBody>
          <a:bodyPr wrap="square" anchor="t" lIns="0" rIns="0" tIns="0" bIns="0">
            <a:noAutofit/>
          </a:bodyPr>
          <a:lstStyle/>
          <a:p>
            <a:pPr algn="l">
              <a:spcBef>
                <a:spcPts val="0"/>
              </a:spcBef>
              <a:spcAft>
                <a:spcPts val="200"/>
              </a:spcAft>
            </a:pPr>
            <a:r>
              <a:rPr sz="1200" b="1" i="0">
                <a:solidFill>
                  <a:srgbClr val="196B24"/>
                </a:solidFill>
                <a:latin typeface="Calibri"/>
              </a:rPr>
              <a:t>Implemented today</a:t>
            </a:r>
          </a:p>
        </p:txBody>
      </p:sp>
      <p:sp>
        <p:nvSpPr>
          <p:cNvPr id="15" name="Rounded Rectangle 14"/>
          <p:cNvSpPr/>
          <p:nvPr/>
        </p:nvSpPr>
        <p:spPr>
          <a:xfrm>
            <a:off x="3399967" y="3108960"/>
            <a:ext cx="2558719" cy="233172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399967" y="3108960"/>
            <a:ext cx="2558719" cy="475488"/>
          </a:xfrm>
          <a:prstGeom prst="roundRect">
            <a:avLst>
              <a:gd name="adj" fmla="val 8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64559" y="3163824"/>
            <a:ext cx="2284399" cy="365760"/>
          </a:xfrm>
          <a:prstGeom prst="rect">
            <a:avLst/>
          </a:prstGeom>
          <a:noFill/>
        </p:spPr>
        <p:txBody>
          <a:bodyPr wrap="square" anchor="ctr" lIns="0" rIns="0" tIns="0" bIns="0">
            <a:noAutofit/>
          </a:bodyPr>
          <a:lstStyle/>
          <a:p>
            <a:pPr algn="l">
              <a:spcBef>
                <a:spcPts val="0"/>
              </a:spcBef>
              <a:spcAft>
                <a:spcPts val="200"/>
              </a:spcAft>
            </a:pPr>
            <a:r>
              <a:rPr sz="1400" b="1" i="0">
                <a:solidFill>
                  <a:srgbClr val="FFFFFF"/>
                </a:solidFill>
                <a:latin typeface="Calibri"/>
              </a:rPr>
              <a:t>MobilityDuck</a:t>
            </a:r>
          </a:p>
        </p:txBody>
      </p:sp>
      <p:sp>
        <p:nvSpPr>
          <p:cNvPr id="18" name="TextBox 17"/>
          <p:cNvSpPr txBox="1"/>
          <p:nvPr/>
        </p:nvSpPr>
        <p:spPr>
          <a:xfrm>
            <a:off x="3564559" y="3703320"/>
            <a:ext cx="2284399" cy="274320"/>
          </a:xfrm>
          <a:prstGeom prst="rect">
            <a:avLst/>
          </a:prstGeom>
          <a:noFill/>
        </p:spPr>
        <p:txBody>
          <a:bodyPr wrap="square" anchor="t" lIns="0" rIns="0" tIns="0" bIns="0">
            <a:noAutofit/>
          </a:bodyPr>
          <a:lstStyle/>
          <a:p>
            <a:pPr algn="l">
              <a:spcBef>
                <a:spcPts val="0"/>
              </a:spcBef>
              <a:spcAft>
                <a:spcPts val="200"/>
              </a:spcAft>
            </a:pPr>
            <a:r>
              <a:rPr sz="1200" b="1" i="0">
                <a:solidFill>
                  <a:srgbClr val="196B24"/>
                </a:solidFill>
                <a:latin typeface="Consolas"/>
              </a:rPr>
              <a:t>DuckDB</a:t>
            </a:r>
          </a:p>
        </p:txBody>
      </p:sp>
      <p:sp>
        <p:nvSpPr>
          <p:cNvPr id="19" name="TextBox 18"/>
          <p:cNvSpPr txBox="1"/>
          <p:nvPr/>
        </p:nvSpPr>
        <p:spPr>
          <a:xfrm>
            <a:off x="3564559" y="4041648"/>
            <a:ext cx="2229535" cy="914400"/>
          </a:xfrm>
          <a:prstGeom prst="rect">
            <a:avLst/>
          </a:prstGeom>
          <a:noFill/>
        </p:spPr>
        <p:txBody>
          <a:bodyPr wrap="square" anchor="t" lIns="0" rIns="0" tIns="0" bIns="0">
            <a:noAutofit/>
          </a:bodyPr>
          <a:lstStyle/>
          <a:p>
            <a:pPr algn="l">
              <a:spcBef>
                <a:spcPts val="0"/>
              </a:spcBef>
              <a:spcAft>
                <a:spcPts val="200"/>
              </a:spcAft>
            </a:pPr>
            <a:r>
              <a:rPr sz="1200" b="0" i="0">
                <a:solidFill>
                  <a:srgbClr val="1E2B36"/>
                </a:solidFill>
                <a:latin typeface="Calibri"/>
              </a:rPr>
              <a:t>Embedded, Parquet-native lakehouse queries.</a:t>
            </a:r>
          </a:p>
        </p:txBody>
      </p:sp>
      <p:sp>
        <p:nvSpPr>
          <p:cNvPr id="20" name="TextBox 19"/>
          <p:cNvSpPr txBox="1"/>
          <p:nvPr/>
        </p:nvSpPr>
        <p:spPr>
          <a:xfrm>
            <a:off x="3564559" y="5074920"/>
            <a:ext cx="2284399" cy="274320"/>
          </a:xfrm>
          <a:prstGeom prst="rect">
            <a:avLst/>
          </a:prstGeom>
          <a:noFill/>
        </p:spPr>
        <p:txBody>
          <a:bodyPr wrap="square" anchor="t" lIns="0" rIns="0" tIns="0" bIns="0">
            <a:noAutofit/>
          </a:bodyPr>
          <a:lstStyle/>
          <a:p>
            <a:pPr algn="l">
              <a:spcBef>
                <a:spcPts val="0"/>
              </a:spcBef>
              <a:spcAft>
                <a:spcPts val="200"/>
              </a:spcAft>
            </a:pPr>
            <a:r>
              <a:rPr sz="1200" b="1" i="0">
                <a:solidFill>
                  <a:srgbClr val="5B6B78"/>
                </a:solidFill>
                <a:latin typeface="Calibri"/>
              </a:rPr>
              <a:t>Direction</a:t>
            </a:r>
          </a:p>
        </p:txBody>
      </p:sp>
      <p:sp>
        <p:nvSpPr>
          <p:cNvPr id="21" name="Rounded Rectangle 20"/>
          <p:cNvSpPr/>
          <p:nvPr/>
        </p:nvSpPr>
        <p:spPr>
          <a:xfrm>
            <a:off x="6233007" y="3108960"/>
            <a:ext cx="2558719" cy="233172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33007" y="3108960"/>
            <a:ext cx="2558719" cy="475488"/>
          </a:xfrm>
          <a:prstGeom prst="roundRect">
            <a:avLst>
              <a:gd name="adj" fmla="val 8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97599" y="3163824"/>
            <a:ext cx="2284399" cy="365760"/>
          </a:xfrm>
          <a:prstGeom prst="rect">
            <a:avLst/>
          </a:prstGeom>
          <a:noFill/>
        </p:spPr>
        <p:txBody>
          <a:bodyPr wrap="square" anchor="ctr" lIns="0" rIns="0" tIns="0" bIns="0">
            <a:noAutofit/>
          </a:bodyPr>
          <a:lstStyle/>
          <a:p>
            <a:pPr algn="l">
              <a:spcBef>
                <a:spcPts val="0"/>
              </a:spcBef>
              <a:spcAft>
                <a:spcPts val="200"/>
              </a:spcAft>
            </a:pPr>
            <a:r>
              <a:rPr sz="1400" b="1" i="0">
                <a:solidFill>
                  <a:srgbClr val="FFFFFF"/>
                </a:solidFill>
                <a:latin typeface="Calibri"/>
              </a:rPr>
              <a:t>MobilitySpark</a:t>
            </a:r>
          </a:p>
        </p:txBody>
      </p:sp>
      <p:sp>
        <p:nvSpPr>
          <p:cNvPr id="24" name="TextBox 23"/>
          <p:cNvSpPr txBox="1"/>
          <p:nvPr/>
        </p:nvSpPr>
        <p:spPr>
          <a:xfrm>
            <a:off x="6397599" y="3703320"/>
            <a:ext cx="2284399" cy="274320"/>
          </a:xfrm>
          <a:prstGeom prst="rect">
            <a:avLst/>
          </a:prstGeom>
          <a:noFill/>
        </p:spPr>
        <p:txBody>
          <a:bodyPr wrap="square" anchor="t" lIns="0" rIns="0" tIns="0" bIns="0">
            <a:noAutofit/>
          </a:bodyPr>
          <a:lstStyle/>
          <a:p>
            <a:pPr algn="l">
              <a:spcBef>
                <a:spcPts val="0"/>
              </a:spcBef>
              <a:spcAft>
                <a:spcPts val="200"/>
              </a:spcAft>
            </a:pPr>
            <a:r>
              <a:rPr sz="1200" b="1" i="0">
                <a:solidFill>
                  <a:srgbClr val="E97132"/>
                </a:solidFill>
                <a:latin typeface="Consolas"/>
              </a:rPr>
              <a:t>Apache Spark</a:t>
            </a:r>
          </a:p>
        </p:txBody>
      </p:sp>
      <p:sp>
        <p:nvSpPr>
          <p:cNvPr id="25" name="TextBox 24"/>
          <p:cNvSpPr txBox="1"/>
          <p:nvPr/>
        </p:nvSpPr>
        <p:spPr>
          <a:xfrm>
            <a:off x="6397599" y="4041648"/>
            <a:ext cx="2229535" cy="914400"/>
          </a:xfrm>
          <a:prstGeom prst="rect">
            <a:avLst/>
          </a:prstGeom>
          <a:noFill/>
        </p:spPr>
        <p:txBody>
          <a:bodyPr wrap="square" anchor="t" lIns="0" rIns="0" tIns="0" bIns="0">
            <a:noAutofit/>
          </a:bodyPr>
          <a:lstStyle/>
          <a:p>
            <a:pPr algn="l">
              <a:spcBef>
                <a:spcPts val="0"/>
              </a:spcBef>
              <a:spcAft>
                <a:spcPts val="200"/>
              </a:spcAft>
            </a:pPr>
            <a:r>
              <a:rPr sz="1200" b="0" i="0">
                <a:solidFill>
                  <a:srgbClr val="1E2B36"/>
                </a:solidFill>
                <a:latin typeface="Calibri"/>
              </a:rPr>
              <a:t>Distributed batch over very large histories.</a:t>
            </a:r>
          </a:p>
        </p:txBody>
      </p:sp>
      <p:sp>
        <p:nvSpPr>
          <p:cNvPr id="26" name="TextBox 25"/>
          <p:cNvSpPr txBox="1"/>
          <p:nvPr/>
        </p:nvSpPr>
        <p:spPr>
          <a:xfrm>
            <a:off x="6397599" y="5074920"/>
            <a:ext cx="2284399" cy="274320"/>
          </a:xfrm>
          <a:prstGeom prst="rect">
            <a:avLst/>
          </a:prstGeom>
          <a:noFill/>
        </p:spPr>
        <p:txBody>
          <a:bodyPr wrap="square" anchor="t" lIns="0" rIns="0" tIns="0" bIns="0">
            <a:noAutofit/>
          </a:bodyPr>
          <a:lstStyle/>
          <a:p>
            <a:pPr algn="l">
              <a:spcBef>
                <a:spcPts val="0"/>
              </a:spcBef>
              <a:spcAft>
                <a:spcPts val="200"/>
              </a:spcAft>
            </a:pPr>
            <a:r>
              <a:rPr sz="1200" b="1" i="0">
                <a:solidFill>
                  <a:srgbClr val="5B6B78"/>
                </a:solidFill>
                <a:latin typeface="Calibri"/>
              </a:rPr>
              <a:t>Direction</a:t>
            </a:r>
          </a:p>
        </p:txBody>
      </p:sp>
      <p:sp>
        <p:nvSpPr>
          <p:cNvPr id="27" name="Rounded Rectangle 26"/>
          <p:cNvSpPr/>
          <p:nvPr/>
        </p:nvSpPr>
        <p:spPr>
          <a:xfrm>
            <a:off x="9066047" y="3108960"/>
            <a:ext cx="2558719" cy="233172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066047" y="3108960"/>
            <a:ext cx="2558719" cy="475488"/>
          </a:xfrm>
          <a:prstGeom prst="roundRect">
            <a:avLst>
              <a:gd name="adj" fmla="val 8000"/>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30639" y="3163824"/>
            <a:ext cx="2284399" cy="365760"/>
          </a:xfrm>
          <a:prstGeom prst="rect">
            <a:avLst/>
          </a:prstGeom>
          <a:noFill/>
        </p:spPr>
        <p:txBody>
          <a:bodyPr wrap="square" anchor="ctr" lIns="0" rIns="0" tIns="0" bIns="0">
            <a:noAutofit/>
          </a:bodyPr>
          <a:lstStyle/>
          <a:p>
            <a:pPr algn="l">
              <a:spcBef>
                <a:spcPts val="0"/>
              </a:spcBef>
              <a:spcAft>
                <a:spcPts val="200"/>
              </a:spcAft>
            </a:pPr>
            <a:r>
              <a:rPr sz="1400" b="1" i="0">
                <a:solidFill>
                  <a:srgbClr val="FFFFFF"/>
                </a:solidFill>
                <a:latin typeface="Calibri"/>
              </a:rPr>
              <a:t>MobilityFlink</a:t>
            </a:r>
          </a:p>
        </p:txBody>
      </p:sp>
      <p:sp>
        <p:nvSpPr>
          <p:cNvPr id="30" name="TextBox 29"/>
          <p:cNvSpPr txBox="1"/>
          <p:nvPr/>
        </p:nvSpPr>
        <p:spPr>
          <a:xfrm>
            <a:off x="9230639" y="3703320"/>
            <a:ext cx="2284399" cy="274320"/>
          </a:xfrm>
          <a:prstGeom prst="rect">
            <a:avLst/>
          </a:prstGeom>
          <a:noFill/>
        </p:spPr>
        <p:txBody>
          <a:bodyPr wrap="square" anchor="t" lIns="0" rIns="0" tIns="0" bIns="0">
            <a:noAutofit/>
          </a:bodyPr>
          <a:lstStyle/>
          <a:p>
            <a:pPr algn="l">
              <a:spcBef>
                <a:spcPts val="0"/>
              </a:spcBef>
              <a:spcAft>
                <a:spcPts val="200"/>
              </a:spcAft>
            </a:pPr>
            <a:r>
              <a:rPr sz="1200" b="1" i="0">
                <a:solidFill>
                  <a:srgbClr val="A02B93"/>
                </a:solidFill>
                <a:latin typeface="Consolas"/>
              </a:rPr>
              <a:t>Apache Flink</a:t>
            </a:r>
          </a:p>
        </p:txBody>
      </p:sp>
      <p:sp>
        <p:nvSpPr>
          <p:cNvPr id="31" name="TextBox 30"/>
          <p:cNvSpPr txBox="1"/>
          <p:nvPr/>
        </p:nvSpPr>
        <p:spPr>
          <a:xfrm>
            <a:off x="9230639" y="4041648"/>
            <a:ext cx="2229535" cy="914400"/>
          </a:xfrm>
          <a:prstGeom prst="rect">
            <a:avLst/>
          </a:prstGeom>
          <a:noFill/>
        </p:spPr>
        <p:txBody>
          <a:bodyPr wrap="square" anchor="t" lIns="0" rIns="0" tIns="0" bIns="0">
            <a:noAutofit/>
          </a:bodyPr>
          <a:lstStyle/>
          <a:p>
            <a:pPr algn="l">
              <a:spcBef>
                <a:spcPts val="0"/>
              </a:spcBef>
              <a:spcAft>
                <a:spcPts val="200"/>
              </a:spcAft>
            </a:pPr>
            <a:r>
              <a:rPr sz="1200" b="0" i="0">
                <a:solidFill>
                  <a:srgbClr val="1E2B36"/>
                </a:solidFill>
                <a:latin typeface="Calibri"/>
              </a:rPr>
              <a:t>Streaming, real-time moving features.</a:t>
            </a:r>
          </a:p>
        </p:txBody>
      </p:sp>
      <p:sp>
        <p:nvSpPr>
          <p:cNvPr id="32" name="TextBox 31"/>
          <p:cNvSpPr txBox="1"/>
          <p:nvPr/>
        </p:nvSpPr>
        <p:spPr>
          <a:xfrm>
            <a:off x="9230639" y="5074920"/>
            <a:ext cx="2284399" cy="274320"/>
          </a:xfrm>
          <a:prstGeom prst="rect">
            <a:avLst/>
          </a:prstGeom>
          <a:noFill/>
        </p:spPr>
        <p:txBody>
          <a:bodyPr wrap="square" anchor="t" lIns="0" rIns="0" tIns="0" bIns="0">
            <a:noAutofit/>
          </a:bodyPr>
          <a:lstStyle/>
          <a:p>
            <a:pPr algn="l">
              <a:spcBef>
                <a:spcPts val="0"/>
              </a:spcBef>
              <a:spcAft>
                <a:spcPts val="200"/>
              </a:spcAft>
            </a:pPr>
            <a:r>
              <a:rPr sz="1200" b="1" i="0">
                <a:solidFill>
                  <a:srgbClr val="5B6B78"/>
                </a:solidFill>
                <a:latin typeface="Calibri"/>
              </a:rPr>
              <a:t>Direction</a:t>
            </a:r>
          </a:p>
        </p:txBody>
      </p:sp>
      <p:sp>
        <p:nvSpPr>
          <p:cNvPr id="33" name="TextBox 32"/>
          <p:cNvSpPr txBox="1"/>
          <p:nvPr/>
        </p:nvSpPr>
        <p:spPr>
          <a:xfrm>
            <a:off x="566928" y="5669280"/>
            <a:ext cx="11057839" cy="640080"/>
          </a:xfrm>
          <a:prstGeom prst="rect">
            <a:avLst/>
          </a:prstGeom>
          <a:noFill/>
        </p:spPr>
        <p:txBody>
          <a:bodyPr wrap="square" anchor="t" lIns="0" rIns="0" tIns="0" bIns="0">
            <a:noAutofit/>
          </a:bodyPr>
          <a:lstStyle/>
          <a:p>
            <a:pPr algn="ctr">
              <a:spcBef>
                <a:spcPts val="0"/>
              </a:spcBef>
              <a:spcAft>
                <a:spcPts val="200"/>
              </a:spcAft>
            </a:pPr>
            <a:r>
              <a:rPr sz="1200" b="0" i="1">
                <a:solidFill>
                  <a:srgbClr val="5B6B78"/>
                </a:solidFill>
                <a:latin typeface="Calibri"/>
              </a:rPr>
              <a:t>MEOS types and the MF-JSON / WKB wire format are shared across the ecosystem, so the same tier fronts a transactional database today and the lakehouse and streaming engines as they mature.</a:t>
            </a:r>
          </a:p>
        </p:txBody>
      </p:sp>
      <p:sp>
        <p:nvSpPr>
          <p:cNvPr id="34" name="Rectangle 33"/>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36" name="TextBox 35"/>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20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RECAP</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Everything the Server Implements</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645920"/>
            <a:ext cx="3503066" cy="205740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645920"/>
            <a:ext cx="82296" cy="20574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92224"/>
            <a:ext cx="3137306"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COLLECTIONS</a:t>
            </a:r>
          </a:p>
        </p:txBody>
      </p:sp>
      <p:sp>
        <p:nvSpPr>
          <p:cNvPr id="8" name="TextBox 7"/>
          <p:cNvSpPr txBox="1"/>
          <p:nvPr/>
        </p:nvSpPr>
        <p:spPr>
          <a:xfrm>
            <a:off x="822960" y="2148840"/>
            <a:ext cx="3045866" cy="1463040"/>
          </a:xfrm>
          <a:prstGeom prst="rect">
            <a:avLst/>
          </a:prstGeom>
          <a:noFill/>
        </p:spPr>
        <p:txBody>
          <a:bodyPr wrap="square" lIns="0" rIns="0" tIns="0" bIns="0">
            <a:noAutofit/>
          </a:bodyPr>
          <a:lstStyle/>
          <a:p>
            <a:pPr>
              <a:lnSpc>
                <a:spcPct val="100000"/>
              </a:lnSpc>
              <a:spcAft>
                <a:spcPts val="300"/>
              </a:spcAft>
            </a:pPr>
            <a:r>
              <a:rPr sz="1200" b="1">
                <a:solidFill>
                  <a:srgbClr val="156082"/>
                </a:solidFill>
                <a:latin typeface="Calibri"/>
              </a:rPr>
              <a:t>✓ </a:t>
            </a:r>
            <a:r>
              <a:rPr sz="1200">
                <a:solidFill>
                  <a:srgbClr val="1E2B36"/>
                </a:solidFill>
                <a:latin typeface="Calibri"/>
              </a:rPr>
              <a:t>list (GET)</a:t>
            </a:r>
          </a:p>
          <a:p>
            <a:pPr>
              <a:lnSpc>
                <a:spcPct val="100000"/>
              </a:lnSpc>
              <a:spcAft>
                <a:spcPts val="300"/>
              </a:spcAft>
            </a:pPr>
            <a:r>
              <a:rPr sz="1200" b="1">
                <a:solidFill>
                  <a:srgbClr val="156082"/>
                </a:solidFill>
                <a:latin typeface="Calibri"/>
              </a:rPr>
              <a:t>✓ </a:t>
            </a:r>
            <a:r>
              <a:rPr sz="1200">
                <a:solidFill>
                  <a:srgbClr val="1E2B36"/>
                </a:solidFill>
                <a:latin typeface="Calibri"/>
              </a:rPr>
              <a:t>retrieve (GET)</a:t>
            </a:r>
          </a:p>
          <a:p>
            <a:pPr>
              <a:lnSpc>
                <a:spcPct val="100000"/>
              </a:lnSpc>
              <a:spcAft>
                <a:spcPts val="300"/>
              </a:spcAft>
            </a:pPr>
            <a:r>
              <a:rPr sz="1200" b="1">
                <a:solidFill>
                  <a:srgbClr val="156082"/>
                </a:solidFill>
                <a:latin typeface="Calibri"/>
              </a:rPr>
              <a:t>✓ </a:t>
            </a:r>
            <a:r>
              <a:rPr sz="1200">
                <a:solidFill>
                  <a:srgbClr val="1E2B36"/>
                </a:solidFill>
                <a:latin typeface="Calibri"/>
              </a:rPr>
              <a:t>registry-backed</a:t>
            </a:r>
          </a:p>
        </p:txBody>
      </p:sp>
      <p:sp>
        <p:nvSpPr>
          <p:cNvPr id="9" name="Rounded Rectangle 8"/>
          <p:cNvSpPr/>
          <p:nvPr/>
        </p:nvSpPr>
        <p:spPr>
          <a:xfrm>
            <a:off x="4344314" y="1645920"/>
            <a:ext cx="3503066" cy="205740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4314" y="1645920"/>
            <a:ext cx="82296" cy="20574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00346" y="1792224"/>
            <a:ext cx="3137306" cy="274320"/>
          </a:xfrm>
          <a:prstGeom prst="rect">
            <a:avLst/>
          </a:prstGeom>
          <a:noFill/>
        </p:spPr>
        <p:txBody>
          <a:bodyPr wrap="square" anchor="t" lIns="0" rIns="0" tIns="0" bIns="0">
            <a:noAutofit/>
          </a:bodyPr>
          <a:lstStyle/>
          <a:p>
            <a:pPr algn="l">
              <a:spcBef>
                <a:spcPts val="0"/>
              </a:spcBef>
              <a:spcAft>
                <a:spcPts val="200"/>
              </a:spcAft>
            </a:pPr>
            <a:r>
              <a:rPr sz="1200" b="1" i="0">
                <a:solidFill>
                  <a:srgbClr val="E97132"/>
                </a:solidFill>
                <a:latin typeface="Calibri"/>
              </a:rPr>
              <a:t>MOVING FEATURES</a:t>
            </a:r>
          </a:p>
        </p:txBody>
      </p:sp>
      <p:sp>
        <p:nvSpPr>
          <p:cNvPr id="12" name="TextBox 11"/>
          <p:cNvSpPr txBox="1"/>
          <p:nvPr/>
        </p:nvSpPr>
        <p:spPr>
          <a:xfrm>
            <a:off x="4600346" y="2148840"/>
            <a:ext cx="3045866" cy="1463040"/>
          </a:xfrm>
          <a:prstGeom prst="rect">
            <a:avLst/>
          </a:prstGeom>
          <a:noFill/>
        </p:spPr>
        <p:txBody>
          <a:bodyPr wrap="square" lIns="0" rIns="0" tIns="0" bIns="0">
            <a:noAutofit/>
          </a:bodyPr>
          <a:lstStyle/>
          <a:p>
            <a:pPr>
              <a:lnSpc>
                <a:spcPct val="100000"/>
              </a:lnSpc>
              <a:spcAft>
                <a:spcPts val="300"/>
              </a:spcAft>
            </a:pPr>
            <a:r>
              <a:rPr sz="1200" b="1">
                <a:solidFill>
                  <a:srgbClr val="E97132"/>
                </a:solidFill>
                <a:latin typeface="Calibri"/>
              </a:rPr>
              <a:t>✓ </a:t>
            </a:r>
            <a:r>
              <a:rPr sz="1200">
                <a:solidFill>
                  <a:srgbClr val="1E2B36"/>
                </a:solidFill>
                <a:latin typeface="Calibri"/>
              </a:rPr>
              <a:t>insert (POST)</a:t>
            </a:r>
          </a:p>
          <a:p>
            <a:pPr>
              <a:lnSpc>
                <a:spcPct val="100000"/>
              </a:lnSpc>
              <a:spcAft>
                <a:spcPts val="300"/>
              </a:spcAft>
            </a:pPr>
            <a:r>
              <a:rPr sz="1200" b="1">
                <a:solidFill>
                  <a:srgbClr val="E97132"/>
                </a:solidFill>
                <a:latin typeface="Calibri"/>
              </a:rPr>
              <a:t>✓ </a:t>
            </a:r>
            <a:r>
              <a:rPr sz="1200">
                <a:solidFill>
                  <a:srgbClr val="1E2B36"/>
                </a:solidFill>
                <a:latin typeface="Calibri"/>
              </a:rPr>
              <a:t>retrieve / stream</a:t>
            </a:r>
          </a:p>
          <a:p>
            <a:pPr>
              <a:lnSpc>
                <a:spcPct val="100000"/>
              </a:lnSpc>
              <a:spcAft>
                <a:spcPts val="300"/>
              </a:spcAft>
            </a:pPr>
            <a:r>
              <a:rPr sz="1200" b="1">
                <a:solidFill>
                  <a:srgbClr val="E97132"/>
                </a:solidFill>
                <a:latin typeface="Calibri"/>
              </a:rPr>
              <a:t>✓ </a:t>
            </a:r>
            <a:r>
              <a:rPr sz="1200">
                <a:solidFill>
                  <a:srgbClr val="1E2B36"/>
                </a:solidFill>
                <a:latin typeface="Calibri"/>
              </a:rPr>
              <a:t>replace (PUT)</a:t>
            </a:r>
          </a:p>
          <a:p>
            <a:pPr>
              <a:lnSpc>
                <a:spcPct val="100000"/>
              </a:lnSpc>
              <a:spcAft>
                <a:spcPts val="300"/>
              </a:spcAft>
            </a:pPr>
            <a:r>
              <a:rPr sz="1200" b="1">
                <a:solidFill>
                  <a:srgbClr val="E97132"/>
                </a:solidFill>
                <a:latin typeface="Calibri"/>
              </a:rPr>
              <a:t>✓ </a:t>
            </a:r>
            <a:r>
              <a:rPr sz="1200">
                <a:solidFill>
                  <a:srgbClr val="1E2B36"/>
                </a:solidFill>
                <a:latin typeface="Calibri"/>
              </a:rPr>
              <a:t>delete (DELETE)</a:t>
            </a:r>
          </a:p>
          <a:p>
            <a:pPr>
              <a:lnSpc>
                <a:spcPct val="100000"/>
              </a:lnSpc>
              <a:spcAft>
                <a:spcPts val="300"/>
              </a:spcAft>
            </a:pPr>
            <a:r>
              <a:rPr sz="1200" b="1">
                <a:solidFill>
                  <a:srgbClr val="E97132"/>
                </a:solidFill>
                <a:latin typeface="Calibri"/>
              </a:rPr>
              <a:t>✓ </a:t>
            </a:r>
            <a:r>
              <a:rPr sz="1200">
                <a:solidFill>
                  <a:srgbClr val="1E2B36"/>
                </a:solidFill>
                <a:latin typeface="Calibri"/>
              </a:rPr>
              <a:t>keyset paging</a:t>
            </a:r>
          </a:p>
        </p:txBody>
      </p:sp>
      <p:sp>
        <p:nvSpPr>
          <p:cNvPr id="13" name="Rounded Rectangle 12"/>
          <p:cNvSpPr/>
          <p:nvPr/>
        </p:nvSpPr>
        <p:spPr>
          <a:xfrm>
            <a:off x="8121700" y="1645920"/>
            <a:ext cx="3503066" cy="205740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21700" y="1645920"/>
            <a:ext cx="82296" cy="2057400"/>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77732" y="1792224"/>
            <a:ext cx="3137306" cy="274320"/>
          </a:xfrm>
          <a:prstGeom prst="rect">
            <a:avLst/>
          </a:prstGeom>
          <a:noFill/>
        </p:spPr>
        <p:txBody>
          <a:bodyPr wrap="square" anchor="t" lIns="0" rIns="0" tIns="0" bIns="0">
            <a:noAutofit/>
          </a:bodyPr>
          <a:lstStyle/>
          <a:p>
            <a:pPr algn="l">
              <a:spcBef>
                <a:spcPts val="0"/>
              </a:spcBef>
              <a:spcAft>
                <a:spcPts val="200"/>
              </a:spcAft>
            </a:pPr>
            <a:r>
              <a:rPr sz="1200" b="1" i="0">
                <a:solidFill>
                  <a:srgbClr val="196B24"/>
                </a:solidFill>
                <a:latin typeface="Calibri"/>
              </a:rPr>
              <a:t>QUERYING</a:t>
            </a:r>
          </a:p>
        </p:txBody>
      </p:sp>
      <p:sp>
        <p:nvSpPr>
          <p:cNvPr id="16" name="TextBox 15"/>
          <p:cNvSpPr txBox="1"/>
          <p:nvPr/>
        </p:nvSpPr>
        <p:spPr>
          <a:xfrm>
            <a:off x="8377732" y="2148840"/>
            <a:ext cx="3045866" cy="1463040"/>
          </a:xfrm>
          <a:prstGeom prst="rect">
            <a:avLst/>
          </a:prstGeom>
          <a:noFill/>
        </p:spPr>
        <p:txBody>
          <a:bodyPr wrap="square" lIns="0" rIns="0" tIns="0" bIns="0">
            <a:noAutofit/>
          </a:bodyPr>
          <a:lstStyle/>
          <a:p>
            <a:pPr>
              <a:lnSpc>
                <a:spcPct val="100000"/>
              </a:lnSpc>
              <a:spcAft>
                <a:spcPts val="300"/>
              </a:spcAft>
            </a:pPr>
            <a:r>
              <a:rPr sz="1200" b="1">
                <a:solidFill>
                  <a:srgbClr val="196B24"/>
                </a:solidFill>
                <a:latin typeface="Calibri"/>
              </a:rPr>
              <a:t>✓ </a:t>
            </a:r>
            <a:r>
              <a:rPr sz="1200">
                <a:solidFill>
                  <a:srgbClr val="1E2B36"/>
                </a:solidFill>
                <a:latin typeface="Calibri"/>
              </a:rPr>
              <a:t>bbox spatial filter</a:t>
            </a:r>
          </a:p>
          <a:p>
            <a:pPr>
              <a:lnSpc>
                <a:spcPct val="100000"/>
              </a:lnSpc>
              <a:spcAft>
                <a:spcPts val="300"/>
              </a:spcAft>
            </a:pPr>
            <a:r>
              <a:rPr sz="1200" b="1">
                <a:solidFill>
                  <a:srgbClr val="196B24"/>
                </a:solidFill>
                <a:latin typeface="Calibri"/>
              </a:rPr>
              <a:t>✓ </a:t>
            </a:r>
            <a:r>
              <a:rPr sz="1200">
                <a:solidFill>
                  <a:srgbClr val="1E2B36"/>
                </a:solidFill>
                <a:latin typeface="Calibri"/>
              </a:rPr>
              <a:t>datetime interval / instant</a:t>
            </a:r>
          </a:p>
          <a:p>
            <a:pPr>
              <a:lnSpc>
                <a:spcPct val="100000"/>
              </a:lnSpc>
              <a:spcAft>
                <a:spcPts val="300"/>
              </a:spcAft>
            </a:pPr>
            <a:r>
              <a:rPr sz="1200" b="1">
                <a:solidFill>
                  <a:srgbClr val="196B24"/>
                </a:solidFill>
                <a:latin typeface="Calibri"/>
              </a:rPr>
              <a:t>✓ </a:t>
            </a:r>
            <a:r>
              <a:rPr sz="1200">
                <a:solidFill>
                  <a:srgbClr val="1E2B36"/>
                </a:solidFill>
                <a:latin typeface="Calibri"/>
              </a:rPr>
              <a:t>subtrajectory clipping</a:t>
            </a:r>
          </a:p>
          <a:p>
            <a:pPr>
              <a:lnSpc>
                <a:spcPct val="100000"/>
              </a:lnSpc>
              <a:spcAft>
                <a:spcPts val="300"/>
              </a:spcAft>
            </a:pPr>
            <a:r>
              <a:rPr sz="1200" b="1">
                <a:solidFill>
                  <a:srgbClr val="196B24"/>
                </a:solidFill>
                <a:latin typeface="Calibri"/>
              </a:rPr>
              <a:t>✓ </a:t>
            </a:r>
            <a:r>
              <a:rPr sz="1200">
                <a:solidFill>
                  <a:srgbClr val="1E2B36"/>
                </a:solidFill>
                <a:latin typeface="Calibri"/>
              </a:rPr>
              <a:t>leaf selector</a:t>
            </a:r>
          </a:p>
        </p:txBody>
      </p:sp>
      <p:sp>
        <p:nvSpPr>
          <p:cNvPr id="17" name="Rounded Rectangle 16"/>
          <p:cNvSpPr/>
          <p:nvPr/>
        </p:nvSpPr>
        <p:spPr>
          <a:xfrm>
            <a:off x="566928" y="3886200"/>
            <a:ext cx="3503066" cy="205740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886200"/>
            <a:ext cx="82296" cy="2057400"/>
          </a:xfrm>
          <a:prstGeom prst="rect">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032504"/>
            <a:ext cx="3137306" cy="274320"/>
          </a:xfrm>
          <a:prstGeom prst="rect">
            <a:avLst/>
          </a:prstGeom>
          <a:noFill/>
        </p:spPr>
        <p:txBody>
          <a:bodyPr wrap="square" anchor="t" lIns="0" rIns="0" tIns="0" bIns="0">
            <a:noAutofit/>
          </a:bodyPr>
          <a:lstStyle/>
          <a:p>
            <a:pPr algn="l">
              <a:spcBef>
                <a:spcPts val="0"/>
              </a:spcBef>
              <a:spcAft>
                <a:spcPts val="200"/>
              </a:spcAft>
            </a:pPr>
            <a:r>
              <a:rPr sz="1200" b="1" i="0">
                <a:solidFill>
                  <a:srgbClr val="A02B93"/>
                </a:solidFill>
                <a:latin typeface="Calibri"/>
              </a:rPr>
              <a:t>TEMPORAL GEOMETRY</a:t>
            </a:r>
          </a:p>
        </p:txBody>
      </p:sp>
      <p:sp>
        <p:nvSpPr>
          <p:cNvPr id="20" name="TextBox 19"/>
          <p:cNvSpPr txBox="1"/>
          <p:nvPr/>
        </p:nvSpPr>
        <p:spPr>
          <a:xfrm>
            <a:off x="822960" y="4389120"/>
            <a:ext cx="3045866" cy="1463040"/>
          </a:xfrm>
          <a:prstGeom prst="rect">
            <a:avLst/>
          </a:prstGeom>
          <a:noFill/>
        </p:spPr>
        <p:txBody>
          <a:bodyPr wrap="square" lIns="0" rIns="0" tIns="0" bIns="0">
            <a:noAutofit/>
          </a:bodyPr>
          <a:lstStyle/>
          <a:p>
            <a:pPr>
              <a:lnSpc>
                <a:spcPct val="100000"/>
              </a:lnSpc>
              <a:spcAft>
                <a:spcPts val="300"/>
              </a:spcAft>
            </a:pPr>
            <a:r>
              <a:rPr sz="1200" b="1">
                <a:solidFill>
                  <a:srgbClr val="A02B93"/>
                </a:solidFill>
                <a:latin typeface="Calibri"/>
              </a:rPr>
              <a:t>✓ </a:t>
            </a:r>
            <a:r>
              <a:rPr sz="1200">
                <a:solidFill>
                  <a:srgbClr val="1E2B36"/>
                </a:solidFill>
                <a:latin typeface="Calibri"/>
              </a:rPr>
              <a:t>get sequence (GET)</a:t>
            </a:r>
          </a:p>
          <a:p>
            <a:pPr>
              <a:lnSpc>
                <a:spcPct val="100000"/>
              </a:lnSpc>
              <a:spcAft>
                <a:spcPts val="300"/>
              </a:spcAft>
            </a:pPr>
            <a:r>
              <a:rPr sz="1200" b="1">
                <a:solidFill>
                  <a:srgbClr val="A02B93"/>
                </a:solidFill>
                <a:latin typeface="Calibri"/>
              </a:rPr>
              <a:t>✓ </a:t>
            </a:r>
            <a:r>
              <a:rPr sz="1200">
                <a:solidFill>
                  <a:srgbClr val="1E2B36"/>
                </a:solidFill>
                <a:latin typeface="Calibri"/>
              </a:rPr>
              <a:t>append sub-trajectory (POST)</a:t>
            </a:r>
          </a:p>
          <a:p>
            <a:pPr>
              <a:lnSpc>
                <a:spcPct val="100000"/>
              </a:lnSpc>
              <a:spcAft>
                <a:spcPts val="300"/>
              </a:spcAft>
            </a:pPr>
            <a:r>
              <a:rPr sz="1200" b="1">
                <a:solidFill>
                  <a:srgbClr val="A02B93"/>
                </a:solidFill>
                <a:latin typeface="Calibri"/>
              </a:rPr>
              <a:t>✓ </a:t>
            </a:r>
            <a:r>
              <a:rPr sz="1200">
                <a:solidFill>
                  <a:srgbClr val="1E2B36"/>
                </a:solidFill>
                <a:latin typeface="Calibri"/>
              </a:rPr>
              <a:t>datetime / leaf clip</a:t>
            </a:r>
          </a:p>
        </p:txBody>
      </p:sp>
      <p:sp>
        <p:nvSpPr>
          <p:cNvPr id="21" name="Rounded Rectangle 20"/>
          <p:cNvSpPr/>
          <p:nvPr/>
        </p:nvSpPr>
        <p:spPr>
          <a:xfrm>
            <a:off x="4344314" y="3886200"/>
            <a:ext cx="3503066" cy="205740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44314" y="3886200"/>
            <a:ext cx="82296" cy="20574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00346" y="4032504"/>
            <a:ext cx="3137306"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DERIVED MEASURES</a:t>
            </a:r>
          </a:p>
        </p:txBody>
      </p:sp>
      <p:sp>
        <p:nvSpPr>
          <p:cNvPr id="24" name="TextBox 23"/>
          <p:cNvSpPr txBox="1"/>
          <p:nvPr/>
        </p:nvSpPr>
        <p:spPr>
          <a:xfrm>
            <a:off x="4600346" y="4389120"/>
            <a:ext cx="3045866" cy="1463040"/>
          </a:xfrm>
          <a:prstGeom prst="rect">
            <a:avLst/>
          </a:prstGeom>
          <a:noFill/>
        </p:spPr>
        <p:txBody>
          <a:bodyPr wrap="square" lIns="0" rIns="0" tIns="0" bIns="0">
            <a:noAutofit/>
          </a:bodyPr>
          <a:lstStyle/>
          <a:p>
            <a:pPr>
              <a:lnSpc>
                <a:spcPct val="100000"/>
              </a:lnSpc>
              <a:spcAft>
                <a:spcPts val="300"/>
              </a:spcAft>
            </a:pPr>
            <a:r>
              <a:rPr sz="1200" b="1">
                <a:solidFill>
                  <a:srgbClr val="156082"/>
                </a:solidFill>
                <a:latin typeface="Calibri"/>
              </a:rPr>
              <a:t>✓ </a:t>
            </a:r>
            <a:r>
              <a:rPr sz="1200">
                <a:solidFill>
                  <a:srgbClr val="1E2B36"/>
                </a:solidFill>
                <a:latin typeface="Calibri"/>
              </a:rPr>
              <a:t>distance</a:t>
            </a:r>
          </a:p>
          <a:p>
            <a:pPr>
              <a:lnSpc>
                <a:spcPct val="100000"/>
              </a:lnSpc>
              <a:spcAft>
                <a:spcPts val="300"/>
              </a:spcAft>
            </a:pPr>
            <a:r>
              <a:rPr sz="1200" b="1">
                <a:solidFill>
                  <a:srgbClr val="156082"/>
                </a:solidFill>
                <a:latin typeface="Calibri"/>
              </a:rPr>
              <a:t>✓ </a:t>
            </a:r>
            <a:r>
              <a:rPr sz="1200">
                <a:solidFill>
                  <a:srgbClr val="1E2B36"/>
                </a:solidFill>
                <a:latin typeface="Calibri"/>
              </a:rPr>
              <a:t>velocity</a:t>
            </a:r>
          </a:p>
          <a:p>
            <a:pPr>
              <a:lnSpc>
                <a:spcPct val="100000"/>
              </a:lnSpc>
              <a:spcAft>
                <a:spcPts val="300"/>
              </a:spcAft>
            </a:pPr>
            <a:r>
              <a:rPr sz="1200" b="1">
                <a:solidFill>
                  <a:srgbClr val="156082"/>
                </a:solidFill>
                <a:latin typeface="Calibri"/>
              </a:rPr>
              <a:t>✓ </a:t>
            </a:r>
            <a:r>
              <a:rPr sz="1200">
                <a:solidFill>
                  <a:srgbClr val="1E2B36"/>
                </a:solidFill>
                <a:latin typeface="Calibri"/>
              </a:rPr>
              <a:t>acceleration → 501 (not derivable)</a:t>
            </a:r>
          </a:p>
          <a:p>
            <a:pPr>
              <a:lnSpc>
                <a:spcPct val="100000"/>
              </a:lnSpc>
              <a:spcAft>
                <a:spcPts val="300"/>
              </a:spcAft>
            </a:pPr>
            <a:r>
              <a:rPr sz="1200" b="1">
                <a:solidFill>
                  <a:srgbClr val="156082"/>
                </a:solidFill>
                <a:latin typeface="Calibri"/>
              </a:rPr>
              <a:t>✓ </a:t>
            </a:r>
            <a:r>
              <a:rPr sz="1200">
                <a:solidFill>
                  <a:srgbClr val="1E2B36"/>
                </a:solidFill>
                <a:latin typeface="Calibri"/>
              </a:rPr>
              <a:t>exact, as TReal</a:t>
            </a:r>
          </a:p>
        </p:txBody>
      </p:sp>
      <p:sp>
        <p:nvSpPr>
          <p:cNvPr id="25" name="Rounded Rectangle 24"/>
          <p:cNvSpPr/>
          <p:nvPr/>
        </p:nvSpPr>
        <p:spPr>
          <a:xfrm>
            <a:off x="8121700" y="3886200"/>
            <a:ext cx="3503066" cy="205740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21700" y="3886200"/>
            <a:ext cx="82296" cy="20574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77732" y="4032504"/>
            <a:ext cx="3137306" cy="274320"/>
          </a:xfrm>
          <a:prstGeom prst="rect">
            <a:avLst/>
          </a:prstGeom>
          <a:noFill/>
        </p:spPr>
        <p:txBody>
          <a:bodyPr wrap="square" anchor="t" lIns="0" rIns="0" tIns="0" bIns="0">
            <a:noAutofit/>
          </a:bodyPr>
          <a:lstStyle/>
          <a:p>
            <a:pPr algn="l">
              <a:spcBef>
                <a:spcPts val="0"/>
              </a:spcBef>
              <a:spcAft>
                <a:spcPts val="200"/>
              </a:spcAft>
            </a:pPr>
            <a:r>
              <a:rPr sz="1200" b="1" i="0">
                <a:solidFill>
                  <a:srgbClr val="E97132"/>
                </a:solidFill>
                <a:latin typeface="Calibri"/>
              </a:rPr>
              <a:t>CONFORMANCE &amp; SCALE</a:t>
            </a:r>
          </a:p>
        </p:txBody>
      </p:sp>
      <p:sp>
        <p:nvSpPr>
          <p:cNvPr id="28" name="TextBox 27"/>
          <p:cNvSpPr txBox="1"/>
          <p:nvPr/>
        </p:nvSpPr>
        <p:spPr>
          <a:xfrm>
            <a:off x="8377732" y="4389120"/>
            <a:ext cx="3045866" cy="1463040"/>
          </a:xfrm>
          <a:prstGeom prst="rect">
            <a:avLst/>
          </a:prstGeom>
          <a:noFill/>
        </p:spPr>
        <p:txBody>
          <a:bodyPr wrap="square" lIns="0" rIns="0" tIns="0" bIns="0">
            <a:noAutofit/>
          </a:bodyPr>
          <a:lstStyle/>
          <a:p>
            <a:pPr>
              <a:lnSpc>
                <a:spcPct val="100000"/>
              </a:lnSpc>
              <a:spcAft>
                <a:spcPts val="300"/>
              </a:spcAft>
            </a:pPr>
            <a:r>
              <a:rPr sz="1200" b="1">
                <a:solidFill>
                  <a:srgbClr val="E97132"/>
                </a:solidFill>
                <a:latin typeface="Calibri"/>
              </a:rPr>
              <a:t>✓ </a:t>
            </a:r>
            <a:r>
              <a:rPr sz="1200">
                <a:solidFill>
                  <a:srgbClr val="1E2B36"/>
                </a:solidFill>
                <a:latin typeface="Calibri"/>
              </a:rPr>
              <a:t>5 conformance classes</a:t>
            </a:r>
          </a:p>
          <a:p>
            <a:pPr>
              <a:lnSpc>
                <a:spcPct val="100000"/>
              </a:lnSpc>
              <a:spcAft>
                <a:spcPts val="300"/>
              </a:spcAft>
            </a:pPr>
            <a:r>
              <a:rPr sz="1200" b="1">
                <a:solidFill>
                  <a:srgbClr val="E97132"/>
                </a:solidFill>
                <a:latin typeface="Calibri"/>
              </a:rPr>
              <a:t>✓ </a:t>
            </a:r>
            <a:r>
              <a:rPr sz="1200">
                <a:solidFill>
                  <a:srgbClr val="1E2B36"/>
                </a:solidFill>
                <a:latin typeface="Calibri"/>
              </a:rPr>
              <a:t>OpenAPI at /api</a:t>
            </a:r>
          </a:p>
          <a:p>
            <a:pPr>
              <a:lnSpc>
                <a:spcPct val="100000"/>
              </a:lnSpc>
              <a:spcAft>
                <a:spcPts val="300"/>
              </a:spcAft>
            </a:pPr>
            <a:r>
              <a:rPr sz="1200" b="1">
                <a:solidFill>
                  <a:srgbClr val="E97132"/>
                </a:solidFill>
                <a:latin typeface="Calibri"/>
              </a:rPr>
              <a:t>✓ </a:t>
            </a:r>
            <a:r>
              <a:rPr sz="1200">
                <a:solidFill>
                  <a:srgbClr val="1E2B36"/>
                </a:solidFill>
                <a:latin typeface="Calibri"/>
              </a:rPr>
              <a:t>streaming + keyset</a:t>
            </a:r>
          </a:p>
          <a:p>
            <a:pPr>
              <a:lnSpc>
                <a:spcPct val="100000"/>
              </a:lnSpc>
              <a:spcAft>
                <a:spcPts val="300"/>
              </a:spcAft>
            </a:pPr>
            <a:r>
              <a:rPr sz="1200" b="1">
                <a:solidFill>
                  <a:srgbClr val="E97132"/>
                </a:solidFill>
                <a:latin typeface="Calibri"/>
              </a:rPr>
              <a:t>✓ </a:t>
            </a:r>
            <a:r>
              <a:rPr sz="1200">
                <a:solidFill>
                  <a:srgbClr val="1E2B36"/>
                </a:solidFill>
                <a:latin typeface="Calibri"/>
              </a:rPr>
              <a:t>NDJSON · Parquet export</a:t>
            </a:r>
          </a:p>
        </p:txBody>
      </p:sp>
      <p:sp>
        <p:nvSpPr>
          <p:cNvPr id="29" name="Rectangle 28"/>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31" name="TextBox 30"/>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21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468880"/>
            <a:ext cx="10058400" cy="914400"/>
          </a:xfrm>
          <a:prstGeom prst="rect">
            <a:avLst/>
          </a:prstGeom>
          <a:noFill/>
        </p:spPr>
        <p:txBody>
          <a:bodyPr wrap="square" anchor="t" lIns="0" rIns="0" tIns="0" bIns="0">
            <a:noAutofit/>
          </a:bodyPr>
          <a:lstStyle/>
          <a:p>
            <a:pPr algn="l">
              <a:spcBef>
                <a:spcPts val="0"/>
              </a:spcBef>
              <a:spcAft>
                <a:spcPts val="200"/>
              </a:spcAft>
            </a:pPr>
            <a:r>
              <a:rPr sz="4400" b="1" i="0">
                <a:solidFill>
                  <a:srgbClr val="FFFFFF"/>
                </a:solidFill>
                <a:latin typeface="Calibri Light"/>
              </a:rPr>
              <a:t>Thanks for Listening</a:t>
            </a:r>
          </a:p>
        </p:txBody>
      </p:sp>
      <p:sp>
        <p:nvSpPr>
          <p:cNvPr id="5" name="TextBox 4"/>
          <p:cNvSpPr txBox="1"/>
          <p:nvPr/>
        </p:nvSpPr>
        <p:spPr>
          <a:xfrm>
            <a:off x="566928" y="3566160"/>
            <a:ext cx="10058400" cy="548640"/>
          </a:xfrm>
          <a:prstGeom prst="rect">
            <a:avLst/>
          </a:prstGeom>
          <a:noFill/>
        </p:spPr>
        <p:txBody>
          <a:bodyPr wrap="square" anchor="t" lIns="0" rIns="0" tIns="0" bIns="0">
            <a:noAutofit/>
          </a:bodyPr>
          <a:lstStyle/>
          <a:p>
            <a:pPr algn="l">
              <a:spcBef>
                <a:spcPts val="0"/>
              </a:spcBef>
              <a:spcAft>
                <a:spcPts val="200"/>
              </a:spcAft>
            </a:pPr>
            <a:r>
              <a:rPr sz="2400" b="1" i="0">
                <a:solidFill>
                  <a:srgbClr val="E97132"/>
                </a:solidFill>
                <a:latin typeface="Calibri"/>
              </a:rPr>
              <a:t>Questions?</a:t>
            </a:r>
          </a:p>
        </p:txBody>
      </p:sp>
      <p:pic>
        <p:nvPicPr>
          <p:cNvPr id="6" name="Picture 5" descr="mobilitydb-logo.png"/>
          <p:cNvPicPr>
            <a:picLocks noChangeAspect="1"/>
          </p:cNvPicPr>
          <p:nvPr/>
        </p:nvPicPr>
        <p:blipFill>
          <a:blip r:embed="rId2"/>
          <a:stretch>
            <a:fillRect/>
          </a:stretch>
        </p:blipFill>
        <p:spPr>
          <a:xfrm>
            <a:off x="10070970" y="4297680"/>
            <a:ext cx="1633349" cy="173736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REFERENCES</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Find Out More</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993392"/>
            <a:ext cx="164592" cy="16459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920240"/>
            <a:ext cx="8686800" cy="320040"/>
          </a:xfrm>
          <a:prstGeom prst="rect">
            <a:avLst/>
          </a:prstGeom>
          <a:noFill/>
        </p:spPr>
        <p:txBody>
          <a:bodyPr wrap="square" anchor="t" lIns="0" rIns="0" tIns="0" bIns="0">
            <a:noAutofit/>
          </a:bodyPr>
          <a:lstStyle/>
          <a:p>
            <a:pPr algn="l">
              <a:spcBef>
                <a:spcPts val="0"/>
              </a:spcBef>
              <a:spcAft>
                <a:spcPts val="200"/>
              </a:spcAft>
            </a:pPr>
            <a:r>
              <a:rPr sz="1400" b="1" i="0">
                <a:solidFill>
                  <a:srgbClr val="0E2841"/>
                </a:solidFill>
                <a:latin typeface="Calibri"/>
              </a:rPr>
              <a:t>OGC API – Moving Features – Part 1: Core</a:t>
            </a:r>
          </a:p>
        </p:txBody>
      </p:sp>
      <p:sp>
        <p:nvSpPr>
          <p:cNvPr id="7" name="TextBox 6"/>
          <p:cNvSpPr txBox="1"/>
          <p:nvPr/>
        </p:nvSpPr>
        <p:spPr>
          <a:xfrm>
            <a:off x="932688" y="2231136"/>
            <a:ext cx="10515600" cy="292608"/>
          </a:xfrm>
          <a:prstGeom prst="rect">
            <a:avLst/>
          </a:prstGeom>
          <a:noFill/>
        </p:spPr>
        <p:txBody>
          <a:bodyPr wrap="none" lIns="0" rIns="0" tIns="0" bIns="0">
            <a:noAutofit/>
          </a:bodyPr>
          <a:lstStyle/>
          <a:p>
            <a:pPr algn="l"/>
            <a:r>
              <a:rPr sz="1200" u="none">
                <a:solidFill>
                  <a:srgbClr val="156082"/>
                </a:solidFill>
                <a:latin typeface="Consolas"/>
                <a:hlinkClick r:id="rId2"/>
              </a:rPr>
              <a:t>https://docs.ogc.org/is/22-003r3/22-003r3.html</a:t>
            </a:r>
          </a:p>
        </p:txBody>
      </p:sp>
      <p:sp>
        <p:nvSpPr>
          <p:cNvPr id="8" name="Rectangle 7"/>
          <p:cNvSpPr/>
          <p:nvPr/>
        </p:nvSpPr>
        <p:spPr>
          <a:xfrm>
            <a:off x="566928" y="2834640"/>
            <a:ext cx="164592" cy="16459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761488"/>
            <a:ext cx="8686800" cy="320040"/>
          </a:xfrm>
          <a:prstGeom prst="rect">
            <a:avLst/>
          </a:prstGeom>
          <a:noFill/>
        </p:spPr>
        <p:txBody>
          <a:bodyPr wrap="square" anchor="t" lIns="0" rIns="0" tIns="0" bIns="0">
            <a:noAutofit/>
          </a:bodyPr>
          <a:lstStyle/>
          <a:p>
            <a:pPr algn="l">
              <a:spcBef>
                <a:spcPts val="0"/>
              </a:spcBef>
              <a:spcAft>
                <a:spcPts val="200"/>
              </a:spcAft>
            </a:pPr>
            <a:r>
              <a:rPr sz="1400" b="1" i="0">
                <a:solidFill>
                  <a:srgbClr val="0E2841"/>
                </a:solidFill>
                <a:latin typeface="Calibri"/>
              </a:rPr>
              <a:t>MobilityDB</a:t>
            </a:r>
          </a:p>
        </p:txBody>
      </p:sp>
      <p:sp>
        <p:nvSpPr>
          <p:cNvPr id="10" name="TextBox 9"/>
          <p:cNvSpPr txBox="1"/>
          <p:nvPr/>
        </p:nvSpPr>
        <p:spPr>
          <a:xfrm>
            <a:off x="932688" y="3072384"/>
            <a:ext cx="10515600" cy="292608"/>
          </a:xfrm>
          <a:prstGeom prst="rect">
            <a:avLst/>
          </a:prstGeom>
          <a:noFill/>
        </p:spPr>
        <p:txBody>
          <a:bodyPr wrap="none" lIns="0" rIns="0" tIns="0" bIns="0">
            <a:noAutofit/>
          </a:bodyPr>
          <a:lstStyle/>
          <a:p>
            <a:pPr algn="l"/>
            <a:r>
              <a:rPr sz="1200" u="none">
                <a:solidFill>
                  <a:srgbClr val="156082"/>
                </a:solidFill>
                <a:latin typeface="Consolas"/>
                <a:hlinkClick r:id="rId3"/>
              </a:rPr>
              <a:t>https://github.com/MobilityDB/MobilityDB</a:t>
            </a:r>
            <a:r>
              <a:rPr sz="1200">
                <a:solidFill>
                  <a:srgbClr val="5B6B78"/>
                </a:solidFill>
                <a:latin typeface="Consolas"/>
              </a:rPr>
              <a:t>    ·    </a:t>
            </a:r>
            <a:r>
              <a:rPr sz="1200" u="none">
                <a:solidFill>
                  <a:srgbClr val="156082"/>
                </a:solidFill>
                <a:latin typeface="Consolas"/>
                <a:hlinkClick r:id="rId4"/>
              </a:rPr>
              <a:t>https://mobilitydb.com</a:t>
            </a:r>
          </a:p>
        </p:txBody>
      </p:sp>
      <p:sp>
        <p:nvSpPr>
          <p:cNvPr id="11" name="Rectangle 10"/>
          <p:cNvSpPr/>
          <p:nvPr/>
        </p:nvSpPr>
        <p:spPr>
          <a:xfrm>
            <a:off x="566928" y="3675887"/>
            <a:ext cx="164592" cy="16459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3602736"/>
            <a:ext cx="8686800" cy="320040"/>
          </a:xfrm>
          <a:prstGeom prst="rect">
            <a:avLst/>
          </a:prstGeom>
          <a:noFill/>
        </p:spPr>
        <p:txBody>
          <a:bodyPr wrap="square" anchor="t" lIns="0" rIns="0" tIns="0" bIns="0">
            <a:noAutofit/>
          </a:bodyPr>
          <a:lstStyle/>
          <a:p>
            <a:pPr algn="l">
              <a:spcBef>
                <a:spcPts val="0"/>
              </a:spcBef>
              <a:spcAft>
                <a:spcPts val="200"/>
              </a:spcAft>
            </a:pPr>
            <a:r>
              <a:rPr sz="1400" b="1" i="0">
                <a:solidFill>
                  <a:srgbClr val="0E2841"/>
                </a:solidFill>
                <a:latin typeface="Calibri"/>
              </a:rPr>
              <a:t>MEOS / ecosystem overview</a:t>
            </a:r>
          </a:p>
        </p:txBody>
      </p:sp>
      <p:sp>
        <p:nvSpPr>
          <p:cNvPr id="13" name="TextBox 12"/>
          <p:cNvSpPr txBox="1"/>
          <p:nvPr/>
        </p:nvSpPr>
        <p:spPr>
          <a:xfrm>
            <a:off x="932688" y="3913632"/>
            <a:ext cx="10515600" cy="292608"/>
          </a:xfrm>
          <a:prstGeom prst="rect">
            <a:avLst/>
          </a:prstGeom>
          <a:noFill/>
        </p:spPr>
        <p:txBody>
          <a:bodyPr wrap="none" lIns="0" rIns="0" tIns="0" bIns="0">
            <a:noAutofit/>
          </a:bodyPr>
          <a:lstStyle/>
          <a:p>
            <a:pPr algn="l"/>
            <a:r>
              <a:rPr sz="1200" u="none">
                <a:solidFill>
                  <a:srgbClr val="156082"/>
                </a:solidFill>
                <a:latin typeface="Consolas"/>
                <a:hlinkClick r:id="rId5"/>
              </a:rPr>
              <a:t>https://libmeos.org</a:t>
            </a:r>
          </a:p>
        </p:txBody>
      </p:sp>
      <p:sp>
        <p:nvSpPr>
          <p:cNvPr id="14" name="Rectangle 13"/>
          <p:cNvSpPr/>
          <p:nvPr/>
        </p:nvSpPr>
        <p:spPr>
          <a:xfrm>
            <a:off x="566928" y="4517136"/>
            <a:ext cx="164592" cy="16459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4443984"/>
            <a:ext cx="8686800" cy="320040"/>
          </a:xfrm>
          <a:prstGeom prst="rect">
            <a:avLst/>
          </a:prstGeom>
          <a:noFill/>
        </p:spPr>
        <p:txBody>
          <a:bodyPr wrap="square" anchor="t" lIns="0" rIns="0" tIns="0" bIns="0">
            <a:noAutofit/>
          </a:bodyPr>
          <a:lstStyle/>
          <a:p>
            <a:pPr algn="l">
              <a:spcBef>
                <a:spcPts val="0"/>
              </a:spcBef>
              <a:spcAft>
                <a:spcPts val="200"/>
              </a:spcAft>
            </a:pPr>
            <a:r>
              <a:rPr sz="1400" b="1" i="0">
                <a:solidFill>
                  <a:srgbClr val="0E2841"/>
                </a:solidFill>
                <a:latin typeface="Calibri"/>
              </a:rPr>
              <a:t>AIS data — Danish Maritime Authority</a:t>
            </a:r>
          </a:p>
        </p:txBody>
      </p:sp>
      <p:sp>
        <p:nvSpPr>
          <p:cNvPr id="16" name="TextBox 15"/>
          <p:cNvSpPr txBox="1"/>
          <p:nvPr/>
        </p:nvSpPr>
        <p:spPr>
          <a:xfrm>
            <a:off x="932688" y="4754880"/>
            <a:ext cx="10515600" cy="292608"/>
          </a:xfrm>
          <a:prstGeom prst="rect">
            <a:avLst/>
          </a:prstGeom>
          <a:noFill/>
        </p:spPr>
        <p:txBody>
          <a:bodyPr wrap="none" lIns="0" rIns="0" tIns="0" bIns="0">
            <a:noAutofit/>
          </a:bodyPr>
          <a:lstStyle/>
          <a:p>
            <a:pPr algn="l"/>
            <a:r>
              <a:rPr sz="1200" u="none">
                <a:solidFill>
                  <a:srgbClr val="156082"/>
                </a:solidFill>
                <a:latin typeface="Consolas"/>
                <a:hlinkClick r:id="rId6"/>
              </a:rPr>
              <a:t>http://aisdata.ais.dk</a:t>
            </a:r>
          </a:p>
        </p:txBody>
      </p:sp>
      <p:sp>
        <p:nvSpPr>
          <p:cNvPr id="17" name="Rectangle 16"/>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9" name="TextBox 18"/>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