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exposes MobilityDB mobility data as REST resources following the OGC API – Moving Features – Part 1: Core standard. This deck walks through the complete implemented feature surface using one day of Danish AIS ship-trajectory data, and contrasts two ways to serve the same MobilityDB: a PyMEOS Python tier and a thin compiled Go tier.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MobilityAPI is the HTTP/OGC façade in front of MobilityDB; PyMEOS does the JSON&lt;-&gt;temporal-type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one-to-one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(fig. 1) for presenting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(fig. 1) for presenting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Crisp, presentable view of the backing schema for walking the audience through each table and its columns.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canonical AIS dataset used across the MobilityDB ecosystem tutorials.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implemented endpoint and HTTP method. The following slides demonstrate each group against the AIS dataset.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demo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/collections registers the collection and returns HATEOAS links. GET /collections lists every registered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items ingests one or many MovingPoint features. The notebook streams the AIS file in small batches.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STBOX index.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distance/velocity/acceleration are the three derived-measure queryTypes over a temporal primitive geometry; the response is a temporal real (TReal).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temporal-properties group (GET/POST/DELETE at three levels) — omitted from the tutorial notebook — is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the HTTP/OGC layer; MobilityDB and MobilityDuck are peer SQL layers; all sit on the shared MEOS C core.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choice: PyMEOS Python tier vs a thin compiled Go tier. Both run identical SQL against the same MobilityDB; the database does all temporal work and (de)serialization. The Go tier carries no MEOS in-process.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throughput and reliability. Tier-bound endpoints run 47 to 64x faster on Go. On the heavy asMFJSON endpoint, raw throughput converges on the database, but the Python tier sheds roughly half the load at concurrency 50 while Go completes 100 percent. The database is the shared bottleneck; the tier decides front-end behaviour under load.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for very large databases: streaming responses keep memory bounded (a 393 MB export held about 18 MB resident), keyset pagination pages through arbitrarily large collections, bbox and datetime filters use the MobilityDB index, and a streaming NDJSON export feeds the lakehouse (DuckDB, MobilityDuck, Spark, then Parquet or Arrow). All temporal work stays in the database.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guidance. The Python tier is fine for moderate load and fastest to build; a thin compiled tier is the scalable choice under high concurrency, in the fat-DB / thin-API tradition. The baseline was a controlled threaded-Python server; a FastAPI/uvicorn or multi-worker deployment would raise the Python ceiling, but the structural advantage on light endpoints holds.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API" TargetMode="External"/><Relationship Id="rId4" Type="http://schemas.openxmlformats.org/officeDocument/2006/relationships/hyperlink" Target="https://github.com/MobilityDB/MobilityDB" TargetMode="External"/><Relationship Id="rId5" Type="http://schemas.openxmlformats.org/officeDocument/2006/relationships/hyperlink" Target="https://mobilitydb.com" TargetMode="External"/><Relationship Id="rId6" Type="http://schemas.openxmlformats.org/officeDocument/2006/relationships/hyperlink" Target="https://github.com/MobilityDB/PyMEOS" TargetMode="External"/><Relationship Id="rId7" Type="http://schemas.openxmlformats.org/officeDocument/2006/relationships/hyperlink" Target="https://libmeos.org" TargetMode="External"/><Relationship Id="rId8"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5740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200400"/>
            <a:ext cx="877824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for mobility data, built on MobilityDB</a:t>
            </a:r>
          </a:p>
        </p:txBody>
      </p:sp>
      <p:sp>
        <p:nvSpPr>
          <p:cNvPr id="6" name="Rectangle 5"/>
          <p:cNvSpPr/>
          <p:nvPr/>
        </p:nvSpPr>
        <p:spPr>
          <a:xfrm>
            <a:off x="566928" y="3977639"/>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60520"/>
            <a:ext cx="877824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Complete feature walkthrough  ·  canonical AIS example (Danish Maritime Authority)</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Associate_Member_3DR.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89320"/>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github.com/MobilityDB/MobilityAPI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From SQL Extension to REST API</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MobilityDB  </a:t>
            </a:r>
            <a:r>
              <a:rPr sz="1400">
                <a:solidFill>
                  <a:srgbClr val="1E2B36"/>
                </a:solidFill>
                <a:latin typeface="Calibri"/>
              </a:rPr>
              <a:t>is a PostgreSQL / PostGIS extension for managing temporal and spatio-temporal (mobility) data — vehicles, vessels, pedestrians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MobilityAPI  </a:t>
            </a:r>
            <a:r>
              <a:rPr sz="1400">
                <a:solidFill>
                  <a:srgbClr val="1E2B36"/>
                </a:solidFill>
                <a:latin typeface="Calibri"/>
              </a:rPr>
              <a:t>exposes that data as REST resources for clients that don't speak SQL or the PostgreSQL wire protocol</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the OGC API – Moving Features – Part 1: Core standard (collections, items, temporal geometries, temporal properties)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Built on PyMEOS  </a:t>
            </a:r>
            <a:r>
              <a:rPr sz="1400">
                <a:solidFill>
                  <a:srgbClr val="1E2B36"/>
                </a:solidFill>
                <a:latin typeface="Calibri"/>
              </a:rPr>
              <a:t>for the temporal-data conversion layer between JSON and MobilityDB types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Serves  </a:t>
            </a:r>
            <a:r>
              <a:rPr sz="1400">
                <a:solidFill>
                  <a:srgbClr val="1E2B36"/>
                </a:solidFill>
                <a:latin typeface="Calibri"/>
              </a:rPr>
              <a:t>browser applications, mobile clients, microservices and ETL pipelines</a:t>
            </a:r>
          </a:p>
        </p:txBody>
      </p:sp>
      <p:sp>
        <p:nvSpPr>
          <p:cNvPr id="6" name="Rounded Rectangle 5"/>
          <p:cNvSpPr/>
          <p:nvPr/>
        </p:nvSpPr>
        <p:spPr>
          <a:xfrm>
            <a:off x="7589520" y="1783080"/>
            <a:ext cx="4023360" cy="3977639"/>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0" y="1984248"/>
            <a:ext cx="34747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423160"/>
            <a:ext cx="3383280" cy="566928"/>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2487168"/>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HTTP client</a:t>
            </a:r>
          </a:p>
        </p:txBody>
      </p:sp>
      <p:sp>
        <p:nvSpPr>
          <p:cNvPr id="10" name="TextBox 9"/>
          <p:cNvSpPr txBox="1"/>
          <p:nvPr/>
        </p:nvSpPr>
        <p:spPr>
          <a:xfrm>
            <a:off x="8092440" y="2724912"/>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browser · mobile · ETL</a:t>
            </a:r>
          </a:p>
        </p:txBody>
      </p:sp>
      <p:sp>
        <p:nvSpPr>
          <p:cNvPr id="11" name="TextBox 10"/>
          <p:cNvSpPr txBox="1"/>
          <p:nvPr/>
        </p:nvSpPr>
        <p:spPr>
          <a:xfrm>
            <a:off x="7909560" y="2990088"/>
            <a:ext cx="3383280" cy="219456"/>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2" name="Rounded Rectangle 11"/>
          <p:cNvSpPr/>
          <p:nvPr/>
        </p:nvSpPr>
        <p:spPr>
          <a:xfrm>
            <a:off x="7909560" y="3209544"/>
            <a:ext cx="3383280" cy="566928"/>
          </a:xfrm>
          <a:prstGeom prst="roundRect">
            <a:avLst>
              <a:gd name="adj" fmla="val 12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92440" y="3273551"/>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a:t>
            </a:r>
          </a:p>
        </p:txBody>
      </p:sp>
      <p:sp>
        <p:nvSpPr>
          <p:cNvPr id="14" name="TextBox 13"/>
          <p:cNvSpPr txBox="1"/>
          <p:nvPr/>
        </p:nvSpPr>
        <p:spPr>
          <a:xfrm>
            <a:off x="8092440" y="3511296"/>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REST · OGC API – Moving Features</a:t>
            </a:r>
          </a:p>
        </p:txBody>
      </p:sp>
      <p:sp>
        <p:nvSpPr>
          <p:cNvPr id="15" name="TextBox 14"/>
          <p:cNvSpPr txBox="1"/>
          <p:nvPr/>
        </p:nvSpPr>
        <p:spPr>
          <a:xfrm>
            <a:off x="7909560" y="3776472"/>
            <a:ext cx="3383280" cy="219456"/>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6" name="Rounded Rectangle 15"/>
          <p:cNvSpPr/>
          <p:nvPr/>
        </p:nvSpPr>
        <p:spPr>
          <a:xfrm>
            <a:off x="7909560" y="3995928"/>
            <a:ext cx="3383280" cy="566928"/>
          </a:xfrm>
          <a:prstGeom prst="roundRect">
            <a:avLst>
              <a:gd name="adj" fmla="val 12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4059936"/>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PyMEOS</a:t>
            </a:r>
          </a:p>
        </p:txBody>
      </p:sp>
      <p:sp>
        <p:nvSpPr>
          <p:cNvPr id="18" name="TextBox 17"/>
          <p:cNvSpPr txBox="1"/>
          <p:nvPr/>
        </p:nvSpPr>
        <p:spPr>
          <a:xfrm>
            <a:off x="8092440" y="4297680"/>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temporal-data conversion</a:t>
            </a:r>
          </a:p>
        </p:txBody>
      </p:sp>
      <p:sp>
        <p:nvSpPr>
          <p:cNvPr id="19" name="TextBox 18"/>
          <p:cNvSpPr txBox="1"/>
          <p:nvPr/>
        </p:nvSpPr>
        <p:spPr>
          <a:xfrm>
            <a:off x="7909560" y="4562856"/>
            <a:ext cx="3383280" cy="219456"/>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20" name="Rounded Rectangle 19"/>
          <p:cNvSpPr/>
          <p:nvPr/>
        </p:nvSpPr>
        <p:spPr>
          <a:xfrm>
            <a:off x="7909560" y="4782312"/>
            <a:ext cx="3383280" cy="566928"/>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92440" y="4846320"/>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 / PostgreSQL</a:t>
            </a:r>
          </a:p>
        </p:txBody>
      </p:sp>
      <p:sp>
        <p:nvSpPr>
          <p:cNvPr id="22" name="TextBox 21"/>
          <p:cNvSpPr txBox="1"/>
          <p:nvPr/>
        </p:nvSpPr>
        <p:spPr>
          <a:xfrm>
            <a:off x="8092440" y="5084064"/>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23" name="Rectangle 2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5" name="TextBox 24"/>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35661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338327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temporal_geometries</a:t>
            </a:r>
          </a:p>
          <a:p>
            <a:pPr>
              <a:lnSpc>
                <a:spcPct val="102000"/>
              </a:lnSpc>
              <a:spcBef>
                <a:spcPts val="0"/>
              </a:spcBef>
              <a:spcAft>
                <a:spcPts val="0"/>
              </a:spcAft>
            </a:pPr>
            <a:r>
              <a:rPr sz="1200">
                <a:solidFill>
                  <a:srgbClr val="C2D0DA"/>
                </a:solidFill>
                <a:latin typeface="Consolas"/>
              </a:rPr>
              <a:t>  (feature_id, geometry_type, trajectory, interpolation)</a:t>
            </a:r>
          </a:p>
          <a:p>
            <a:pPr>
              <a:lnSpc>
                <a:spcPct val="102000"/>
              </a:lnSpc>
              <a:spcBef>
                <a:spcPts val="0"/>
              </a:spcBef>
              <a:spcAft>
                <a:spcPts val="0"/>
              </a:spcAft>
            </a:pPr>
            <a:r>
              <a:rPr sz="1200">
                <a:solidFill>
                  <a:srgbClr val="C2D0DA"/>
                </a:solidFill>
                <a:latin typeface="Consolas"/>
              </a:rPr>
              <a:t>VALUES (</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219000429</a:t>
            </a:r>
            <a:r>
              <a:rPr sz="1200">
                <a:solidFill>
                  <a:srgbClr val="C2D0DA"/>
                </a:solidFill>
                <a:latin typeface="Consolas"/>
              </a:rPr>
              <a:t>', 'MovingPoint',</a:t>
            </a:r>
          </a:p>
          <a:p>
            <a:pPr>
              <a:lnSpc>
                <a:spcPct val="102000"/>
              </a:lnSpc>
              <a:spcBef>
                <a:spcPts val="0"/>
              </a:spcBef>
              <a:spcAft>
                <a:spcPts val="0"/>
              </a:spcAft>
            </a:pPr>
            <a:r>
              <a:rPr sz="1200">
                <a:solidFill>
                  <a:srgbClr val="C2D0DA"/>
                </a:solidFill>
                <a:latin typeface="Consolas"/>
              </a:rPr>
              <a:t>  tgeompoint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2024</a:t>
            </a:r>
            <a:r>
              <a:rPr sz="1200">
                <a:solidFill>
                  <a:srgbClr val="C9E08A"/>
                </a:solidFill>
                <a:latin typeface="Consolas"/>
              </a:rPr>
              <a:t>-08</a:t>
            </a:r>
            <a:r>
              <a:rPr sz="1200">
                <a:solidFill>
                  <a:srgbClr val="C9E08A"/>
                </a:solidFill>
                <a:latin typeface="Consolas"/>
              </a:rPr>
              <a:t>-07</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2024</a:t>
            </a:r>
            <a:r>
              <a:rPr sz="1200">
                <a:solidFill>
                  <a:srgbClr val="C9E08A"/>
                </a:solidFill>
                <a:latin typeface="Consolas"/>
              </a:rPr>
              <a:t>-08</a:t>
            </a:r>
            <a:r>
              <a:rPr sz="1200">
                <a:solidFill>
                  <a:srgbClr val="C9E08A"/>
                </a:solidFill>
                <a:latin typeface="Consolas"/>
              </a:rPr>
              <a:t>-07</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2024</a:t>
            </a:r>
            <a:r>
              <a:rPr sz="1200">
                <a:solidFill>
                  <a:srgbClr val="C9E08A"/>
                </a:solidFill>
                <a:latin typeface="Consolas"/>
              </a:rPr>
              <a:t>-08</a:t>
            </a:r>
            <a:r>
              <a:rPr sz="1200">
                <a:solidFill>
                  <a:srgbClr val="C9E08A"/>
                </a:solidFill>
                <a:latin typeface="Consolas"/>
              </a:rPr>
              <a:t>-07</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'Linear'</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661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8327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"219000429"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"2024-08-07T06:00:00+00"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"2024-08-07T06:25:00+00"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"2024-08-07T06:50:00+00"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TextBox 10"/>
          <p:cNvSpPr txBox="1"/>
          <p:nvPr/>
        </p:nvSpPr>
        <p:spPr>
          <a:xfrm>
            <a:off x="566928" y="5623560"/>
            <a:ext cx="11057839" cy="3657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Identical trajectory — the REST client never writes SQL or opens a database connection.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 parallel coordinates / datetimes +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attached to a 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Query resources  </a:t>
            </a:r>
            <a:r>
              <a:rPr sz="1400">
                <a:solidFill>
                  <a:srgbClr val="1E2B36"/>
                </a:solidFill>
                <a:latin typeface="Calibri"/>
              </a:rPr>
              <a:t>derived measures over a temporal geometry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obilityapi-backing-schema.png"/>
          <p:cNvPicPr>
            <a:picLocks noChangeAspect="1"/>
          </p:cNvPicPr>
          <p:nvPr/>
        </p:nvPicPr>
        <p:blipFill>
          <a:blip r:embed="rId2"/>
          <a:stretch>
            <a:fillRect/>
          </a:stretch>
        </p:blipFill>
        <p:spPr>
          <a:xfrm>
            <a:off x="566928" y="1600200"/>
            <a:ext cx="4438724" cy="4480560"/>
          </a:xfrm>
          <a:prstGeom prst="rect">
            <a:avLst/>
          </a:prstGeom>
        </p:spPr>
      </p:pic>
      <p:sp>
        <p:nvSpPr>
          <p:cNvPr id="6" name="TextBox 5"/>
          <p:cNvSpPr txBox="1"/>
          <p:nvPr/>
        </p:nvSpPr>
        <p:spPr>
          <a:xfrm>
            <a:off x="7955279" y="1920240"/>
            <a:ext cx="3749039" cy="393192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collections  </a:t>
            </a:r>
            <a:r>
              <a:rPr sz="1400">
                <a:solidFill>
                  <a:srgbClr val="1E2B36"/>
                </a:solidFill>
                <a:latin typeface="Calibri"/>
              </a:rPr>
              <a:t>metadata: title, description, itemType, updateFrequency</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moving_features  </a:t>
            </a:r>
            <a:r>
              <a:rPr sz="1400">
                <a:solidFill>
                  <a:srgbClr val="1E2B36"/>
                </a:solidFill>
                <a:latin typeface="Calibri"/>
              </a:rPr>
              <a:t>one row per feature; bbox is an STBOX, time is a TSTZSPAN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temporal_geometries  </a:t>
            </a:r>
            <a:r>
              <a:rPr sz="1400">
                <a:solidFill>
                  <a:srgbClr val="1E2B36"/>
                </a:solidFill>
                <a:latin typeface="Calibri"/>
              </a:rPr>
              <a:t>trajectory stored as a MobilityDB tgeompoint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temporal_properties / temporal_values  </a:t>
            </a:r>
            <a:r>
              <a:rPr sz="1400">
                <a:solidFill>
                  <a:srgbClr val="1E2B36"/>
                </a:solidFill>
                <a:latin typeface="Calibri"/>
              </a:rPr>
              <a:t>time-varying attribute streams</a:t>
            </a:r>
          </a:p>
        </p:txBody>
      </p:sp>
      <p:sp>
        <p:nvSpPr>
          <p:cNvPr id="7" name="TextBox 6"/>
          <p:cNvSpPr txBox="1"/>
          <p:nvPr/>
        </p:nvSpPr>
        <p:spPr>
          <a:xfrm>
            <a:off x="566928" y="6126480"/>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Tables created on first POST /collections — STBOX / TSTZSPAN / tgeompoint are native MobilityDB types.</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BACKING SCHEMA — DETAIL</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Five PostgreSQL Tables in Full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3472586" cy="1969617"/>
          </a:xfrm>
          <a:prstGeom prst="roundRect">
            <a:avLst>
              <a:gd name="adj" fmla="val 4500"/>
            </a:avLst>
          </a:prstGeom>
          <a:solidFill>
            <a:srgbClr val="FFFFFF"/>
          </a:solidFill>
          <a:ln w="1778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572768"/>
            <a:ext cx="3472586" cy="365760"/>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91056"/>
            <a:ext cx="3198266"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onsolas"/>
              </a:rPr>
              <a:t>collections</a:t>
            </a:r>
          </a:p>
        </p:txBody>
      </p:sp>
      <p:sp>
        <p:nvSpPr>
          <p:cNvPr id="8" name="TextBox 7"/>
          <p:cNvSpPr txBox="1"/>
          <p:nvPr/>
        </p:nvSpPr>
        <p:spPr>
          <a:xfrm>
            <a:off x="713232" y="1984248"/>
            <a:ext cx="3216554" cy="1576425"/>
          </a:xfrm>
          <a:prstGeom prst="rect">
            <a:avLst/>
          </a:prstGeom>
          <a:noFill/>
        </p:spPr>
        <p:txBody>
          <a:bodyPr wrap="none" lIns="0" rIns="0" tIns="0" bIns="0">
            <a:noAutofit/>
          </a:bodyPr>
          <a:lstStyle/>
          <a:p>
            <a:pPr>
              <a:lnSpc>
                <a:spcPct val="100000"/>
              </a:lnSpc>
              <a:spcBef>
                <a:spcPts val="0"/>
              </a:spcBef>
              <a:spcAft>
                <a:spcPts val="150"/>
              </a:spcAft>
            </a:pPr>
            <a:r>
              <a:rPr sz="1200" b="1">
                <a:solidFill>
                  <a:srgbClr val="156082"/>
                </a:solidFill>
                <a:latin typeface="Calibri"/>
              </a:rPr>
              <a:t>PK </a:t>
            </a:r>
            <a:r>
              <a:rPr sz="1200" b="1">
                <a:solidFill>
                  <a:srgbClr val="1E2B36"/>
                </a:solidFill>
                <a:latin typeface="Consolas"/>
              </a:rPr>
              <a:t>id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title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description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update_frequency  </a:t>
            </a:r>
            <a:r>
              <a:rPr sz="1200">
                <a:solidFill>
                  <a:srgbClr val="5B6B78"/>
                </a:solidFill>
                <a:latin typeface="Consolas"/>
              </a:rPr>
              <a:t>INTEGER</a:t>
            </a:r>
          </a:p>
          <a:p>
            <a:pPr>
              <a:lnSpc>
                <a:spcPct val="100000"/>
              </a:lnSpc>
              <a:spcBef>
                <a:spcPts val="0"/>
              </a:spcBef>
              <a:spcAft>
                <a:spcPts val="150"/>
              </a:spcAft>
            </a:pPr>
            <a:r>
              <a:rPr sz="1200" b="1">
                <a:solidFill>
                  <a:srgbClr val="1E2B36"/>
                </a:solidFill>
                <a:latin typeface="Consolas"/>
              </a:rPr>
              <a:t>item_type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created_at  </a:t>
            </a:r>
            <a:r>
              <a:rPr sz="1200">
                <a:solidFill>
                  <a:srgbClr val="5B6B78"/>
                </a:solidFill>
                <a:latin typeface="Consolas"/>
              </a:rPr>
              <a:t>TIMESTAMP</a:t>
            </a:r>
          </a:p>
          <a:p>
            <a:pPr>
              <a:lnSpc>
                <a:spcPct val="100000"/>
              </a:lnSpc>
              <a:spcBef>
                <a:spcPts val="0"/>
              </a:spcBef>
              <a:spcAft>
                <a:spcPts val="150"/>
              </a:spcAft>
            </a:pPr>
            <a:r>
              <a:rPr sz="1200" b="1">
                <a:solidFill>
                  <a:srgbClr val="1E2B36"/>
                </a:solidFill>
                <a:latin typeface="Consolas"/>
              </a:rPr>
              <a:t>updated_at  </a:t>
            </a:r>
            <a:r>
              <a:rPr sz="1200">
                <a:solidFill>
                  <a:srgbClr val="5B6B78"/>
                </a:solidFill>
                <a:latin typeface="Consolas"/>
              </a:rPr>
              <a:t>TIMESTAMP</a:t>
            </a:r>
          </a:p>
        </p:txBody>
      </p:sp>
      <p:sp>
        <p:nvSpPr>
          <p:cNvPr id="9" name="Rounded Rectangle 8"/>
          <p:cNvSpPr/>
          <p:nvPr/>
        </p:nvSpPr>
        <p:spPr>
          <a:xfrm>
            <a:off x="566928" y="3706977"/>
            <a:ext cx="3472586" cy="2606040"/>
          </a:xfrm>
          <a:prstGeom prst="roundRect">
            <a:avLst>
              <a:gd name="adj" fmla="val 4500"/>
            </a:avLst>
          </a:prstGeom>
          <a:solidFill>
            <a:srgbClr val="FFFFFF"/>
          </a:solidFill>
          <a:ln w="17780">
            <a:solidFill>
              <a:srgbClr val="196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706977"/>
            <a:ext cx="3472586" cy="365760"/>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725265"/>
            <a:ext cx="3198266"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onsolas"/>
              </a:rPr>
              <a:t>temporal_geometries</a:t>
            </a:r>
          </a:p>
        </p:txBody>
      </p:sp>
      <p:sp>
        <p:nvSpPr>
          <p:cNvPr id="12" name="TextBox 11"/>
          <p:cNvSpPr txBox="1"/>
          <p:nvPr/>
        </p:nvSpPr>
        <p:spPr>
          <a:xfrm>
            <a:off x="713232" y="4118457"/>
            <a:ext cx="3216554" cy="2212848"/>
          </a:xfrm>
          <a:prstGeom prst="rect">
            <a:avLst/>
          </a:prstGeom>
          <a:noFill/>
        </p:spPr>
        <p:txBody>
          <a:bodyPr wrap="none" lIns="0" rIns="0" tIns="0" bIns="0">
            <a:noAutofit/>
          </a:bodyPr>
          <a:lstStyle/>
          <a:p>
            <a:pPr>
              <a:lnSpc>
                <a:spcPct val="100000"/>
              </a:lnSpc>
              <a:spcBef>
                <a:spcPts val="0"/>
              </a:spcBef>
              <a:spcAft>
                <a:spcPts val="150"/>
              </a:spcAft>
            </a:pPr>
            <a:r>
              <a:rPr sz="1200" b="1">
                <a:solidFill>
                  <a:srgbClr val="196B24"/>
                </a:solidFill>
                <a:latin typeface="Calibri"/>
              </a:rPr>
              <a:t>PK </a:t>
            </a:r>
            <a:r>
              <a:rPr sz="1200" b="1">
                <a:solidFill>
                  <a:srgbClr val="1E2B36"/>
                </a:solidFill>
                <a:latin typeface="Consolas"/>
              </a:rPr>
              <a:t>id  </a:t>
            </a:r>
            <a:r>
              <a:rPr sz="1200">
                <a:solidFill>
                  <a:srgbClr val="5B6B78"/>
                </a:solidFill>
                <a:latin typeface="Consolas"/>
              </a:rPr>
              <a:t>SERIAL</a:t>
            </a:r>
          </a:p>
          <a:p>
            <a:pPr>
              <a:lnSpc>
                <a:spcPct val="100000"/>
              </a:lnSpc>
              <a:spcBef>
                <a:spcPts val="0"/>
              </a:spcBef>
              <a:spcAft>
                <a:spcPts val="150"/>
              </a:spcAft>
            </a:pPr>
            <a:r>
              <a:rPr sz="1200" b="1">
                <a:solidFill>
                  <a:srgbClr val="156082"/>
                </a:solidFill>
                <a:latin typeface="Calibri"/>
              </a:rPr>
              <a:t>FK </a:t>
            </a:r>
            <a:r>
              <a:rPr sz="1200" b="1">
                <a:solidFill>
                  <a:srgbClr val="1E2B36"/>
                </a:solidFill>
                <a:latin typeface="Consolas"/>
              </a:rPr>
              <a:t>feature_id  </a:t>
            </a:r>
            <a:r>
              <a:rPr sz="1200">
                <a:solidFill>
                  <a:srgbClr val="5B6B78"/>
                </a:solidFill>
                <a:latin typeface="Consolas"/>
              </a:rPr>
              <a:t>TEXT</a:t>
            </a:r>
          </a:p>
          <a:p>
            <a:pPr>
              <a:lnSpc>
                <a:spcPct val="100000"/>
              </a:lnSpc>
              <a:spcBef>
                <a:spcPts val="0"/>
              </a:spcBef>
              <a:spcAft>
                <a:spcPts val="150"/>
              </a:spcAft>
            </a:pPr>
            <a:r>
              <a:rPr sz="1200" b="1">
                <a:solidFill>
                  <a:srgbClr val="156082"/>
                </a:solidFill>
                <a:latin typeface="Calibri"/>
              </a:rPr>
              <a:t>FK </a:t>
            </a:r>
            <a:r>
              <a:rPr sz="1200" b="1">
                <a:solidFill>
                  <a:srgbClr val="1E2B36"/>
                </a:solidFill>
                <a:latin typeface="Consolas"/>
              </a:rPr>
              <a:t>collection_id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geometry_type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geometry  </a:t>
            </a:r>
            <a:r>
              <a:rPr sz="1200">
                <a:solidFill>
                  <a:srgbClr val="E97132"/>
                </a:solidFill>
                <a:latin typeface="Consolas"/>
              </a:rPr>
              <a:t>geometry</a:t>
            </a:r>
          </a:p>
          <a:p>
            <a:pPr>
              <a:lnSpc>
                <a:spcPct val="100000"/>
              </a:lnSpc>
              <a:spcBef>
                <a:spcPts val="0"/>
              </a:spcBef>
              <a:spcAft>
                <a:spcPts val="150"/>
              </a:spcAft>
            </a:pPr>
            <a:r>
              <a:rPr sz="1200" b="1">
                <a:solidFill>
                  <a:srgbClr val="1E2B36"/>
                </a:solidFill>
                <a:latin typeface="Consolas"/>
              </a:rPr>
              <a:t>trajectory  </a:t>
            </a:r>
            <a:r>
              <a:rPr sz="1200">
                <a:solidFill>
                  <a:srgbClr val="E97132"/>
                </a:solidFill>
                <a:latin typeface="Consolas"/>
              </a:rPr>
              <a:t>tgeompoint</a:t>
            </a:r>
          </a:p>
          <a:p>
            <a:pPr>
              <a:lnSpc>
                <a:spcPct val="100000"/>
              </a:lnSpc>
              <a:spcBef>
                <a:spcPts val="0"/>
              </a:spcBef>
              <a:spcAft>
                <a:spcPts val="150"/>
              </a:spcAft>
            </a:pPr>
            <a:r>
              <a:rPr sz="1200" b="1">
                <a:solidFill>
                  <a:srgbClr val="1E2B36"/>
                </a:solidFill>
                <a:latin typeface="Consolas"/>
              </a:rPr>
              <a:t>interpolation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base  </a:t>
            </a:r>
            <a:r>
              <a:rPr sz="1200">
                <a:solidFill>
                  <a:srgbClr val="5B6B78"/>
                </a:solidFill>
                <a:latin typeface="Consolas"/>
              </a:rPr>
              <a:t>JSONB</a:t>
            </a:r>
          </a:p>
          <a:p>
            <a:pPr>
              <a:lnSpc>
                <a:spcPct val="100000"/>
              </a:lnSpc>
              <a:spcBef>
                <a:spcPts val="0"/>
              </a:spcBef>
              <a:spcAft>
                <a:spcPts val="150"/>
              </a:spcAft>
            </a:pPr>
            <a:r>
              <a:rPr sz="1200" b="1">
                <a:solidFill>
                  <a:srgbClr val="1E2B36"/>
                </a:solidFill>
                <a:latin typeface="Consolas"/>
              </a:rPr>
              <a:t>orientations  </a:t>
            </a:r>
            <a:r>
              <a:rPr sz="1200">
                <a:solidFill>
                  <a:srgbClr val="5B6B78"/>
                </a:solidFill>
                <a:latin typeface="Consolas"/>
              </a:rPr>
              <a:t>JSONB</a:t>
            </a:r>
          </a:p>
          <a:p>
            <a:pPr>
              <a:lnSpc>
                <a:spcPct val="100000"/>
              </a:lnSpc>
              <a:spcBef>
                <a:spcPts val="0"/>
              </a:spcBef>
              <a:spcAft>
                <a:spcPts val="150"/>
              </a:spcAft>
            </a:pPr>
            <a:r>
              <a:rPr sz="1200" b="1">
                <a:solidFill>
                  <a:srgbClr val="1E2B36"/>
                </a:solidFill>
                <a:latin typeface="Consolas"/>
              </a:rPr>
              <a:t>created_at  </a:t>
            </a:r>
            <a:r>
              <a:rPr sz="1200">
                <a:solidFill>
                  <a:srgbClr val="5B6B78"/>
                </a:solidFill>
                <a:latin typeface="Consolas"/>
              </a:rPr>
              <a:t>TIMESTAMP</a:t>
            </a:r>
          </a:p>
        </p:txBody>
      </p:sp>
      <p:sp>
        <p:nvSpPr>
          <p:cNvPr id="13" name="Rounded Rectangle 12"/>
          <p:cNvSpPr/>
          <p:nvPr/>
        </p:nvSpPr>
        <p:spPr>
          <a:xfrm>
            <a:off x="4359554" y="1572768"/>
            <a:ext cx="3472586" cy="2393899"/>
          </a:xfrm>
          <a:prstGeom prst="roundRect">
            <a:avLst>
              <a:gd name="adj" fmla="val 4500"/>
            </a:avLst>
          </a:prstGeom>
          <a:solidFill>
            <a:srgbClr val="FFFFFF"/>
          </a:solidFill>
          <a:ln w="1778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59554" y="1572768"/>
            <a:ext cx="3472586" cy="365760"/>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5858" y="1591056"/>
            <a:ext cx="3198266"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onsolas"/>
              </a:rPr>
              <a:t>moving_features</a:t>
            </a:r>
          </a:p>
        </p:txBody>
      </p:sp>
      <p:sp>
        <p:nvSpPr>
          <p:cNvPr id="16" name="TextBox 15"/>
          <p:cNvSpPr txBox="1"/>
          <p:nvPr/>
        </p:nvSpPr>
        <p:spPr>
          <a:xfrm>
            <a:off x="4505858" y="1984248"/>
            <a:ext cx="3216554" cy="2000707"/>
          </a:xfrm>
          <a:prstGeom prst="rect">
            <a:avLst/>
          </a:prstGeom>
          <a:noFill/>
        </p:spPr>
        <p:txBody>
          <a:bodyPr wrap="none" lIns="0" rIns="0" tIns="0" bIns="0">
            <a:noAutofit/>
          </a:bodyPr>
          <a:lstStyle/>
          <a:p>
            <a:pPr>
              <a:lnSpc>
                <a:spcPct val="100000"/>
              </a:lnSpc>
              <a:spcBef>
                <a:spcPts val="0"/>
              </a:spcBef>
              <a:spcAft>
                <a:spcPts val="150"/>
              </a:spcAft>
            </a:pPr>
            <a:r>
              <a:rPr sz="1200" b="1">
                <a:solidFill>
                  <a:srgbClr val="E97132"/>
                </a:solidFill>
                <a:latin typeface="Calibri"/>
              </a:rPr>
              <a:t>PK </a:t>
            </a:r>
            <a:r>
              <a:rPr sz="1200" b="1">
                <a:solidFill>
                  <a:srgbClr val="1E2B36"/>
                </a:solidFill>
                <a:latin typeface="Consolas"/>
              </a:rPr>
              <a:t>id  </a:t>
            </a:r>
            <a:r>
              <a:rPr sz="1200">
                <a:solidFill>
                  <a:srgbClr val="5B6B78"/>
                </a:solidFill>
                <a:latin typeface="Consolas"/>
              </a:rPr>
              <a:t>TEXT</a:t>
            </a:r>
          </a:p>
          <a:p>
            <a:pPr>
              <a:lnSpc>
                <a:spcPct val="100000"/>
              </a:lnSpc>
              <a:spcBef>
                <a:spcPts val="0"/>
              </a:spcBef>
              <a:spcAft>
                <a:spcPts val="150"/>
              </a:spcAft>
            </a:pPr>
            <a:r>
              <a:rPr sz="1200" b="1">
                <a:solidFill>
                  <a:srgbClr val="156082"/>
                </a:solidFill>
                <a:latin typeface="Calibri"/>
              </a:rPr>
              <a:t>FK </a:t>
            </a:r>
            <a:r>
              <a:rPr sz="1200" b="1">
                <a:solidFill>
                  <a:srgbClr val="1E2B36"/>
                </a:solidFill>
                <a:latin typeface="Consolas"/>
              </a:rPr>
              <a:t>collection_id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type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properties  </a:t>
            </a:r>
            <a:r>
              <a:rPr sz="1200">
                <a:solidFill>
                  <a:srgbClr val="5B6B78"/>
                </a:solidFill>
                <a:latin typeface="Consolas"/>
              </a:rPr>
              <a:t>JSONB</a:t>
            </a:r>
          </a:p>
          <a:p>
            <a:pPr>
              <a:lnSpc>
                <a:spcPct val="100000"/>
              </a:lnSpc>
              <a:spcBef>
                <a:spcPts val="0"/>
              </a:spcBef>
              <a:spcAft>
                <a:spcPts val="150"/>
              </a:spcAft>
            </a:pPr>
            <a:r>
              <a:rPr sz="1200" b="1">
                <a:solidFill>
                  <a:srgbClr val="1E2B36"/>
                </a:solidFill>
                <a:latin typeface="Consolas"/>
              </a:rPr>
              <a:t>bbox  </a:t>
            </a:r>
            <a:r>
              <a:rPr sz="1200">
                <a:solidFill>
                  <a:srgbClr val="E97132"/>
                </a:solidFill>
                <a:latin typeface="Consolas"/>
              </a:rPr>
              <a:t>STBOX</a:t>
            </a:r>
          </a:p>
          <a:p>
            <a:pPr>
              <a:lnSpc>
                <a:spcPct val="100000"/>
              </a:lnSpc>
              <a:spcBef>
                <a:spcPts val="0"/>
              </a:spcBef>
              <a:spcAft>
                <a:spcPts val="150"/>
              </a:spcAft>
            </a:pPr>
            <a:r>
              <a:rPr sz="1200" b="1">
                <a:solidFill>
                  <a:srgbClr val="1E2B36"/>
                </a:solidFill>
                <a:latin typeface="Consolas"/>
              </a:rPr>
              <a:t>time  </a:t>
            </a:r>
            <a:r>
              <a:rPr sz="1200">
                <a:solidFill>
                  <a:srgbClr val="E97132"/>
                </a:solidFill>
                <a:latin typeface="Consolas"/>
              </a:rPr>
              <a:t>TSTZSPAN</a:t>
            </a:r>
          </a:p>
          <a:p>
            <a:pPr>
              <a:lnSpc>
                <a:spcPct val="100000"/>
              </a:lnSpc>
              <a:spcBef>
                <a:spcPts val="0"/>
              </a:spcBef>
              <a:spcAft>
                <a:spcPts val="150"/>
              </a:spcAft>
            </a:pPr>
            <a:r>
              <a:rPr sz="1200" b="1">
                <a:solidFill>
                  <a:srgbClr val="1E2B36"/>
                </a:solidFill>
                <a:latin typeface="Consolas"/>
              </a:rPr>
              <a:t>crs  </a:t>
            </a:r>
            <a:r>
              <a:rPr sz="1200">
                <a:solidFill>
                  <a:srgbClr val="5B6B78"/>
                </a:solidFill>
                <a:latin typeface="Consolas"/>
              </a:rPr>
              <a:t>JSONB</a:t>
            </a:r>
          </a:p>
          <a:p>
            <a:pPr>
              <a:lnSpc>
                <a:spcPct val="100000"/>
              </a:lnSpc>
              <a:spcBef>
                <a:spcPts val="0"/>
              </a:spcBef>
              <a:spcAft>
                <a:spcPts val="150"/>
              </a:spcAft>
            </a:pPr>
            <a:r>
              <a:rPr sz="1200" b="1">
                <a:solidFill>
                  <a:srgbClr val="1E2B36"/>
                </a:solidFill>
                <a:latin typeface="Consolas"/>
              </a:rPr>
              <a:t>trs  </a:t>
            </a:r>
            <a:r>
              <a:rPr sz="1200">
                <a:solidFill>
                  <a:srgbClr val="5B6B78"/>
                </a:solidFill>
                <a:latin typeface="Consolas"/>
              </a:rPr>
              <a:t>JSONB</a:t>
            </a:r>
          </a:p>
          <a:p>
            <a:pPr>
              <a:lnSpc>
                <a:spcPct val="100000"/>
              </a:lnSpc>
              <a:spcBef>
                <a:spcPts val="0"/>
              </a:spcBef>
              <a:spcAft>
                <a:spcPts val="150"/>
              </a:spcAft>
            </a:pPr>
            <a:r>
              <a:rPr sz="1200" b="1">
                <a:solidFill>
                  <a:srgbClr val="1E2B36"/>
                </a:solidFill>
                <a:latin typeface="Consolas"/>
              </a:rPr>
              <a:t>created_at  </a:t>
            </a:r>
            <a:r>
              <a:rPr sz="1200">
                <a:solidFill>
                  <a:srgbClr val="5B6B78"/>
                </a:solidFill>
                <a:latin typeface="Consolas"/>
              </a:rPr>
              <a:t>TIMESTAMP</a:t>
            </a:r>
          </a:p>
        </p:txBody>
      </p:sp>
      <p:sp>
        <p:nvSpPr>
          <p:cNvPr id="17" name="Rounded Rectangle 16"/>
          <p:cNvSpPr/>
          <p:nvPr/>
        </p:nvSpPr>
        <p:spPr>
          <a:xfrm>
            <a:off x="4359554" y="4131259"/>
            <a:ext cx="3472586" cy="1757476"/>
          </a:xfrm>
          <a:prstGeom prst="roundRect">
            <a:avLst>
              <a:gd name="adj" fmla="val 4500"/>
            </a:avLst>
          </a:prstGeom>
          <a:solidFill>
            <a:srgbClr val="FFFFFF"/>
          </a:solidFill>
          <a:ln w="17780">
            <a:solidFill>
              <a:srgbClr val="A02B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359554" y="4131259"/>
            <a:ext cx="3472586" cy="365760"/>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5858" y="4149547"/>
            <a:ext cx="3198266"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onsolas"/>
              </a:rPr>
              <a:t>temporal_values</a:t>
            </a:r>
          </a:p>
        </p:txBody>
      </p:sp>
      <p:sp>
        <p:nvSpPr>
          <p:cNvPr id="20" name="TextBox 19"/>
          <p:cNvSpPr txBox="1"/>
          <p:nvPr/>
        </p:nvSpPr>
        <p:spPr>
          <a:xfrm>
            <a:off x="4505858" y="4542739"/>
            <a:ext cx="3216554" cy="1364284"/>
          </a:xfrm>
          <a:prstGeom prst="rect">
            <a:avLst/>
          </a:prstGeom>
          <a:noFill/>
        </p:spPr>
        <p:txBody>
          <a:bodyPr wrap="none" lIns="0" rIns="0" tIns="0" bIns="0">
            <a:noAutofit/>
          </a:bodyPr>
          <a:lstStyle/>
          <a:p>
            <a:pPr>
              <a:lnSpc>
                <a:spcPct val="100000"/>
              </a:lnSpc>
              <a:spcBef>
                <a:spcPts val="0"/>
              </a:spcBef>
              <a:spcAft>
                <a:spcPts val="150"/>
              </a:spcAft>
            </a:pPr>
            <a:r>
              <a:rPr sz="1200" b="1">
                <a:solidFill>
                  <a:srgbClr val="A02B93"/>
                </a:solidFill>
                <a:latin typeface="Calibri"/>
              </a:rPr>
              <a:t>PK </a:t>
            </a:r>
            <a:r>
              <a:rPr sz="1200" b="1">
                <a:solidFill>
                  <a:srgbClr val="1E2B36"/>
                </a:solidFill>
                <a:latin typeface="Consolas"/>
              </a:rPr>
              <a:t>id  </a:t>
            </a:r>
            <a:r>
              <a:rPr sz="1200">
                <a:solidFill>
                  <a:srgbClr val="5B6B78"/>
                </a:solidFill>
                <a:latin typeface="Consolas"/>
              </a:rPr>
              <a:t>SERIAL</a:t>
            </a:r>
          </a:p>
          <a:p>
            <a:pPr>
              <a:lnSpc>
                <a:spcPct val="100000"/>
              </a:lnSpc>
              <a:spcBef>
                <a:spcPts val="0"/>
              </a:spcBef>
              <a:spcAft>
                <a:spcPts val="150"/>
              </a:spcAft>
            </a:pPr>
            <a:r>
              <a:rPr sz="1200" b="1">
                <a:solidFill>
                  <a:srgbClr val="156082"/>
                </a:solidFill>
                <a:latin typeface="Calibri"/>
              </a:rPr>
              <a:t>FK </a:t>
            </a:r>
            <a:r>
              <a:rPr sz="1200" b="1">
                <a:solidFill>
                  <a:srgbClr val="1E2B36"/>
                </a:solidFill>
                <a:latin typeface="Consolas"/>
              </a:rPr>
              <a:t>property_id  </a:t>
            </a:r>
            <a:r>
              <a:rPr sz="1200">
                <a:solidFill>
                  <a:srgbClr val="5B6B78"/>
                </a:solidFill>
                <a:latin typeface="Consolas"/>
              </a:rPr>
              <a:t>INTEGER</a:t>
            </a:r>
          </a:p>
          <a:p>
            <a:pPr>
              <a:lnSpc>
                <a:spcPct val="100000"/>
              </a:lnSpc>
              <a:spcBef>
                <a:spcPts val="0"/>
              </a:spcBef>
              <a:spcAft>
                <a:spcPts val="150"/>
              </a:spcAft>
            </a:pPr>
            <a:r>
              <a:rPr sz="1200" b="1">
                <a:solidFill>
                  <a:srgbClr val="1E2B36"/>
                </a:solidFill>
                <a:latin typeface="Consolas"/>
              </a:rPr>
              <a:t>datetimes  </a:t>
            </a:r>
            <a:r>
              <a:rPr sz="1200">
                <a:solidFill>
                  <a:srgbClr val="E97132"/>
                </a:solidFill>
                <a:latin typeface="Consolas"/>
              </a:rPr>
              <a:t>TIMESTAMP[]</a:t>
            </a:r>
          </a:p>
          <a:p>
            <a:pPr>
              <a:lnSpc>
                <a:spcPct val="100000"/>
              </a:lnSpc>
              <a:spcBef>
                <a:spcPts val="0"/>
              </a:spcBef>
              <a:spcAft>
                <a:spcPts val="150"/>
              </a:spcAft>
            </a:pPr>
            <a:r>
              <a:rPr sz="1200" b="1">
                <a:solidFill>
                  <a:srgbClr val="1E2B36"/>
                </a:solidFill>
                <a:latin typeface="Consolas"/>
              </a:rPr>
              <a:t>values  </a:t>
            </a:r>
            <a:r>
              <a:rPr sz="1200">
                <a:solidFill>
                  <a:srgbClr val="5B6B78"/>
                </a:solidFill>
                <a:latin typeface="Consolas"/>
              </a:rPr>
              <a:t>JSONB</a:t>
            </a:r>
          </a:p>
          <a:p>
            <a:pPr>
              <a:lnSpc>
                <a:spcPct val="100000"/>
              </a:lnSpc>
              <a:spcBef>
                <a:spcPts val="0"/>
              </a:spcBef>
              <a:spcAft>
                <a:spcPts val="150"/>
              </a:spcAft>
            </a:pPr>
            <a:r>
              <a:rPr sz="1200" b="1">
                <a:solidFill>
                  <a:srgbClr val="1E2B36"/>
                </a:solidFill>
                <a:latin typeface="Consolas"/>
              </a:rPr>
              <a:t>interpolation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created_at  </a:t>
            </a:r>
            <a:r>
              <a:rPr sz="1200">
                <a:solidFill>
                  <a:srgbClr val="5B6B78"/>
                </a:solidFill>
                <a:latin typeface="Consolas"/>
              </a:rPr>
              <a:t>TIMESTAMP</a:t>
            </a:r>
          </a:p>
        </p:txBody>
      </p:sp>
      <p:sp>
        <p:nvSpPr>
          <p:cNvPr id="21" name="Rounded Rectangle 20"/>
          <p:cNvSpPr/>
          <p:nvPr/>
        </p:nvSpPr>
        <p:spPr>
          <a:xfrm>
            <a:off x="8152180" y="1572768"/>
            <a:ext cx="3472586" cy="1969617"/>
          </a:xfrm>
          <a:prstGeom prst="roundRect">
            <a:avLst>
              <a:gd name="adj" fmla="val 4500"/>
            </a:avLst>
          </a:prstGeom>
          <a:solidFill>
            <a:srgbClr val="FFFFFF"/>
          </a:solidFill>
          <a:ln w="1778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52180" y="1572768"/>
            <a:ext cx="3472586" cy="365760"/>
          </a:xfrm>
          <a:prstGeom prst="roundRect">
            <a:avLst>
              <a:gd name="adj" fmla="val 8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98484" y="1591056"/>
            <a:ext cx="3198266"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onsolas"/>
              </a:rPr>
              <a:t>temporal_properties</a:t>
            </a:r>
          </a:p>
        </p:txBody>
      </p:sp>
      <p:sp>
        <p:nvSpPr>
          <p:cNvPr id="24" name="TextBox 23"/>
          <p:cNvSpPr txBox="1"/>
          <p:nvPr/>
        </p:nvSpPr>
        <p:spPr>
          <a:xfrm>
            <a:off x="8298484" y="1984248"/>
            <a:ext cx="3216554" cy="1576425"/>
          </a:xfrm>
          <a:prstGeom prst="rect">
            <a:avLst/>
          </a:prstGeom>
          <a:noFill/>
        </p:spPr>
        <p:txBody>
          <a:bodyPr wrap="none" lIns="0" rIns="0" tIns="0" bIns="0">
            <a:noAutofit/>
          </a:bodyPr>
          <a:lstStyle/>
          <a:p>
            <a:pPr>
              <a:lnSpc>
                <a:spcPct val="100000"/>
              </a:lnSpc>
              <a:spcBef>
                <a:spcPts val="0"/>
              </a:spcBef>
              <a:spcAft>
                <a:spcPts val="150"/>
              </a:spcAft>
            </a:pPr>
            <a:r>
              <a:rPr sz="1200" b="1">
                <a:solidFill>
                  <a:srgbClr val="0E2841"/>
                </a:solidFill>
                <a:latin typeface="Calibri"/>
              </a:rPr>
              <a:t>PK </a:t>
            </a:r>
            <a:r>
              <a:rPr sz="1200" b="1">
                <a:solidFill>
                  <a:srgbClr val="1E2B36"/>
                </a:solidFill>
                <a:latin typeface="Consolas"/>
              </a:rPr>
              <a:t>id  </a:t>
            </a:r>
            <a:r>
              <a:rPr sz="1200">
                <a:solidFill>
                  <a:srgbClr val="5B6B78"/>
                </a:solidFill>
                <a:latin typeface="Consolas"/>
              </a:rPr>
              <a:t>SERIAL</a:t>
            </a:r>
          </a:p>
          <a:p>
            <a:pPr>
              <a:lnSpc>
                <a:spcPct val="100000"/>
              </a:lnSpc>
              <a:spcBef>
                <a:spcPts val="0"/>
              </a:spcBef>
              <a:spcAft>
                <a:spcPts val="150"/>
              </a:spcAft>
            </a:pPr>
            <a:r>
              <a:rPr sz="1200" b="1">
                <a:solidFill>
                  <a:srgbClr val="156082"/>
                </a:solidFill>
                <a:latin typeface="Calibri"/>
              </a:rPr>
              <a:t>FK </a:t>
            </a:r>
            <a:r>
              <a:rPr sz="1200" b="1">
                <a:solidFill>
                  <a:srgbClr val="1E2B36"/>
                </a:solidFill>
                <a:latin typeface="Consolas"/>
              </a:rPr>
              <a:t>feature_id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property_name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property_type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form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description  </a:t>
            </a:r>
            <a:r>
              <a:rPr sz="1200">
                <a:solidFill>
                  <a:srgbClr val="5B6B78"/>
                </a:solidFill>
                <a:latin typeface="Consolas"/>
              </a:rPr>
              <a:t>TEXT</a:t>
            </a:r>
          </a:p>
          <a:p>
            <a:pPr>
              <a:lnSpc>
                <a:spcPct val="100000"/>
              </a:lnSpc>
              <a:spcBef>
                <a:spcPts val="0"/>
              </a:spcBef>
              <a:spcAft>
                <a:spcPts val="150"/>
              </a:spcAft>
            </a:pPr>
            <a:r>
              <a:rPr sz="1200" b="1">
                <a:solidFill>
                  <a:srgbClr val="1E2B36"/>
                </a:solidFill>
                <a:latin typeface="Consolas"/>
              </a:rPr>
              <a:t>created_at  </a:t>
            </a:r>
            <a:r>
              <a:rPr sz="1200">
                <a:solidFill>
                  <a:srgbClr val="5B6B78"/>
                </a:solidFill>
                <a:latin typeface="Consolas"/>
              </a:rPr>
              <a:t>TIMESTAMP</a:t>
            </a:r>
          </a:p>
        </p:txBody>
      </p:sp>
      <p:sp>
        <p:nvSpPr>
          <p:cNvPr id="25" name="Rounded Rectangle 24"/>
          <p:cNvSpPr/>
          <p:nvPr/>
        </p:nvSpPr>
        <p:spPr>
          <a:xfrm>
            <a:off x="8152180" y="3743553"/>
            <a:ext cx="3472586" cy="178308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16772" y="3853281"/>
            <a:ext cx="3198266" cy="22860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LEGEND</a:t>
            </a:r>
          </a:p>
        </p:txBody>
      </p:sp>
      <p:sp>
        <p:nvSpPr>
          <p:cNvPr id="27" name="TextBox 26"/>
          <p:cNvSpPr txBox="1"/>
          <p:nvPr/>
        </p:nvSpPr>
        <p:spPr>
          <a:xfrm>
            <a:off x="8316772" y="4127601"/>
            <a:ext cx="3161690" cy="914400"/>
          </a:xfrm>
          <a:prstGeom prst="rect">
            <a:avLst/>
          </a:prstGeom>
          <a:noFill/>
        </p:spPr>
        <p:txBody>
          <a:bodyPr wrap="square" lIns="0" rIns="0" tIns="0" bIns="0">
            <a:spAutoFit/>
          </a:bodyPr>
          <a:lstStyle/>
          <a:p>
            <a:pPr>
              <a:lnSpc>
                <a:spcPct val="105000"/>
              </a:lnSpc>
              <a:spcAft>
                <a:spcPts val="300"/>
              </a:spcAft>
            </a:pPr>
            <a:r>
              <a:rPr sz="1200" b="0">
                <a:solidFill>
                  <a:srgbClr val="1E2B36"/>
                </a:solidFill>
                <a:latin typeface="Calibri"/>
              </a:rPr>
              <a:t>PK primary key      FK foreign key</a:t>
            </a:r>
          </a:p>
          <a:p>
            <a:pPr>
              <a:lnSpc>
                <a:spcPct val="105000"/>
              </a:lnSpc>
              <a:spcAft>
                <a:spcPts val="300"/>
              </a:spcAft>
            </a:pPr>
            <a:r>
              <a:rPr sz="1200" b="0">
                <a:solidFill>
                  <a:srgbClr val="1E2B36"/>
                </a:solidFill>
                <a:latin typeface="Calibri"/>
              </a:rPr>
              <a:t>FK columns reference collections /</a:t>
            </a:r>
          </a:p>
          <a:p>
            <a:pPr>
              <a:lnSpc>
                <a:spcPct val="105000"/>
              </a:lnSpc>
              <a:spcAft>
                <a:spcPts val="300"/>
              </a:spcAft>
            </a:pPr>
            <a:r>
              <a:rPr sz="1200" b="0">
                <a:solidFill>
                  <a:srgbClr val="1E2B36"/>
                </a:solidFill>
                <a:latin typeface="Calibri"/>
              </a:rPr>
              <a:t>moving_features / temporal_properties</a:t>
            </a:r>
          </a:p>
          <a:p>
            <a:pPr>
              <a:lnSpc>
                <a:spcPct val="105000"/>
              </a:lnSpc>
              <a:spcAft>
                <a:spcPts val="300"/>
              </a:spcAft>
            </a:pPr>
            <a:r>
              <a:rPr sz="1200" b="0">
                <a:solidFill>
                  <a:srgbClr val="1E2B36"/>
                </a:solidFill>
                <a:latin typeface="Calibri"/>
              </a:rPr>
              <a:t>Highlighted = native MobilityDB / PostGIS:</a:t>
            </a:r>
          </a:p>
          <a:p>
            <a:pPr>
              <a:lnSpc>
                <a:spcPct val="105000"/>
              </a:lnSpc>
              <a:spcAft>
                <a:spcPts val="300"/>
              </a:spcAft>
            </a:pPr>
            <a:r>
              <a:rPr sz="1200" b="1">
                <a:solidFill>
                  <a:srgbClr val="E97132"/>
                </a:solidFill>
                <a:latin typeface="Calibri"/>
              </a:rPr>
              <a:t>STBOX · TSTZSPAN · tgeompoint · geometry</a:t>
            </a:r>
          </a:p>
        </p:txBody>
      </p:sp>
      <p:sp>
        <p:nvSpPr>
          <p:cNvPr id="28" name="Rectangle 2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0" name="TextBox 2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png"/>
          <p:cNvPicPr>
            <a:picLocks noChangeAspect="1"/>
          </p:cNvPicPr>
          <p:nvPr/>
        </p:nvPicPr>
        <p:blipFill>
          <a:blip r:embed="rId2"/>
          <a:stretch>
            <a:fillRect/>
          </a:stretch>
        </p:blipFill>
        <p:spPr>
          <a:xfrm>
            <a:off x="6400800" y="2030234"/>
            <a:ext cx="5394960" cy="362049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2024-08-07 — a single day of observations</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143 vessels  </a:t>
            </a:r>
            <a:r>
              <a:rPr sz="1400">
                <a:solidFill>
                  <a:srgbClr val="1E2B36"/>
                </a:solidFill>
                <a:latin typeface="Calibri"/>
              </a:rPr>
              <a:t>each one a MovingPoint trajectory</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Temporal properties  </a:t>
            </a:r>
            <a:r>
              <a:rPr sz="1400">
                <a:solidFill>
                  <a:srgbClr val="1E2B36"/>
                </a:solidFill>
                <a:latin typeface="Calibri"/>
              </a:rPr>
              <a:t>speed (sog), course (cog) and heading per vessel</a:t>
            </a:r>
          </a:p>
        </p:txBody>
      </p:sp>
      <p:sp>
        <p:nvSpPr>
          <p:cNvPr id="7" name="TextBox 6"/>
          <p:cNvSpPr txBox="1"/>
          <p:nvPr/>
        </p:nvSpPr>
        <p:spPr>
          <a:xfrm>
            <a:off x="6400800" y="6089904"/>
            <a:ext cx="539496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143 vessel trajectories across Danish and Baltic waters</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Complete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525780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72768"/>
            <a:ext cx="82296" cy="146304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48920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Rounded Rectangle 7"/>
          <p:cNvSpPr/>
          <p:nvPr/>
        </p:nvSpPr>
        <p:spPr>
          <a:xfrm>
            <a:off x="822960" y="2066543"/>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Rounded Rectangle 8"/>
          <p:cNvSpPr/>
          <p:nvPr/>
        </p:nvSpPr>
        <p:spPr>
          <a:xfrm>
            <a:off x="1527048" y="2066543"/>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2359152" y="2057400"/>
            <a:ext cx="341071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a:t>
            </a:r>
          </a:p>
        </p:txBody>
      </p:sp>
      <p:sp>
        <p:nvSpPr>
          <p:cNvPr id="11" name="Rounded Rectangle 10"/>
          <p:cNvSpPr/>
          <p:nvPr/>
        </p:nvSpPr>
        <p:spPr>
          <a:xfrm>
            <a:off x="822960" y="252374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2" name="Rounded Rectangle 11"/>
          <p:cNvSpPr/>
          <p:nvPr/>
        </p:nvSpPr>
        <p:spPr>
          <a:xfrm>
            <a:off x="1527048" y="2523744"/>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3" name="Rounded Rectangle 12"/>
          <p:cNvSpPr/>
          <p:nvPr/>
        </p:nvSpPr>
        <p:spPr>
          <a:xfrm>
            <a:off x="2194560" y="2523744"/>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4" name="TextBox 13"/>
          <p:cNvSpPr txBox="1"/>
          <p:nvPr/>
        </p:nvSpPr>
        <p:spPr>
          <a:xfrm>
            <a:off x="3246120" y="2514600"/>
            <a:ext cx="2523744"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/collections/{collectionId}</a:t>
            </a:r>
          </a:p>
        </p:txBody>
      </p:sp>
      <p:sp>
        <p:nvSpPr>
          <p:cNvPr id="15" name="Rounded Rectangle 14"/>
          <p:cNvSpPr/>
          <p:nvPr/>
        </p:nvSpPr>
        <p:spPr>
          <a:xfrm>
            <a:off x="566928" y="3200400"/>
            <a:ext cx="525780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200400"/>
            <a:ext cx="82296" cy="146304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328416"/>
            <a:ext cx="4892040"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8" name="Rounded Rectangle 17"/>
          <p:cNvSpPr/>
          <p:nvPr/>
        </p:nvSpPr>
        <p:spPr>
          <a:xfrm>
            <a:off x="822960" y="3694176"/>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9" name="Rounded Rectangle 18"/>
          <p:cNvSpPr/>
          <p:nvPr/>
        </p:nvSpPr>
        <p:spPr>
          <a:xfrm>
            <a:off x="1527048" y="3694176"/>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20" name="TextBox 19"/>
          <p:cNvSpPr txBox="1"/>
          <p:nvPr/>
        </p:nvSpPr>
        <p:spPr>
          <a:xfrm>
            <a:off x="2359152" y="3685032"/>
            <a:ext cx="341071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/collections/{collectionId}/items</a:t>
            </a:r>
          </a:p>
        </p:txBody>
      </p:sp>
      <p:sp>
        <p:nvSpPr>
          <p:cNvPr id="21" name="Rounded Rectangle 20"/>
          <p:cNvSpPr/>
          <p:nvPr/>
        </p:nvSpPr>
        <p:spPr>
          <a:xfrm>
            <a:off x="822960" y="4151376"/>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2" name="Rounded Rectangle 21"/>
          <p:cNvSpPr/>
          <p:nvPr/>
        </p:nvSpPr>
        <p:spPr>
          <a:xfrm>
            <a:off x="1527048" y="4151376"/>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23" name="TextBox 22"/>
          <p:cNvSpPr txBox="1"/>
          <p:nvPr/>
        </p:nvSpPr>
        <p:spPr>
          <a:xfrm>
            <a:off x="2578608" y="4142232"/>
            <a:ext cx="3191256"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…/items/{mFeatureId}</a:t>
            </a:r>
          </a:p>
        </p:txBody>
      </p:sp>
      <p:sp>
        <p:nvSpPr>
          <p:cNvPr id="24" name="Rounded Rectangle 23"/>
          <p:cNvSpPr/>
          <p:nvPr/>
        </p:nvSpPr>
        <p:spPr>
          <a:xfrm>
            <a:off x="566928" y="4828032"/>
            <a:ext cx="525780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4828032"/>
            <a:ext cx="82296" cy="146304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956048"/>
            <a:ext cx="48920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TEMPORAL GEOMETRY</a:t>
            </a:r>
          </a:p>
        </p:txBody>
      </p:sp>
      <p:sp>
        <p:nvSpPr>
          <p:cNvPr id="27" name="Rounded Rectangle 26"/>
          <p:cNvSpPr/>
          <p:nvPr/>
        </p:nvSpPr>
        <p:spPr>
          <a:xfrm>
            <a:off x="822960" y="53218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8" name="Rounded Rectangle 27"/>
          <p:cNvSpPr/>
          <p:nvPr/>
        </p:nvSpPr>
        <p:spPr>
          <a:xfrm>
            <a:off x="1527048" y="532180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29" name="TextBox 28"/>
          <p:cNvSpPr txBox="1"/>
          <p:nvPr/>
        </p:nvSpPr>
        <p:spPr>
          <a:xfrm>
            <a:off x="2359152" y="5312664"/>
            <a:ext cx="341071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…/{mFeatureId}/tgsequence</a:t>
            </a:r>
          </a:p>
        </p:txBody>
      </p:sp>
      <p:sp>
        <p:nvSpPr>
          <p:cNvPr id="30" name="Rounded Rectangle 29"/>
          <p:cNvSpPr/>
          <p:nvPr/>
        </p:nvSpPr>
        <p:spPr>
          <a:xfrm>
            <a:off x="822960" y="577900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31" name="TextBox 30"/>
          <p:cNvSpPr txBox="1"/>
          <p:nvPr/>
        </p:nvSpPr>
        <p:spPr>
          <a:xfrm>
            <a:off x="1874519" y="5769864"/>
            <a:ext cx="3895344"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…/tgsequence/{tGeometryId}</a:t>
            </a:r>
          </a:p>
        </p:txBody>
      </p:sp>
      <p:sp>
        <p:nvSpPr>
          <p:cNvPr id="32" name="Rounded Rectangle 31"/>
          <p:cNvSpPr/>
          <p:nvPr/>
        </p:nvSpPr>
        <p:spPr>
          <a:xfrm>
            <a:off x="6007608" y="1572768"/>
            <a:ext cx="5617159"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07608" y="1572768"/>
            <a:ext cx="82296" cy="146304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1700784"/>
            <a:ext cx="5251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QUERIES</a:t>
            </a:r>
          </a:p>
        </p:txBody>
      </p:sp>
      <p:sp>
        <p:nvSpPr>
          <p:cNvPr id="35" name="Rounded Rectangle 34"/>
          <p:cNvSpPr/>
          <p:nvPr/>
        </p:nvSpPr>
        <p:spPr>
          <a:xfrm>
            <a:off x="6263640" y="2066543"/>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36" name="TextBox 35"/>
          <p:cNvSpPr txBox="1"/>
          <p:nvPr/>
        </p:nvSpPr>
        <p:spPr>
          <a:xfrm>
            <a:off x="7022592" y="2057400"/>
            <a:ext cx="454731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…/tgsequence/{tGeometryId}/distance</a:t>
            </a:r>
          </a:p>
        </p:txBody>
      </p:sp>
      <p:sp>
        <p:nvSpPr>
          <p:cNvPr id="37" name="Rounded Rectangle 36"/>
          <p:cNvSpPr/>
          <p:nvPr/>
        </p:nvSpPr>
        <p:spPr>
          <a:xfrm>
            <a:off x="6263640" y="252374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38" name="TextBox 37"/>
          <p:cNvSpPr txBox="1"/>
          <p:nvPr/>
        </p:nvSpPr>
        <p:spPr>
          <a:xfrm>
            <a:off x="7022592" y="2514600"/>
            <a:ext cx="454731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…/{tGeometryId}/velocity · /acceleration</a:t>
            </a:r>
          </a:p>
        </p:txBody>
      </p:sp>
      <p:sp>
        <p:nvSpPr>
          <p:cNvPr id="39" name="Rounded Rectangle 38"/>
          <p:cNvSpPr/>
          <p:nvPr/>
        </p:nvSpPr>
        <p:spPr>
          <a:xfrm>
            <a:off x="6007608" y="3200400"/>
            <a:ext cx="5617159" cy="19202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007608" y="3200400"/>
            <a:ext cx="82296" cy="192024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63640" y="3328416"/>
            <a:ext cx="5251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TEMPORAL PROPERTIES</a:t>
            </a:r>
          </a:p>
        </p:txBody>
      </p:sp>
      <p:sp>
        <p:nvSpPr>
          <p:cNvPr id="42" name="Rounded Rectangle 41"/>
          <p:cNvSpPr/>
          <p:nvPr/>
        </p:nvSpPr>
        <p:spPr>
          <a:xfrm>
            <a:off x="6263640" y="3694176"/>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43" name="Rounded Rectangle 42"/>
          <p:cNvSpPr/>
          <p:nvPr/>
        </p:nvSpPr>
        <p:spPr>
          <a:xfrm>
            <a:off x="6967728" y="3694176"/>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44" name="TextBox 43"/>
          <p:cNvSpPr txBox="1"/>
          <p:nvPr/>
        </p:nvSpPr>
        <p:spPr>
          <a:xfrm>
            <a:off x="7799832" y="3685032"/>
            <a:ext cx="377007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…/{mFeatureId}/tproperties</a:t>
            </a:r>
          </a:p>
        </p:txBody>
      </p:sp>
      <p:sp>
        <p:nvSpPr>
          <p:cNvPr id="45" name="Rounded Rectangle 44"/>
          <p:cNvSpPr/>
          <p:nvPr/>
        </p:nvSpPr>
        <p:spPr>
          <a:xfrm>
            <a:off x="6263640" y="4151376"/>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46" name="Rounded Rectangle 45"/>
          <p:cNvSpPr/>
          <p:nvPr/>
        </p:nvSpPr>
        <p:spPr>
          <a:xfrm>
            <a:off x="6967728" y="4151376"/>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47" name="Rounded Rectangle 46"/>
          <p:cNvSpPr/>
          <p:nvPr/>
        </p:nvSpPr>
        <p:spPr>
          <a:xfrm>
            <a:off x="7744968" y="4151376"/>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48" name="TextBox 47"/>
          <p:cNvSpPr txBox="1"/>
          <p:nvPr/>
        </p:nvSpPr>
        <p:spPr>
          <a:xfrm>
            <a:off x="8796528" y="4142232"/>
            <a:ext cx="2773375"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…/tproperties/{tPropertyName}</a:t>
            </a:r>
          </a:p>
        </p:txBody>
      </p:sp>
      <p:sp>
        <p:nvSpPr>
          <p:cNvPr id="49" name="Rounded Rectangle 48"/>
          <p:cNvSpPr/>
          <p:nvPr/>
        </p:nvSpPr>
        <p:spPr>
          <a:xfrm>
            <a:off x="6263640" y="4608576"/>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50" name="TextBox 49"/>
          <p:cNvSpPr txBox="1"/>
          <p:nvPr/>
        </p:nvSpPr>
        <p:spPr>
          <a:xfrm>
            <a:off x="7315200" y="4599432"/>
            <a:ext cx="4254703"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…/tproperties/{tPropertyName}/{tValueId}</a:t>
            </a:r>
          </a:p>
        </p:txBody>
      </p:sp>
      <p:sp>
        <p:nvSpPr>
          <p:cNvPr id="51" name="Rectangle 5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53" name="TextBox 52"/>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Building the Ships Collection</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Create  →  insert  →  query  →  derive  →  delete, end to end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a Collection · List Collections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57200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Rounded Rectangle 6"/>
          <p:cNvSpPr/>
          <p:nvPr/>
        </p:nvSpPr>
        <p:spPr>
          <a:xfrm>
            <a:off x="566928" y="1920240"/>
            <a:ext cx="5394960" cy="18288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138928" cy="16459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"Ship trajectories from the Danish</a:t>
            </a:r>
          </a:p>
          <a:p>
            <a:pPr>
              <a:lnSpc>
                <a:spcPct val="102000"/>
              </a:lnSpc>
              <a:spcBef>
                <a:spcPts val="0"/>
              </a:spcBef>
              <a:spcAft>
                <a:spcPts val="0"/>
              </a:spcAft>
            </a:pPr>
            <a:r>
              <a:rPr sz="1200">
                <a:solidFill>
                  <a:srgbClr val="C2D0DA"/>
                </a:solidFill>
                <a:latin typeface="Consolas"/>
              </a:rPr>
              <a:t>                  Maritime Authority (one day of AIS).",</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"updateFrequency"</a:t>
            </a:r>
            <a:r>
              <a:rPr sz="1200">
                <a:solidFill>
                  <a:srgbClr val="C2D0DA"/>
                </a:solidFill>
                <a:latin typeface="Consolas"/>
              </a:rPr>
              <a:t>: </a:t>
            </a:r>
            <a:r>
              <a:rPr sz="1200">
                <a:solidFill>
                  <a:srgbClr val="C9E08A"/>
                </a:solidFill>
                <a:latin typeface="Consolas"/>
              </a:rPr>
              <a:t>1000</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566928" y="3858768"/>
            <a:ext cx="539496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201 Created</a:t>
            </a:r>
          </a:p>
        </p:txBody>
      </p:sp>
      <p:sp>
        <p:nvSpPr>
          <p:cNvPr id="10" name="Rounded Rectangle 9"/>
          <p:cNvSpPr/>
          <p:nvPr/>
        </p:nvSpPr>
        <p:spPr>
          <a:xfrm>
            <a:off x="566928" y="4114800"/>
            <a:ext cx="5394960" cy="2057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DEPANEL"/>
          <p:cNvSpPr txBox="1"/>
          <p:nvPr/>
        </p:nvSpPr>
        <p:spPr>
          <a:xfrm>
            <a:off x="694944" y="4206240"/>
            <a:ext cx="5138928" cy="187451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 </a:t>
            </a:r>
            <a:r>
              <a:rPr sz="1200">
                <a:solidFill>
                  <a:srgbClr val="6FC3E0"/>
                </a:solidFill>
                <a:latin typeface="Consolas"/>
              </a:rPr>
              <a:t>"updateFrequency"</a:t>
            </a:r>
            <a:r>
              <a:rPr sz="1200">
                <a:solidFill>
                  <a:srgbClr val="C2D0DA"/>
                </a:solidFill>
                <a:latin typeface="Consolas"/>
              </a:rPr>
              <a:t>: </a:t>
            </a:r>
            <a:r>
              <a:rPr sz="1200">
                <a:solidFill>
                  <a:srgbClr val="C9E08A"/>
                </a:solidFill>
                <a:latin typeface="Consolas"/>
              </a:rPr>
              <a:t>1000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r>
              <a:rPr sz="1200">
                <a:solidFill>
                  <a:srgbClr val="CBA0E8"/>
                </a:solidFill>
                <a:latin typeface="Consolas"/>
              </a:rPr>
              <a:t>null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2" name="Rounded Rectangle 11"/>
          <p:cNvSpPr/>
          <p:nvPr/>
        </p:nvSpPr>
        <p:spPr>
          <a:xfrm>
            <a:off x="623620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3" name="TextBox 12"/>
          <p:cNvSpPr txBox="1"/>
          <p:nvPr/>
        </p:nvSpPr>
        <p:spPr>
          <a:xfrm>
            <a:off x="6986016" y="1545336"/>
            <a:ext cx="463875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14" name="TextBox 13"/>
          <p:cNvSpPr txBox="1"/>
          <p:nvPr/>
        </p:nvSpPr>
        <p:spPr>
          <a:xfrm>
            <a:off x="6236208" y="1920240"/>
            <a:ext cx="538855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5" name="Rounded Rectangle 14"/>
          <p:cNvSpPr/>
          <p:nvPr/>
        </p:nvSpPr>
        <p:spPr>
          <a:xfrm>
            <a:off x="6236208" y="2194560"/>
            <a:ext cx="5388559"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DEPANEL"/>
          <p:cNvSpPr txBox="1"/>
          <p:nvPr/>
        </p:nvSpPr>
        <p:spPr>
          <a:xfrm>
            <a:off x="6364224" y="2286000"/>
            <a:ext cx="5132527"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"updateFrequency"</a:t>
            </a:r>
            <a:r>
              <a:rPr sz="1200">
                <a:solidFill>
                  <a:srgbClr val="C2D0DA"/>
                </a:solidFill>
                <a:latin typeface="Consolas"/>
              </a:rPr>
              <a:t>: </a:t>
            </a:r>
            <a:r>
              <a:rPr sz="1200">
                <a:solidFill>
                  <a:srgbClr val="C9E08A"/>
                </a:solidFill>
                <a:latin typeface="Consolas"/>
              </a:rPr>
              <a:t>1000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 Replace · Delete a Collection</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64515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7" name="Rounded Rectangle 6"/>
          <p:cNvSpPr/>
          <p:nvPr/>
        </p:nvSpPr>
        <p:spPr>
          <a:xfrm>
            <a:off x="566928" y="1920240"/>
            <a:ext cx="5394960" cy="2606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138928" cy="2423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"Ship trajectories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"updateFrequency"</a:t>
            </a:r>
            <a:r>
              <a:rPr sz="1200">
                <a:solidFill>
                  <a:srgbClr val="C2D0DA"/>
                </a:solidFill>
                <a:latin typeface="Consolas"/>
              </a:rPr>
              <a:t>: </a:t>
            </a:r>
            <a:r>
              <a:rPr sz="1200">
                <a:solidFill>
                  <a:srgbClr val="C9E08A"/>
                </a:solidFill>
                <a:latin typeface="Consolas"/>
              </a:rPr>
              <a:t>1000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r>
              <a:rPr sz="1200">
                <a:solidFill>
                  <a:srgbClr val="CBA0E8"/>
                </a:solidFill>
                <a:latin typeface="Consolas"/>
              </a:rPr>
              <a:t>null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70916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0" name="TextBox 9"/>
          <p:cNvSpPr txBox="1"/>
          <p:nvPr/>
        </p:nvSpPr>
        <p:spPr>
          <a:xfrm>
            <a:off x="1609344" y="4700016"/>
            <a:ext cx="4352544"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1" name="Rounded Rectangle 10"/>
          <p:cNvSpPr/>
          <p:nvPr/>
        </p:nvSpPr>
        <p:spPr>
          <a:xfrm>
            <a:off x="566928" y="5029200"/>
            <a:ext cx="5394960" cy="502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5120640"/>
            <a:ext cx="5138928" cy="32004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a:t>
            </a:r>
            <a:r>
              <a:rPr sz="1200">
                <a:solidFill>
                  <a:srgbClr val="7E94A6"/>
                </a:solidFill>
                <a:latin typeface="Consolas"/>
              </a:rPr>
              <a:t>// collection and all its items removed</a:t>
            </a:r>
          </a:p>
        </p:txBody>
      </p:sp>
      <p:sp>
        <p:nvSpPr>
          <p:cNvPr id="13" name="Rounded Rectangle 12"/>
          <p:cNvSpPr/>
          <p:nvPr/>
        </p:nvSpPr>
        <p:spPr>
          <a:xfrm>
            <a:off x="6236208" y="1554480"/>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4" name="TextBox 13"/>
          <p:cNvSpPr txBox="1"/>
          <p:nvPr/>
        </p:nvSpPr>
        <p:spPr>
          <a:xfrm>
            <a:off x="6949440" y="1545336"/>
            <a:ext cx="4675327"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5" name="Rounded Rectangle 14"/>
          <p:cNvSpPr/>
          <p:nvPr/>
        </p:nvSpPr>
        <p:spPr>
          <a:xfrm>
            <a:off x="6236208" y="1920240"/>
            <a:ext cx="538855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DEPANEL"/>
          <p:cNvSpPr txBox="1"/>
          <p:nvPr/>
        </p:nvSpPr>
        <p:spPr>
          <a:xfrm>
            <a:off x="6364224" y="2011680"/>
            <a:ext cx="5132527" cy="25603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 2024-08-07 (updated)"</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"updateFrequency"</a:t>
            </a:r>
            <a:r>
              <a:rPr sz="1200">
                <a:solidFill>
                  <a:srgbClr val="C2D0DA"/>
                </a:solidFill>
                <a:latin typeface="Consolas"/>
              </a:rPr>
              <a:t>: </a:t>
            </a:r>
            <a:r>
              <a:rPr sz="1200">
                <a:solidFill>
                  <a:srgbClr val="C9E08A"/>
                </a:solidFill>
                <a:latin typeface="Consolas"/>
              </a:rPr>
              <a:t>2000</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"updateFrequency"</a:t>
            </a:r>
            <a:r>
              <a:rPr sz="1200">
                <a:solidFill>
                  <a:srgbClr val="C2D0DA"/>
                </a:solidFill>
                <a:latin typeface="Consolas"/>
              </a:rPr>
              <a:t>: </a:t>
            </a:r>
            <a:r>
              <a:rPr sz="1200">
                <a:solidFill>
                  <a:srgbClr val="C9E08A"/>
                </a:solidFill>
                <a:latin typeface="Consolas"/>
              </a:rPr>
              <a:t>2000</a:t>
            </a:r>
            <a:r>
              <a:rPr sz="1200">
                <a:solidFill>
                  <a:srgbClr val="C2D0DA"/>
                </a:solidFill>
                <a:latin typeface="Consolas"/>
              </a:rPr>
              <a:t>, ... }</a:t>
            </a:r>
          </a:p>
        </p:txBody>
      </p:sp>
      <p:sp>
        <p:nvSpPr>
          <p:cNvPr id="17" name="TextBox 16"/>
          <p:cNvSpPr txBox="1"/>
          <p:nvPr/>
        </p:nvSpPr>
        <p:spPr>
          <a:xfrm>
            <a:off x="6236208" y="4892040"/>
            <a:ext cx="5388559" cy="1097280"/>
          </a:xfrm>
          <a:prstGeom prst="rect">
            <a:avLst/>
          </a:prstGeom>
          <a:noFill/>
        </p:spPr>
        <p:txBody>
          <a:bodyPr wrap="square" lIns="0" rIns="0" tIns="0" bIns="0">
            <a:noAutofit/>
          </a:bodyPr>
          <a:lstStyle/>
          <a:p>
            <a:pPr>
              <a:lnSpc>
                <a:spcPct val="106000"/>
              </a:lnSpc>
              <a:spcBef>
                <a:spcPts val="0"/>
              </a:spcBef>
              <a:spcAft>
                <a:spcPts val="700"/>
              </a:spcAft>
            </a:pPr>
            <a:r>
              <a:rPr sz="1200" b="1">
                <a:solidFill>
                  <a:srgbClr val="156082"/>
                </a:solidFill>
                <a:latin typeface="Calibri"/>
              </a:rPr>
              <a:t>▸  </a:t>
            </a:r>
            <a:r>
              <a:rPr sz="1200">
                <a:solidFill>
                  <a:srgbClr val="1E2B36"/>
                </a:solidFill>
                <a:latin typeface="Calibri"/>
              </a:rPr>
              <a:t>PUT replaces the full collection resource</a:t>
            </a:r>
          </a:p>
          <a:p>
            <a:pPr>
              <a:lnSpc>
                <a:spcPct val="106000"/>
              </a:lnSpc>
              <a:spcBef>
                <a:spcPts val="0"/>
              </a:spcBef>
              <a:spcAft>
                <a:spcPts val="700"/>
              </a:spcAft>
            </a:pPr>
            <a:r>
              <a:rPr sz="1200" b="1">
                <a:solidFill>
                  <a:srgbClr val="156082"/>
                </a:solidFill>
                <a:latin typeface="Calibri"/>
              </a:rPr>
              <a:t>▸  </a:t>
            </a:r>
            <a:r>
              <a:rPr sz="1200">
                <a:solidFill>
                  <a:srgbClr val="1E2B36"/>
                </a:solidFill>
                <a:latin typeface="Calibri"/>
              </a:rPr>
              <a:t>DELETE cascades to items, temporal geometries and properties</a:t>
            </a:r>
          </a:p>
        </p:txBody>
      </p:sp>
      <p:sp>
        <p:nvSpPr>
          <p:cNvPr id="18" name="Rectangle 1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0" name="TextBox 1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Insert Vessels as a FeatureCollection</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10234879"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47088"/>
            <a:ext cx="690372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38528"/>
            <a:ext cx="6647688" cy="42976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r>
              <a:rPr sz="1200">
                <a:solidFill>
                  <a:srgbClr val="6FC3E0"/>
                </a:solidFill>
                <a:latin typeface="Consolas"/>
              </a:rPr>
              <a:t>"ShipType"</a:t>
            </a:r>
            <a:r>
              <a:rPr sz="1200">
                <a:solidFill>
                  <a:srgbClr val="C2D0DA"/>
                </a:solidFill>
                <a:latin typeface="Consolas"/>
              </a:rPr>
              <a:t>: </a:t>
            </a:r>
            <a:r>
              <a:rPr sz="1200">
                <a:solidFill>
                  <a:srgbClr val="E6A36A"/>
                </a:solidFill>
                <a:latin typeface="Consolas"/>
              </a:rPr>
              <a:t>"Cargo"</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"IMO"</a:t>
            </a:r>
            <a:r>
              <a:rPr sz="1200">
                <a:solidFill>
                  <a:srgbClr val="C2D0DA"/>
                </a:solidFill>
                <a:latin typeface="Consolas"/>
              </a:rPr>
              <a:t>: </a:t>
            </a:r>
            <a:r>
              <a:rPr sz="1200">
                <a:solidFill>
                  <a:srgbClr val="E6A36A"/>
                </a:solidFill>
                <a:latin typeface="Consolas"/>
              </a:rPr>
              <a:t>"9313656"</a:t>
            </a:r>
            <a:r>
              <a:rPr sz="1200">
                <a:solidFill>
                  <a:srgbClr val="C2D0DA"/>
                </a:solidFill>
                <a:latin typeface="Consolas"/>
              </a:rPr>
              <a:t>, </a:t>
            </a:r>
            <a:r>
              <a:rPr sz="1200">
                <a:solidFill>
                  <a:srgbClr val="6FC3E0"/>
                </a:solidFill>
                <a:latin typeface="Consolas"/>
              </a:rPr>
              <a:t>"Destination"</a:t>
            </a:r>
            <a:r>
              <a:rPr sz="1200">
                <a:solidFill>
                  <a:srgbClr val="C2D0DA"/>
                </a:solidFill>
                <a:latin typeface="Consolas"/>
              </a:rPr>
              <a:t>: </a:t>
            </a:r>
            <a:r>
              <a:rPr sz="1200">
                <a:solidFill>
                  <a:srgbClr val="E6A36A"/>
                </a:solidFill>
                <a:latin typeface="Consolas"/>
              </a:rPr>
              <a:t>"PL GDN"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".../def/uom/ISO-8601/0/Gregorian"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"2024-08-07T11:04:09+00"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521540.85</a:t>
            </a:r>
            <a:r>
              <a:rPr sz="1200">
                <a:solidFill>
                  <a:srgbClr val="C2D0DA"/>
                </a:solidFill>
                <a:latin typeface="Consolas"/>
              </a:rPr>
              <a:t>, </a:t>
            </a:r>
            <a:r>
              <a:rPr sz="1200">
                <a:solidFill>
                  <a:srgbClr val="C9E08A"/>
                </a:solidFill>
                <a:latin typeface="Consolas"/>
              </a:rPr>
              <a:t>5995709.13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744967" y="1920240"/>
            <a:ext cx="38797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201 Created</a:t>
            </a:r>
          </a:p>
        </p:txBody>
      </p:sp>
      <p:sp>
        <p:nvSpPr>
          <p:cNvPr id="10" name="Rounded Rectangle 9"/>
          <p:cNvSpPr/>
          <p:nvPr/>
        </p:nvSpPr>
        <p:spPr>
          <a:xfrm>
            <a:off x="7744967" y="2194560"/>
            <a:ext cx="3879799" cy="1005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DEPANEL"/>
          <p:cNvSpPr txBox="1"/>
          <p:nvPr/>
        </p:nvSpPr>
        <p:spPr>
          <a:xfrm>
            <a:off x="7872983" y="2286000"/>
            <a:ext cx="3623767" cy="8229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 1 features"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"ids"</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12" name="TextBox 11"/>
          <p:cNvSpPr txBox="1"/>
          <p:nvPr/>
        </p:nvSpPr>
        <p:spPr>
          <a:xfrm>
            <a:off x="7744967" y="3429000"/>
            <a:ext cx="3879799" cy="24688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Accepts a single Feature or a FeatureCollection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MovingFeaturesJSON payload is validated on insert</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id is the vessel MMSI; properties are free-form</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Location header returned per created feature</a:t>
            </a:r>
          </a:p>
        </p:txBody>
      </p:sp>
      <p:sp>
        <p:nvSpPr>
          <p:cNvPr id="13" name="Rectangle 1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5" name="TextBox 14"/>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 Retrieve · Delete Vessels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/collections/ships/items?limit=50</a:t>
            </a:r>
          </a:p>
        </p:txBody>
      </p:sp>
      <p:sp>
        <p:nvSpPr>
          <p:cNvPr id="7" name="Rounded Rectangle 6"/>
          <p:cNvSpPr/>
          <p:nvPr/>
        </p:nvSpPr>
        <p:spPr>
          <a:xfrm>
            <a:off x="566928" y="1920240"/>
            <a:ext cx="5486400" cy="3291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31089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r>
              <a:rPr sz="1200">
                <a:solidFill>
                  <a:srgbClr val="6FC3E0"/>
                </a:solidFill>
                <a:latin typeface="Consolas"/>
              </a:rPr>
              <a:t>"ShipType"</a:t>
            </a:r>
            <a:r>
              <a:rPr sz="1200">
                <a:solidFill>
                  <a:srgbClr val="C2D0DA"/>
                </a:solidFill>
                <a:latin typeface="Consolas"/>
              </a:rPr>
              <a:t>: </a:t>
            </a:r>
            <a:r>
              <a:rPr sz="1200">
                <a:solidFill>
                  <a:srgbClr val="E6A36A"/>
                </a:solidFill>
                <a:latin typeface="Consolas"/>
              </a:rPr>
              <a:t>"Cargo"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521540.8</a:t>
            </a:r>
            <a:r>
              <a:rPr sz="1200">
                <a:solidFill>
                  <a:srgbClr val="C2D0DA"/>
                </a:solidFill>
                <a:latin typeface="Consolas"/>
              </a:rPr>
              <a:t>, </a:t>
            </a:r>
            <a:r>
              <a:rPr sz="1200">
                <a:solidFill>
                  <a:srgbClr val="C9E08A"/>
                </a:solidFill>
                <a:latin typeface="Consolas"/>
              </a:rPr>
              <a:t>5995709.1</a:t>
            </a:r>
            <a:r>
              <a:rPr sz="1200">
                <a:solidFill>
                  <a:srgbClr val="C2D0DA"/>
                </a:solidFill>
                <a:latin typeface="Consolas"/>
              </a:rPr>
              <a:t>, </a:t>
            </a:r>
            <a:r>
              <a:rPr sz="1200">
                <a:solidFill>
                  <a:srgbClr val="C9E08A"/>
                </a:solidFill>
                <a:latin typeface="Consolas"/>
              </a:rPr>
              <a:t>569588.8</a:t>
            </a:r>
            <a:r>
              <a:rPr sz="1200">
                <a:solidFill>
                  <a:srgbClr val="C2D0DA"/>
                </a:solidFill>
                <a:latin typeface="Consolas"/>
              </a:rPr>
              <a:t>, </a:t>
            </a:r>
            <a:r>
              <a:rPr sz="1200">
                <a:solidFill>
                  <a:srgbClr val="C9E08A"/>
                </a:solidFill>
                <a:latin typeface="Consolas"/>
              </a:rPr>
              <a:t>6024716.7</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 }, </a:t>
            </a:r>
            <a:r>
              <a:rPr sz="1200">
                <a:solidFill>
                  <a:srgbClr val="6FC3E0"/>
                </a:solidFill>
                <a:latin typeface="Consolas"/>
              </a:rPr>
              <a:t>"trs"</a:t>
            </a:r>
            <a:r>
              <a:rPr sz="1200">
                <a:solidFill>
                  <a:srgbClr val="C2D0DA"/>
                </a:solidFill>
                <a:latin typeface="Consolas"/>
              </a:rPr>
              <a:t>: </a:t>
            </a:r>
            <a:r>
              <a:rPr sz="1200">
                <a:solidFill>
                  <a:srgbClr val="CBA0E8"/>
                </a:solidFill>
                <a:latin typeface="Consolas"/>
              </a:rPr>
              <a:t>null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"2024-08-07 11:04:09+00"</a:t>
            </a:r>
            <a:r>
              <a:rPr sz="1200">
                <a:solidFill>
                  <a:srgbClr val="C2D0DA"/>
                </a:solidFill>
                <a:latin typeface="Consolas"/>
              </a:rPr>
              <a:t>, </a:t>
            </a:r>
            <a:r>
              <a:rPr sz="1200">
                <a:solidFill>
                  <a:srgbClr val="E6A36A"/>
                </a:solidFill>
                <a:latin typeface="Consolas"/>
              </a:rPr>
              <a:t>"2024-08-07 16:43:09+00"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".../temporal-geometry"</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".../temporal-properties"</a:t>
            </a:r>
            <a:r>
              <a:rPr sz="1200">
                <a:solidFill>
                  <a:srgbClr val="C2D0DA"/>
                </a:solidFill>
                <a:latin typeface="Consolas"/>
              </a:rPr>
              <a:t>, ... } ] }</a:t>
            </a:r>
          </a:p>
          <a:p>
            <a:pPr>
              <a:lnSpc>
                <a:spcPct val="102000"/>
              </a:lnSpc>
              <a:spcBef>
                <a:spcPts val="0"/>
              </a:spcBef>
              <a:spcAft>
                <a:spcPts val="0"/>
              </a:spcAft>
            </a:pPr>
            <a:r>
              <a:rPr sz="1200">
                <a:solidFill>
                  <a:srgbClr val="C2D0DA"/>
                </a:solidFill>
                <a:latin typeface="Consolas"/>
              </a:rPr>
              <a:t>  ] }</a:t>
            </a:r>
          </a:p>
        </p:txBody>
      </p:sp>
      <p:sp>
        <p:nvSpPr>
          <p:cNvPr id="9" name="Rounded Rectangle 8"/>
          <p:cNvSpPr/>
          <p:nvPr/>
        </p:nvSpPr>
        <p:spPr>
          <a:xfrm>
            <a:off x="566928" y="534924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5340096"/>
            <a:ext cx="190195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…/items/{mFeatureId}</a:t>
            </a:r>
          </a:p>
        </p:txBody>
      </p:sp>
      <p:sp>
        <p:nvSpPr>
          <p:cNvPr id="11" name="Rounded Rectangle 10"/>
          <p:cNvSpPr/>
          <p:nvPr/>
        </p:nvSpPr>
        <p:spPr>
          <a:xfrm>
            <a:off x="3310128" y="534924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2" name="TextBox 11"/>
          <p:cNvSpPr txBox="1"/>
          <p:nvPr/>
        </p:nvSpPr>
        <p:spPr>
          <a:xfrm>
            <a:off x="4352544" y="5340096"/>
            <a:ext cx="1700783"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…/items/{mFeatureId}</a:t>
            </a:r>
          </a:p>
        </p:txBody>
      </p:sp>
      <p:sp>
        <p:nvSpPr>
          <p:cNvPr id="13" name="TextBox 12"/>
          <p:cNvSpPr txBox="1"/>
          <p:nvPr/>
        </p:nvSpPr>
        <p:spPr>
          <a:xfrm>
            <a:off x="566928" y="5715000"/>
            <a:ext cx="548640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single feature movement (asMFJSON)  ·  remove one vessel</a:t>
            </a:r>
          </a:p>
        </p:txBody>
      </p:sp>
      <p:pic>
        <p:nvPicPr>
          <p:cNvPr id="14" name="Picture 13" descr="fig_overview.png"/>
          <p:cNvPicPr>
            <a:picLocks noChangeAspect="1"/>
          </p:cNvPicPr>
          <p:nvPr/>
        </p:nvPicPr>
        <p:blipFill>
          <a:blip r:embed="rId2"/>
          <a:stretch>
            <a:fillRect/>
          </a:stretch>
        </p:blipFill>
        <p:spPr>
          <a:xfrm>
            <a:off x="6492240" y="1783080"/>
            <a:ext cx="5303520" cy="3559126"/>
          </a:xfrm>
          <a:prstGeom prst="rect">
            <a:avLst/>
          </a:prstGeom>
        </p:spPr>
      </p:pic>
      <p:sp>
        <p:nvSpPr>
          <p:cNvPr id="15" name="TextBox 14"/>
          <p:cNvSpPr txBox="1"/>
          <p:nvPr/>
        </p:nvSpPr>
        <p:spPr>
          <a:xfrm>
            <a:off x="6492240" y="5989320"/>
            <a:ext cx="530352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GET …/items returns the FeatureCollection (limit caps page size)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651135</a:t>
            </a:r>
            <a:r>
              <a:rPr sz="1200">
                <a:solidFill>
                  <a:srgbClr val="C2D0DA"/>
                </a:solidFill>
                <a:latin typeface="Consolas"/>
              </a:rPr>
              <a:t>,</a:t>
            </a:r>
            <a:r>
              <a:rPr sz="1200">
                <a:solidFill>
                  <a:srgbClr val="C9E08A"/>
                </a:solidFill>
                <a:latin typeface="Consolas"/>
              </a:rPr>
              <a:t>6058230</a:t>
            </a:r>
            <a:r>
              <a:rPr sz="1200">
                <a:solidFill>
                  <a:srgbClr val="C2D0DA"/>
                </a:solidFill>
                <a:latin typeface="Consolas"/>
              </a:rPr>
              <a:t>,</a:t>
            </a:r>
            <a:r>
              <a:rPr sz="1200">
                <a:solidFill>
                  <a:srgbClr val="C9E08A"/>
                </a:solidFill>
                <a:latin typeface="Consolas"/>
              </a:rPr>
              <a:t>651422</a:t>
            </a:r>
            <a:r>
              <a:rPr sz="1200">
                <a:solidFill>
                  <a:srgbClr val="C2D0DA"/>
                </a:solidFill>
                <a:latin typeface="Consolas"/>
              </a:rPr>
              <a:t>,</a:t>
            </a:r>
            <a:r>
              <a:rPr sz="1200">
                <a:solidFill>
                  <a:srgbClr val="C9E08A"/>
                </a:solidFill>
                <a:latin typeface="Consolas"/>
              </a:rPr>
              <a:t>6058548</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97</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 — here a tight envelope</a:t>
            </a:r>
          </a:p>
          <a:p>
            <a:pPr>
              <a:lnSpc>
                <a:spcPct val="102000"/>
              </a:lnSpc>
              <a:spcBef>
                <a:spcPts val="0"/>
              </a:spcBef>
              <a:spcAft>
                <a:spcPts val="0"/>
              </a:spcAft>
            </a:pPr>
            <a:r>
              <a:rPr sz="1200">
                <a:solidFill>
                  <a:srgbClr val="7E94A6"/>
                </a:solidFill>
                <a:latin typeface="Consolas"/>
              </a:rPr>
              <a:t>// around Rødby ferry harbour, SE Denmark</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21 of 143  </a:t>
            </a:r>
            <a:r>
              <a:rPr sz="1400">
                <a:solidFill>
                  <a:srgbClr val="1E2B36"/>
                </a:solidFill>
                <a:latin typeface="Calibri"/>
              </a:rPr>
              <a:t>vessels match the Rødby harbour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limit, datetime and subTrajectory</a:t>
            </a:r>
          </a:p>
        </p:txBody>
      </p:sp>
      <p:pic>
        <p:nvPicPr>
          <p:cNvPr id="10" name="Picture 9" descr="fig_bbox.png"/>
          <p:cNvPicPr>
            <a:picLocks noChangeAspect="1"/>
          </p:cNvPicPr>
          <p:nvPr/>
        </p:nvPicPr>
        <p:blipFill>
          <a:blip r:embed="rId2"/>
          <a:stretch>
            <a:fillRect/>
          </a:stretch>
        </p:blipFill>
        <p:spPr>
          <a:xfrm>
            <a:off x="6807520" y="1691640"/>
            <a:ext cx="4672958" cy="4389120"/>
          </a:xfrm>
          <a:prstGeom prst="rect">
            <a:avLst/>
          </a:prstGeom>
        </p:spPr>
      </p:pic>
      <p:sp>
        <p:nvSpPr>
          <p:cNvPr id="11" name="TextBox 10"/>
          <p:cNvSpPr txBox="1"/>
          <p:nvPr/>
        </p:nvSpPr>
        <p:spPr>
          <a:xfrm>
            <a:off x="6400800" y="6053328"/>
            <a:ext cx="548640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the Rødby harbour envelope (teal); context in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2024</a:t>
            </a:r>
            <a:r>
              <a:rPr sz="1200">
                <a:solidFill>
                  <a:srgbClr val="C9E08A"/>
                </a:solidFill>
                <a:latin typeface="Consolas"/>
              </a:rPr>
              <a:t>-08</a:t>
            </a:r>
            <a:r>
              <a:rPr sz="1200">
                <a:solidFill>
                  <a:srgbClr val="C9E08A"/>
                </a:solidFill>
                <a:latin typeface="Consolas"/>
              </a:rPr>
              <a:t>-07</a:t>
            </a:r>
            <a:r>
              <a:rPr sz="1200">
                <a:solidFill>
                  <a:srgbClr val="C2D0DA"/>
                </a:solidFill>
                <a:latin typeface="Consolas"/>
              </a:rPr>
              <a:t>T</a:t>
            </a:r>
            <a:r>
              <a:rPr sz="1200">
                <a:solidFill>
                  <a:srgbClr val="C9E08A"/>
                </a:solidFill>
                <a:latin typeface="Consolas"/>
              </a:rPr>
              <a:t>10</a:t>
            </a:r>
            <a:r>
              <a:rPr sz="1200">
                <a:solidFill>
                  <a:srgbClr val="C2D0DA"/>
                </a:solidFill>
                <a:latin typeface="Consolas"/>
              </a:rPr>
              <a:t>:</a:t>
            </a:r>
            <a:r>
              <a:rPr sz="1200">
                <a:solidFill>
                  <a:srgbClr val="C9E08A"/>
                </a:solidFill>
                <a:latin typeface="Consolas"/>
              </a:rPr>
              <a:t>30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2024</a:t>
            </a:r>
            <a:r>
              <a:rPr sz="1200">
                <a:solidFill>
                  <a:srgbClr val="C9E08A"/>
                </a:solidFill>
                <a:latin typeface="Consolas"/>
              </a:rPr>
              <a:t>-08</a:t>
            </a:r>
            <a:r>
              <a:rPr sz="1200">
                <a:solidFill>
                  <a:srgbClr val="C9E08A"/>
                </a:solidFill>
                <a:latin typeface="Consolas"/>
              </a:rPr>
              <a:t>-07</a:t>
            </a:r>
            <a:r>
              <a:rPr sz="1200">
                <a:solidFill>
                  <a:srgbClr val="C2D0DA"/>
                </a:solidFill>
                <a:latin typeface="Consolas"/>
              </a:rPr>
              <a:t>T</a:t>
            </a:r>
            <a:r>
              <a:rPr sz="1200">
                <a:solidFill>
                  <a:srgbClr val="C9E08A"/>
                </a:solidFill>
                <a:latin typeface="Consolas"/>
              </a:rPr>
              <a:t>11</a:t>
            </a:r>
            <a:r>
              <a:rPr sz="1200">
                <a:solidFill>
                  <a:srgbClr val="C2D0DA"/>
                </a:solidFill>
                <a:latin typeface="Consolas"/>
              </a:rPr>
              <a:t>:</a:t>
            </a:r>
            <a:r>
              <a:rPr sz="1200">
                <a:solidFill>
                  <a:srgbClr val="C9E08A"/>
                </a:solidFill>
                <a:latin typeface="Consolas"/>
              </a:rPr>
              <a:t>30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vessel to the</a:t>
            </a:r>
          </a:p>
          <a:p>
            <a:pPr>
              <a:lnSpc>
                <a:spcPct val="102000"/>
              </a:lnSpc>
              <a:spcBef>
                <a:spcPts val="0"/>
              </a:spcBef>
              <a:spcAft>
                <a:spcPts val="0"/>
              </a:spcAft>
            </a:pPr>
            <a:r>
              <a:rPr sz="1200">
                <a:solidFill>
                  <a:srgbClr val="7E94A6"/>
                </a:solidFill>
                <a:latin typeface="Consolas"/>
              </a:rPr>
              <a:t>// requested window instead of filtering whole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 cannot combine with leaf</a:t>
            </a:r>
          </a:p>
        </p:txBody>
      </p:sp>
      <p:pic>
        <p:nvPicPr>
          <p:cNvPr id="10" name="Picture 9" descr="fig_subtraj.png"/>
          <p:cNvPicPr>
            <a:picLocks noChangeAspect="1"/>
          </p:cNvPicPr>
          <p:nvPr/>
        </p:nvPicPr>
        <p:blipFill>
          <a:blip r:embed="rId2"/>
          <a:stretch>
            <a:fillRect/>
          </a:stretch>
        </p:blipFill>
        <p:spPr>
          <a:xfrm>
            <a:off x="6492240" y="1737360"/>
            <a:ext cx="5303520" cy="3559126"/>
          </a:xfrm>
          <a:prstGeom prst="rect">
            <a:avLst/>
          </a:prstGeom>
        </p:spPr>
      </p:pic>
      <p:sp>
        <p:nvSpPr>
          <p:cNvPr id="11" name="TextBox 10"/>
          <p:cNvSpPr txBox="1"/>
          <p:nvPr/>
        </p:nvSpPr>
        <p:spPr>
          <a:xfrm>
            <a:off x="6492240" y="6035040"/>
            <a:ext cx="530352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10:30–11:30 (green) over all trajectories (brown)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…/{mFeatureId}/tgsequence</a:t>
            </a:r>
          </a:p>
        </p:txBody>
      </p:sp>
      <p:sp>
        <p:nvSpPr>
          <p:cNvPr id="7" name="Rounded Rectangle 6"/>
          <p:cNvSpPr/>
          <p:nvPr/>
        </p:nvSpPr>
        <p:spPr>
          <a:xfrm>
            <a:off x="566928" y="1874519"/>
            <a:ext cx="5486400" cy="37033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5204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"TemporalGeometrySequence"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C9E08A"/>
                </a:solidFill>
                <a:latin typeface="Consolas"/>
              </a:rPr>
              <a:t>360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"2024-08-07T11:04:09+00"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521540.85</a:t>
            </a:r>
            <a:r>
              <a:rPr sz="1200">
                <a:solidFill>
                  <a:srgbClr val="C2D0DA"/>
                </a:solidFill>
                <a:latin typeface="Consolas"/>
              </a:rPr>
              <a:t>, </a:t>
            </a:r>
            <a:r>
              <a:rPr sz="1200">
                <a:solidFill>
                  <a:srgbClr val="C9E08A"/>
                </a:solidFill>
                <a:latin typeface="Consolas"/>
              </a:rPr>
              <a:t>5995709.13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"base"</a:t>
            </a:r>
            <a:r>
              <a:rPr sz="1200">
                <a:solidFill>
                  <a:srgbClr val="C2D0DA"/>
                </a:solidFill>
                <a:latin typeface="Consolas"/>
              </a:rPr>
              <a:t>: </a:t>
            </a:r>
            <a:r>
              <a:rPr sz="1200">
                <a:solidFill>
                  <a:srgbClr val="CBA0E8"/>
                </a:solidFill>
                <a:latin typeface="Consolas"/>
              </a:rPr>
              <a:t>null</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"numberMatched"</a:t>
            </a:r>
            <a:r>
              <a:rPr sz="1200">
                <a:solidFill>
                  <a:srgbClr val="C2D0DA"/>
                </a:solidFill>
                <a:latin typeface="Consolas"/>
              </a:rPr>
              <a:t>: </a:t>
            </a:r>
            <a:r>
              <a:rPr sz="1200">
                <a:solidFill>
                  <a:srgbClr val="C9E08A"/>
                </a:solidFill>
                <a:latin typeface="Consolas"/>
              </a:rPr>
              <a:t>1</a:t>
            </a: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1</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Methods on this resource</a:t>
            </a:r>
          </a:p>
        </p:txBody>
      </p:sp>
      <p:sp>
        <p:nvSpPr>
          <p:cNvPr id="10" name="Rounded Rectangle 9"/>
          <p:cNvSpPr/>
          <p:nvPr/>
        </p:nvSpPr>
        <p:spPr>
          <a:xfrm>
            <a:off x="6281928" y="20299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196328" y="2011680"/>
            <a:ext cx="4428439" cy="4572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return the TemporalGeometrySequence for a vessel</a:t>
            </a:r>
          </a:p>
        </p:txBody>
      </p:sp>
      <p:sp>
        <p:nvSpPr>
          <p:cNvPr id="12" name="Rounded Rectangle 11"/>
          <p:cNvSpPr/>
          <p:nvPr/>
        </p:nvSpPr>
        <p:spPr>
          <a:xfrm>
            <a:off x="6281928" y="2596896"/>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3" name="TextBox 12"/>
          <p:cNvSpPr txBox="1"/>
          <p:nvPr/>
        </p:nvSpPr>
        <p:spPr>
          <a:xfrm>
            <a:off x="7196328" y="2578608"/>
            <a:ext cx="4428439" cy="4572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append a temporal primitive geometry</a:t>
            </a:r>
          </a:p>
        </p:txBody>
      </p:sp>
      <p:sp>
        <p:nvSpPr>
          <p:cNvPr id="14" name="Rounded Rectangle 13"/>
          <p:cNvSpPr/>
          <p:nvPr/>
        </p:nvSpPr>
        <p:spPr>
          <a:xfrm>
            <a:off x="6281928" y="3163824"/>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5" name="TextBox 14"/>
          <p:cNvSpPr txBox="1"/>
          <p:nvPr/>
        </p:nvSpPr>
        <p:spPr>
          <a:xfrm>
            <a:off x="7196328" y="3145536"/>
            <a:ext cx="4428439" cy="4572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remove one primitive geometry by tGeometryId</a:t>
            </a:r>
          </a:p>
        </p:txBody>
      </p:sp>
      <p:sp>
        <p:nvSpPr>
          <p:cNvPr id="16" name="TextBox 15"/>
          <p:cNvSpPr txBox="1"/>
          <p:nvPr/>
        </p:nvSpPr>
        <p:spPr>
          <a:xfrm>
            <a:off x="6281928" y="3977639"/>
            <a:ext cx="5342839" cy="182880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Each sequence element carries an id used by the derived-measure queries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DELETE targets …/tgsequence/{tGeometryId} — the TemporalPrimitiveGeometry instance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…/tgsequence/{tGeometryId}/velocity</a:t>
            </a:r>
          </a:p>
        </p:txBody>
      </p:sp>
      <p:sp>
        <p:nvSpPr>
          <p:cNvPr id="7" name="Rounded Rectangle 6"/>
          <p:cNvSpPr/>
          <p:nvPr/>
        </p:nvSpPr>
        <p:spPr>
          <a:xfrm>
            <a:off x="566928" y="1874519"/>
            <a:ext cx="5669280" cy="28346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6517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"2024-08-07T06:00:00+00"</a:t>
            </a:r>
            <a:r>
              <a:rPr sz="1200">
                <a:solidFill>
                  <a:srgbClr val="C2D0DA"/>
                </a:solidFill>
                <a:latin typeface="Consolas"/>
              </a:rPr>
              <a:t>, </a:t>
            </a:r>
            <a:r>
              <a:rPr sz="1200">
                <a:solidFill>
                  <a:srgbClr val="6FC3E0"/>
                </a:solidFill>
                <a:latin typeface="Consolas"/>
              </a:rPr>
              <a:t>"value"</a:t>
            </a:r>
            <a:r>
              <a:rPr sz="1200">
                <a:solidFill>
                  <a:srgbClr val="C2D0DA"/>
                </a:solidFill>
                <a:latin typeface="Consolas"/>
              </a:rPr>
              <a:t>: </a:t>
            </a:r>
            <a:r>
              <a:rPr sz="1200">
                <a:solidFill>
                  <a:srgbClr val="C9E08A"/>
                </a:solidFill>
                <a:latin typeface="Consolas"/>
              </a:rPr>
              <a:t>0.79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"2024-08-07T06:25:00+00"</a:t>
            </a:r>
            <a:r>
              <a:rPr sz="1200">
                <a:solidFill>
                  <a:srgbClr val="C2D0DA"/>
                </a:solidFill>
                <a:latin typeface="Consolas"/>
              </a:rPr>
              <a:t>, </a:t>
            </a:r>
            <a:r>
              <a:rPr sz="1200">
                <a:solidFill>
                  <a:srgbClr val="6FC3E0"/>
                </a:solidFill>
                <a:latin typeface="Consolas"/>
              </a:rPr>
              <a:t>"value"</a:t>
            </a:r>
            <a:r>
              <a:rPr sz="1200">
                <a:solidFill>
                  <a:srgbClr val="C2D0DA"/>
                </a:solidFill>
                <a:latin typeface="Consolas"/>
              </a:rPr>
              <a:t>: </a:t>
            </a:r>
            <a:r>
              <a:rPr sz="1200">
                <a:solidFill>
                  <a:srgbClr val="C9E08A"/>
                </a:solidFill>
                <a:latin typeface="Consolas"/>
              </a:rPr>
              <a:t>6.14</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"2024-08-07T06:50:00+00"</a:t>
            </a:r>
            <a:r>
              <a:rPr sz="1200">
                <a:solidFill>
                  <a:srgbClr val="C2D0DA"/>
                </a:solidFill>
                <a:latin typeface="Consolas"/>
              </a:rPr>
              <a:t>, </a:t>
            </a:r>
            <a:r>
              <a:rPr sz="1200">
                <a:solidFill>
                  <a:srgbClr val="6FC3E0"/>
                </a:solidFill>
                <a:latin typeface="Consolas"/>
              </a:rPr>
              <a:t>"value"</a:t>
            </a:r>
            <a:r>
              <a:rPr sz="1200">
                <a:solidFill>
                  <a:srgbClr val="C2D0DA"/>
                </a:solidFill>
                <a:latin typeface="Consolas"/>
              </a:rPr>
              <a:t>: </a:t>
            </a:r>
            <a:r>
              <a:rPr sz="1200">
                <a:solidFill>
                  <a:srgbClr val="C9E08A"/>
                </a:solidFill>
                <a:latin typeface="Consolas"/>
              </a:rPr>
              <a:t>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"unit"</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"queryType"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892040"/>
            <a:ext cx="1027785" cy="329184"/>
          </a:xfrm>
          <a:prstGeom prst="roundRect">
            <a:avLst>
              <a:gd name="adj" fmla="val 40000"/>
            </a:avLst>
          </a:prstGeom>
          <a:noFill/>
          <a:ln w="15875">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56082"/>
                </a:solidFill>
                <a:latin typeface="Calibri"/>
              </a:rPr>
              <a:t>distance</a:t>
            </a:r>
          </a:p>
        </p:txBody>
      </p:sp>
      <p:sp>
        <p:nvSpPr>
          <p:cNvPr id="10" name="Rounded Rectangle 9"/>
          <p:cNvSpPr/>
          <p:nvPr/>
        </p:nvSpPr>
        <p:spPr>
          <a:xfrm>
            <a:off x="1759305" y="4892040"/>
            <a:ext cx="1027785" cy="329184"/>
          </a:xfrm>
          <a:prstGeom prst="roundRect">
            <a:avLst>
              <a:gd name="adj" fmla="val 40000"/>
            </a:avLst>
          </a:prstGeom>
          <a:noFill/>
          <a:ln w="15875">
            <a:solidFill>
              <a:srgbClr val="A02B9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A02B93"/>
                </a:solidFill>
                <a:latin typeface="Calibri"/>
              </a:rPr>
              <a:t>velocity</a:t>
            </a:r>
          </a:p>
        </p:txBody>
      </p:sp>
      <p:sp>
        <p:nvSpPr>
          <p:cNvPr id="11" name="Rounded Rectangle 10"/>
          <p:cNvSpPr/>
          <p:nvPr/>
        </p:nvSpPr>
        <p:spPr>
          <a:xfrm>
            <a:off x="2951683" y="4892040"/>
            <a:ext cx="1422806" cy="329184"/>
          </a:xfrm>
          <a:prstGeom prst="roundRect">
            <a:avLst>
              <a:gd name="adj" fmla="val 40000"/>
            </a:avLst>
          </a:prstGeom>
          <a:noFill/>
          <a:ln w="15875">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97132"/>
                </a:solidFill>
                <a:latin typeface="Calibri"/>
              </a:rPr>
              <a:t>acceleration</a:t>
            </a:r>
          </a:p>
        </p:txBody>
      </p:sp>
      <p:sp>
        <p:nvSpPr>
          <p:cNvPr id="12" name="TextBox 11"/>
          <p:cNvSpPr txBox="1"/>
          <p:nvPr/>
        </p:nvSpPr>
        <p:spPr>
          <a:xfrm>
            <a:off x="566928" y="5321808"/>
            <a:ext cx="5669280" cy="4572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interchangeable queryType values — computed by MobilityDB (e.g. speed()).</a:t>
            </a:r>
          </a:p>
        </p:txBody>
      </p:sp>
      <p:pic>
        <p:nvPicPr>
          <p:cNvPr id="13" name="Picture 12" descr="fig_velocity.png"/>
          <p:cNvPicPr>
            <a:picLocks noChangeAspect="1"/>
          </p:cNvPicPr>
          <p:nvPr/>
        </p:nvPicPr>
        <p:blipFill>
          <a:blip r:embed="rId2"/>
          <a:stretch>
            <a:fillRect/>
          </a:stretch>
        </p:blipFill>
        <p:spPr>
          <a:xfrm>
            <a:off x="6355080" y="2133731"/>
            <a:ext cx="5486400" cy="2590537"/>
          </a:xfrm>
          <a:prstGeom prst="rect">
            <a:avLst/>
          </a:prstGeom>
        </p:spPr>
      </p:pic>
      <p:sp>
        <p:nvSpPr>
          <p:cNvPr id="14" name="TextBox 13"/>
          <p:cNvSpPr txBox="1"/>
          <p:nvPr/>
        </p:nvSpPr>
        <p:spPr>
          <a:xfrm>
            <a:off x="6355080" y="5074920"/>
            <a:ext cx="548640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Velocity profiles of Rødby ferries vs a 10-knot (5.14 m/s) limit</a:t>
            </a:r>
          </a:p>
        </p:txBody>
      </p:sp>
      <p:sp>
        <p:nvSpPr>
          <p:cNvPr id="15" name="Rectangle 14"/>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7" name="TextBox 16"/>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…/{mFeatureId}/tproperties</a:t>
            </a:r>
          </a:p>
        </p:txBody>
      </p:sp>
      <p:sp>
        <p:nvSpPr>
          <p:cNvPr id="7" name="Rounded Rectangle 6"/>
          <p:cNvSpPr/>
          <p:nvPr/>
        </p:nvSpPr>
        <p:spPr>
          <a:xfrm>
            <a:off x="566928" y="1874519"/>
            <a:ext cx="5486400" cy="21031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19202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"sog"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"cog"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1148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10565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…/tproperties/sog</a:t>
            </a:r>
          </a:p>
        </p:txBody>
      </p:sp>
      <p:sp>
        <p:nvSpPr>
          <p:cNvPr id="11" name="Rounded Rectangle 10"/>
          <p:cNvSpPr/>
          <p:nvPr/>
        </p:nvSpPr>
        <p:spPr>
          <a:xfrm>
            <a:off x="566928" y="4434840"/>
            <a:ext cx="5486400" cy="14173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526279"/>
            <a:ext cx="5230368" cy="123444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"sog"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"2024-08-07T11:04:09+00"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12.4</a:t>
            </a:r>
            <a:r>
              <a:rPr sz="1200">
                <a:solidFill>
                  <a:srgbClr val="C2D0DA"/>
                </a:solidFill>
                <a:latin typeface="Consolas"/>
              </a:rPr>
              <a:t>, </a:t>
            </a:r>
            <a:r>
              <a:rPr sz="1200">
                <a:solidFill>
                  <a:srgbClr val="C9E08A"/>
                </a:solidFill>
                <a:latin typeface="Consolas"/>
              </a:rPr>
              <a:t>11.8</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 ...]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Methods on this group</a:t>
            </a:r>
          </a:p>
        </p:txBody>
      </p:sp>
      <p:sp>
        <p:nvSpPr>
          <p:cNvPr id="14" name="Rounded Rectangle 13"/>
          <p:cNvSpPr/>
          <p:nvPr/>
        </p:nvSpPr>
        <p:spPr>
          <a:xfrm>
            <a:off x="6281928" y="20299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5" name="Rounded Rectangle 14"/>
          <p:cNvSpPr/>
          <p:nvPr/>
        </p:nvSpPr>
        <p:spPr>
          <a:xfrm>
            <a:off x="6986016" y="202996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6" name="TextBox 15"/>
          <p:cNvSpPr txBox="1"/>
          <p:nvPr/>
        </p:nvSpPr>
        <p:spPr>
          <a:xfrm>
            <a:off x="7808976" y="2011680"/>
            <a:ext cx="3815791" cy="237744"/>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/tproperties</a:t>
            </a:r>
          </a:p>
        </p:txBody>
      </p:sp>
      <p:sp>
        <p:nvSpPr>
          <p:cNvPr id="17" name="TextBox 16"/>
          <p:cNvSpPr txBox="1"/>
          <p:nvPr/>
        </p:nvSpPr>
        <p:spPr>
          <a:xfrm>
            <a:off x="6281928" y="2286000"/>
            <a:ext cx="5342839" cy="237744"/>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list properties · add a new one</a:t>
            </a:r>
          </a:p>
        </p:txBody>
      </p:sp>
      <p:sp>
        <p:nvSpPr>
          <p:cNvPr id="18" name="Rounded Rectangle 17"/>
          <p:cNvSpPr/>
          <p:nvPr/>
        </p:nvSpPr>
        <p:spPr>
          <a:xfrm>
            <a:off x="6281928" y="26700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9" name="Rounded Rectangle 18"/>
          <p:cNvSpPr/>
          <p:nvPr/>
        </p:nvSpPr>
        <p:spPr>
          <a:xfrm>
            <a:off x="6986016" y="26700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20" name="TextBox 19"/>
          <p:cNvSpPr txBox="1"/>
          <p:nvPr/>
        </p:nvSpPr>
        <p:spPr>
          <a:xfrm>
            <a:off x="7808976" y="2651760"/>
            <a:ext cx="3815791" cy="237744"/>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/tproperties/{name}</a:t>
            </a:r>
          </a:p>
        </p:txBody>
      </p:sp>
      <p:sp>
        <p:nvSpPr>
          <p:cNvPr id="21" name="TextBox 20"/>
          <p:cNvSpPr txBox="1"/>
          <p:nvPr/>
        </p:nvSpPr>
        <p:spPr>
          <a:xfrm>
            <a:off x="6281928" y="2926080"/>
            <a:ext cx="5342839" cy="237744"/>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read · append values to one property</a:t>
            </a:r>
          </a:p>
        </p:txBody>
      </p:sp>
      <p:sp>
        <p:nvSpPr>
          <p:cNvPr id="22" name="Rounded Rectangle 21"/>
          <p:cNvSpPr/>
          <p:nvPr/>
        </p:nvSpPr>
        <p:spPr>
          <a:xfrm>
            <a:off x="6281928" y="331012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23" name="TextBox 22"/>
          <p:cNvSpPr txBox="1"/>
          <p:nvPr/>
        </p:nvSpPr>
        <p:spPr>
          <a:xfrm>
            <a:off x="7324344" y="3291840"/>
            <a:ext cx="4300423" cy="237744"/>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/tproperties/{name}</a:t>
            </a:r>
          </a:p>
        </p:txBody>
      </p:sp>
      <p:sp>
        <p:nvSpPr>
          <p:cNvPr id="24" name="TextBox 23"/>
          <p:cNvSpPr txBox="1"/>
          <p:nvPr/>
        </p:nvSpPr>
        <p:spPr>
          <a:xfrm>
            <a:off x="6281928" y="3566160"/>
            <a:ext cx="5342839" cy="237744"/>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drop a whole property</a:t>
            </a:r>
          </a:p>
        </p:txBody>
      </p:sp>
      <p:sp>
        <p:nvSpPr>
          <p:cNvPr id="25" name="Rounded Rectangle 24"/>
          <p:cNvSpPr/>
          <p:nvPr/>
        </p:nvSpPr>
        <p:spPr>
          <a:xfrm>
            <a:off x="6281928" y="395020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26" name="TextBox 25"/>
          <p:cNvSpPr txBox="1"/>
          <p:nvPr/>
        </p:nvSpPr>
        <p:spPr>
          <a:xfrm>
            <a:off x="7324344" y="3931920"/>
            <a:ext cx="4300423" cy="237744"/>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/tproperties/{name}/{tValueId}</a:t>
            </a:r>
          </a:p>
        </p:txBody>
      </p:sp>
      <p:sp>
        <p:nvSpPr>
          <p:cNvPr id="27" name="TextBox 26"/>
          <p:cNvSpPr txBox="1"/>
          <p:nvPr/>
        </p:nvSpPr>
        <p:spPr>
          <a:xfrm>
            <a:off x="6281928" y="4206240"/>
            <a:ext cx="5342839" cy="237744"/>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drop one primitive value</a:t>
            </a:r>
          </a:p>
        </p:txBody>
      </p:sp>
      <p:sp>
        <p:nvSpPr>
          <p:cNvPr id="28" name="TextBox 27"/>
          <p:cNvSpPr txBox="1"/>
          <p:nvPr/>
        </p:nvSpPr>
        <p:spPr>
          <a:xfrm>
            <a:off x="6281928" y="4800600"/>
            <a:ext cx="5342839" cy="45720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Property types: TBoolean · TText · TInteger · TReal · TImage</a:t>
            </a:r>
          </a:p>
        </p:txBody>
      </p:sp>
      <p:sp>
        <p:nvSpPr>
          <p:cNvPr id="29" name="TextBox 28"/>
          <p:cNvSpPr txBox="1"/>
          <p:nvPr/>
        </p:nvSpPr>
        <p:spPr>
          <a:xfrm>
            <a:off x="6281928" y="5120640"/>
            <a:ext cx="5342839" cy="64008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AIS speed (sog), course (cog) and heading ride along as TReal property streams.</a:t>
            </a:r>
          </a:p>
        </p:txBody>
      </p:sp>
      <p:sp>
        <p:nvSpPr>
          <p:cNvPr id="30" name="Rectangle 2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2" name="TextBox 3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Validation, Errors &amp; Hypermedia Links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20624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MovingFeaturesJSON validation</a:t>
            </a:r>
          </a:p>
        </p:txBody>
      </p:sp>
      <p:sp>
        <p:nvSpPr>
          <p:cNvPr id="8" name="TextBox 7"/>
          <p:cNvSpPr txBox="1"/>
          <p:nvPr/>
        </p:nvSpPr>
        <p:spPr>
          <a:xfrm>
            <a:off x="795528" y="2286000"/>
            <a:ext cx="3045866" cy="347472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Payload validated on every insert</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Mandatory fields and types checked before persisting</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Property type restricted to TBoolean / TText / TInteger / TReal / TImage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subTrajectory + leaf combinations rejected</a:t>
            </a:r>
          </a:p>
        </p:txBody>
      </p:sp>
      <p:sp>
        <p:nvSpPr>
          <p:cNvPr id="9" name="Rounded Rectangle 8"/>
          <p:cNvSpPr/>
          <p:nvPr/>
        </p:nvSpPr>
        <p:spPr>
          <a:xfrm>
            <a:off x="4344314" y="1645920"/>
            <a:ext cx="3503066" cy="420624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2" name="TextBox 11"/>
          <p:cNvSpPr txBox="1"/>
          <p:nvPr/>
        </p:nvSpPr>
        <p:spPr>
          <a:xfrm>
            <a:off x="4572914" y="2286000"/>
            <a:ext cx="3045866" cy="347472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JSON or parameters</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 geometry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resource already exists</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500  </a:t>
            </a:r>
            <a:r>
              <a:rPr sz="1200">
                <a:solidFill>
                  <a:srgbClr val="1E2B36"/>
                </a:solidFill>
                <a:latin typeface="Calibri"/>
              </a:rPr>
              <a:t>internal server error</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3" name="Rounded Rectangle 12"/>
          <p:cNvSpPr/>
          <p:nvPr/>
        </p:nvSpPr>
        <p:spPr>
          <a:xfrm>
            <a:off x="8121700" y="1645920"/>
            <a:ext cx="3503066" cy="420624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Hypermedia (HATEOAS)</a:t>
            </a:r>
          </a:p>
        </p:txBody>
      </p:sp>
      <p:sp>
        <p:nvSpPr>
          <p:cNvPr id="16" name="TextBox 15"/>
          <p:cNvSpPr txBox="1"/>
          <p:nvPr/>
        </p:nvSpPr>
        <p:spPr>
          <a:xfrm>
            <a:off x="8350300" y="2286000"/>
            <a:ext cx="3045866" cy="347472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E97132"/>
                </a:solidFill>
                <a:latin typeface="Calibri"/>
              </a:rPr>
              <a:t>▸  </a:t>
            </a:r>
            <a:r>
              <a:rPr sz="1200">
                <a:solidFill>
                  <a:srgbClr val="1E2B36"/>
                </a:solidFill>
                <a:latin typeface="Calibri"/>
              </a:rPr>
              <a:t>Every resource carries links</a:t>
            </a:r>
          </a:p>
          <a:p>
            <a:pPr>
              <a:lnSpc>
                <a:spcPct val="106000"/>
              </a:lnSpc>
              <a:spcBef>
                <a:spcPts val="0"/>
              </a:spcBef>
              <a:spcAft>
                <a:spcPts val="900"/>
              </a:spcAft>
            </a:pPr>
            <a:r>
              <a:rPr sz="1200" b="1">
                <a:solidFill>
                  <a:srgbClr val="E97132"/>
                </a:solidFill>
                <a:latin typeface="Calibri"/>
              </a:rPr>
              <a:t>▸  </a:t>
            </a:r>
            <a:r>
              <a:rPr sz="1200">
                <a:solidFill>
                  <a:srgbClr val="1E2B36"/>
                </a:solidFill>
                <a:latin typeface="Calibri"/>
              </a:rPr>
              <a:t>rel: self, items,</a:t>
            </a:r>
          </a:p>
          <a:p>
            <a:pPr>
              <a:lnSpc>
                <a:spcPct val="106000"/>
              </a:lnSpc>
              <a:spcBef>
                <a:spcPts val="0"/>
              </a:spcBef>
              <a:spcAft>
                <a:spcPts val="900"/>
              </a:spcAft>
            </a:pPr>
            <a:r>
              <a:rPr sz="1200" b="1">
                <a:solidFill>
                  <a:srgbClr val="E97132"/>
                </a:solidFill>
                <a:latin typeface="Calibri"/>
              </a:rPr>
              <a:t>▸  </a:t>
            </a:r>
            <a:r>
              <a:rPr sz="1200">
                <a:solidFill>
                  <a:srgbClr val="1E2B36"/>
                </a:solidFill>
                <a:latin typeface="Calibri"/>
              </a:rPr>
              <a:t>…/rel/ogc/1.0/temporal-geometry,</a:t>
            </a:r>
          </a:p>
          <a:p>
            <a:pPr>
              <a:lnSpc>
                <a:spcPct val="106000"/>
              </a:lnSpc>
              <a:spcBef>
                <a:spcPts val="0"/>
              </a:spcBef>
              <a:spcAft>
                <a:spcPts val="900"/>
              </a:spcAft>
            </a:pPr>
            <a:r>
              <a:rPr sz="1200" b="1">
                <a:solidFill>
                  <a:srgbClr val="E97132"/>
                </a:solidFill>
                <a:latin typeface="Calibri"/>
              </a:rPr>
              <a:t>▸  </a:t>
            </a:r>
            <a:r>
              <a:rPr sz="1200">
                <a:solidFill>
                  <a:srgbClr val="1E2B36"/>
                </a:solidFill>
                <a:latin typeface="Calibri"/>
              </a:rPr>
              <a:t>…/rel/ogc/1.0/temporal-properties</a:t>
            </a:r>
          </a:p>
          <a:p>
            <a:pPr>
              <a:lnSpc>
                <a:spcPct val="106000"/>
              </a:lnSpc>
              <a:spcBef>
                <a:spcPts val="0"/>
              </a:spcBef>
              <a:spcAft>
                <a:spcPts val="900"/>
              </a:spcAft>
            </a:pPr>
            <a:r>
              <a:rPr sz="1200" b="1">
                <a:solidFill>
                  <a:srgbClr val="E97132"/>
                </a:solidFill>
                <a:latin typeface="Calibri"/>
              </a:rPr>
              <a:t>▸  </a:t>
            </a:r>
            <a:r>
              <a:rPr sz="1200">
                <a:solidFill>
                  <a:srgbClr val="1E2B36"/>
                </a:solidFill>
                <a:latin typeface="Calibri"/>
              </a:rPr>
              <a:t>Clients navigate without hard-coding paths</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CONTEXT</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MobilityAPI Fits in the MEOS Ecosystem</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828800" y="5074920"/>
            <a:ext cx="8534095" cy="777240"/>
          </a:xfrm>
          <a:prstGeom prst="roundRect">
            <a:avLst>
              <a:gd name="adj" fmla="val 6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5138928"/>
            <a:ext cx="8534095" cy="320040"/>
          </a:xfrm>
          <a:prstGeom prst="rect">
            <a:avLst/>
          </a:prstGeom>
          <a:noFill/>
        </p:spPr>
        <p:txBody>
          <a:bodyPr wrap="square" anchor="t" lIns="0" rIns="0" tIns="0" bIns="0">
            <a:noAutofit/>
          </a:bodyPr>
          <a:lstStyle/>
          <a:p>
            <a:pPr algn="ctr">
              <a:spcBef>
                <a:spcPts val="0"/>
              </a:spcBef>
              <a:spcAft>
                <a:spcPts val="200"/>
              </a:spcAft>
            </a:pPr>
            <a:r>
              <a:rPr sz="1600" b="1" i="0">
                <a:solidFill>
                  <a:srgbClr val="FFFFFF"/>
                </a:solidFill>
                <a:latin typeface="Calibri"/>
              </a:rPr>
              <a:t>MEOS</a:t>
            </a:r>
          </a:p>
        </p:txBody>
      </p:sp>
      <p:sp>
        <p:nvSpPr>
          <p:cNvPr id="7" name="TextBox 6"/>
          <p:cNvSpPr txBox="1"/>
          <p:nvPr/>
        </p:nvSpPr>
        <p:spPr>
          <a:xfrm>
            <a:off x="1828800" y="5468112"/>
            <a:ext cx="8534095" cy="274320"/>
          </a:xfrm>
          <a:prstGeom prst="rect">
            <a:avLst/>
          </a:prstGeom>
          <a:noFill/>
        </p:spPr>
        <p:txBody>
          <a:bodyPr wrap="square" anchor="t" lIns="0" rIns="0" tIns="0" bIns="0">
            <a:noAutofit/>
          </a:bodyPr>
          <a:lstStyle/>
          <a:p>
            <a:pPr algn="ctr">
              <a:spcBef>
                <a:spcPts val="0"/>
              </a:spcBef>
              <a:spcAft>
                <a:spcPts val="200"/>
              </a:spcAft>
            </a:pPr>
            <a:r>
              <a:rPr sz="1200" b="0" i="0">
                <a:solidFill>
                  <a:srgbClr val="B9D0DD"/>
                </a:solidFill>
                <a:latin typeface="Calibri"/>
              </a:rPr>
              <a:t>canonical C library — type system + computations</a:t>
            </a:r>
          </a:p>
        </p:txBody>
      </p:sp>
      <p:sp>
        <p:nvSpPr>
          <p:cNvPr id="8" name="Rounded Rectangle 7"/>
          <p:cNvSpPr/>
          <p:nvPr/>
        </p:nvSpPr>
        <p:spPr>
          <a:xfrm>
            <a:off x="914400" y="3611880"/>
            <a:ext cx="3383280" cy="1005840"/>
          </a:xfrm>
          <a:prstGeom prst="roundRect">
            <a:avLst>
              <a:gd name="adj" fmla="val 8000"/>
            </a:avLst>
          </a:prstGeom>
          <a:solidFill>
            <a:srgbClr val="FFFFFF"/>
          </a:solidFill>
          <a:ln w="22225">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767328"/>
            <a:ext cx="3383280" cy="274320"/>
          </a:xfrm>
          <a:prstGeom prst="rect">
            <a:avLst/>
          </a:prstGeom>
          <a:noFill/>
        </p:spPr>
        <p:txBody>
          <a:bodyPr wrap="square" anchor="t" lIns="0" rIns="0" tIns="0" bIns="0">
            <a:noAutofit/>
          </a:bodyPr>
          <a:lstStyle/>
          <a:p>
            <a:pPr algn="ctr">
              <a:spcBef>
                <a:spcPts val="0"/>
              </a:spcBef>
              <a:spcAft>
                <a:spcPts val="200"/>
              </a:spcAft>
            </a:pPr>
            <a:r>
              <a:rPr sz="1400" b="1" i="0">
                <a:solidFill>
                  <a:srgbClr val="156082"/>
                </a:solidFill>
                <a:latin typeface="Calibri"/>
              </a:rPr>
              <a:t>MobilityDB</a:t>
            </a:r>
          </a:p>
        </p:txBody>
      </p:sp>
      <p:sp>
        <p:nvSpPr>
          <p:cNvPr id="10" name="TextBox 9"/>
          <p:cNvSpPr txBox="1"/>
          <p:nvPr/>
        </p:nvSpPr>
        <p:spPr>
          <a:xfrm>
            <a:off x="914400" y="4069080"/>
            <a:ext cx="3383280"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PostgreSQL / PostGIS extension</a:t>
            </a:r>
          </a:p>
        </p:txBody>
      </p:sp>
      <p:sp>
        <p:nvSpPr>
          <p:cNvPr id="11" name="Rounded Rectangle 10"/>
          <p:cNvSpPr/>
          <p:nvPr/>
        </p:nvSpPr>
        <p:spPr>
          <a:xfrm>
            <a:off x="4617720" y="3611880"/>
            <a:ext cx="2971800" cy="1005840"/>
          </a:xfrm>
          <a:prstGeom prst="roundRect">
            <a:avLst>
              <a:gd name="adj" fmla="val 8000"/>
            </a:avLst>
          </a:prstGeom>
          <a:solidFill>
            <a:srgbClr val="FFFFFF"/>
          </a:solidFill>
          <a:ln w="22225">
            <a:solidFill>
              <a:srgbClr val="196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3767328"/>
            <a:ext cx="2971800" cy="274320"/>
          </a:xfrm>
          <a:prstGeom prst="rect">
            <a:avLst/>
          </a:prstGeom>
          <a:noFill/>
        </p:spPr>
        <p:txBody>
          <a:bodyPr wrap="square" anchor="t" lIns="0" rIns="0" tIns="0" bIns="0">
            <a:noAutofit/>
          </a:bodyPr>
          <a:lstStyle/>
          <a:p>
            <a:pPr algn="ctr">
              <a:spcBef>
                <a:spcPts val="0"/>
              </a:spcBef>
              <a:spcAft>
                <a:spcPts val="200"/>
              </a:spcAft>
            </a:pPr>
            <a:r>
              <a:rPr sz="1400" b="1" i="0">
                <a:solidFill>
                  <a:srgbClr val="196B24"/>
                </a:solidFill>
                <a:latin typeface="Calibri"/>
              </a:rPr>
              <a:t>MobilityDuck</a:t>
            </a:r>
          </a:p>
        </p:txBody>
      </p:sp>
      <p:sp>
        <p:nvSpPr>
          <p:cNvPr id="13" name="TextBox 12"/>
          <p:cNvSpPr txBox="1"/>
          <p:nvPr/>
        </p:nvSpPr>
        <p:spPr>
          <a:xfrm>
            <a:off x="4617720" y="4069080"/>
            <a:ext cx="2971800"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DuckDB extension</a:t>
            </a:r>
          </a:p>
        </p:txBody>
      </p:sp>
      <p:sp>
        <p:nvSpPr>
          <p:cNvPr id="14" name="Rounded Rectangle 13"/>
          <p:cNvSpPr/>
          <p:nvPr/>
        </p:nvSpPr>
        <p:spPr>
          <a:xfrm>
            <a:off x="7909560" y="3611880"/>
            <a:ext cx="3383280" cy="1005840"/>
          </a:xfrm>
          <a:prstGeom prst="roundRect">
            <a:avLst>
              <a:gd name="adj" fmla="val 8000"/>
            </a:avLst>
          </a:prstGeom>
          <a:solidFill>
            <a:srgbClr val="FFFFFF"/>
          </a:solidFill>
          <a:ln w="22225">
            <a:solidFill>
              <a:srgbClr val="A02B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3721608"/>
            <a:ext cx="3383280" cy="274320"/>
          </a:xfrm>
          <a:prstGeom prst="rect">
            <a:avLst/>
          </a:prstGeom>
          <a:noFill/>
        </p:spPr>
        <p:txBody>
          <a:bodyPr wrap="square" anchor="t" lIns="0" rIns="0" tIns="0" bIns="0">
            <a:noAutofit/>
          </a:bodyPr>
          <a:lstStyle/>
          <a:p>
            <a:pPr algn="ctr">
              <a:spcBef>
                <a:spcPts val="0"/>
              </a:spcBef>
              <a:spcAft>
                <a:spcPts val="200"/>
              </a:spcAft>
            </a:pPr>
            <a:r>
              <a:rPr sz="1200" b="1" i="0">
                <a:solidFill>
                  <a:srgbClr val="A02B93"/>
                </a:solidFill>
                <a:latin typeface="Calibri"/>
              </a:rPr>
              <a:t>Language bindings</a:t>
            </a:r>
          </a:p>
        </p:txBody>
      </p:sp>
      <p:sp>
        <p:nvSpPr>
          <p:cNvPr id="16" name="TextBox 15"/>
          <p:cNvSpPr txBox="1"/>
          <p:nvPr/>
        </p:nvSpPr>
        <p:spPr>
          <a:xfrm>
            <a:off x="7909560" y="4005072"/>
            <a:ext cx="3383280" cy="5029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PyMEOS · JMEOS · meos-rs</a:t>
            </a:r>
          </a:p>
          <a:p>
            <a:pPr algn="ctr">
              <a:spcBef>
                <a:spcPts val="0"/>
              </a:spcBef>
              <a:spcAft>
                <a:spcPts val="200"/>
              </a:spcAft>
            </a:pPr>
            <a:r>
              <a:rPr sz="1200" b="0" i="0">
                <a:solidFill>
                  <a:srgbClr val="5B6B78"/>
                </a:solidFill>
                <a:latin typeface="Calibri"/>
              </a:rPr>
              <a:t>GoMEOS · MEOS.NET · MEOS.js</a:t>
            </a:r>
          </a:p>
        </p:txBody>
      </p:sp>
      <p:sp>
        <p:nvSpPr>
          <p:cNvPr id="17" name="Rounded Rectangle 16"/>
          <p:cNvSpPr/>
          <p:nvPr/>
        </p:nvSpPr>
        <p:spPr>
          <a:xfrm>
            <a:off x="3108960" y="1874519"/>
            <a:ext cx="5973775" cy="960120"/>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08960" y="2011680"/>
            <a:ext cx="5973775" cy="320040"/>
          </a:xfrm>
          <a:prstGeom prst="rect">
            <a:avLst/>
          </a:prstGeom>
          <a:noFill/>
        </p:spPr>
        <p:txBody>
          <a:bodyPr wrap="square" anchor="t" lIns="0" rIns="0" tIns="0" bIns="0">
            <a:noAutofit/>
          </a:bodyPr>
          <a:lstStyle/>
          <a:p>
            <a:pPr algn="ctr">
              <a:spcBef>
                <a:spcPts val="0"/>
              </a:spcBef>
              <a:spcAft>
                <a:spcPts val="200"/>
              </a:spcAft>
            </a:pPr>
            <a:r>
              <a:rPr sz="1800" b="1" i="0">
                <a:solidFill>
                  <a:srgbClr val="FFFFFF"/>
                </a:solidFill>
                <a:latin typeface="Calibri"/>
              </a:rPr>
              <a:t>MobilityAPI</a:t>
            </a:r>
          </a:p>
        </p:txBody>
      </p:sp>
      <p:sp>
        <p:nvSpPr>
          <p:cNvPr id="19" name="TextBox 18"/>
          <p:cNvSpPr txBox="1"/>
          <p:nvPr/>
        </p:nvSpPr>
        <p:spPr>
          <a:xfrm>
            <a:off x="3108960" y="2395728"/>
            <a:ext cx="5973775" cy="274320"/>
          </a:xfrm>
          <a:prstGeom prst="rect">
            <a:avLst/>
          </a:prstGeom>
          <a:noFill/>
        </p:spPr>
        <p:txBody>
          <a:bodyPr wrap="square" anchor="t" lIns="0" rIns="0" tIns="0" bIns="0">
            <a:noAutofit/>
          </a:bodyPr>
          <a:lstStyle/>
          <a:p>
            <a:pPr algn="ctr">
              <a:spcBef>
                <a:spcPts val="0"/>
              </a:spcBef>
              <a:spcAft>
                <a:spcPts val="200"/>
              </a:spcAft>
            </a:pPr>
            <a:r>
              <a:rPr sz="1200" b="0" i="0">
                <a:solidFill>
                  <a:srgbClr val="FFEADC"/>
                </a:solidFill>
                <a:latin typeface="Calibri"/>
              </a:rPr>
              <a:t>the HTTP / OGC API – Moving Features layer</a:t>
            </a:r>
          </a:p>
        </p:txBody>
      </p:sp>
      <p:sp>
        <p:nvSpPr>
          <p:cNvPr id="20" name="TextBox 19"/>
          <p:cNvSpPr txBox="1"/>
          <p:nvPr/>
        </p:nvSpPr>
        <p:spPr>
          <a:xfrm>
            <a:off x="3108960" y="2880360"/>
            <a:ext cx="5973775"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  consumes PyMEOS</a:t>
            </a:r>
          </a:p>
        </p:txBody>
      </p:sp>
      <p:sp>
        <p:nvSpPr>
          <p:cNvPr id="21" name="TextBox 20"/>
          <p:cNvSpPr txBox="1"/>
          <p:nvPr/>
        </p:nvSpPr>
        <p:spPr>
          <a:xfrm>
            <a:off x="1828800" y="4736592"/>
            <a:ext cx="8534095"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   all bind to MEOS</a:t>
            </a:r>
          </a:p>
        </p:txBody>
      </p:sp>
      <p:sp>
        <p:nvSpPr>
          <p:cNvPr id="22" name="Rectangle 2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4" name="TextBox 2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TWO TIERS, ONE DATABASE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Two Ways to Serve the Same MobilityDB</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27632"/>
            <a:ext cx="5300319" cy="3822191"/>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27632"/>
            <a:ext cx="5300319" cy="475488"/>
          </a:xfrm>
          <a:prstGeom prst="roundRect">
            <a:avLst>
              <a:gd name="adj" fmla="val 6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82496"/>
            <a:ext cx="4934559" cy="27432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PyMEOS tier</a:t>
            </a:r>
          </a:p>
        </p:txBody>
      </p:sp>
      <p:sp>
        <p:nvSpPr>
          <p:cNvPr id="8" name="TextBox 7"/>
          <p:cNvSpPr txBox="1"/>
          <p:nvPr/>
        </p:nvSpPr>
        <p:spPr>
          <a:xfrm>
            <a:off x="795528" y="2194560"/>
            <a:ext cx="4843119"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JSON to type glue in Python; the database does the work</a:t>
            </a:r>
          </a:p>
        </p:txBody>
      </p:sp>
      <p:sp>
        <p:nvSpPr>
          <p:cNvPr id="9" name="Rounded Rectangle 8"/>
          <p:cNvSpPr/>
          <p:nvPr/>
        </p:nvSpPr>
        <p:spPr>
          <a:xfrm>
            <a:off x="859536" y="2542032"/>
            <a:ext cx="4715103" cy="548640"/>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596896"/>
            <a:ext cx="438591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HTTP client</a:t>
            </a:r>
          </a:p>
        </p:txBody>
      </p:sp>
      <p:sp>
        <p:nvSpPr>
          <p:cNvPr id="11" name="TextBox 10"/>
          <p:cNvSpPr txBox="1"/>
          <p:nvPr/>
        </p:nvSpPr>
        <p:spPr>
          <a:xfrm>
            <a:off x="1024128" y="2834639"/>
            <a:ext cx="4385919"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browser · mobile · ETL</a:t>
            </a:r>
          </a:p>
        </p:txBody>
      </p:sp>
      <p:sp>
        <p:nvSpPr>
          <p:cNvPr id="12" name="TextBox 11"/>
          <p:cNvSpPr txBox="1"/>
          <p:nvPr/>
        </p:nvSpPr>
        <p:spPr>
          <a:xfrm>
            <a:off x="859536" y="3090672"/>
            <a:ext cx="4715103"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3" name="Rounded Rectangle 12"/>
          <p:cNvSpPr/>
          <p:nvPr/>
        </p:nvSpPr>
        <p:spPr>
          <a:xfrm>
            <a:off x="859536" y="3291839"/>
            <a:ext cx="4715103" cy="548640"/>
          </a:xfrm>
          <a:prstGeom prst="roundRect">
            <a:avLst>
              <a:gd name="adj" fmla="val 12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346703"/>
            <a:ext cx="438591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Python (PyMEOS)</a:t>
            </a:r>
          </a:p>
        </p:txBody>
      </p:sp>
      <p:sp>
        <p:nvSpPr>
          <p:cNvPr id="15" name="TextBox 14"/>
          <p:cNvSpPr txBox="1"/>
          <p:nvPr/>
        </p:nvSpPr>
        <p:spPr>
          <a:xfrm>
            <a:off x="1024128" y="3584447"/>
            <a:ext cx="4385919"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JSON to temporal-type conversion</a:t>
            </a:r>
          </a:p>
        </p:txBody>
      </p:sp>
      <p:sp>
        <p:nvSpPr>
          <p:cNvPr id="16" name="TextBox 15"/>
          <p:cNvSpPr txBox="1"/>
          <p:nvPr/>
        </p:nvSpPr>
        <p:spPr>
          <a:xfrm>
            <a:off x="859536" y="3840479"/>
            <a:ext cx="4715103"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7" name="Rounded Rectangle 16"/>
          <p:cNvSpPr/>
          <p:nvPr/>
        </p:nvSpPr>
        <p:spPr>
          <a:xfrm>
            <a:off x="859536" y="4041648"/>
            <a:ext cx="4715103" cy="548640"/>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096511"/>
            <a:ext cx="438591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MobilityDB (C)</a:t>
            </a:r>
          </a:p>
        </p:txBody>
      </p:sp>
      <p:sp>
        <p:nvSpPr>
          <p:cNvPr id="19" name="TextBox 18"/>
          <p:cNvSpPr txBox="1"/>
          <p:nvPr/>
        </p:nvSpPr>
        <p:spPr>
          <a:xfrm>
            <a:off x="1024128" y="4334256"/>
            <a:ext cx="4385919"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20" name="Rounded Rectangle 19"/>
          <p:cNvSpPr/>
          <p:nvPr/>
        </p:nvSpPr>
        <p:spPr>
          <a:xfrm>
            <a:off x="6324447" y="1627632"/>
            <a:ext cx="5300319" cy="3822191"/>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447" y="1627632"/>
            <a:ext cx="5300319" cy="475488"/>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1682496"/>
            <a:ext cx="4934559" cy="27432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Go tier</a:t>
            </a:r>
          </a:p>
        </p:txBody>
      </p:sp>
      <p:sp>
        <p:nvSpPr>
          <p:cNvPr id="23" name="TextBox 22"/>
          <p:cNvSpPr txBox="1"/>
          <p:nvPr/>
        </p:nvSpPr>
        <p:spPr>
          <a:xfrm>
            <a:off x="6553047" y="2194560"/>
            <a:ext cx="4843119"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thin net/http + pgxpool; no MEOS in the tier (no cgo, no PyMEOS)</a:t>
            </a:r>
          </a:p>
        </p:txBody>
      </p:sp>
      <p:sp>
        <p:nvSpPr>
          <p:cNvPr id="24" name="Rounded Rectangle 23"/>
          <p:cNvSpPr/>
          <p:nvPr/>
        </p:nvSpPr>
        <p:spPr>
          <a:xfrm>
            <a:off x="6617055" y="2542032"/>
            <a:ext cx="4715103" cy="548640"/>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81647" y="2596896"/>
            <a:ext cx="438591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HTTP client</a:t>
            </a:r>
          </a:p>
        </p:txBody>
      </p:sp>
      <p:sp>
        <p:nvSpPr>
          <p:cNvPr id="26" name="TextBox 25"/>
          <p:cNvSpPr txBox="1"/>
          <p:nvPr/>
        </p:nvSpPr>
        <p:spPr>
          <a:xfrm>
            <a:off x="6781647" y="2834639"/>
            <a:ext cx="4385919"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browser · mobile · ETL</a:t>
            </a:r>
          </a:p>
        </p:txBody>
      </p:sp>
      <p:sp>
        <p:nvSpPr>
          <p:cNvPr id="27" name="TextBox 26"/>
          <p:cNvSpPr txBox="1"/>
          <p:nvPr/>
        </p:nvSpPr>
        <p:spPr>
          <a:xfrm>
            <a:off x="6617055" y="3090672"/>
            <a:ext cx="4715103"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28" name="Rounded Rectangle 27"/>
          <p:cNvSpPr/>
          <p:nvPr/>
        </p:nvSpPr>
        <p:spPr>
          <a:xfrm>
            <a:off x="6617055" y="3291839"/>
            <a:ext cx="4715103" cy="548640"/>
          </a:xfrm>
          <a:prstGeom prst="roundRect">
            <a:avLst>
              <a:gd name="adj" fmla="val 12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81647" y="3346703"/>
            <a:ext cx="438591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Go (net/http + pgxpool)</a:t>
            </a:r>
          </a:p>
        </p:txBody>
      </p:sp>
      <p:sp>
        <p:nvSpPr>
          <p:cNvPr id="30" name="TextBox 29"/>
          <p:cNvSpPr txBox="1"/>
          <p:nvPr/>
        </p:nvSpPr>
        <p:spPr>
          <a:xfrm>
            <a:off x="6781647" y="3584447"/>
            <a:ext cx="4385919"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asMFJSON reads · tgeompointFromMFJSON writes</a:t>
            </a:r>
          </a:p>
        </p:txBody>
      </p:sp>
      <p:sp>
        <p:nvSpPr>
          <p:cNvPr id="31" name="TextBox 30"/>
          <p:cNvSpPr txBox="1"/>
          <p:nvPr/>
        </p:nvSpPr>
        <p:spPr>
          <a:xfrm>
            <a:off x="6617055" y="3840479"/>
            <a:ext cx="4715103"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32" name="Rounded Rectangle 31"/>
          <p:cNvSpPr/>
          <p:nvPr/>
        </p:nvSpPr>
        <p:spPr>
          <a:xfrm>
            <a:off x="6617055" y="4041648"/>
            <a:ext cx="4715103" cy="548640"/>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81647" y="4096511"/>
            <a:ext cx="438591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MobilityDB (C)</a:t>
            </a:r>
          </a:p>
        </p:txBody>
      </p:sp>
      <p:sp>
        <p:nvSpPr>
          <p:cNvPr id="34" name="TextBox 33"/>
          <p:cNvSpPr txBox="1"/>
          <p:nvPr/>
        </p:nvSpPr>
        <p:spPr>
          <a:xfrm>
            <a:off x="6781647" y="4334256"/>
            <a:ext cx="4385919"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35" name="TextBox 34"/>
          <p:cNvSpPr txBox="1"/>
          <p:nvPr/>
        </p:nvSpPr>
        <p:spPr>
          <a:xfrm>
            <a:off x="566928" y="5650992"/>
            <a:ext cx="11057839" cy="7315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Both tiers keep every temporal computation in C (the database); only the HTTP / runtime tier differs. The Go tier holds no MEOS: reads stream asMFJSON assembled in SQL, writes call tgeompointFromMFJSON, and a roughly 50-line crs / interpolation adapter is the only application logic, shipped as a single static binary.</a:t>
            </a:r>
          </a:p>
        </p:txBody>
      </p:sp>
      <p:sp>
        <p:nvSpPr>
          <p:cNvPr id="36" name="Rectangle 3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8" name="TextBox 3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SCALABILITY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Concurrency Ceiling: Same Database, Same SQL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27632"/>
            <a:ext cx="8961120" cy="420624"/>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4944" y="1627632"/>
            <a:ext cx="3904487" cy="420624"/>
          </a:xfrm>
          <a:prstGeom prst="rect">
            <a:avLst/>
          </a:prstGeom>
          <a:noFill/>
        </p:spPr>
        <p:txBody>
          <a:bodyPr wrap="square" anchor="ctr" lIns="0" rIns="0" tIns="0" bIns="0">
            <a:noAutofit/>
          </a:bodyPr>
          <a:lstStyle/>
          <a:p>
            <a:pPr algn="l">
              <a:spcBef>
                <a:spcPts val="0"/>
              </a:spcBef>
              <a:spcAft>
                <a:spcPts val="200"/>
              </a:spcAft>
            </a:pPr>
            <a:r>
              <a:rPr sz="1200" b="1" i="0">
                <a:solidFill>
                  <a:srgbClr val="FFFFFF"/>
                </a:solidFill>
                <a:latin typeface="Calibri"/>
              </a:rPr>
              <a:t>Endpoint</a:t>
            </a:r>
          </a:p>
        </p:txBody>
      </p:sp>
      <p:sp>
        <p:nvSpPr>
          <p:cNvPr id="7" name="TextBox 6"/>
          <p:cNvSpPr txBox="1"/>
          <p:nvPr/>
        </p:nvSpPr>
        <p:spPr>
          <a:xfrm>
            <a:off x="4855464" y="1627632"/>
            <a:ext cx="1161288" cy="420624"/>
          </a:xfrm>
          <a:prstGeom prst="rect">
            <a:avLst/>
          </a:prstGeom>
          <a:noFill/>
        </p:spPr>
        <p:txBody>
          <a:bodyPr wrap="square" anchor="ctr" lIns="0" rIns="0" tIns="0" bIns="0">
            <a:noAutofit/>
          </a:bodyPr>
          <a:lstStyle/>
          <a:p>
            <a:pPr algn="ctr">
              <a:spcBef>
                <a:spcPts val="0"/>
              </a:spcBef>
              <a:spcAft>
                <a:spcPts val="200"/>
              </a:spcAft>
            </a:pPr>
            <a:r>
              <a:rPr sz="1200" b="1" i="0">
                <a:solidFill>
                  <a:srgbClr val="FFFFFF"/>
                </a:solidFill>
                <a:latin typeface="Calibri"/>
              </a:rPr>
              <a:t>Concurrency</a:t>
            </a:r>
          </a:p>
        </p:txBody>
      </p:sp>
      <p:sp>
        <p:nvSpPr>
          <p:cNvPr id="8" name="TextBox 7"/>
          <p:cNvSpPr txBox="1"/>
          <p:nvPr/>
        </p:nvSpPr>
        <p:spPr>
          <a:xfrm>
            <a:off x="6272783" y="1627632"/>
            <a:ext cx="1344168" cy="420624"/>
          </a:xfrm>
          <a:prstGeom prst="rect">
            <a:avLst/>
          </a:prstGeom>
          <a:noFill/>
        </p:spPr>
        <p:txBody>
          <a:bodyPr wrap="square" anchor="ctr" lIns="0" rIns="0" tIns="0" bIns="0">
            <a:noAutofit/>
          </a:bodyPr>
          <a:lstStyle/>
          <a:p>
            <a:pPr algn="r">
              <a:spcBef>
                <a:spcPts val="0"/>
              </a:spcBef>
              <a:spcAft>
                <a:spcPts val="200"/>
              </a:spcAft>
            </a:pPr>
            <a:r>
              <a:rPr sz="1200" b="1" i="0">
                <a:solidFill>
                  <a:srgbClr val="FFFFFF"/>
                </a:solidFill>
                <a:latin typeface="Calibri"/>
              </a:rPr>
              <a:t>Go req/s</a:t>
            </a:r>
          </a:p>
        </p:txBody>
      </p:sp>
      <p:sp>
        <p:nvSpPr>
          <p:cNvPr id="9" name="TextBox 8"/>
          <p:cNvSpPr txBox="1"/>
          <p:nvPr/>
        </p:nvSpPr>
        <p:spPr>
          <a:xfrm>
            <a:off x="7872983" y="1627632"/>
            <a:ext cx="1527048" cy="420624"/>
          </a:xfrm>
          <a:prstGeom prst="rect">
            <a:avLst/>
          </a:prstGeom>
          <a:noFill/>
        </p:spPr>
        <p:txBody>
          <a:bodyPr wrap="square" anchor="ctr" lIns="0" rIns="0" tIns="0" bIns="0">
            <a:noAutofit/>
          </a:bodyPr>
          <a:lstStyle/>
          <a:p>
            <a:pPr algn="r">
              <a:spcBef>
                <a:spcPts val="0"/>
              </a:spcBef>
              <a:spcAft>
                <a:spcPts val="200"/>
              </a:spcAft>
            </a:pPr>
            <a:r>
              <a:rPr sz="1200" b="1" i="0">
                <a:solidFill>
                  <a:srgbClr val="FFFFFF"/>
                </a:solidFill>
                <a:latin typeface="Calibri"/>
              </a:rPr>
              <a:t>Python req/s</a:t>
            </a:r>
          </a:p>
        </p:txBody>
      </p:sp>
      <p:sp>
        <p:nvSpPr>
          <p:cNvPr id="10" name="Rectangle 9"/>
          <p:cNvSpPr/>
          <p:nvPr/>
        </p:nvSpPr>
        <p:spPr>
          <a:xfrm>
            <a:off x="566928" y="2048256"/>
            <a:ext cx="8961120" cy="512064"/>
          </a:xfrm>
          <a:prstGeom prst="rect">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2048256"/>
            <a:ext cx="3904487" cy="512064"/>
          </a:xfrm>
          <a:prstGeom prst="rect">
            <a:avLst/>
          </a:prstGeom>
          <a:noFill/>
        </p:spPr>
        <p:txBody>
          <a:bodyPr wrap="square" anchor="ctr" lIns="0" rIns="0" tIns="0" bIns="0">
            <a:noAutofit/>
          </a:bodyPr>
          <a:lstStyle/>
          <a:p>
            <a:pPr algn="l">
              <a:spcBef>
                <a:spcPts val="0"/>
              </a:spcBef>
              <a:spcAft>
                <a:spcPts val="200"/>
              </a:spcAft>
            </a:pPr>
            <a:r>
              <a:rPr sz="1200" b="0" i="0">
                <a:solidFill>
                  <a:srgbClr val="1E2B36"/>
                </a:solidFill>
                <a:latin typeface="Calibri"/>
              </a:rPr>
              <a:t>/health (pure tier)</a:t>
            </a:r>
          </a:p>
        </p:txBody>
      </p:sp>
      <p:sp>
        <p:nvSpPr>
          <p:cNvPr id="12" name="TextBox 11"/>
          <p:cNvSpPr txBox="1"/>
          <p:nvPr/>
        </p:nvSpPr>
        <p:spPr>
          <a:xfrm>
            <a:off x="4855464" y="2048256"/>
            <a:ext cx="1161288" cy="512064"/>
          </a:xfrm>
          <a:prstGeom prst="rect">
            <a:avLst/>
          </a:prstGeom>
          <a:noFill/>
        </p:spPr>
        <p:txBody>
          <a:bodyPr wrap="square" anchor="ctr" lIns="0" rIns="0" tIns="0" bIns="0">
            <a:noAutofit/>
          </a:bodyPr>
          <a:lstStyle/>
          <a:p>
            <a:pPr algn="ctr">
              <a:spcBef>
                <a:spcPts val="0"/>
              </a:spcBef>
              <a:spcAft>
                <a:spcPts val="200"/>
              </a:spcAft>
            </a:pPr>
            <a:r>
              <a:rPr sz="1200" b="0" i="0">
                <a:solidFill>
                  <a:srgbClr val="1E2B36"/>
                </a:solidFill>
                <a:latin typeface="Calibri"/>
              </a:rPr>
              <a:t>200</a:t>
            </a:r>
          </a:p>
        </p:txBody>
      </p:sp>
      <p:sp>
        <p:nvSpPr>
          <p:cNvPr id="13" name="TextBox 12"/>
          <p:cNvSpPr txBox="1"/>
          <p:nvPr/>
        </p:nvSpPr>
        <p:spPr>
          <a:xfrm>
            <a:off x="6272783" y="2048256"/>
            <a:ext cx="1344168" cy="512064"/>
          </a:xfrm>
          <a:prstGeom prst="rect">
            <a:avLst/>
          </a:prstGeom>
          <a:noFill/>
        </p:spPr>
        <p:txBody>
          <a:bodyPr wrap="square" anchor="ctr" lIns="0" rIns="0" tIns="0" bIns="0">
            <a:noAutofit/>
          </a:bodyPr>
          <a:lstStyle/>
          <a:p>
            <a:pPr algn="r">
              <a:spcBef>
                <a:spcPts val="0"/>
              </a:spcBef>
              <a:spcAft>
                <a:spcPts val="200"/>
              </a:spcAft>
            </a:pPr>
            <a:r>
              <a:rPr sz="1200" b="1" i="0">
                <a:solidFill>
                  <a:srgbClr val="156082"/>
                </a:solidFill>
                <a:latin typeface="Calibri"/>
              </a:rPr>
              <a:t>85,950</a:t>
            </a:r>
          </a:p>
        </p:txBody>
      </p:sp>
      <p:sp>
        <p:nvSpPr>
          <p:cNvPr id="14" name="TextBox 13"/>
          <p:cNvSpPr txBox="1"/>
          <p:nvPr/>
        </p:nvSpPr>
        <p:spPr>
          <a:xfrm>
            <a:off x="7872983" y="2048256"/>
            <a:ext cx="1527048" cy="512064"/>
          </a:xfrm>
          <a:prstGeom prst="rect">
            <a:avLst/>
          </a:prstGeom>
          <a:noFill/>
        </p:spPr>
        <p:txBody>
          <a:bodyPr wrap="square" anchor="ctr" lIns="0" rIns="0" tIns="0" bIns="0">
            <a:noAutofit/>
          </a:bodyPr>
          <a:lstStyle/>
          <a:p>
            <a:pPr algn="r">
              <a:spcBef>
                <a:spcPts val="0"/>
              </a:spcBef>
              <a:spcAft>
                <a:spcPts val="200"/>
              </a:spcAft>
            </a:pPr>
            <a:r>
              <a:rPr sz="1200" b="0" i="0">
                <a:solidFill>
                  <a:srgbClr val="5B6B78"/>
                </a:solidFill>
                <a:latin typeface="Calibri"/>
              </a:rPr>
              <a:t>1,337</a:t>
            </a:r>
          </a:p>
        </p:txBody>
      </p:sp>
      <p:sp>
        <p:nvSpPr>
          <p:cNvPr id="15" name="Rectangle 14"/>
          <p:cNvSpPr/>
          <p:nvPr/>
        </p:nvSpPr>
        <p:spPr>
          <a:xfrm>
            <a:off x="566928" y="2560320"/>
            <a:ext cx="89611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 y="2560320"/>
            <a:ext cx="3904487" cy="512064"/>
          </a:xfrm>
          <a:prstGeom prst="rect">
            <a:avLst/>
          </a:prstGeom>
          <a:noFill/>
        </p:spPr>
        <p:txBody>
          <a:bodyPr wrap="square" anchor="ctr" lIns="0" rIns="0" tIns="0" bIns="0">
            <a:noAutofit/>
          </a:bodyPr>
          <a:lstStyle/>
          <a:p>
            <a:pPr algn="l">
              <a:spcBef>
                <a:spcPts val="0"/>
              </a:spcBef>
              <a:spcAft>
                <a:spcPts val="200"/>
              </a:spcAft>
            </a:pPr>
            <a:r>
              <a:rPr sz="1200" b="0" i="0">
                <a:solidFill>
                  <a:srgbClr val="1E2B36"/>
                </a:solidFill>
                <a:latin typeface="Calibri"/>
              </a:rPr>
              <a:t>/collections (light DB)</a:t>
            </a:r>
          </a:p>
        </p:txBody>
      </p:sp>
      <p:sp>
        <p:nvSpPr>
          <p:cNvPr id="17" name="TextBox 16"/>
          <p:cNvSpPr txBox="1"/>
          <p:nvPr/>
        </p:nvSpPr>
        <p:spPr>
          <a:xfrm>
            <a:off x="4855464" y="2560320"/>
            <a:ext cx="1161288" cy="512064"/>
          </a:xfrm>
          <a:prstGeom prst="rect">
            <a:avLst/>
          </a:prstGeom>
          <a:noFill/>
        </p:spPr>
        <p:txBody>
          <a:bodyPr wrap="square" anchor="ctr" lIns="0" rIns="0" tIns="0" bIns="0">
            <a:noAutofit/>
          </a:bodyPr>
          <a:lstStyle/>
          <a:p>
            <a:pPr algn="ctr">
              <a:spcBef>
                <a:spcPts val="0"/>
              </a:spcBef>
              <a:spcAft>
                <a:spcPts val="200"/>
              </a:spcAft>
            </a:pPr>
            <a:r>
              <a:rPr sz="1200" b="0" i="0">
                <a:solidFill>
                  <a:srgbClr val="1E2B36"/>
                </a:solidFill>
                <a:latin typeface="Calibri"/>
              </a:rPr>
              <a:t>200</a:t>
            </a:r>
          </a:p>
        </p:txBody>
      </p:sp>
      <p:sp>
        <p:nvSpPr>
          <p:cNvPr id="18" name="TextBox 17"/>
          <p:cNvSpPr txBox="1"/>
          <p:nvPr/>
        </p:nvSpPr>
        <p:spPr>
          <a:xfrm>
            <a:off x="6272783" y="2560320"/>
            <a:ext cx="1344168" cy="512064"/>
          </a:xfrm>
          <a:prstGeom prst="rect">
            <a:avLst/>
          </a:prstGeom>
          <a:noFill/>
        </p:spPr>
        <p:txBody>
          <a:bodyPr wrap="square" anchor="ctr" lIns="0" rIns="0" tIns="0" bIns="0">
            <a:noAutofit/>
          </a:bodyPr>
          <a:lstStyle/>
          <a:p>
            <a:pPr algn="r">
              <a:spcBef>
                <a:spcPts val="0"/>
              </a:spcBef>
              <a:spcAft>
                <a:spcPts val="200"/>
              </a:spcAft>
            </a:pPr>
            <a:r>
              <a:rPr sz="1200" b="1" i="0">
                <a:solidFill>
                  <a:srgbClr val="156082"/>
                </a:solidFill>
                <a:latin typeface="Calibri"/>
              </a:rPr>
              <a:t>30,709</a:t>
            </a:r>
          </a:p>
        </p:txBody>
      </p:sp>
      <p:sp>
        <p:nvSpPr>
          <p:cNvPr id="19" name="TextBox 18"/>
          <p:cNvSpPr txBox="1"/>
          <p:nvPr/>
        </p:nvSpPr>
        <p:spPr>
          <a:xfrm>
            <a:off x="7872983" y="2560320"/>
            <a:ext cx="1527048" cy="512064"/>
          </a:xfrm>
          <a:prstGeom prst="rect">
            <a:avLst/>
          </a:prstGeom>
          <a:noFill/>
        </p:spPr>
        <p:txBody>
          <a:bodyPr wrap="square" anchor="ctr" lIns="0" rIns="0" tIns="0" bIns="0">
            <a:noAutofit/>
          </a:bodyPr>
          <a:lstStyle/>
          <a:p>
            <a:pPr algn="r">
              <a:spcBef>
                <a:spcPts val="0"/>
              </a:spcBef>
              <a:spcAft>
                <a:spcPts val="200"/>
              </a:spcAft>
            </a:pPr>
            <a:r>
              <a:rPr sz="1200" b="0" i="0">
                <a:solidFill>
                  <a:srgbClr val="5B6B78"/>
                </a:solidFill>
                <a:latin typeface="Calibri"/>
              </a:rPr>
              <a:t>649</a:t>
            </a:r>
          </a:p>
        </p:txBody>
      </p:sp>
      <p:sp>
        <p:nvSpPr>
          <p:cNvPr id="20" name="Rectangle 19"/>
          <p:cNvSpPr/>
          <p:nvPr/>
        </p:nvSpPr>
        <p:spPr>
          <a:xfrm>
            <a:off x="566928" y="3072384"/>
            <a:ext cx="8961120" cy="512064"/>
          </a:xfrm>
          <a:prstGeom prst="rect">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 y="3072384"/>
            <a:ext cx="3904487" cy="512064"/>
          </a:xfrm>
          <a:prstGeom prst="rect">
            <a:avLst/>
          </a:prstGeom>
          <a:noFill/>
        </p:spPr>
        <p:txBody>
          <a:bodyPr wrap="square" anchor="ctr" lIns="0" rIns="0" tIns="0" bIns="0">
            <a:noAutofit/>
          </a:bodyPr>
          <a:lstStyle/>
          <a:p>
            <a:pPr algn="l">
              <a:spcBef>
                <a:spcPts val="0"/>
              </a:spcBef>
              <a:spcAft>
                <a:spcPts val="200"/>
              </a:spcAft>
            </a:pPr>
            <a:r>
              <a:rPr sz="1200" b="0" i="0">
                <a:solidFill>
                  <a:srgbClr val="1E2B36"/>
                </a:solidFill>
                <a:latin typeface="Calibri"/>
              </a:rPr>
              <a:t>one trajectory</a:t>
            </a:r>
          </a:p>
        </p:txBody>
      </p:sp>
      <p:sp>
        <p:nvSpPr>
          <p:cNvPr id="22" name="TextBox 21"/>
          <p:cNvSpPr txBox="1"/>
          <p:nvPr/>
        </p:nvSpPr>
        <p:spPr>
          <a:xfrm>
            <a:off x="4855464" y="3072384"/>
            <a:ext cx="1161288" cy="512064"/>
          </a:xfrm>
          <a:prstGeom prst="rect">
            <a:avLst/>
          </a:prstGeom>
          <a:noFill/>
        </p:spPr>
        <p:txBody>
          <a:bodyPr wrap="square" anchor="ctr" lIns="0" rIns="0" tIns="0" bIns="0">
            <a:noAutofit/>
          </a:bodyPr>
          <a:lstStyle/>
          <a:p>
            <a:pPr algn="ctr">
              <a:spcBef>
                <a:spcPts val="0"/>
              </a:spcBef>
              <a:spcAft>
                <a:spcPts val="200"/>
              </a:spcAft>
            </a:pPr>
            <a:r>
              <a:rPr sz="1200" b="0" i="0">
                <a:solidFill>
                  <a:srgbClr val="1E2B36"/>
                </a:solidFill>
                <a:latin typeface="Calibri"/>
              </a:rPr>
              <a:t>100</a:t>
            </a:r>
          </a:p>
        </p:txBody>
      </p:sp>
      <p:sp>
        <p:nvSpPr>
          <p:cNvPr id="23" name="TextBox 22"/>
          <p:cNvSpPr txBox="1"/>
          <p:nvPr/>
        </p:nvSpPr>
        <p:spPr>
          <a:xfrm>
            <a:off x="6272783" y="3072384"/>
            <a:ext cx="1344168" cy="512064"/>
          </a:xfrm>
          <a:prstGeom prst="rect">
            <a:avLst/>
          </a:prstGeom>
          <a:noFill/>
        </p:spPr>
        <p:txBody>
          <a:bodyPr wrap="square" anchor="ctr" lIns="0" rIns="0" tIns="0" bIns="0">
            <a:noAutofit/>
          </a:bodyPr>
          <a:lstStyle/>
          <a:p>
            <a:pPr algn="r">
              <a:spcBef>
                <a:spcPts val="0"/>
              </a:spcBef>
              <a:spcAft>
                <a:spcPts val="200"/>
              </a:spcAft>
            </a:pPr>
            <a:r>
              <a:rPr sz="1200" b="1" i="0">
                <a:solidFill>
                  <a:srgbClr val="156082"/>
                </a:solidFill>
                <a:latin typeface="Calibri"/>
              </a:rPr>
              <a:t>2,434</a:t>
            </a:r>
          </a:p>
        </p:txBody>
      </p:sp>
      <p:sp>
        <p:nvSpPr>
          <p:cNvPr id="24" name="TextBox 23"/>
          <p:cNvSpPr txBox="1"/>
          <p:nvPr/>
        </p:nvSpPr>
        <p:spPr>
          <a:xfrm>
            <a:off x="7872983" y="3072384"/>
            <a:ext cx="1527048" cy="512064"/>
          </a:xfrm>
          <a:prstGeom prst="rect">
            <a:avLst/>
          </a:prstGeom>
          <a:noFill/>
        </p:spPr>
        <p:txBody>
          <a:bodyPr wrap="square" anchor="ctr" lIns="0" rIns="0" tIns="0" bIns="0">
            <a:noAutofit/>
          </a:bodyPr>
          <a:lstStyle/>
          <a:p>
            <a:pPr algn="r">
              <a:spcBef>
                <a:spcPts val="0"/>
              </a:spcBef>
              <a:spcAft>
                <a:spcPts val="200"/>
              </a:spcAft>
            </a:pPr>
            <a:r>
              <a:rPr sz="1200" b="0" i="0">
                <a:solidFill>
                  <a:srgbClr val="5B6B78"/>
                </a:solidFill>
                <a:latin typeface="Calibri"/>
              </a:rPr>
              <a:t>547</a:t>
            </a:r>
          </a:p>
        </p:txBody>
      </p:sp>
      <p:sp>
        <p:nvSpPr>
          <p:cNvPr id="25" name="Rectangle 24"/>
          <p:cNvSpPr/>
          <p:nvPr/>
        </p:nvSpPr>
        <p:spPr>
          <a:xfrm>
            <a:off x="566928" y="3584448"/>
            <a:ext cx="89611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4944" y="3584448"/>
            <a:ext cx="3904487" cy="512064"/>
          </a:xfrm>
          <a:prstGeom prst="rect">
            <a:avLst/>
          </a:prstGeom>
          <a:noFill/>
        </p:spPr>
        <p:txBody>
          <a:bodyPr wrap="square" anchor="ctr" lIns="0" rIns="0" tIns="0" bIns="0">
            <a:noAutofit/>
          </a:bodyPr>
          <a:lstStyle/>
          <a:p>
            <a:pPr algn="l">
              <a:spcBef>
                <a:spcPts val="0"/>
              </a:spcBef>
              <a:spcAft>
                <a:spcPts val="200"/>
              </a:spcAft>
            </a:pPr>
            <a:r>
              <a:rPr sz="1200" b="0" i="0">
                <a:solidFill>
                  <a:srgbClr val="1E2B36"/>
                </a:solidFill>
                <a:latin typeface="Calibri"/>
              </a:rPr>
              <a:t>ten full trajectories (asMFJSON)</a:t>
            </a:r>
          </a:p>
        </p:txBody>
      </p:sp>
      <p:sp>
        <p:nvSpPr>
          <p:cNvPr id="27" name="TextBox 26"/>
          <p:cNvSpPr txBox="1"/>
          <p:nvPr/>
        </p:nvSpPr>
        <p:spPr>
          <a:xfrm>
            <a:off x="4855464" y="3584448"/>
            <a:ext cx="1161288" cy="512064"/>
          </a:xfrm>
          <a:prstGeom prst="rect">
            <a:avLst/>
          </a:prstGeom>
          <a:noFill/>
        </p:spPr>
        <p:txBody>
          <a:bodyPr wrap="square" anchor="ctr" lIns="0" rIns="0" tIns="0" bIns="0">
            <a:noAutofit/>
          </a:bodyPr>
          <a:lstStyle/>
          <a:p>
            <a:pPr algn="ctr">
              <a:spcBef>
                <a:spcPts val="0"/>
              </a:spcBef>
              <a:spcAft>
                <a:spcPts val="200"/>
              </a:spcAft>
            </a:pPr>
            <a:r>
              <a:rPr sz="1200" b="0" i="0">
                <a:solidFill>
                  <a:srgbClr val="1E2B36"/>
                </a:solidFill>
                <a:latin typeface="Calibri"/>
              </a:rPr>
              <a:t>50</a:t>
            </a:r>
          </a:p>
        </p:txBody>
      </p:sp>
      <p:sp>
        <p:nvSpPr>
          <p:cNvPr id="28" name="TextBox 27"/>
          <p:cNvSpPr txBox="1"/>
          <p:nvPr/>
        </p:nvSpPr>
        <p:spPr>
          <a:xfrm>
            <a:off x="6272783" y="3584448"/>
            <a:ext cx="1344168" cy="512064"/>
          </a:xfrm>
          <a:prstGeom prst="rect">
            <a:avLst/>
          </a:prstGeom>
          <a:noFill/>
        </p:spPr>
        <p:txBody>
          <a:bodyPr wrap="square" anchor="ctr" lIns="0" rIns="0" tIns="0" bIns="0">
            <a:noAutofit/>
          </a:bodyPr>
          <a:lstStyle/>
          <a:p>
            <a:pPr algn="r">
              <a:spcBef>
                <a:spcPts val="0"/>
              </a:spcBef>
              <a:spcAft>
                <a:spcPts val="200"/>
              </a:spcAft>
            </a:pPr>
            <a:r>
              <a:rPr sz="1200" b="1" i="0">
                <a:solidFill>
                  <a:srgbClr val="156082"/>
                </a:solidFill>
                <a:latin typeface="Calibri"/>
              </a:rPr>
              <a:t>90 (100% served)</a:t>
            </a:r>
          </a:p>
        </p:txBody>
      </p:sp>
      <p:sp>
        <p:nvSpPr>
          <p:cNvPr id="29" name="TextBox 28"/>
          <p:cNvSpPr txBox="1"/>
          <p:nvPr/>
        </p:nvSpPr>
        <p:spPr>
          <a:xfrm>
            <a:off x="7872983" y="3584448"/>
            <a:ext cx="1527048" cy="512064"/>
          </a:xfrm>
          <a:prstGeom prst="rect">
            <a:avLst/>
          </a:prstGeom>
          <a:noFill/>
        </p:spPr>
        <p:txBody>
          <a:bodyPr wrap="square" anchor="ctr" lIns="0" rIns="0" tIns="0" bIns="0">
            <a:noAutofit/>
          </a:bodyPr>
          <a:lstStyle/>
          <a:p>
            <a:pPr algn="r">
              <a:spcBef>
                <a:spcPts val="0"/>
              </a:spcBef>
              <a:spcAft>
                <a:spcPts val="200"/>
              </a:spcAft>
            </a:pPr>
            <a:r>
              <a:rPr sz="1200" b="0" i="0">
                <a:solidFill>
                  <a:srgbClr val="5B6B78"/>
                </a:solidFill>
                <a:latin typeface="Calibri"/>
              </a:rPr>
              <a:t>sheds ~half the load</a:t>
            </a:r>
          </a:p>
        </p:txBody>
      </p:sp>
      <p:sp>
        <p:nvSpPr>
          <p:cNvPr id="30" name="Rectangle 29"/>
          <p:cNvSpPr/>
          <p:nvPr/>
        </p:nvSpPr>
        <p:spPr>
          <a:xfrm>
            <a:off x="566928" y="4096512"/>
            <a:ext cx="8961120"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187952"/>
            <a:ext cx="8961120" cy="36576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Same MobilityDB (500 AIS vessel trajectories), identical SQL; the only variable is the HTTP / runtime tier. Load: hey, warm cache, localhost.</a:t>
            </a:r>
          </a:p>
        </p:txBody>
      </p:sp>
      <p:sp>
        <p:nvSpPr>
          <p:cNvPr id="32" name="TextBox 31"/>
          <p:cNvSpPr txBox="1"/>
          <p:nvPr/>
        </p:nvSpPr>
        <p:spPr>
          <a:xfrm>
            <a:off x="9939528" y="1783080"/>
            <a:ext cx="1685239" cy="4206240"/>
          </a:xfrm>
          <a:prstGeom prst="rect">
            <a:avLst/>
          </a:prstGeom>
          <a:noFill/>
        </p:spPr>
        <p:txBody>
          <a:bodyPr wrap="square" lIns="0" rIns="0" tIns="0" bIns="0">
            <a:noAutofit/>
          </a:bodyPr>
          <a:lstStyle/>
          <a:p>
            <a:pPr>
              <a:lnSpc>
                <a:spcPct val="106000"/>
              </a:lnSpc>
              <a:spcBef>
                <a:spcPts val="0"/>
              </a:spcBef>
              <a:spcAft>
                <a:spcPts val="1400"/>
              </a:spcAft>
            </a:pPr>
            <a:r>
              <a:rPr sz="1200" b="1">
                <a:solidFill>
                  <a:srgbClr val="156082"/>
                </a:solidFill>
                <a:latin typeface="Calibri"/>
              </a:rPr>
              <a:t>▸  </a:t>
            </a:r>
            <a:r>
              <a:rPr sz="1200" b="1">
                <a:solidFill>
                  <a:srgbClr val="0E2841"/>
                </a:solidFill>
                <a:latin typeface="Calibri"/>
              </a:rPr>
              <a:t>47 to 64x  </a:t>
            </a:r>
            <a:r>
              <a:rPr sz="1200">
                <a:solidFill>
                  <a:srgbClr val="1E2B36"/>
                </a:solidFill>
                <a:latin typeface="Calibri"/>
              </a:rPr>
              <a:t>faster on Go for tier-bound endpoints (/health, /collections), where the cost is per-request runtime overhead the compiled, no-GIL, goroutine-per-request model absorbs</a:t>
            </a:r>
          </a:p>
          <a:p>
            <a:pPr>
              <a:lnSpc>
                <a:spcPct val="106000"/>
              </a:lnSpc>
              <a:spcBef>
                <a:spcPts val="0"/>
              </a:spcBef>
              <a:spcAft>
                <a:spcPts val="1400"/>
              </a:spcAft>
            </a:pPr>
            <a:r>
              <a:rPr sz="1200" b="1">
                <a:solidFill>
                  <a:srgbClr val="156082"/>
                </a:solidFill>
                <a:latin typeface="Calibri"/>
              </a:rPr>
              <a:t>▸  </a:t>
            </a:r>
            <a:r>
              <a:rPr sz="1200" b="1">
                <a:solidFill>
                  <a:srgbClr val="0E2841"/>
                </a:solidFill>
                <a:latin typeface="Calibri"/>
              </a:rPr>
              <a:t>Heavy asMFJSON  </a:t>
            </a:r>
            <a:r>
              <a:rPr sz="1200">
                <a:solidFill>
                  <a:srgbClr val="1E2B36"/>
                </a:solidFill>
                <a:latin typeface="Calibri"/>
              </a:rPr>
              <a:t>raw throughput converges on the database (pool x asMFJSON); the Python tier sheds load under concurrency while Go serves every request at the DB-bound ceiling</a:t>
            </a:r>
          </a:p>
          <a:p>
            <a:pPr>
              <a:lnSpc>
                <a:spcPct val="106000"/>
              </a:lnSpc>
              <a:spcBef>
                <a:spcPts val="0"/>
              </a:spcBef>
              <a:spcAft>
                <a:spcPts val="1400"/>
              </a:spcAft>
            </a:pPr>
            <a:r>
              <a:rPr sz="1200" b="1">
                <a:solidFill>
                  <a:srgbClr val="156082"/>
                </a:solidFill>
                <a:latin typeface="Calibri"/>
              </a:rPr>
              <a:t>▸  </a:t>
            </a:r>
            <a:r>
              <a:rPr sz="1200" b="1">
                <a:solidFill>
                  <a:srgbClr val="0E2841"/>
                </a:solidFill>
                <a:latin typeface="Calibri"/>
              </a:rPr>
              <a:t>Shared bottleneck  </a:t>
            </a:r>
            <a:r>
              <a:rPr sz="1200">
                <a:solidFill>
                  <a:srgbClr val="1E2B36"/>
                </a:solidFill>
                <a:latin typeface="Calibri"/>
              </a:rPr>
              <a:t>the database is the limit for heavy serialization; the tier decides front-end behaviour under load</a:t>
            </a:r>
          </a:p>
        </p:txBody>
      </p:sp>
      <p:sp>
        <p:nvSpPr>
          <p:cNvPr id="33" name="Rectangle 3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5" name="TextBox 34"/>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Built for Very Large Databases</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783080"/>
            <a:ext cx="3840480" cy="27889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011680"/>
            <a:ext cx="3291840" cy="731520"/>
          </a:xfrm>
          <a:prstGeom prst="rect">
            <a:avLst/>
          </a:prstGeom>
          <a:noFill/>
        </p:spPr>
        <p:txBody>
          <a:bodyPr wrap="square" anchor="t" lIns="0" rIns="0" tIns="0" bIns="0">
            <a:noAutofit/>
          </a:bodyPr>
          <a:lstStyle/>
          <a:p>
            <a:pPr algn="l">
              <a:spcBef>
                <a:spcPts val="0"/>
              </a:spcBef>
              <a:spcAft>
                <a:spcPts val="200"/>
              </a:spcAft>
            </a:pPr>
            <a:r>
              <a:rPr sz="4400" b="1" i="0">
                <a:solidFill>
                  <a:srgbClr val="196B24"/>
                </a:solidFill>
                <a:latin typeface="Calibri Light"/>
              </a:rPr>
              <a:t>393 MB</a:t>
            </a:r>
          </a:p>
        </p:txBody>
      </p:sp>
      <p:sp>
        <p:nvSpPr>
          <p:cNvPr id="7" name="TextBox 6"/>
          <p:cNvSpPr txBox="1"/>
          <p:nvPr/>
        </p:nvSpPr>
        <p:spPr>
          <a:xfrm>
            <a:off x="886968" y="2761488"/>
            <a:ext cx="329184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streamed in one export</a:t>
            </a:r>
          </a:p>
        </p:txBody>
      </p:sp>
      <p:sp>
        <p:nvSpPr>
          <p:cNvPr id="8" name="TextBox 7"/>
          <p:cNvSpPr txBox="1"/>
          <p:nvPr/>
        </p:nvSpPr>
        <p:spPr>
          <a:xfrm>
            <a:off x="886968" y="3200400"/>
            <a:ext cx="3291840" cy="640080"/>
          </a:xfrm>
          <a:prstGeom prst="rect">
            <a:avLst/>
          </a:prstGeom>
          <a:noFill/>
        </p:spPr>
        <p:txBody>
          <a:bodyPr wrap="square" anchor="t" lIns="0" rIns="0" tIns="0" bIns="0">
            <a:noAutofit/>
          </a:bodyPr>
          <a:lstStyle/>
          <a:p>
            <a:pPr algn="l">
              <a:spcBef>
                <a:spcPts val="0"/>
              </a:spcBef>
              <a:spcAft>
                <a:spcPts val="200"/>
              </a:spcAft>
            </a:pPr>
            <a:r>
              <a:rPr sz="3600" b="1" i="0">
                <a:solidFill>
                  <a:srgbClr val="156082"/>
                </a:solidFill>
                <a:latin typeface="Calibri Light"/>
              </a:rPr>
              <a:t>18 MB</a:t>
            </a:r>
          </a:p>
        </p:txBody>
      </p:sp>
      <p:sp>
        <p:nvSpPr>
          <p:cNvPr id="9" name="TextBox 8"/>
          <p:cNvSpPr txBox="1"/>
          <p:nvPr/>
        </p:nvSpPr>
        <p:spPr>
          <a:xfrm>
            <a:off x="886968" y="3931920"/>
            <a:ext cx="3291840" cy="4572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memory, bounded by the stream and not the result size</a:t>
            </a:r>
          </a:p>
        </p:txBody>
      </p:sp>
      <p:sp>
        <p:nvSpPr>
          <p:cNvPr id="10" name="TextBox 9"/>
          <p:cNvSpPr txBox="1"/>
          <p:nvPr/>
        </p:nvSpPr>
        <p:spPr>
          <a:xfrm>
            <a:off x="4681728" y="1828800"/>
            <a:ext cx="6943039" cy="402336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96B24"/>
                </a:solidFill>
                <a:latin typeface="Calibri"/>
              </a:rPr>
              <a:t>▸  </a:t>
            </a:r>
            <a:r>
              <a:rPr sz="1200" b="1">
                <a:solidFill>
                  <a:srgbClr val="0E2841"/>
                </a:solidFill>
                <a:latin typeface="Calibri"/>
              </a:rPr>
              <a:t>Streaming responses  </a:t>
            </a:r>
            <a:r>
              <a:rPr sz="1200">
                <a:solidFill>
                  <a:srgbClr val="1E2B36"/>
                </a:solidFill>
                <a:latin typeface="Calibri"/>
              </a:rPr>
              <a:t>the FeatureCollection is written row by row from a server-side cursor, so memory is bounded for any result size</a:t>
            </a:r>
          </a:p>
          <a:p>
            <a:pPr>
              <a:lnSpc>
                <a:spcPct val="106000"/>
              </a:lnSpc>
              <a:spcBef>
                <a:spcPts val="0"/>
              </a:spcBef>
              <a:spcAft>
                <a:spcPts val="1300"/>
              </a:spcAft>
            </a:pPr>
            <a:r>
              <a:rPr sz="1200" b="1">
                <a:solidFill>
                  <a:srgbClr val="196B24"/>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so paging stays constant cost through arbitrarily large collections</a:t>
            </a:r>
          </a:p>
          <a:p>
            <a:pPr>
              <a:lnSpc>
                <a:spcPct val="106000"/>
              </a:lnSpc>
              <a:spcBef>
                <a:spcPts val="0"/>
              </a:spcBef>
              <a:spcAft>
                <a:spcPts val="1300"/>
              </a:spcAft>
            </a:pPr>
            <a:r>
              <a:rPr sz="1200" b="1">
                <a:solidFill>
                  <a:srgbClr val="196B24"/>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via the overlap operator; subTrajectory clips with atTime</a:t>
            </a:r>
          </a:p>
          <a:p>
            <a:pPr>
              <a:lnSpc>
                <a:spcPct val="106000"/>
              </a:lnSpc>
              <a:spcBef>
                <a:spcPts val="0"/>
              </a:spcBef>
              <a:spcAft>
                <a:spcPts val="1300"/>
              </a:spcAft>
            </a:pPr>
            <a:r>
              <a:rPr sz="1200" b="1">
                <a:solidFill>
                  <a:srgbClr val="196B24"/>
                </a:solidFill>
                <a:latin typeface="Calibri"/>
              </a:rPr>
              <a:t>▸  </a:t>
            </a:r>
            <a:r>
              <a:rPr sz="1200" b="1">
                <a:solidFill>
                  <a:srgbClr val="0E2841"/>
                </a:solidFill>
                <a:latin typeface="Calibri"/>
              </a:rPr>
              <a:t>Lakehouse feed  </a:t>
            </a:r>
            <a:r>
              <a:rPr sz="1200">
                <a:solidFill>
                  <a:srgbClr val="1E2B36"/>
                </a:solidFill>
                <a:latin typeface="Calibri"/>
              </a:rPr>
              <a:t>a streaming NDJSON export that DuckDB, MobilityDuck, and Spark ingest directly, then convert to Parquet or Arrow in the lake</a:t>
            </a:r>
          </a:p>
        </p:txBody>
      </p:sp>
      <p:sp>
        <p:nvSpPr>
          <p:cNvPr id="11" name="TextBox 10"/>
          <p:cNvSpPr txBox="1"/>
          <p:nvPr/>
        </p:nvSpPr>
        <p:spPr>
          <a:xfrm>
            <a:off x="566928" y="5715000"/>
            <a:ext cx="11057839" cy="54864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Every temporal computation stays in MobilityDB (C); the Go tier is a single static binary that holds no MEOS. A step toward the Data Lake House architecture in the MobilityDB ecosystem.</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GUIDANCE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When to Use Which Tier</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91640"/>
            <a:ext cx="5300319" cy="33832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91640"/>
            <a:ext cx="5300319" cy="475488"/>
          </a:xfrm>
          <a:prstGeom prst="roundRect">
            <a:avLst>
              <a:gd name="adj" fmla="val 6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46504"/>
            <a:ext cx="4934559" cy="27432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PyMEOS / Python tier</a:t>
            </a:r>
          </a:p>
        </p:txBody>
      </p:sp>
      <p:sp>
        <p:nvSpPr>
          <p:cNvPr id="8" name="TextBox 7"/>
          <p:cNvSpPr txBox="1"/>
          <p:nvPr/>
        </p:nvSpPr>
        <p:spPr>
          <a:xfrm>
            <a:off x="822960" y="2377440"/>
            <a:ext cx="4797399" cy="256032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E97132"/>
                </a:solidFill>
                <a:latin typeface="Calibri"/>
              </a:rPr>
              <a:t>▸  </a:t>
            </a:r>
            <a:r>
              <a:rPr sz="1400" b="1">
                <a:solidFill>
                  <a:srgbClr val="0E2841"/>
                </a:solidFill>
                <a:latin typeface="Calibri"/>
              </a:rPr>
              <a:t>Fine for moderate load  </a:t>
            </a:r>
            <a:r>
              <a:rPr sz="1400">
                <a:solidFill>
                  <a:srgbClr val="1E2B36"/>
                </a:solidFill>
                <a:latin typeface="Calibri"/>
              </a:rPr>
              <a:t>and the fastest path to build</a:t>
            </a:r>
          </a:p>
          <a:p>
            <a:pPr>
              <a:lnSpc>
                <a:spcPct val="106000"/>
              </a:lnSpc>
              <a:spcBef>
                <a:spcPts val="0"/>
              </a:spcBef>
              <a:spcAft>
                <a:spcPts val="1200"/>
              </a:spcAft>
            </a:pPr>
            <a:r>
              <a:rPr sz="1400" b="1">
                <a:solidFill>
                  <a:srgbClr val="E97132"/>
                </a:solidFill>
                <a:latin typeface="Calibri"/>
              </a:rPr>
              <a:t>▸  </a:t>
            </a:r>
            <a:r>
              <a:rPr sz="1400" b="1">
                <a:solidFill>
                  <a:srgbClr val="0E2841"/>
                </a:solidFill>
                <a:latin typeface="Calibri"/>
              </a:rPr>
              <a:t>PyMEOS in process  </a:t>
            </a:r>
            <a:r>
              <a:rPr sz="1400">
                <a:solidFill>
                  <a:srgbClr val="1E2B36"/>
                </a:solidFill>
                <a:latin typeface="Calibri"/>
              </a:rPr>
              <a:t>is the JSON to temporal-type glue; MobilityDB does the computation</a:t>
            </a:r>
          </a:p>
          <a:p>
            <a:pPr>
              <a:lnSpc>
                <a:spcPct val="106000"/>
              </a:lnSpc>
              <a:spcBef>
                <a:spcPts val="0"/>
              </a:spcBef>
              <a:spcAft>
                <a:spcPts val="1200"/>
              </a:spcAft>
            </a:pPr>
            <a:r>
              <a:rPr sz="1400" b="1">
                <a:solidFill>
                  <a:srgbClr val="E97132"/>
                </a:solidFill>
                <a:latin typeface="Calibri"/>
              </a:rPr>
              <a:t>▸  </a:t>
            </a:r>
            <a:r>
              <a:rPr sz="1400" b="1">
                <a:solidFill>
                  <a:srgbClr val="0E2841"/>
                </a:solidFill>
                <a:latin typeface="Calibri"/>
              </a:rPr>
              <a:t>Front-end ceiling  </a:t>
            </a:r>
            <a:r>
              <a:rPr sz="1400">
                <a:solidFill>
                  <a:srgbClr val="1E2B36"/>
                </a:solidFill>
                <a:latin typeface="Calibri"/>
              </a:rPr>
              <a:t>is set by the Python runtime model under high concurrency</a:t>
            </a:r>
          </a:p>
        </p:txBody>
      </p:sp>
      <p:sp>
        <p:nvSpPr>
          <p:cNvPr id="9" name="Rounded Rectangle 8"/>
          <p:cNvSpPr/>
          <p:nvPr/>
        </p:nvSpPr>
        <p:spPr>
          <a:xfrm>
            <a:off x="6324447" y="1691640"/>
            <a:ext cx="5300319" cy="33832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24447" y="1691640"/>
            <a:ext cx="5300319" cy="475488"/>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3047" y="1746504"/>
            <a:ext cx="4934559" cy="27432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Thin compiled tier (Go)</a:t>
            </a:r>
          </a:p>
        </p:txBody>
      </p:sp>
      <p:sp>
        <p:nvSpPr>
          <p:cNvPr id="12" name="TextBox 11"/>
          <p:cNvSpPr txBox="1"/>
          <p:nvPr/>
        </p:nvSpPr>
        <p:spPr>
          <a:xfrm>
            <a:off x="6580479" y="2377440"/>
            <a:ext cx="4797399" cy="256032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Scalable choice  </a:t>
            </a:r>
            <a:r>
              <a:rPr sz="1400">
                <a:solidFill>
                  <a:srgbClr val="1E2B36"/>
                </a:solidFill>
                <a:latin typeface="Calibri"/>
              </a:rPr>
              <a:t>under high concurrency: a thin Go tier over MobilityDB SQL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DB, thin API  </a:t>
            </a:r>
            <a:r>
              <a:rPr sz="1400">
                <a:solidFill>
                  <a:srgbClr val="1E2B36"/>
                </a:solidFill>
                <a:latin typeface="Calibri"/>
              </a:rPr>
              <a:t>in the pg_featureserv / PostgREST tradition: the database holds the logic, the tier just serves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Single static binary  </a:t>
            </a:r>
            <a:r>
              <a:rPr sz="1400">
                <a:solidFill>
                  <a:srgbClr val="1E2B36"/>
                </a:solidFill>
                <a:latin typeface="Calibri"/>
              </a:rPr>
              <a:t>no cgo, no MEOS in the tier; reads use asMFJSON, writes use tgeompointFromMFJSON</a:t>
            </a:r>
          </a:p>
        </p:txBody>
      </p:sp>
      <p:sp>
        <p:nvSpPr>
          <p:cNvPr id="13" name="TextBox 12"/>
          <p:cNvSpPr txBox="1"/>
          <p:nvPr/>
        </p:nvSpPr>
        <p:spPr>
          <a:xfrm>
            <a:off x="566928" y="5349240"/>
            <a:ext cx="11057839" cy="8229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The comparison used a controlled threaded-Python baseline. A FastAPI / uvicorn or multi-worker deployment would raise the Python ceiling, but the structural advantage of the compiled, no-GIL tier on light endpoints holds.</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Everything MobilityAPI Implements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create (POST)</a:t>
            </a:r>
          </a:p>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replace (PUT)</a:t>
            </a:r>
          </a:p>
          <a:p>
            <a:pPr>
              <a:lnSpc>
                <a:spcPct val="100000"/>
              </a:lnSpc>
              <a:spcAft>
                <a:spcPts val="300"/>
              </a:spcAft>
            </a:pPr>
            <a:r>
              <a:rPr sz="1200" b="1">
                <a:solidFill>
                  <a:srgbClr val="156082"/>
                </a:solidFill>
                <a:latin typeface="Calibri"/>
              </a:rPr>
              <a:t>✓ </a:t>
            </a:r>
            <a:r>
              <a:rPr sz="1200">
                <a:solidFill>
                  <a:srgbClr val="1E2B36"/>
                </a:solidFill>
                <a:latin typeface="Calibri"/>
              </a:rPr>
              <a:t>delete (DELETE)</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Feature / FeatureCollection</a:t>
            </a:r>
          </a:p>
          <a:p>
            <a:pPr>
              <a:lnSpc>
                <a:spcPct val="100000"/>
              </a:lnSpc>
              <a:spcAft>
                <a:spcPts val="300"/>
              </a:spcAft>
            </a:pPr>
            <a:r>
              <a:rPr sz="1200" b="1">
                <a:solidFill>
                  <a:srgbClr val="E97132"/>
                </a:solidFill>
                <a:latin typeface="Calibri"/>
              </a:rPr>
              <a:t>✓ </a:t>
            </a:r>
            <a:r>
              <a:rPr sz="1200">
                <a:solidFill>
                  <a:srgbClr val="1E2B36"/>
                </a:solidFill>
                <a:latin typeface="Calibri"/>
              </a:rPr>
              <a:t>list + paginate (limit)</a:t>
            </a:r>
          </a:p>
          <a:p>
            <a:pPr>
              <a:lnSpc>
                <a:spcPct val="100000"/>
              </a:lnSpc>
              <a:spcAft>
                <a:spcPts val="300"/>
              </a:spcAft>
            </a:pPr>
            <a:r>
              <a:rPr sz="1200" b="1">
                <a:solidFill>
                  <a:srgbClr val="E97132"/>
                </a:solidFill>
                <a:latin typeface="Calibri"/>
              </a:rPr>
              <a:t>✓ </a:t>
            </a:r>
            <a:r>
              <a:rPr sz="1200">
                <a:solidFill>
                  <a:srgbClr val="1E2B36"/>
                </a:solidFill>
                <a:latin typeface="Calibri"/>
              </a:rPr>
              <a:t>retrieve single</a:t>
            </a:r>
          </a:p>
          <a:p>
            <a:pPr>
              <a:lnSpc>
                <a:spcPct val="100000"/>
              </a:lnSpc>
              <a:spcAft>
                <a:spcPts val="300"/>
              </a:spcAft>
            </a:pPr>
            <a:r>
              <a:rPr sz="1200" b="1">
                <a:solidFill>
                  <a:srgbClr val="E97132"/>
                </a:solidFill>
                <a:latin typeface="Calibri"/>
              </a:rPr>
              <a:t>✓ </a:t>
            </a:r>
            <a:r>
              <a:rPr sz="1200">
                <a:solidFill>
                  <a:srgbClr val="1E2B36"/>
                </a:solidFill>
                <a:latin typeface="Calibri"/>
              </a:rPr>
              <a:t>delete</a:t>
            </a:r>
          </a:p>
          <a:p>
            <a:pPr>
              <a:lnSpc>
                <a:spcPct val="100000"/>
              </a:lnSpc>
              <a:spcAft>
                <a:spcPts val="300"/>
              </a:spcAft>
            </a:pPr>
            <a:r>
              <a:rPr sz="1200" b="1">
                <a:solidFill>
                  <a:srgbClr val="E97132"/>
                </a:solidFill>
                <a:latin typeface="Calibri"/>
              </a:rPr>
              <a:t>✓ </a:t>
            </a:r>
            <a:r>
              <a:rPr sz="1200">
                <a:solidFill>
                  <a:srgbClr val="1E2B36"/>
                </a:solidFill>
                <a:latin typeface="Calibri"/>
              </a:rPr>
              <a:t>MovingFeaturesJSON validation</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instant / interval</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parameter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primitive (POST)</a:t>
            </a:r>
          </a:p>
          <a:p>
            <a:pPr>
              <a:lnSpc>
                <a:spcPct val="100000"/>
              </a:lnSpc>
              <a:spcAft>
                <a:spcPts val="300"/>
              </a:spcAft>
            </a:pPr>
            <a:r>
              <a:rPr sz="1200" b="1">
                <a:solidFill>
                  <a:srgbClr val="A02B93"/>
                </a:solidFill>
                <a:latin typeface="Calibri"/>
              </a:rPr>
              <a:t>✓ </a:t>
            </a:r>
            <a:r>
              <a:rPr sz="1200">
                <a:solidFill>
                  <a:srgbClr val="1E2B36"/>
                </a:solidFill>
                <a:latin typeface="Calibri"/>
              </a:rPr>
              <a:t>delete primitive (DELETE)</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a:t>
            </a:r>
          </a:p>
          <a:p>
            <a:pPr>
              <a:lnSpc>
                <a:spcPct val="100000"/>
              </a:lnSpc>
              <a:spcAft>
                <a:spcPts val="300"/>
              </a:spcAft>
            </a:pPr>
            <a:r>
              <a:rPr sz="1200" b="1">
                <a:solidFill>
                  <a:srgbClr val="156082"/>
                </a:solidFill>
                <a:latin typeface="Calibri"/>
              </a:rPr>
              <a:t>✓ </a:t>
            </a:r>
            <a:r>
              <a:rPr sz="1200">
                <a:solidFill>
                  <a:srgbClr val="1E2B36"/>
                </a:solidFill>
                <a:latin typeface="Calibri"/>
              </a:rPr>
              <a:t>→ TReal series</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list / add</a:t>
            </a:r>
          </a:p>
          <a:p>
            <a:pPr>
              <a:lnSpc>
                <a:spcPct val="100000"/>
              </a:lnSpc>
              <a:spcAft>
                <a:spcPts val="300"/>
              </a:spcAft>
            </a:pPr>
            <a:r>
              <a:rPr sz="1200" b="1">
                <a:solidFill>
                  <a:srgbClr val="E97132"/>
                </a:solidFill>
                <a:latin typeface="Calibri"/>
              </a:rPr>
              <a:t>✓ </a:t>
            </a:r>
            <a:r>
              <a:rPr sz="1200">
                <a:solidFill>
                  <a:srgbClr val="1E2B36"/>
                </a:solidFill>
                <a:latin typeface="Calibri"/>
              </a:rPr>
              <a:t>read / append values</a:t>
            </a:r>
          </a:p>
          <a:p>
            <a:pPr>
              <a:lnSpc>
                <a:spcPct val="100000"/>
              </a:lnSpc>
              <a:spcAft>
                <a:spcPts val="300"/>
              </a:spcAft>
            </a:pPr>
            <a:r>
              <a:rPr sz="1200" b="1">
                <a:solidFill>
                  <a:srgbClr val="E97132"/>
                </a:solidFill>
                <a:latin typeface="Calibri"/>
              </a:rPr>
              <a:t>✓ </a:t>
            </a:r>
            <a:r>
              <a:rPr sz="1200">
                <a:solidFill>
                  <a:srgbClr val="1E2B36"/>
                </a:solidFill>
                <a:latin typeface="Calibri"/>
              </a:rPr>
              <a:t>delete property</a:t>
            </a:r>
          </a:p>
          <a:p>
            <a:pPr>
              <a:lnSpc>
                <a:spcPct val="100000"/>
              </a:lnSpc>
              <a:spcAft>
                <a:spcPts val="300"/>
              </a:spcAft>
            </a:pPr>
            <a:r>
              <a:rPr sz="1200" b="1">
                <a:solidFill>
                  <a:srgbClr val="E97132"/>
                </a:solidFill>
                <a:latin typeface="Calibri"/>
              </a:rPr>
              <a:t>✓ </a:t>
            </a:r>
            <a:r>
              <a:rPr sz="1200">
                <a:solidFill>
                  <a:srgbClr val="1E2B36"/>
                </a:solidFill>
                <a:latin typeface="Calibri"/>
              </a:rPr>
              <a:t>delete one value</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856231"/>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8308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09397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569464"/>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496312"/>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MobilityAPI source</a:t>
            </a:r>
          </a:p>
        </p:txBody>
      </p:sp>
      <p:sp>
        <p:nvSpPr>
          <p:cNvPr id="10" name="TextBox 9"/>
          <p:cNvSpPr txBox="1"/>
          <p:nvPr/>
        </p:nvSpPr>
        <p:spPr>
          <a:xfrm>
            <a:off x="932688" y="2807208"/>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https://github.com/MobilityDB/MobilityAPI</a:t>
            </a:r>
          </a:p>
        </p:txBody>
      </p:sp>
      <p:sp>
        <p:nvSpPr>
          <p:cNvPr id="11" name="Rectangle 10"/>
          <p:cNvSpPr/>
          <p:nvPr/>
        </p:nvSpPr>
        <p:spPr>
          <a:xfrm>
            <a:off x="566928" y="328269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20954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3" name="TextBox 12"/>
          <p:cNvSpPr txBox="1"/>
          <p:nvPr/>
        </p:nvSpPr>
        <p:spPr>
          <a:xfrm>
            <a:off x="932688" y="3520439"/>
            <a:ext cx="10515600" cy="292608"/>
          </a:xfrm>
          <a:prstGeom prst="rect">
            <a:avLst/>
          </a:prstGeom>
          <a:noFill/>
        </p:spPr>
        <p:txBody>
          <a:bodyPr wrap="none" lIns="0" rIns="0" tIns="0" bIns="0">
            <a:noAutofit/>
          </a:bodyPr>
          <a:lstStyle/>
          <a:p>
            <a:pPr algn="l"/>
            <a:r>
              <a:rPr sz="1200" u="none">
                <a:solidFill>
                  <a:srgbClr val="156082"/>
                </a:solidFill>
                <a:latin typeface="Consolas"/>
                <a:hlinkClick r:id="rId4"/>
              </a:rPr>
              <a:t>https://github.com/MobilityDB/MobilityDB</a:t>
            </a:r>
            <a:r>
              <a:rPr sz="1200">
                <a:solidFill>
                  <a:srgbClr val="5B6B78"/>
                </a:solidFill>
                <a:latin typeface="Consolas"/>
              </a:rPr>
              <a:t>    ·    </a:t>
            </a:r>
            <a:r>
              <a:rPr sz="1200" u="none">
                <a:solidFill>
                  <a:srgbClr val="156082"/>
                </a:solidFill>
                <a:latin typeface="Consolas"/>
                <a:hlinkClick r:id="rId5"/>
              </a:rPr>
              <a:t>https://mobilitydb.com</a:t>
            </a:r>
          </a:p>
        </p:txBody>
      </p:sp>
      <p:sp>
        <p:nvSpPr>
          <p:cNvPr id="14" name="Rectangle 13"/>
          <p:cNvSpPr/>
          <p:nvPr/>
        </p:nvSpPr>
        <p:spPr>
          <a:xfrm>
            <a:off x="566928" y="3995928"/>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92277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PyMEOS (temporal-data layer)</a:t>
            </a:r>
          </a:p>
        </p:txBody>
      </p:sp>
      <p:sp>
        <p:nvSpPr>
          <p:cNvPr id="16" name="TextBox 15"/>
          <p:cNvSpPr txBox="1"/>
          <p:nvPr/>
        </p:nvSpPr>
        <p:spPr>
          <a:xfrm>
            <a:off x="932688" y="4233672"/>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https://github.com/MobilityDB/PyMEOS</a:t>
            </a:r>
          </a:p>
        </p:txBody>
      </p:sp>
      <p:sp>
        <p:nvSpPr>
          <p:cNvPr id="17" name="Rectangle 16"/>
          <p:cNvSpPr/>
          <p:nvPr/>
        </p:nvSpPr>
        <p:spPr>
          <a:xfrm>
            <a:off x="566928" y="470916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63600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9" name="TextBox 18"/>
          <p:cNvSpPr txBox="1"/>
          <p:nvPr/>
        </p:nvSpPr>
        <p:spPr>
          <a:xfrm>
            <a:off x="932688" y="4946904"/>
            <a:ext cx="10515600" cy="292608"/>
          </a:xfrm>
          <a:prstGeom prst="rect">
            <a:avLst/>
          </a:prstGeom>
          <a:noFill/>
        </p:spPr>
        <p:txBody>
          <a:bodyPr wrap="none" lIns="0" rIns="0" tIns="0" bIns="0">
            <a:noAutofit/>
          </a:bodyPr>
          <a:lstStyle/>
          <a:p>
            <a:pPr algn="l"/>
            <a:r>
              <a:rPr sz="1200" u="none">
                <a:solidFill>
                  <a:srgbClr val="156082"/>
                </a:solidFill>
                <a:latin typeface="Consolas"/>
                <a:hlinkClick r:id="rId7"/>
              </a:rPr>
              <a:t>https://libmeos.org</a:t>
            </a:r>
          </a:p>
        </p:txBody>
      </p:sp>
      <p:sp>
        <p:nvSpPr>
          <p:cNvPr id="20" name="Rectangle 19"/>
          <p:cNvSpPr/>
          <p:nvPr/>
        </p:nvSpPr>
        <p:spPr>
          <a:xfrm>
            <a:off x="566928" y="5422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 y="5349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22" name="TextBox 21"/>
          <p:cNvSpPr txBox="1"/>
          <p:nvPr/>
        </p:nvSpPr>
        <p:spPr>
          <a:xfrm>
            <a:off x="932688" y="5660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8"/>
              </a:rPr>
              <a:t>http://aisdata.ais.dk</a:t>
            </a:r>
          </a:p>
        </p:txBody>
      </p:sp>
      <p:sp>
        <p:nvSpPr>
          <p:cNvPr id="23" name="Rectangle 2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5" name="TextBox 24"/>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