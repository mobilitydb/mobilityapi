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MobilityAPI exposes MobilityDB mobility data as REST resources following the OGC API – Moving Features – Part 1: Core standard. This deck walks through the complete implemented feature surface using one day of Danish AIS ship-trajectory data, and contrasts two ways to serve the same MobilityDB: a PyMEOS Python tier and a thin compiled Go tier.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Positioning: MobilityAPI is the HTTP/OGC façade in front of MobilityDB; PyMEOS does the JSON&lt;-&gt;temporal-type conversion.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OGC data model maps one-to-one onto MobilityAPI's REST resources.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Zoomed view of the OGC API – Moving Features class diagram (fig. 1) for presenting class-level detail.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Zoomed view of the OGC API – Moving Features class diagram (fig. 1) for presenting class-level detail.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Crisp, presentable view of the backing schema for walking the audience through each table and its columns.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canonical AIS dataset used across the MobilityDB ecosystem tutorials.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implemented endpoint and HTTP method. The following slides demonstrate each group against the AIS dataset.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the live demo against the ships collection.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 /collections registers the collection and returns HATEOAS links. GET /collections lists every registered collection.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 items ingests one or many MovingPoint features. The notebook streams the AIS file in small batches.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bbox query is a spatial pre-filter executed by MobilityDB's STBOX index.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distance/velocity/acceleration are the three derived-measure queryTypes over a temporal primitive geometry; the response is a temporal real (TReal).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entire temporal-properties group (GET/POST/DELETE at three levels) — omitted from the tutorial notebook — is implemented.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MobilityAPI is the HTTP/OGC layer; MobilityDB and MobilityDuck are peer SQL layers; all sit on the shared MEOS C core.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choice: PyMEOS Python tier vs a thin compiled Go tier. Both run identical SQL against the same MobilityDB; the database does all temporal work and (de)serialization. The Go tier carries no MEOS in-process.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Measured throughput and reliability. Tier-bound endpoints run 47 to 64x faster on Go. On the heavy asMFJSON endpoint, raw throughput converges on the database, but the Python tier sheds roughly half the load at concurrency 50 while Go completes 100 percent. The database is the shared bottleneck; the tier decides front-end behaviour under load.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guidance. The Python tier is fine for moderate load and fastest to build; a thin compiled tier is the scalable choice under high concurrency, in the fat-DB / thin-API tradition. The baseline was a controlled threaded-Python server; a FastAPI/uvicorn or multi-worker deployment would raise the Python ceiling, but the structural advantage on light endpoints holds.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ogc.org/is/22-003r3/22-003r3.html" TargetMode="External"/><Relationship Id="rId3" Type="http://schemas.openxmlformats.org/officeDocument/2006/relationships/hyperlink" Target="https://github.com/MobilityDB/MobilityAPI" TargetMode="External"/><Relationship Id="rId4" Type="http://schemas.openxmlformats.org/officeDocument/2006/relationships/hyperlink" Target="https://github.com/MobilityDB/MobilityDB" TargetMode="External"/><Relationship Id="rId5" Type="http://schemas.openxmlformats.org/officeDocument/2006/relationships/hyperlink" Target="https://mobilitydb.com" TargetMode="External"/><Relationship Id="rId6" Type="http://schemas.openxmlformats.org/officeDocument/2006/relationships/hyperlink" Target="https://github.com/MobilityDB/PyMEOS" TargetMode="External"/><Relationship Id="rId7" Type="http://schemas.openxmlformats.org/officeDocument/2006/relationships/hyperlink" Target="https://libmeos.org" TargetMode="External"/><Relationship Id="rId8" Type="http://schemas.openxmlformats.org/officeDocument/2006/relationships/hyperlink" Target="http://aisdata.ais.dk"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057400"/>
            <a:ext cx="8686800" cy="1097280"/>
          </a:xfrm>
          <a:prstGeom prst="rect">
            <a:avLst/>
          </a:prstGeom>
          <a:noFill/>
        </p:spPr>
        <p:txBody>
          <a:bodyPr wrap="square" anchor="t" lIns="0" rIns="0" tIns="0" bIns="0">
            <a:noAutofit/>
          </a:bodyPr>
          <a:lstStyle/>
          <a:p>
            <a:pPr algn="l">
              <a:spcBef>
                <a:spcPts val="0"/>
              </a:spcBef>
              <a:spcAft>
                <a:spcPts val="200"/>
              </a:spcAft>
            </a:pPr>
            <a:r>
              <a:rPr sz="6600" b="1" i="0">
                <a:solidFill>
                  <a:srgbClr val="FFFFFF"/>
                </a:solidFill>
                <a:latin typeface="Calibri Light"/>
              </a:rPr>
              <a:t>MobilityAPI</a:t>
            </a:r>
          </a:p>
        </p:txBody>
      </p:sp>
      <p:sp>
        <p:nvSpPr>
          <p:cNvPr id="5" name="TextBox 4"/>
          <p:cNvSpPr txBox="1"/>
          <p:nvPr/>
        </p:nvSpPr>
        <p:spPr>
          <a:xfrm>
            <a:off x="566928" y="3200400"/>
            <a:ext cx="8778240" cy="731520"/>
          </a:xfrm>
          <a:prstGeom prst="rect">
            <a:avLst/>
          </a:prstGeom>
          <a:noFill/>
        </p:spPr>
        <p:txBody>
          <a:bodyPr wrap="square" anchor="t" lIns="0" rIns="0" tIns="0" bIns="0">
            <a:noAutofit/>
          </a:bodyPr>
          <a:lstStyle/>
          <a:p>
            <a:pPr algn="l">
              <a:spcBef>
                <a:spcPts val="0"/>
              </a:spcBef>
              <a:spcAft>
                <a:spcPts val="200"/>
              </a:spcAft>
            </a:pPr>
            <a:r>
              <a:rPr sz="2000" b="0" i="0">
                <a:solidFill>
                  <a:srgbClr val="BFD6E2"/>
                </a:solidFill>
                <a:latin typeface="Calibri"/>
              </a:rPr>
              <a:t>An OGC API – Moving Features server for mobility data, built on MobilityDB</a:t>
            </a:r>
          </a:p>
        </p:txBody>
      </p:sp>
      <p:sp>
        <p:nvSpPr>
          <p:cNvPr id="6" name="Rectangle 5"/>
          <p:cNvSpPr/>
          <p:nvPr/>
        </p:nvSpPr>
        <p:spPr>
          <a:xfrm>
            <a:off x="566928" y="3977639"/>
            <a:ext cx="1828800" cy="4572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160520"/>
            <a:ext cx="8778240" cy="457200"/>
          </a:xfrm>
          <a:prstGeom prst="rect">
            <a:avLst/>
          </a:prstGeom>
          <a:noFill/>
        </p:spPr>
        <p:txBody>
          <a:bodyPr wrap="square" anchor="t" lIns="0" rIns="0" tIns="0" bIns="0">
            <a:noAutofit/>
          </a:bodyPr>
          <a:lstStyle/>
          <a:p>
            <a:pPr algn="l">
              <a:spcBef>
                <a:spcPts val="0"/>
              </a:spcBef>
              <a:spcAft>
                <a:spcPts val="200"/>
              </a:spcAft>
            </a:pPr>
            <a:r>
              <a:rPr sz="1400" b="0" i="0">
                <a:solidFill>
                  <a:srgbClr val="9EB8C8"/>
                </a:solidFill>
                <a:latin typeface="Calibri"/>
              </a:rPr>
              <a:t>Complete feature walkthrough  ·  canonical AIS example (Danish Maritime Authority)</a:t>
            </a:r>
          </a:p>
        </p:txBody>
      </p:sp>
      <p:pic>
        <p:nvPicPr>
          <p:cNvPr id="8" name="Picture 7" descr="mobilitydb-logo.png"/>
          <p:cNvPicPr>
            <a:picLocks noChangeAspect="1"/>
          </p:cNvPicPr>
          <p:nvPr/>
        </p:nvPicPr>
        <p:blipFill>
          <a:blip r:embed="rId2"/>
          <a:stretch>
            <a:fillRect/>
          </a:stretch>
        </p:blipFill>
        <p:spPr>
          <a:xfrm>
            <a:off x="10414833" y="457200"/>
            <a:ext cx="1289486" cy="1371600"/>
          </a:xfrm>
          <a:prstGeom prst="rect">
            <a:avLst/>
          </a:prstGeom>
        </p:spPr>
      </p:pic>
      <p:pic>
        <p:nvPicPr>
          <p:cNvPr id="9" name="Picture 8" descr="OGC_Associate_Member_3DR.png"/>
          <p:cNvPicPr>
            <a:picLocks noChangeAspect="1"/>
          </p:cNvPicPr>
          <p:nvPr/>
        </p:nvPicPr>
        <p:blipFill>
          <a:blip r:embed="rId3"/>
          <a:stretch>
            <a:fillRect/>
          </a:stretch>
        </p:blipFill>
        <p:spPr>
          <a:xfrm>
            <a:off x="10058400" y="5166359"/>
            <a:ext cx="1645920" cy="1234440"/>
          </a:xfrm>
          <a:prstGeom prst="rect">
            <a:avLst/>
          </a:prstGeom>
        </p:spPr>
      </p:pic>
      <p:sp>
        <p:nvSpPr>
          <p:cNvPr id="10" name="TextBox 9"/>
          <p:cNvSpPr txBox="1"/>
          <p:nvPr/>
        </p:nvSpPr>
        <p:spPr>
          <a:xfrm>
            <a:off x="566928" y="5989320"/>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7F9BAD"/>
                </a:solidFill>
                <a:latin typeface="Consolas"/>
              </a:rPr>
              <a:t>github.com/MobilityDB/MobilityAPI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WHAT IT IS</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From SQL Extension to REST API</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645920"/>
            <a:ext cx="6400800" cy="4206240"/>
          </a:xfrm>
          <a:prstGeom prst="rect">
            <a:avLst/>
          </a:prstGeom>
          <a:noFill/>
        </p:spPr>
        <p:txBody>
          <a:bodyPr wrap="square" lIns="0" rIns="0" tIns="0" bIns="0">
            <a:noAutofit/>
          </a:bodyPr>
          <a:lstStyle/>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MobilityDB  </a:t>
            </a:r>
            <a:r>
              <a:rPr sz="1400">
                <a:solidFill>
                  <a:srgbClr val="1E2B36"/>
                </a:solidFill>
                <a:latin typeface="Calibri"/>
              </a:rPr>
              <a:t>is a PostgreSQL / PostGIS extension for managing temporal and spatio-temporal (mobility) data — vehicles, vessels, pedestrians</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MobilityAPI  </a:t>
            </a:r>
            <a:r>
              <a:rPr sz="1400">
                <a:solidFill>
                  <a:srgbClr val="1E2B36"/>
                </a:solidFill>
                <a:latin typeface="Calibri"/>
              </a:rPr>
              <a:t>exposes that data as REST resources for clients that don't speak SQL or the PostgreSQL wire protocol</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OGC-compliant  </a:t>
            </a:r>
            <a:r>
              <a:rPr sz="1400">
                <a:solidFill>
                  <a:srgbClr val="1E2B36"/>
                </a:solidFill>
                <a:latin typeface="Calibri"/>
              </a:rPr>
              <a:t>implements the OGC API – Moving Features – Part 1: Core standard (collections, items, temporal geometries, temporal properties)</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Built on PyMEOS  </a:t>
            </a:r>
            <a:r>
              <a:rPr sz="1400">
                <a:solidFill>
                  <a:srgbClr val="1E2B36"/>
                </a:solidFill>
                <a:latin typeface="Calibri"/>
              </a:rPr>
              <a:t>for the temporal-data conversion layer between JSON and MobilityDB types</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Serves  </a:t>
            </a:r>
            <a:r>
              <a:rPr sz="1400">
                <a:solidFill>
                  <a:srgbClr val="1E2B36"/>
                </a:solidFill>
                <a:latin typeface="Calibri"/>
              </a:rPr>
              <a:t>browser applications, mobile clients, microservices and ETL pipelines</a:t>
            </a:r>
          </a:p>
        </p:txBody>
      </p:sp>
      <p:sp>
        <p:nvSpPr>
          <p:cNvPr id="6" name="Rounded Rectangle 5"/>
          <p:cNvSpPr/>
          <p:nvPr/>
        </p:nvSpPr>
        <p:spPr>
          <a:xfrm>
            <a:off x="7589520" y="1783080"/>
            <a:ext cx="4023360" cy="3977639"/>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0" y="1984248"/>
            <a:ext cx="3474720"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REQUEST FLOW</a:t>
            </a:r>
          </a:p>
        </p:txBody>
      </p:sp>
      <p:sp>
        <p:nvSpPr>
          <p:cNvPr id="8" name="Rounded Rectangle 7"/>
          <p:cNvSpPr/>
          <p:nvPr/>
        </p:nvSpPr>
        <p:spPr>
          <a:xfrm>
            <a:off x="7909560" y="2423160"/>
            <a:ext cx="3383280" cy="566928"/>
          </a:xfrm>
          <a:prstGeom prst="roundRect">
            <a:avLst>
              <a:gd name="adj" fmla="val 12000"/>
            </a:avLst>
          </a:prstGeom>
          <a:solidFill>
            <a:srgbClr val="FFFFFF"/>
          </a:solidFill>
          <a:ln w="19050">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2487168"/>
            <a:ext cx="3017520" cy="274320"/>
          </a:xfrm>
          <a:prstGeom prst="rect">
            <a:avLst/>
          </a:prstGeom>
          <a:noFill/>
        </p:spPr>
        <p:txBody>
          <a:bodyPr wrap="square" anchor="t" lIns="0" rIns="0" tIns="0" bIns="0">
            <a:noAutofit/>
          </a:bodyPr>
          <a:lstStyle/>
          <a:p>
            <a:pPr algn="l">
              <a:spcBef>
                <a:spcPts val="0"/>
              </a:spcBef>
              <a:spcAft>
                <a:spcPts val="200"/>
              </a:spcAft>
            </a:pPr>
            <a:r>
              <a:rPr sz="1400" b="1" i="0">
                <a:solidFill>
                  <a:srgbClr val="0E2841"/>
                </a:solidFill>
                <a:latin typeface="Calibri"/>
              </a:rPr>
              <a:t>HTTP client</a:t>
            </a:r>
          </a:p>
        </p:txBody>
      </p:sp>
      <p:sp>
        <p:nvSpPr>
          <p:cNvPr id="10" name="TextBox 9"/>
          <p:cNvSpPr txBox="1"/>
          <p:nvPr/>
        </p:nvSpPr>
        <p:spPr>
          <a:xfrm>
            <a:off x="8092440" y="2724912"/>
            <a:ext cx="3017520" cy="22860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onsolas"/>
              </a:rPr>
              <a:t>browser · mobile · ETL</a:t>
            </a:r>
          </a:p>
        </p:txBody>
      </p:sp>
      <p:sp>
        <p:nvSpPr>
          <p:cNvPr id="11" name="TextBox 10"/>
          <p:cNvSpPr txBox="1"/>
          <p:nvPr/>
        </p:nvSpPr>
        <p:spPr>
          <a:xfrm>
            <a:off x="7909560" y="2990088"/>
            <a:ext cx="3383280" cy="219456"/>
          </a:xfrm>
          <a:prstGeom prst="rect">
            <a:avLst/>
          </a:prstGeom>
          <a:noFill/>
        </p:spPr>
        <p:txBody>
          <a:bodyPr wrap="square" anchor="t" lIns="0" rIns="0" tIns="0" bIns="0">
            <a:noAutofit/>
          </a:bodyPr>
          <a:lstStyle/>
          <a:p>
            <a:pPr algn="ctr">
              <a:spcBef>
                <a:spcPts val="0"/>
              </a:spcBef>
              <a:spcAft>
                <a:spcPts val="200"/>
              </a:spcAft>
            </a:pPr>
            <a:r>
              <a:rPr sz="1200" b="0" i="0">
                <a:solidFill>
                  <a:srgbClr val="5B6B78"/>
                </a:solidFill>
                <a:latin typeface="Calibri"/>
              </a:rPr>
              <a:t>▼</a:t>
            </a:r>
          </a:p>
        </p:txBody>
      </p:sp>
      <p:sp>
        <p:nvSpPr>
          <p:cNvPr id="12" name="Rounded Rectangle 11"/>
          <p:cNvSpPr/>
          <p:nvPr/>
        </p:nvSpPr>
        <p:spPr>
          <a:xfrm>
            <a:off x="7909560" y="3209544"/>
            <a:ext cx="3383280" cy="566928"/>
          </a:xfrm>
          <a:prstGeom prst="roundRect">
            <a:avLst>
              <a:gd name="adj" fmla="val 12000"/>
            </a:avLst>
          </a:prstGeom>
          <a:solidFill>
            <a:srgbClr val="FFFFFF"/>
          </a:solidFill>
          <a:ln w="1905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3273551"/>
            <a:ext cx="3017520" cy="274320"/>
          </a:xfrm>
          <a:prstGeom prst="rect">
            <a:avLst/>
          </a:prstGeom>
          <a:noFill/>
        </p:spPr>
        <p:txBody>
          <a:bodyPr wrap="square" anchor="t" lIns="0" rIns="0" tIns="0" bIns="0">
            <a:noAutofit/>
          </a:bodyPr>
          <a:lstStyle/>
          <a:p>
            <a:pPr algn="l">
              <a:spcBef>
                <a:spcPts val="0"/>
              </a:spcBef>
              <a:spcAft>
                <a:spcPts val="200"/>
              </a:spcAft>
            </a:pPr>
            <a:r>
              <a:rPr sz="1400" b="1" i="0">
                <a:solidFill>
                  <a:srgbClr val="156082"/>
                </a:solidFill>
                <a:latin typeface="Calibri"/>
              </a:rPr>
              <a:t>MobilityAPI</a:t>
            </a:r>
          </a:p>
        </p:txBody>
      </p:sp>
      <p:sp>
        <p:nvSpPr>
          <p:cNvPr id="14" name="TextBox 13"/>
          <p:cNvSpPr txBox="1"/>
          <p:nvPr/>
        </p:nvSpPr>
        <p:spPr>
          <a:xfrm>
            <a:off x="8092440" y="3511296"/>
            <a:ext cx="3017520" cy="22860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onsolas"/>
              </a:rPr>
              <a:t>REST · OGC API – Moving Features</a:t>
            </a:r>
          </a:p>
        </p:txBody>
      </p:sp>
      <p:sp>
        <p:nvSpPr>
          <p:cNvPr id="15" name="TextBox 14"/>
          <p:cNvSpPr txBox="1"/>
          <p:nvPr/>
        </p:nvSpPr>
        <p:spPr>
          <a:xfrm>
            <a:off x="7909560" y="3776472"/>
            <a:ext cx="3383280" cy="219456"/>
          </a:xfrm>
          <a:prstGeom prst="rect">
            <a:avLst/>
          </a:prstGeom>
          <a:noFill/>
        </p:spPr>
        <p:txBody>
          <a:bodyPr wrap="square" anchor="t" lIns="0" rIns="0" tIns="0" bIns="0">
            <a:noAutofit/>
          </a:bodyPr>
          <a:lstStyle/>
          <a:p>
            <a:pPr algn="ctr">
              <a:spcBef>
                <a:spcPts val="0"/>
              </a:spcBef>
              <a:spcAft>
                <a:spcPts val="200"/>
              </a:spcAft>
            </a:pPr>
            <a:r>
              <a:rPr sz="1200" b="0" i="0">
                <a:solidFill>
                  <a:srgbClr val="5B6B78"/>
                </a:solidFill>
                <a:latin typeface="Calibri"/>
              </a:rPr>
              <a:t>▼</a:t>
            </a:r>
          </a:p>
        </p:txBody>
      </p:sp>
      <p:sp>
        <p:nvSpPr>
          <p:cNvPr id="16" name="Rounded Rectangle 15"/>
          <p:cNvSpPr/>
          <p:nvPr/>
        </p:nvSpPr>
        <p:spPr>
          <a:xfrm>
            <a:off x="7909560" y="3995928"/>
            <a:ext cx="3383280" cy="566928"/>
          </a:xfrm>
          <a:prstGeom prst="roundRect">
            <a:avLst>
              <a:gd name="adj" fmla="val 12000"/>
            </a:avLst>
          </a:prstGeom>
          <a:solidFill>
            <a:srgbClr val="FFFFFF"/>
          </a:solidFill>
          <a:ln w="1905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92440" y="4059936"/>
            <a:ext cx="3017520" cy="274320"/>
          </a:xfrm>
          <a:prstGeom prst="rect">
            <a:avLst/>
          </a:prstGeom>
          <a:noFill/>
        </p:spPr>
        <p:txBody>
          <a:bodyPr wrap="square" anchor="t" lIns="0" rIns="0" tIns="0" bIns="0">
            <a:noAutofit/>
          </a:bodyPr>
          <a:lstStyle/>
          <a:p>
            <a:pPr algn="l">
              <a:spcBef>
                <a:spcPts val="0"/>
              </a:spcBef>
              <a:spcAft>
                <a:spcPts val="200"/>
              </a:spcAft>
            </a:pPr>
            <a:r>
              <a:rPr sz="1400" b="1" i="0">
                <a:solidFill>
                  <a:srgbClr val="E97132"/>
                </a:solidFill>
                <a:latin typeface="Calibri"/>
              </a:rPr>
              <a:t>PyMEOS</a:t>
            </a:r>
          </a:p>
        </p:txBody>
      </p:sp>
      <p:sp>
        <p:nvSpPr>
          <p:cNvPr id="18" name="TextBox 17"/>
          <p:cNvSpPr txBox="1"/>
          <p:nvPr/>
        </p:nvSpPr>
        <p:spPr>
          <a:xfrm>
            <a:off x="8092440" y="4297680"/>
            <a:ext cx="3017520" cy="22860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onsolas"/>
              </a:rPr>
              <a:t>temporal-data conversion</a:t>
            </a:r>
          </a:p>
        </p:txBody>
      </p:sp>
      <p:sp>
        <p:nvSpPr>
          <p:cNvPr id="19" name="TextBox 18"/>
          <p:cNvSpPr txBox="1"/>
          <p:nvPr/>
        </p:nvSpPr>
        <p:spPr>
          <a:xfrm>
            <a:off x="7909560" y="4562856"/>
            <a:ext cx="3383280" cy="219456"/>
          </a:xfrm>
          <a:prstGeom prst="rect">
            <a:avLst/>
          </a:prstGeom>
          <a:noFill/>
        </p:spPr>
        <p:txBody>
          <a:bodyPr wrap="square" anchor="t" lIns="0" rIns="0" tIns="0" bIns="0">
            <a:noAutofit/>
          </a:bodyPr>
          <a:lstStyle/>
          <a:p>
            <a:pPr algn="ctr">
              <a:spcBef>
                <a:spcPts val="0"/>
              </a:spcBef>
              <a:spcAft>
                <a:spcPts val="200"/>
              </a:spcAft>
            </a:pPr>
            <a:r>
              <a:rPr sz="1200" b="0" i="0">
                <a:solidFill>
                  <a:srgbClr val="5B6B78"/>
                </a:solidFill>
                <a:latin typeface="Calibri"/>
              </a:rPr>
              <a:t>▼</a:t>
            </a:r>
          </a:p>
        </p:txBody>
      </p:sp>
      <p:sp>
        <p:nvSpPr>
          <p:cNvPr id="20" name="Rounded Rectangle 19"/>
          <p:cNvSpPr/>
          <p:nvPr/>
        </p:nvSpPr>
        <p:spPr>
          <a:xfrm>
            <a:off x="7909560" y="4782312"/>
            <a:ext cx="3383280" cy="566928"/>
          </a:xfrm>
          <a:prstGeom prst="roundRect">
            <a:avLst>
              <a:gd name="adj" fmla="val 12000"/>
            </a:avLst>
          </a:prstGeom>
          <a:solidFill>
            <a:srgbClr val="FFFFFF"/>
          </a:solidFill>
          <a:ln w="19050">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4846320"/>
            <a:ext cx="3017520" cy="274320"/>
          </a:xfrm>
          <a:prstGeom prst="rect">
            <a:avLst/>
          </a:prstGeom>
          <a:noFill/>
        </p:spPr>
        <p:txBody>
          <a:bodyPr wrap="square" anchor="t" lIns="0" rIns="0" tIns="0" bIns="0">
            <a:noAutofit/>
          </a:bodyPr>
          <a:lstStyle/>
          <a:p>
            <a:pPr algn="l">
              <a:spcBef>
                <a:spcPts val="0"/>
              </a:spcBef>
              <a:spcAft>
                <a:spcPts val="200"/>
              </a:spcAft>
            </a:pPr>
            <a:r>
              <a:rPr sz="1400" b="1" i="0">
                <a:solidFill>
                  <a:srgbClr val="0E2841"/>
                </a:solidFill>
                <a:latin typeface="Calibri"/>
              </a:rPr>
              <a:t>MobilityDB / PostgreSQL</a:t>
            </a:r>
          </a:p>
        </p:txBody>
      </p:sp>
      <p:sp>
        <p:nvSpPr>
          <p:cNvPr id="22" name="TextBox 21"/>
          <p:cNvSpPr txBox="1"/>
          <p:nvPr/>
        </p:nvSpPr>
        <p:spPr>
          <a:xfrm>
            <a:off x="8092440" y="5084064"/>
            <a:ext cx="3017520" cy="22860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onsolas"/>
              </a:rPr>
              <a:t>tgeompoint · STBOX · TSTZSPAN</a:t>
            </a:r>
          </a:p>
        </p:txBody>
      </p:sp>
      <p:sp>
        <p:nvSpPr>
          <p:cNvPr id="23" name="Rectangle 22"/>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25" name="TextBox 24"/>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SAME DATA, TWO INTERFACES</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MobilityDB SQL  vs  MobilityAPI REST</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600200"/>
            <a:ext cx="5346039" cy="274320"/>
          </a:xfrm>
          <a:prstGeom prst="rect">
            <a:avLst/>
          </a:prstGeom>
          <a:noFill/>
        </p:spPr>
        <p:txBody>
          <a:bodyPr wrap="square" anchor="t" lIns="0" rIns="0" tIns="0" bIns="0">
            <a:noAutofit/>
          </a:bodyPr>
          <a:lstStyle/>
          <a:p>
            <a:pPr algn="l">
              <a:spcBef>
                <a:spcPts val="0"/>
              </a:spcBef>
              <a:spcAft>
                <a:spcPts val="200"/>
              </a:spcAft>
            </a:pPr>
            <a:r>
              <a:rPr sz="1400" b="1" i="0">
                <a:solidFill>
                  <a:srgbClr val="156082"/>
                </a:solidFill>
                <a:latin typeface="Calibri"/>
              </a:rPr>
              <a:t>PostgreSQL / MobilityDB</a:t>
            </a:r>
          </a:p>
        </p:txBody>
      </p:sp>
      <p:sp>
        <p:nvSpPr>
          <p:cNvPr id="6" name="Rounded Rectangle 5"/>
          <p:cNvSpPr/>
          <p:nvPr/>
        </p:nvSpPr>
        <p:spPr>
          <a:xfrm>
            <a:off x="566928" y="1920240"/>
            <a:ext cx="5346039" cy="356616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ODEPANEL"/>
          <p:cNvSpPr txBox="1"/>
          <p:nvPr/>
        </p:nvSpPr>
        <p:spPr>
          <a:xfrm>
            <a:off x="694944" y="2011680"/>
            <a:ext cx="5090007" cy="3383279"/>
          </a:xfrm>
          <a:prstGeom prst="rect">
            <a:avLst/>
          </a:prstGeom>
          <a:noFill/>
        </p:spPr>
        <p:txBody>
          <a:bodyPr wrap="square" lIns="0" rIns="0" tIns="0" bIns="0">
            <a:noAutofit/>
          </a:bodyPr>
          <a:lstStyle/>
          <a:p>
            <a:pPr>
              <a:lnSpc>
                <a:spcPct val="102000"/>
              </a:lnSpc>
              <a:spcBef>
                <a:spcPts val="0"/>
              </a:spcBef>
              <a:spcAft>
                <a:spcPts val="0"/>
              </a:spcAft>
            </a:pPr>
            <a:r>
              <a:rPr sz="1200">
                <a:solidFill>
                  <a:srgbClr val="C2D0DA"/>
                </a:solidFill>
                <a:latin typeface="Consolas"/>
              </a:rPr>
              <a:t>INSERT INTO temporal_geometries</a:t>
            </a:r>
          </a:p>
          <a:p>
            <a:pPr>
              <a:lnSpc>
                <a:spcPct val="102000"/>
              </a:lnSpc>
              <a:spcBef>
                <a:spcPts val="0"/>
              </a:spcBef>
              <a:spcAft>
                <a:spcPts val="0"/>
              </a:spcAft>
            </a:pPr>
            <a:r>
              <a:rPr sz="1200">
                <a:solidFill>
                  <a:srgbClr val="C2D0DA"/>
                </a:solidFill>
                <a:latin typeface="Consolas"/>
              </a:rPr>
              <a:t>  (feature_id, geometry_type, trajectory, interpolation)</a:t>
            </a:r>
          </a:p>
          <a:p>
            <a:pPr>
              <a:lnSpc>
                <a:spcPct val="102000"/>
              </a:lnSpc>
              <a:spcBef>
                <a:spcPts val="0"/>
              </a:spcBef>
              <a:spcAft>
                <a:spcPts val="0"/>
              </a:spcAft>
            </a:pPr>
            <a:r>
              <a:rPr sz="1200">
                <a:solidFill>
                  <a:srgbClr val="C2D0DA"/>
                </a:solidFill>
                <a:latin typeface="Consolas"/>
              </a:rPr>
              <a:t>VALUES (</a:t>
            </a:r>
          </a:p>
          <a:p>
            <a:pPr>
              <a:lnSpc>
                <a:spcPct val="102000"/>
              </a:lnSpc>
              <a:spcBef>
                <a:spcPts val="0"/>
              </a:spcBef>
              <a:spcAft>
                <a:spcPts val="0"/>
              </a:spcAft>
            </a:pPr>
            <a:r>
              <a:rPr sz="1200">
                <a:solidFill>
                  <a:srgbClr val="C2D0DA"/>
                </a:solidFill>
                <a:latin typeface="Consolas"/>
              </a:rPr>
              <a:t>  '</a:t>
            </a:r>
            <a:r>
              <a:rPr sz="1200">
                <a:solidFill>
                  <a:srgbClr val="C9E08A"/>
                </a:solidFill>
                <a:latin typeface="Consolas"/>
              </a:rPr>
              <a:t>219000429</a:t>
            </a:r>
            <a:r>
              <a:rPr sz="1200">
                <a:solidFill>
                  <a:srgbClr val="C2D0DA"/>
                </a:solidFill>
                <a:latin typeface="Consolas"/>
              </a:rPr>
              <a:t>', 'MovingPoint',</a:t>
            </a:r>
          </a:p>
          <a:p>
            <a:pPr>
              <a:lnSpc>
                <a:spcPct val="102000"/>
              </a:lnSpc>
              <a:spcBef>
                <a:spcPts val="0"/>
              </a:spcBef>
              <a:spcAft>
                <a:spcPts val="0"/>
              </a:spcAft>
            </a:pPr>
            <a:r>
              <a:rPr sz="1200">
                <a:solidFill>
                  <a:srgbClr val="C2D0DA"/>
                </a:solidFill>
                <a:latin typeface="Consolas"/>
              </a:rPr>
              <a:t>  tgeompoint '[Point(</a:t>
            </a:r>
            <a:r>
              <a:rPr sz="1200">
                <a:solidFill>
                  <a:srgbClr val="C9E08A"/>
                </a:solidFill>
                <a:latin typeface="Consolas"/>
              </a:rPr>
              <a:t>645829</a:t>
            </a:r>
            <a:r>
              <a:rPr sz="1200">
                <a:solidFill>
                  <a:srgbClr val="C2D0DA"/>
                </a:solidFill>
                <a:latin typeface="Consolas"/>
              </a:rPr>
              <a:t> </a:t>
            </a:r>
            <a:r>
              <a:rPr sz="1200">
                <a:solidFill>
                  <a:srgbClr val="C9E08A"/>
                </a:solidFill>
                <a:latin typeface="Consolas"/>
              </a:rPr>
              <a:t>6058110</a:t>
            </a:r>
            <a:r>
              <a:rPr sz="1200">
                <a:solidFill>
                  <a:srgbClr val="C2D0DA"/>
                </a:solidFill>
                <a:latin typeface="Consolas"/>
              </a:rPr>
              <a:t>)@</a:t>
            </a:r>
            <a:r>
              <a:rPr sz="1200">
                <a:solidFill>
                  <a:srgbClr val="C9E08A"/>
                </a:solidFill>
                <a:latin typeface="Consolas"/>
              </a:rPr>
              <a:t>2024</a:t>
            </a:r>
            <a:r>
              <a:rPr sz="1200">
                <a:solidFill>
                  <a:srgbClr val="C9E08A"/>
                </a:solidFill>
                <a:latin typeface="Consolas"/>
              </a:rPr>
              <a:t>-08</a:t>
            </a:r>
            <a:r>
              <a:rPr sz="1200">
                <a:solidFill>
                  <a:srgbClr val="C9E08A"/>
                </a:solidFill>
                <a:latin typeface="Consolas"/>
              </a:rPr>
              <a:t>-07</a:t>
            </a:r>
            <a:r>
              <a:rPr sz="1200">
                <a:solidFill>
                  <a:srgbClr val="C2D0DA"/>
                </a:solidFill>
                <a:latin typeface="Consolas"/>
              </a:rPr>
              <a:t> </a:t>
            </a:r>
            <a:r>
              <a:rPr sz="1200">
                <a:solidFill>
                  <a:srgbClr val="C9E08A"/>
                </a:solidFill>
                <a:latin typeface="Consolas"/>
              </a:rPr>
              <a:t>06</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Point(</a:t>
            </a:r>
            <a:r>
              <a:rPr sz="1200">
                <a:solidFill>
                  <a:srgbClr val="C9E08A"/>
                </a:solidFill>
                <a:latin typeface="Consolas"/>
              </a:rPr>
              <a:t>651280</a:t>
            </a:r>
            <a:r>
              <a:rPr sz="1200">
                <a:solidFill>
                  <a:srgbClr val="C2D0DA"/>
                </a:solidFill>
                <a:latin typeface="Consolas"/>
              </a:rPr>
              <a:t> </a:t>
            </a:r>
            <a:r>
              <a:rPr sz="1200">
                <a:solidFill>
                  <a:srgbClr val="C9E08A"/>
                </a:solidFill>
                <a:latin typeface="Consolas"/>
              </a:rPr>
              <a:t>6058390</a:t>
            </a:r>
            <a:r>
              <a:rPr sz="1200">
                <a:solidFill>
                  <a:srgbClr val="C2D0DA"/>
                </a:solidFill>
                <a:latin typeface="Consolas"/>
              </a:rPr>
              <a:t>)@</a:t>
            </a:r>
            <a:r>
              <a:rPr sz="1200">
                <a:solidFill>
                  <a:srgbClr val="C9E08A"/>
                </a:solidFill>
                <a:latin typeface="Consolas"/>
              </a:rPr>
              <a:t>2024</a:t>
            </a:r>
            <a:r>
              <a:rPr sz="1200">
                <a:solidFill>
                  <a:srgbClr val="C9E08A"/>
                </a:solidFill>
                <a:latin typeface="Consolas"/>
              </a:rPr>
              <a:t>-08</a:t>
            </a:r>
            <a:r>
              <a:rPr sz="1200">
                <a:solidFill>
                  <a:srgbClr val="C9E08A"/>
                </a:solidFill>
                <a:latin typeface="Consolas"/>
              </a:rPr>
              <a:t>-07</a:t>
            </a:r>
            <a:r>
              <a:rPr sz="1200">
                <a:solidFill>
                  <a:srgbClr val="C2D0DA"/>
                </a:solidFill>
                <a:latin typeface="Consolas"/>
              </a:rPr>
              <a:t> </a:t>
            </a:r>
            <a:r>
              <a:rPr sz="1200">
                <a:solidFill>
                  <a:srgbClr val="C9E08A"/>
                </a:solidFill>
                <a:latin typeface="Consolas"/>
              </a:rPr>
              <a:t>06</a:t>
            </a:r>
            <a:r>
              <a:rPr sz="1200">
                <a:solidFill>
                  <a:srgbClr val="C2D0DA"/>
                </a:solidFill>
                <a:latin typeface="Consolas"/>
              </a:rPr>
              <a:t>:</a:t>
            </a:r>
            <a:r>
              <a:rPr sz="1200">
                <a:solidFill>
                  <a:srgbClr val="C9E08A"/>
                </a:solidFill>
                <a:latin typeface="Consolas"/>
              </a:rPr>
              <a:t>25</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Point(</a:t>
            </a:r>
            <a:r>
              <a:rPr sz="1200">
                <a:solidFill>
                  <a:srgbClr val="C9E08A"/>
                </a:solidFill>
                <a:latin typeface="Consolas"/>
              </a:rPr>
              <a:t>656731</a:t>
            </a:r>
            <a:r>
              <a:rPr sz="1200">
                <a:solidFill>
                  <a:srgbClr val="C2D0DA"/>
                </a:solidFill>
                <a:latin typeface="Consolas"/>
              </a:rPr>
              <a:t> </a:t>
            </a:r>
            <a:r>
              <a:rPr sz="1200">
                <a:solidFill>
                  <a:srgbClr val="C9E08A"/>
                </a:solidFill>
                <a:latin typeface="Consolas"/>
              </a:rPr>
              <a:t>6058670</a:t>
            </a:r>
            <a:r>
              <a:rPr sz="1200">
                <a:solidFill>
                  <a:srgbClr val="C2D0DA"/>
                </a:solidFill>
                <a:latin typeface="Consolas"/>
              </a:rPr>
              <a:t>)@</a:t>
            </a:r>
            <a:r>
              <a:rPr sz="1200">
                <a:solidFill>
                  <a:srgbClr val="C9E08A"/>
                </a:solidFill>
                <a:latin typeface="Consolas"/>
              </a:rPr>
              <a:t>2024</a:t>
            </a:r>
            <a:r>
              <a:rPr sz="1200">
                <a:solidFill>
                  <a:srgbClr val="C9E08A"/>
                </a:solidFill>
                <a:latin typeface="Consolas"/>
              </a:rPr>
              <a:t>-08</a:t>
            </a:r>
            <a:r>
              <a:rPr sz="1200">
                <a:solidFill>
                  <a:srgbClr val="C9E08A"/>
                </a:solidFill>
                <a:latin typeface="Consolas"/>
              </a:rPr>
              <a:t>-07</a:t>
            </a:r>
            <a:r>
              <a:rPr sz="1200">
                <a:solidFill>
                  <a:srgbClr val="C2D0DA"/>
                </a:solidFill>
                <a:latin typeface="Consolas"/>
              </a:rPr>
              <a:t> </a:t>
            </a:r>
            <a:r>
              <a:rPr sz="1200">
                <a:solidFill>
                  <a:srgbClr val="C9E08A"/>
                </a:solidFill>
                <a:latin typeface="Consolas"/>
              </a:rPr>
              <a:t>06</a:t>
            </a:r>
            <a:r>
              <a:rPr sz="1200">
                <a:solidFill>
                  <a:srgbClr val="C2D0DA"/>
                </a:solidFill>
                <a:latin typeface="Consolas"/>
              </a:rPr>
              <a:t>:</a:t>
            </a:r>
            <a:r>
              <a:rPr sz="1200">
                <a:solidFill>
                  <a:srgbClr val="C9E08A"/>
                </a:solidFill>
                <a:latin typeface="Consolas"/>
              </a:rPr>
              <a:t>50</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'Linear'</a:t>
            </a:r>
          </a:p>
          <a:p>
            <a:pPr>
              <a:lnSpc>
                <a:spcPct val="102000"/>
              </a:lnSpc>
              <a:spcBef>
                <a:spcPts val="0"/>
              </a:spcBef>
              <a:spcAft>
                <a:spcPts val="0"/>
              </a:spcAft>
            </a:pPr>
            <a:r>
              <a:rPr sz="1200">
                <a:solidFill>
                  <a:srgbClr val="C2D0DA"/>
                </a:solidFill>
                <a:latin typeface="Consolas"/>
              </a:rPr>
              <a:t>);</a:t>
            </a:r>
          </a:p>
        </p:txBody>
      </p:sp>
      <p:sp>
        <p:nvSpPr>
          <p:cNvPr id="8" name="TextBox 7"/>
          <p:cNvSpPr txBox="1"/>
          <p:nvPr/>
        </p:nvSpPr>
        <p:spPr>
          <a:xfrm>
            <a:off x="6278727" y="1600200"/>
            <a:ext cx="5346039" cy="274320"/>
          </a:xfrm>
          <a:prstGeom prst="rect">
            <a:avLst/>
          </a:prstGeom>
          <a:noFill/>
        </p:spPr>
        <p:txBody>
          <a:bodyPr wrap="square" anchor="t" lIns="0" rIns="0" tIns="0" bIns="0">
            <a:noAutofit/>
          </a:bodyPr>
          <a:lstStyle/>
          <a:p>
            <a:pPr algn="l">
              <a:spcBef>
                <a:spcPts val="0"/>
              </a:spcBef>
              <a:spcAft>
                <a:spcPts val="200"/>
              </a:spcAft>
            </a:pPr>
            <a:r>
              <a:rPr sz="1400" b="1" i="0">
                <a:solidFill>
                  <a:srgbClr val="E97132"/>
                </a:solidFill>
                <a:latin typeface="Calibri"/>
              </a:rPr>
              <a:t>MobilityAPI</a:t>
            </a:r>
          </a:p>
        </p:txBody>
      </p:sp>
      <p:sp>
        <p:nvSpPr>
          <p:cNvPr id="9" name="Rounded Rectangle 8"/>
          <p:cNvSpPr/>
          <p:nvPr/>
        </p:nvSpPr>
        <p:spPr>
          <a:xfrm>
            <a:off x="6278727" y="1920240"/>
            <a:ext cx="5346039" cy="356616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ODEPANEL"/>
          <p:cNvSpPr txBox="1"/>
          <p:nvPr/>
        </p:nvSpPr>
        <p:spPr>
          <a:xfrm>
            <a:off x="6406743" y="2011680"/>
            <a:ext cx="5090007" cy="3383279"/>
          </a:xfrm>
          <a:prstGeom prst="rect">
            <a:avLst/>
          </a:prstGeom>
          <a:noFill/>
        </p:spPr>
        <p:txBody>
          <a:bodyPr wrap="square" lIns="0" rIns="0" tIns="0" bIns="0">
            <a:noAutofit/>
          </a:bodyPr>
          <a:lstStyle/>
          <a:p>
            <a:pPr>
              <a:lnSpc>
                <a:spcPct val="102000"/>
              </a:lnSpc>
              <a:spcBef>
                <a:spcPts val="0"/>
              </a:spcBef>
              <a:spcAft>
                <a:spcPts val="0"/>
              </a:spcAft>
            </a:pPr>
            <a:r>
              <a:rPr sz="1200">
                <a:solidFill>
                  <a:srgbClr val="C2D0DA"/>
                </a:solidFill>
                <a:latin typeface="Consolas"/>
              </a:rPr>
              <a:t>POST /collections/ships/items</a:t>
            </a:r>
          </a:p>
          <a:p>
            <a:pPr>
              <a:lnSpc>
                <a:spcPct val="102000"/>
              </a:lnSpc>
              <a:spcBef>
                <a:spcPts val="0"/>
              </a:spcBef>
              <a:spcAft>
                <a:spcPts val="0"/>
              </a:spcAft>
            </a:pPr>
            <a:r>
              <a:rPr sz="1200">
                <a:solidFill>
                  <a:srgbClr val="C2D0DA"/>
                </a:solidFill>
                <a:latin typeface="Consolas"/>
              </a:rPr>
              <a:t>Content-Type: application/json</a:t>
            </a:r>
          </a:p>
          <a:p>
            <a:pPr>
              <a:lnSpc>
                <a:spcPct val="102000"/>
              </a:lnSpc>
              <a:spcBef>
                <a:spcPts val="0"/>
              </a:spcBef>
              <a:spcAft>
                <a:spcPts val="0"/>
              </a:spcAft>
            </a:pPr>
            <a:r>
              <a:rPr sz="1200">
                <a:latin typeface="Consolas"/>
              </a:rPr>
              <a:t> </a:t>
            </a:r>
          </a:p>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"Feature"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"219000429"</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"temporalGeometry"</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"MovingPoint"</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"datetimes"</a:t>
            </a:r>
            <a:r>
              <a:rPr sz="1200">
                <a:solidFill>
                  <a:srgbClr val="C2D0DA"/>
                </a:solidFill>
                <a:latin typeface="Consolas"/>
              </a:rPr>
              <a:t>: [</a:t>
            </a:r>
            <a:r>
              <a:rPr sz="1200">
                <a:solidFill>
                  <a:srgbClr val="E6A36A"/>
                </a:solidFill>
                <a:latin typeface="Consolas"/>
              </a:rPr>
              <a:t>"2024-08-07T06:00:00+00"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E6A36A"/>
                </a:solidFill>
                <a:latin typeface="Consolas"/>
              </a:rPr>
              <a:t>"2024-08-07T06:25:00+00"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E6A36A"/>
                </a:solidFill>
                <a:latin typeface="Consolas"/>
              </a:rPr>
              <a:t>"2024-08-07T06:50:00+00"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"coordinates"</a:t>
            </a:r>
            <a:r>
              <a:rPr sz="1200">
                <a:solidFill>
                  <a:srgbClr val="C2D0DA"/>
                </a:solidFill>
                <a:latin typeface="Consolas"/>
              </a:rPr>
              <a:t>: [[</a:t>
            </a:r>
            <a:r>
              <a:rPr sz="1200">
                <a:solidFill>
                  <a:srgbClr val="C9E08A"/>
                </a:solidFill>
                <a:latin typeface="Consolas"/>
              </a:rPr>
              <a:t>645829</a:t>
            </a:r>
            <a:r>
              <a:rPr sz="1200">
                <a:solidFill>
                  <a:srgbClr val="C2D0DA"/>
                </a:solidFill>
                <a:latin typeface="Consolas"/>
              </a:rPr>
              <a:t>, </a:t>
            </a:r>
            <a:r>
              <a:rPr sz="1200">
                <a:solidFill>
                  <a:srgbClr val="C9E08A"/>
                </a:solidFill>
                <a:latin typeface="Consolas"/>
              </a:rPr>
              <a:t>6058110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C9E08A"/>
                </a:solidFill>
                <a:latin typeface="Consolas"/>
              </a:rPr>
              <a:t>651280</a:t>
            </a:r>
            <a:r>
              <a:rPr sz="1200">
                <a:solidFill>
                  <a:srgbClr val="C2D0DA"/>
                </a:solidFill>
                <a:latin typeface="Consolas"/>
              </a:rPr>
              <a:t>, </a:t>
            </a:r>
            <a:r>
              <a:rPr sz="1200">
                <a:solidFill>
                  <a:srgbClr val="C9E08A"/>
                </a:solidFill>
                <a:latin typeface="Consolas"/>
              </a:rPr>
              <a:t>6058390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C9E08A"/>
                </a:solidFill>
                <a:latin typeface="Consolas"/>
              </a:rPr>
              <a:t>656731</a:t>
            </a:r>
            <a:r>
              <a:rPr sz="1200">
                <a:solidFill>
                  <a:srgbClr val="C2D0DA"/>
                </a:solidFill>
                <a:latin typeface="Consolas"/>
              </a:rPr>
              <a:t>, </a:t>
            </a:r>
            <a:r>
              <a:rPr sz="1200">
                <a:solidFill>
                  <a:srgbClr val="C9E08A"/>
                </a:solidFill>
                <a:latin typeface="Consolas"/>
              </a:rPr>
              <a:t>6058670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"interpolation"</a:t>
            </a:r>
            <a:r>
              <a:rPr sz="1200">
                <a:solidFill>
                  <a:srgbClr val="C2D0DA"/>
                </a:solidFill>
                <a:latin typeface="Consolas"/>
              </a:rPr>
              <a:t>: </a:t>
            </a:r>
            <a:r>
              <a:rPr sz="1200">
                <a:solidFill>
                  <a:srgbClr val="E6A36A"/>
                </a:solidFill>
                <a:latin typeface="Consolas"/>
              </a:rPr>
              <a:t>"Linear"</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a:t>
            </a:r>
          </a:p>
        </p:txBody>
      </p:sp>
      <p:sp>
        <p:nvSpPr>
          <p:cNvPr id="11" name="TextBox 10"/>
          <p:cNvSpPr txBox="1"/>
          <p:nvPr/>
        </p:nvSpPr>
        <p:spPr>
          <a:xfrm>
            <a:off x="566928" y="5623560"/>
            <a:ext cx="11057839" cy="365760"/>
          </a:xfrm>
          <a:prstGeom prst="rect">
            <a:avLst/>
          </a:prstGeom>
          <a:noFill/>
        </p:spPr>
        <p:txBody>
          <a:bodyPr wrap="square" anchor="t" lIns="0" rIns="0" tIns="0" bIns="0">
            <a:noAutofit/>
          </a:bodyPr>
          <a:lstStyle/>
          <a:p>
            <a:pPr algn="ctr">
              <a:spcBef>
                <a:spcPts val="0"/>
              </a:spcBef>
              <a:spcAft>
                <a:spcPts val="200"/>
              </a:spcAft>
            </a:pPr>
            <a:r>
              <a:rPr sz="1200" b="0" i="1">
                <a:solidFill>
                  <a:srgbClr val="5B6B78"/>
                </a:solidFill>
                <a:latin typeface="Calibri"/>
              </a:rPr>
              <a:t>Identical trajectory — the REST client never writes SQL or opens a database connection.</a:t>
            </a:r>
          </a:p>
        </p:txBody>
      </p:sp>
      <p:sp>
        <p:nvSpPr>
          <p:cNvPr id="12" name="Rectangle 11"/>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4" name="TextBox 13"/>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STANDARD</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OGC API – Moving Features Data Model</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ogc-moving-features-class-diagram.png"/>
          <p:cNvPicPr>
            <a:picLocks noChangeAspect="1"/>
          </p:cNvPicPr>
          <p:nvPr/>
        </p:nvPicPr>
        <p:blipFill>
          <a:blip r:embed="rId2"/>
          <a:stretch>
            <a:fillRect/>
          </a:stretch>
        </p:blipFill>
        <p:spPr>
          <a:xfrm>
            <a:off x="566928" y="1600200"/>
            <a:ext cx="3579265" cy="4526280"/>
          </a:xfrm>
          <a:prstGeom prst="rect">
            <a:avLst/>
          </a:prstGeom>
        </p:spPr>
      </p:pic>
      <p:sp>
        <p:nvSpPr>
          <p:cNvPr id="6" name="TextBox 5"/>
          <p:cNvSpPr txBox="1"/>
          <p:nvPr/>
        </p:nvSpPr>
        <p:spPr>
          <a:xfrm>
            <a:off x="7955279" y="1828800"/>
            <a:ext cx="3749039" cy="4206240"/>
          </a:xfrm>
          <a:prstGeom prst="rect">
            <a:avLst/>
          </a:prstGeom>
          <a:noFill/>
        </p:spPr>
        <p:txBody>
          <a:bodyPr wrap="square" lIns="0" rIns="0" tIns="0" bIns="0">
            <a:noAutofit/>
          </a:bodyPr>
          <a:lstStyle/>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Collection  </a:t>
            </a:r>
            <a:r>
              <a:rPr sz="1400">
                <a:solidFill>
                  <a:srgbClr val="1E2B36"/>
                </a:solidFill>
                <a:latin typeface="Calibri"/>
              </a:rPr>
              <a:t>a named group of moving features (itemType movingfeature)</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MovingFeature  </a:t>
            </a:r>
            <a:r>
              <a:rPr sz="1400">
                <a:solidFill>
                  <a:srgbClr val="1E2B36"/>
                </a:solidFill>
                <a:latin typeface="Calibri"/>
              </a:rPr>
              <a:t>an item with id, properties, crs / trs</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TemporalGeometry  </a:t>
            </a:r>
            <a:r>
              <a:rPr sz="1400">
                <a:solidFill>
                  <a:srgbClr val="1E2B36"/>
                </a:solidFill>
                <a:latin typeface="Calibri"/>
              </a:rPr>
              <a:t>a MovingPoint — parallel coordinates / datetimes + interpolation</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TemporalProperties  </a:t>
            </a:r>
            <a:r>
              <a:rPr sz="1400">
                <a:solidFill>
                  <a:srgbClr val="1E2B36"/>
                </a:solidFill>
                <a:latin typeface="Calibri"/>
              </a:rPr>
              <a:t>time-varying attributes attached to a feature</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Query resources  </a:t>
            </a:r>
            <a:r>
              <a:rPr sz="1400">
                <a:solidFill>
                  <a:srgbClr val="1E2B36"/>
                </a:solidFill>
                <a:latin typeface="Calibri"/>
              </a:rPr>
              <a:t>derived measures over a temporal geometry</a:t>
            </a:r>
          </a:p>
        </p:txBody>
      </p:sp>
      <p:sp>
        <p:nvSpPr>
          <p:cNvPr id="7" name="TextBox 6"/>
          <p:cNvSpPr txBox="1"/>
          <p:nvPr/>
        </p:nvSpPr>
        <p:spPr>
          <a:xfrm>
            <a:off x="566928" y="6163056"/>
            <a:ext cx="7040880" cy="274320"/>
          </a:xfrm>
          <a:prstGeom prst="rect">
            <a:avLst/>
          </a:prstGeom>
          <a:noFill/>
        </p:spPr>
        <p:txBody>
          <a:bodyPr wrap="square" anchor="t" lIns="0" rIns="0" tIns="0" bIns="0">
            <a:noAutofit/>
          </a:bodyPr>
          <a:lstStyle/>
          <a:p>
            <a:pPr algn="l">
              <a:spcBef>
                <a:spcPts val="0"/>
              </a:spcBef>
              <a:spcAft>
                <a:spcPts val="200"/>
              </a:spcAft>
            </a:pPr>
            <a:r>
              <a:rPr sz="1200" b="0" i="1">
                <a:solidFill>
                  <a:srgbClr val="5B6B78"/>
                </a:solidFill>
                <a:latin typeface="Calibri"/>
              </a:rPr>
              <a:t>Class diagram — OGC API – Moving Features – Part 1: Core (fig. 1)</a:t>
            </a:r>
          </a:p>
        </p:txBody>
      </p:sp>
      <p:sp>
        <p:nvSpPr>
          <p:cNvPr id="8" name="Rectangle 7"/>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0" name="TextBox 9"/>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74320"/>
            <a:ext cx="8229600"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OGC DATA MODEL — DETAIL</a:t>
            </a:r>
          </a:p>
        </p:txBody>
      </p:sp>
      <p:sp>
        <p:nvSpPr>
          <p:cNvPr id="3" name="TextBox 2"/>
          <p:cNvSpPr txBox="1"/>
          <p:nvPr/>
        </p:nvSpPr>
        <p:spPr>
          <a:xfrm>
            <a:off x="9082735" y="274320"/>
            <a:ext cx="2743200" cy="274320"/>
          </a:xfrm>
          <a:prstGeom prst="rect">
            <a:avLst/>
          </a:prstGeom>
          <a:noFill/>
        </p:spPr>
        <p:txBody>
          <a:bodyPr wrap="square" anchor="t" lIns="0" rIns="0" tIns="0" bIns="0">
            <a:noAutofit/>
          </a:bodyPr>
          <a:lstStyle/>
          <a:p>
            <a:pPr algn="r">
              <a:spcBef>
                <a:spcPts val="0"/>
              </a:spcBef>
              <a:spcAft>
                <a:spcPts val="200"/>
              </a:spcAft>
            </a:pPr>
            <a:r>
              <a:rPr sz="1200" b="1" i="0">
                <a:solidFill>
                  <a:srgbClr val="5B6B78"/>
                </a:solidFill>
                <a:latin typeface="Calibri"/>
              </a:rPr>
              <a:t>upper half · 1 / 2</a:t>
            </a:r>
          </a:p>
        </p:txBody>
      </p:sp>
      <p:sp>
        <p:nvSpPr>
          <p:cNvPr id="4" name="Rectangle 3"/>
          <p:cNvSpPr/>
          <p:nvPr/>
        </p:nvSpPr>
        <p:spPr>
          <a:xfrm>
            <a:off x="566928" y="548640"/>
            <a:ext cx="1554480" cy="41148"/>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ogc_top.png"/>
          <p:cNvPicPr>
            <a:picLocks noChangeAspect="1"/>
          </p:cNvPicPr>
          <p:nvPr/>
        </p:nvPicPr>
        <p:blipFill>
          <a:blip r:embed="rId2"/>
          <a:stretch>
            <a:fillRect/>
          </a:stretch>
        </p:blipFill>
        <p:spPr>
          <a:xfrm>
            <a:off x="1888257" y="749808"/>
            <a:ext cx="8415180" cy="5559552"/>
          </a:xfrm>
          <a:prstGeom prst="rect">
            <a:avLst/>
          </a:prstGeom>
        </p:spPr>
      </p:pic>
      <p:sp>
        <p:nvSpPr>
          <p:cNvPr id="6" name="Rectangle 5"/>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8" name="TextBox 7"/>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4.1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74320"/>
            <a:ext cx="8229600"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OGC DATA MODEL — DETAIL</a:t>
            </a:r>
          </a:p>
        </p:txBody>
      </p:sp>
      <p:sp>
        <p:nvSpPr>
          <p:cNvPr id="3" name="TextBox 2"/>
          <p:cNvSpPr txBox="1"/>
          <p:nvPr/>
        </p:nvSpPr>
        <p:spPr>
          <a:xfrm>
            <a:off x="9082735" y="274320"/>
            <a:ext cx="2743200" cy="274320"/>
          </a:xfrm>
          <a:prstGeom prst="rect">
            <a:avLst/>
          </a:prstGeom>
          <a:noFill/>
        </p:spPr>
        <p:txBody>
          <a:bodyPr wrap="square" anchor="t" lIns="0" rIns="0" tIns="0" bIns="0">
            <a:noAutofit/>
          </a:bodyPr>
          <a:lstStyle/>
          <a:p>
            <a:pPr algn="r">
              <a:spcBef>
                <a:spcPts val="0"/>
              </a:spcBef>
              <a:spcAft>
                <a:spcPts val="200"/>
              </a:spcAft>
            </a:pPr>
            <a:r>
              <a:rPr sz="1200" b="1" i="0">
                <a:solidFill>
                  <a:srgbClr val="5B6B78"/>
                </a:solidFill>
                <a:latin typeface="Calibri"/>
              </a:rPr>
              <a:t>lower half · 2 / 2</a:t>
            </a:r>
          </a:p>
        </p:txBody>
      </p:sp>
      <p:sp>
        <p:nvSpPr>
          <p:cNvPr id="4" name="Rectangle 3"/>
          <p:cNvSpPr/>
          <p:nvPr/>
        </p:nvSpPr>
        <p:spPr>
          <a:xfrm>
            <a:off x="566928" y="548640"/>
            <a:ext cx="1554480" cy="41148"/>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ogc_bot.png"/>
          <p:cNvPicPr>
            <a:picLocks noChangeAspect="1"/>
          </p:cNvPicPr>
          <p:nvPr/>
        </p:nvPicPr>
        <p:blipFill>
          <a:blip r:embed="rId2"/>
          <a:stretch>
            <a:fillRect/>
          </a:stretch>
        </p:blipFill>
        <p:spPr>
          <a:xfrm>
            <a:off x="1895000" y="749808"/>
            <a:ext cx="8401694" cy="5559552"/>
          </a:xfrm>
          <a:prstGeom prst="rect">
            <a:avLst/>
          </a:prstGeom>
        </p:spPr>
      </p:pic>
      <p:sp>
        <p:nvSpPr>
          <p:cNvPr id="6" name="Rectangle 5"/>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8" name="TextBox 7"/>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UNDER THE HOOD</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How MobilityAPI Persists Moving Features</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obilityapi-backing-schema.png"/>
          <p:cNvPicPr>
            <a:picLocks noChangeAspect="1"/>
          </p:cNvPicPr>
          <p:nvPr/>
        </p:nvPicPr>
        <p:blipFill>
          <a:blip r:embed="rId2"/>
          <a:stretch>
            <a:fillRect/>
          </a:stretch>
        </p:blipFill>
        <p:spPr>
          <a:xfrm>
            <a:off x="566928" y="1600200"/>
            <a:ext cx="4438724" cy="4480560"/>
          </a:xfrm>
          <a:prstGeom prst="rect">
            <a:avLst/>
          </a:prstGeom>
        </p:spPr>
      </p:pic>
      <p:sp>
        <p:nvSpPr>
          <p:cNvPr id="6" name="TextBox 5"/>
          <p:cNvSpPr txBox="1"/>
          <p:nvPr/>
        </p:nvSpPr>
        <p:spPr>
          <a:xfrm>
            <a:off x="7955279" y="1920240"/>
            <a:ext cx="3749039" cy="3931920"/>
          </a:xfrm>
          <a:prstGeom prst="rect">
            <a:avLst/>
          </a:prstGeom>
          <a:noFill/>
        </p:spPr>
        <p:txBody>
          <a:bodyPr wrap="square" lIns="0" rIns="0" tIns="0" bIns="0">
            <a:noAutofit/>
          </a:bodyPr>
          <a:lstStyle/>
          <a:p>
            <a:pPr>
              <a:lnSpc>
                <a:spcPct val="106000"/>
              </a:lnSpc>
              <a:spcBef>
                <a:spcPts val="0"/>
              </a:spcBef>
              <a:spcAft>
                <a:spcPts val="1300"/>
              </a:spcAft>
            </a:pPr>
            <a:r>
              <a:rPr sz="1400" b="1">
                <a:solidFill>
                  <a:srgbClr val="156082"/>
                </a:solidFill>
                <a:latin typeface="Calibri"/>
              </a:rPr>
              <a:t>▸  </a:t>
            </a:r>
            <a:r>
              <a:rPr sz="1400" b="1">
                <a:solidFill>
                  <a:srgbClr val="0E2841"/>
                </a:solidFill>
                <a:latin typeface="Calibri"/>
              </a:rPr>
              <a:t>collections  </a:t>
            </a:r>
            <a:r>
              <a:rPr sz="1400">
                <a:solidFill>
                  <a:srgbClr val="1E2B36"/>
                </a:solidFill>
                <a:latin typeface="Calibri"/>
              </a:rPr>
              <a:t>metadata: title, description, itemType, updateFrequency</a:t>
            </a:r>
          </a:p>
          <a:p>
            <a:pPr>
              <a:lnSpc>
                <a:spcPct val="106000"/>
              </a:lnSpc>
              <a:spcBef>
                <a:spcPts val="0"/>
              </a:spcBef>
              <a:spcAft>
                <a:spcPts val="1300"/>
              </a:spcAft>
            </a:pPr>
            <a:r>
              <a:rPr sz="1400" b="1">
                <a:solidFill>
                  <a:srgbClr val="156082"/>
                </a:solidFill>
                <a:latin typeface="Calibri"/>
              </a:rPr>
              <a:t>▸  </a:t>
            </a:r>
            <a:r>
              <a:rPr sz="1400" b="1">
                <a:solidFill>
                  <a:srgbClr val="0E2841"/>
                </a:solidFill>
                <a:latin typeface="Calibri"/>
              </a:rPr>
              <a:t>moving_features  </a:t>
            </a:r>
            <a:r>
              <a:rPr sz="1400">
                <a:solidFill>
                  <a:srgbClr val="1E2B36"/>
                </a:solidFill>
                <a:latin typeface="Calibri"/>
              </a:rPr>
              <a:t>one row per feature; bbox is an STBOX, time is a TSTZSPAN</a:t>
            </a:r>
          </a:p>
          <a:p>
            <a:pPr>
              <a:lnSpc>
                <a:spcPct val="106000"/>
              </a:lnSpc>
              <a:spcBef>
                <a:spcPts val="0"/>
              </a:spcBef>
              <a:spcAft>
                <a:spcPts val="1300"/>
              </a:spcAft>
            </a:pPr>
            <a:r>
              <a:rPr sz="1400" b="1">
                <a:solidFill>
                  <a:srgbClr val="156082"/>
                </a:solidFill>
                <a:latin typeface="Calibri"/>
              </a:rPr>
              <a:t>▸  </a:t>
            </a:r>
            <a:r>
              <a:rPr sz="1400" b="1">
                <a:solidFill>
                  <a:srgbClr val="0E2841"/>
                </a:solidFill>
                <a:latin typeface="Calibri"/>
              </a:rPr>
              <a:t>temporal_geometries  </a:t>
            </a:r>
            <a:r>
              <a:rPr sz="1400">
                <a:solidFill>
                  <a:srgbClr val="1E2B36"/>
                </a:solidFill>
                <a:latin typeface="Calibri"/>
              </a:rPr>
              <a:t>trajectory stored as a MobilityDB tgeompoint</a:t>
            </a:r>
          </a:p>
          <a:p>
            <a:pPr>
              <a:lnSpc>
                <a:spcPct val="106000"/>
              </a:lnSpc>
              <a:spcBef>
                <a:spcPts val="0"/>
              </a:spcBef>
              <a:spcAft>
                <a:spcPts val="1300"/>
              </a:spcAft>
            </a:pPr>
            <a:r>
              <a:rPr sz="1400" b="1">
                <a:solidFill>
                  <a:srgbClr val="156082"/>
                </a:solidFill>
                <a:latin typeface="Calibri"/>
              </a:rPr>
              <a:t>▸  </a:t>
            </a:r>
            <a:r>
              <a:rPr sz="1400" b="1">
                <a:solidFill>
                  <a:srgbClr val="0E2841"/>
                </a:solidFill>
                <a:latin typeface="Calibri"/>
              </a:rPr>
              <a:t>temporal_properties / temporal_values  </a:t>
            </a:r>
            <a:r>
              <a:rPr sz="1400">
                <a:solidFill>
                  <a:srgbClr val="1E2B36"/>
                </a:solidFill>
                <a:latin typeface="Calibri"/>
              </a:rPr>
              <a:t>time-varying attribute streams</a:t>
            </a:r>
          </a:p>
        </p:txBody>
      </p:sp>
      <p:sp>
        <p:nvSpPr>
          <p:cNvPr id="7" name="TextBox 6"/>
          <p:cNvSpPr txBox="1"/>
          <p:nvPr/>
        </p:nvSpPr>
        <p:spPr>
          <a:xfrm>
            <a:off x="566928" y="6126480"/>
            <a:ext cx="7040880" cy="274320"/>
          </a:xfrm>
          <a:prstGeom prst="rect">
            <a:avLst/>
          </a:prstGeom>
          <a:noFill/>
        </p:spPr>
        <p:txBody>
          <a:bodyPr wrap="square" anchor="t" lIns="0" rIns="0" tIns="0" bIns="0">
            <a:noAutofit/>
          </a:bodyPr>
          <a:lstStyle/>
          <a:p>
            <a:pPr algn="l">
              <a:spcBef>
                <a:spcPts val="0"/>
              </a:spcBef>
              <a:spcAft>
                <a:spcPts val="200"/>
              </a:spcAft>
            </a:pPr>
            <a:r>
              <a:rPr sz="1200" b="0" i="1">
                <a:solidFill>
                  <a:srgbClr val="5B6B78"/>
                </a:solidFill>
                <a:latin typeface="Calibri"/>
              </a:rPr>
              <a:t>Tables created on first POST /collections — STBOX / TSTZSPAN / tgeompoint are native MobilityDB types.</a:t>
            </a:r>
          </a:p>
        </p:txBody>
      </p:sp>
      <p:sp>
        <p:nvSpPr>
          <p:cNvPr id="8" name="Rectangle 7"/>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0" name="TextBox 9"/>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05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BACKING SCHEMA — DETAIL</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The Five PostgreSQL Tables in Full</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72768"/>
            <a:ext cx="3472586" cy="1969617"/>
          </a:xfrm>
          <a:prstGeom prst="roundRect">
            <a:avLst>
              <a:gd name="adj" fmla="val 4500"/>
            </a:avLst>
          </a:prstGeom>
          <a:solidFill>
            <a:srgbClr val="FFFFFF"/>
          </a:solidFill>
          <a:ln w="1778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572768"/>
            <a:ext cx="3472586" cy="365760"/>
          </a:xfrm>
          <a:prstGeom prst="roundRect">
            <a:avLst>
              <a:gd name="adj" fmla="val 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591056"/>
            <a:ext cx="3198266" cy="365760"/>
          </a:xfrm>
          <a:prstGeom prst="rect">
            <a:avLst/>
          </a:prstGeom>
          <a:noFill/>
        </p:spPr>
        <p:txBody>
          <a:bodyPr wrap="square" anchor="ctr" lIns="0" rIns="0" tIns="0" bIns="0">
            <a:noAutofit/>
          </a:bodyPr>
          <a:lstStyle/>
          <a:p>
            <a:pPr algn="l">
              <a:spcBef>
                <a:spcPts val="0"/>
              </a:spcBef>
              <a:spcAft>
                <a:spcPts val="200"/>
              </a:spcAft>
            </a:pPr>
            <a:r>
              <a:rPr sz="1400" b="1" i="0">
                <a:solidFill>
                  <a:srgbClr val="FFFFFF"/>
                </a:solidFill>
                <a:latin typeface="Consolas"/>
              </a:rPr>
              <a:t>collections</a:t>
            </a:r>
          </a:p>
        </p:txBody>
      </p:sp>
      <p:sp>
        <p:nvSpPr>
          <p:cNvPr id="8" name="TextBox 7"/>
          <p:cNvSpPr txBox="1"/>
          <p:nvPr/>
        </p:nvSpPr>
        <p:spPr>
          <a:xfrm>
            <a:off x="713232" y="1984248"/>
            <a:ext cx="3216554" cy="1576425"/>
          </a:xfrm>
          <a:prstGeom prst="rect">
            <a:avLst/>
          </a:prstGeom>
          <a:noFill/>
        </p:spPr>
        <p:txBody>
          <a:bodyPr wrap="none" lIns="0" rIns="0" tIns="0" bIns="0">
            <a:noAutofit/>
          </a:bodyPr>
          <a:lstStyle/>
          <a:p>
            <a:pPr>
              <a:lnSpc>
                <a:spcPct val="100000"/>
              </a:lnSpc>
              <a:spcBef>
                <a:spcPts val="0"/>
              </a:spcBef>
              <a:spcAft>
                <a:spcPts val="150"/>
              </a:spcAft>
            </a:pPr>
            <a:r>
              <a:rPr sz="1200" b="1">
                <a:solidFill>
                  <a:srgbClr val="156082"/>
                </a:solidFill>
                <a:latin typeface="Calibri"/>
              </a:rPr>
              <a:t>PK </a:t>
            </a:r>
            <a:r>
              <a:rPr sz="1200" b="1">
                <a:solidFill>
                  <a:srgbClr val="1E2B36"/>
                </a:solidFill>
                <a:latin typeface="Consolas"/>
              </a:rPr>
              <a:t>id  </a:t>
            </a:r>
            <a:r>
              <a:rPr sz="1200">
                <a:solidFill>
                  <a:srgbClr val="5B6B78"/>
                </a:solidFill>
                <a:latin typeface="Consolas"/>
              </a:rPr>
              <a:t>TEXT</a:t>
            </a:r>
          </a:p>
          <a:p>
            <a:pPr>
              <a:lnSpc>
                <a:spcPct val="100000"/>
              </a:lnSpc>
              <a:spcBef>
                <a:spcPts val="0"/>
              </a:spcBef>
              <a:spcAft>
                <a:spcPts val="150"/>
              </a:spcAft>
            </a:pPr>
            <a:r>
              <a:rPr sz="1200" b="1">
                <a:solidFill>
                  <a:srgbClr val="1E2B36"/>
                </a:solidFill>
                <a:latin typeface="Consolas"/>
              </a:rPr>
              <a:t>title  </a:t>
            </a:r>
            <a:r>
              <a:rPr sz="1200">
                <a:solidFill>
                  <a:srgbClr val="5B6B78"/>
                </a:solidFill>
                <a:latin typeface="Consolas"/>
              </a:rPr>
              <a:t>TEXT</a:t>
            </a:r>
          </a:p>
          <a:p>
            <a:pPr>
              <a:lnSpc>
                <a:spcPct val="100000"/>
              </a:lnSpc>
              <a:spcBef>
                <a:spcPts val="0"/>
              </a:spcBef>
              <a:spcAft>
                <a:spcPts val="150"/>
              </a:spcAft>
            </a:pPr>
            <a:r>
              <a:rPr sz="1200" b="1">
                <a:solidFill>
                  <a:srgbClr val="1E2B36"/>
                </a:solidFill>
                <a:latin typeface="Consolas"/>
              </a:rPr>
              <a:t>description  </a:t>
            </a:r>
            <a:r>
              <a:rPr sz="1200">
                <a:solidFill>
                  <a:srgbClr val="5B6B78"/>
                </a:solidFill>
                <a:latin typeface="Consolas"/>
              </a:rPr>
              <a:t>TEXT</a:t>
            </a:r>
          </a:p>
          <a:p>
            <a:pPr>
              <a:lnSpc>
                <a:spcPct val="100000"/>
              </a:lnSpc>
              <a:spcBef>
                <a:spcPts val="0"/>
              </a:spcBef>
              <a:spcAft>
                <a:spcPts val="150"/>
              </a:spcAft>
            </a:pPr>
            <a:r>
              <a:rPr sz="1200" b="1">
                <a:solidFill>
                  <a:srgbClr val="1E2B36"/>
                </a:solidFill>
                <a:latin typeface="Consolas"/>
              </a:rPr>
              <a:t>update_frequency  </a:t>
            </a:r>
            <a:r>
              <a:rPr sz="1200">
                <a:solidFill>
                  <a:srgbClr val="5B6B78"/>
                </a:solidFill>
                <a:latin typeface="Consolas"/>
              </a:rPr>
              <a:t>INTEGER</a:t>
            </a:r>
          </a:p>
          <a:p>
            <a:pPr>
              <a:lnSpc>
                <a:spcPct val="100000"/>
              </a:lnSpc>
              <a:spcBef>
                <a:spcPts val="0"/>
              </a:spcBef>
              <a:spcAft>
                <a:spcPts val="150"/>
              </a:spcAft>
            </a:pPr>
            <a:r>
              <a:rPr sz="1200" b="1">
                <a:solidFill>
                  <a:srgbClr val="1E2B36"/>
                </a:solidFill>
                <a:latin typeface="Consolas"/>
              </a:rPr>
              <a:t>item_type  </a:t>
            </a:r>
            <a:r>
              <a:rPr sz="1200">
                <a:solidFill>
                  <a:srgbClr val="5B6B78"/>
                </a:solidFill>
                <a:latin typeface="Consolas"/>
              </a:rPr>
              <a:t>TEXT</a:t>
            </a:r>
          </a:p>
          <a:p>
            <a:pPr>
              <a:lnSpc>
                <a:spcPct val="100000"/>
              </a:lnSpc>
              <a:spcBef>
                <a:spcPts val="0"/>
              </a:spcBef>
              <a:spcAft>
                <a:spcPts val="150"/>
              </a:spcAft>
            </a:pPr>
            <a:r>
              <a:rPr sz="1200" b="1">
                <a:solidFill>
                  <a:srgbClr val="1E2B36"/>
                </a:solidFill>
                <a:latin typeface="Consolas"/>
              </a:rPr>
              <a:t>created_at  </a:t>
            </a:r>
            <a:r>
              <a:rPr sz="1200">
                <a:solidFill>
                  <a:srgbClr val="5B6B78"/>
                </a:solidFill>
                <a:latin typeface="Consolas"/>
              </a:rPr>
              <a:t>TIMESTAMP</a:t>
            </a:r>
          </a:p>
          <a:p>
            <a:pPr>
              <a:lnSpc>
                <a:spcPct val="100000"/>
              </a:lnSpc>
              <a:spcBef>
                <a:spcPts val="0"/>
              </a:spcBef>
              <a:spcAft>
                <a:spcPts val="150"/>
              </a:spcAft>
            </a:pPr>
            <a:r>
              <a:rPr sz="1200" b="1">
                <a:solidFill>
                  <a:srgbClr val="1E2B36"/>
                </a:solidFill>
                <a:latin typeface="Consolas"/>
              </a:rPr>
              <a:t>updated_at  </a:t>
            </a:r>
            <a:r>
              <a:rPr sz="1200">
                <a:solidFill>
                  <a:srgbClr val="5B6B78"/>
                </a:solidFill>
                <a:latin typeface="Consolas"/>
              </a:rPr>
              <a:t>TIMESTAMP</a:t>
            </a:r>
          </a:p>
        </p:txBody>
      </p:sp>
      <p:sp>
        <p:nvSpPr>
          <p:cNvPr id="9" name="Rounded Rectangle 8"/>
          <p:cNvSpPr/>
          <p:nvPr/>
        </p:nvSpPr>
        <p:spPr>
          <a:xfrm>
            <a:off x="566928" y="3706977"/>
            <a:ext cx="3472586" cy="2606040"/>
          </a:xfrm>
          <a:prstGeom prst="roundRect">
            <a:avLst>
              <a:gd name="adj" fmla="val 4500"/>
            </a:avLst>
          </a:prstGeom>
          <a:solidFill>
            <a:srgbClr val="FFFFFF"/>
          </a:solidFill>
          <a:ln w="17780">
            <a:solidFill>
              <a:srgbClr val="196B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6928" y="3706977"/>
            <a:ext cx="3472586" cy="365760"/>
          </a:xfrm>
          <a:prstGeom prst="roundRect">
            <a:avLst>
              <a:gd name="adj" fmla="val 8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3725265"/>
            <a:ext cx="3198266" cy="365760"/>
          </a:xfrm>
          <a:prstGeom prst="rect">
            <a:avLst/>
          </a:prstGeom>
          <a:noFill/>
        </p:spPr>
        <p:txBody>
          <a:bodyPr wrap="square" anchor="ctr" lIns="0" rIns="0" tIns="0" bIns="0">
            <a:noAutofit/>
          </a:bodyPr>
          <a:lstStyle/>
          <a:p>
            <a:pPr algn="l">
              <a:spcBef>
                <a:spcPts val="0"/>
              </a:spcBef>
              <a:spcAft>
                <a:spcPts val="200"/>
              </a:spcAft>
            </a:pPr>
            <a:r>
              <a:rPr sz="1400" b="1" i="0">
                <a:solidFill>
                  <a:srgbClr val="FFFFFF"/>
                </a:solidFill>
                <a:latin typeface="Consolas"/>
              </a:rPr>
              <a:t>temporal_geometries</a:t>
            </a:r>
          </a:p>
        </p:txBody>
      </p:sp>
      <p:sp>
        <p:nvSpPr>
          <p:cNvPr id="12" name="TextBox 11"/>
          <p:cNvSpPr txBox="1"/>
          <p:nvPr/>
        </p:nvSpPr>
        <p:spPr>
          <a:xfrm>
            <a:off x="713232" y="4118457"/>
            <a:ext cx="3216554" cy="2212848"/>
          </a:xfrm>
          <a:prstGeom prst="rect">
            <a:avLst/>
          </a:prstGeom>
          <a:noFill/>
        </p:spPr>
        <p:txBody>
          <a:bodyPr wrap="none" lIns="0" rIns="0" tIns="0" bIns="0">
            <a:noAutofit/>
          </a:bodyPr>
          <a:lstStyle/>
          <a:p>
            <a:pPr>
              <a:lnSpc>
                <a:spcPct val="100000"/>
              </a:lnSpc>
              <a:spcBef>
                <a:spcPts val="0"/>
              </a:spcBef>
              <a:spcAft>
                <a:spcPts val="150"/>
              </a:spcAft>
            </a:pPr>
            <a:r>
              <a:rPr sz="1200" b="1">
                <a:solidFill>
                  <a:srgbClr val="196B24"/>
                </a:solidFill>
                <a:latin typeface="Calibri"/>
              </a:rPr>
              <a:t>PK </a:t>
            </a:r>
            <a:r>
              <a:rPr sz="1200" b="1">
                <a:solidFill>
                  <a:srgbClr val="1E2B36"/>
                </a:solidFill>
                <a:latin typeface="Consolas"/>
              </a:rPr>
              <a:t>id  </a:t>
            </a:r>
            <a:r>
              <a:rPr sz="1200">
                <a:solidFill>
                  <a:srgbClr val="5B6B78"/>
                </a:solidFill>
                <a:latin typeface="Consolas"/>
              </a:rPr>
              <a:t>SERIAL</a:t>
            </a:r>
          </a:p>
          <a:p>
            <a:pPr>
              <a:lnSpc>
                <a:spcPct val="100000"/>
              </a:lnSpc>
              <a:spcBef>
                <a:spcPts val="0"/>
              </a:spcBef>
              <a:spcAft>
                <a:spcPts val="150"/>
              </a:spcAft>
            </a:pPr>
            <a:r>
              <a:rPr sz="1200" b="1">
                <a:solidFill>
                  <a:srgbClr val="156082"/>
                </a:solidFill>
                <a:latin typeface="Calibri"/>
              </a:rPr>
              <a:t>FK </a:t>
            </a:r>
            <a:r>
              <a:rPr sz="1200" b="1">
                <a:solidFill>
                  <a:srgbClr val="1E2B36"/>
                </a:solidFill>
                <a:latin typeface="Consolas"/>
              </a:rPr>
              <a:t>feature_id  </a:t>
            </a:r>
            <a:r>
              <a:rPr sz="1200">
                <a:solidFill>
                  <a:srgbClr val="5B6B78"/>
                </a:solidFill>
                <a:latin typeface="Consolas"/>
              </a:rPr>
              <a:t>TEXT</a:t>
            </a:r>
          </a:p>
          <a:p>
            <a:pPr>
              <a:lnSpc>
                <a:spcPct val="100000"/>
              </a:lnSpc>
              <a:spcBef>
                <a:spcPts val="0"/>
              </a:spcBef>
              <a:spcAft>
                <a:spcPts val="150"/>
              </a:spcAft>
            </a:pPr>
            <a:r>
              <a:rPr sz="1200" b="1">
                <a:solidFill>
                  <a:srgbClr val="156082"/>
                </a:solidFill>
                <a:latin typeface="Calibri"/>
              </a:rPr>
              <a:t>FK </a:t>
            </a:r>
            <a:r>
              <a:rPr sz="1200" b="1">
                <a:solidFill>
                  <a:srgbClr val="1E2B36"/>
                </a:solidFill>
                <a:latin typeface="Consolas"/>
              </a:rPr>
              <a:t>collection_id  </a:t>
            </a:r>
            <a:r>
              <a:rPr sz="1200">
                <a:solidFill>
                  <a:srgbClr val="5B6B78"/>
                </a:solidFill>
                <a:latin typeface="Consolas"/>
              </a:rPr>
              <a:t>TEXT</a:t>
            </a:r>
          </a:p>
          <a:p>
            <a:pPr>
              <a:lnSpc>
                <a:spcPct val="100000"/>
              </a:lnSpc>
              <a:spcBef>
                <a:spcPts val="0"/>
              </a:spcBef>
              <a:spcAft>
                <a:spcPts val="150"/>
              </a:spcAft>
            </a:pPr>
            <a:r>
              <a:rPr sz="1200" b="1">
                <a:solidFill>
                  <a:srgbClr val="1E2B36"/>
                </a:solidFill>
                <a:latin typeface="Consolas"/>
              </a:rPr>
              <a:t>geometry_type  </a:t>
            </a:r>
            <a:r>
              <a:rPr sz="1200">
                <a:solidFill>
                  <a:srgbClr val="5B6B78"/>
                </a:solidFill>
                <a:latin typeface="Consolas"/>
              </a:rPr>
              <a:t>TEXT</a:t>
            </a:r>
          </a:p>
          <a:p>
            <a:pPr>
              <a:lnSpc>
                <a:spcPct val="100000"/>
              </a:lnSpc>
              <a:spcBef>
                <a:spcPts val="0"/>
              </a:spcBef>
              <a:spcAft>
                <a:spcPts val="150"/>
              </a:spcAft>
            </a:pPr>
            <a:r>
              <a:rPr sz="1200" b="1">
                <a:solidFill>
                  <a:srgbClr val="1E2B36"/>
                </a:solidFill>
                <a:latin typeface="Consolas"/>
              </a:rPr>
              <a:t>geometry  </a:t>
            </a:r>
            <a:r>
              <a:rPr sz="1200">
                <a:solidFill>
                  <a:srgbClr val="E97132"/>
                </a:solidFill>
                <a:latin typeface="Consolas"/>
              </a:rPr>
              <a:t>geometry</a:t>
            </a:r>
          </a:p>
          <a:p>
            <a:pPr>
              <a:lnSpc>
                <a:spcPct val="100000"/>
              </a:lnSpc>
              <a:spcBef>
                <a:spcPts val="0"/>
              </a:spcBef>
              <a:spcAft>
                <a:spcPts val="150"/>
              </a:spcAft>
            </a:pPr>
            <a:r>
              <a:rPr sz="1200" b="1">
                <a:solidFill>
                  <a:srgbClr val="1E2B36"/>
                </a:solidFill>
                <a:latin typeface="Consolas"/>
              </a:rPr>
              <a:t>trajectory  </a:t>
            </a:r>
            <a:r>
              <a:rPr sz="1200">
                <a:solidFill>
                  <a:srgbClr val="E97132"/>
                </a:solidFill>
                <a:latin typeface="Consolas"/>
              </a:rPr>
              <a:t>tgeompoint</a:t>
            </a:r>
          </a:p>
          <a:p>
            <a:pPr>
              <a:lnSpc>
                <a:spcPct val="100000"/>
              </a:lnSpc>
              <a:spcBef>
                <a:spcPts val="0"/>
              </a:spcBef>
              <a:spcAft>
                <a:spcPts val="150"/>
              </a:spcAft>
            </a:pPr>
            <a:r>
              <a:rPr sz="1200" b="1">
                <a:solidFill>
                  <a:srgbClr val="1E2B36"/>
                </a:solidFill>
                <a:latin typeface="Consolas"/>
              </a:rPr>
              <a:t>interpolation  </a:t>
            </a:r>
            <a:r>
              <a:rPr sz="1200">
                <a:solidFill>
                  <a:srgbClr val="5B6B78"/>
                </a:solidFill>
                <a:latin typeface="Consolas"/>
              </a:rPr>
              <a:t>TEXT</a:t>
            </a:r>
          </a:p>
          <a:p>
            <a:pPr>
              <a:lnSpc>
                <a:spcPct val="100000"/>
              </a:lnSpc>
              <a:spcBef>
                <a:spcPts val="0"/>
              </a:spcBef>
              <a:spcAft>
                <a:spcPts val="150"/>
              </a:spcAft>
            </a:pPr>
            <a:r>
              <a:rPr sz="1200" b="1">
                <a:solidFill>
                  <a:srgbClr val="1E2B36"/>
                </a:solidFill>
                <a:latin typeface="Consolas"/>
              </a:rPr>
              <a:t>base  </a:t>
            </a:r>
            <a:r>
              <a:rPr sz="1200">
                <a:solidFill>
                  <a:srgbClr val="5B6B78"/>
                </a:solidFill>
                <a:latin typeface="Consolas"/>
              </a:rPr>
              <a:t>JSONB</a:t>
            </a:r>
          </a:p>
          <a:p>
            <a:pPr>
              <a:lnSpc>
                <a:spcPct val="100000"/>
              </a:lnSpc>
              <a:spcBef>
                <a:spcPts val="0"/>
              </a:spcBef>
              <a:spcAft>
                <a:spcPts val="150"/>
              </a:spcAft>
            </a:pPr>
            <a:r>
              <a:rPr sz="1200" b="1">
                <a:solidFill>
                  <a:srgbClr val="1E2B36"/>
                </a:solidFill>
                <a:latin typeface="Consolas"/>
              </a:rPr>
              <a:t>orientations  </a:t>
            </a:r>
            <a:r>
              <a:rPr sz="1200">
                <a:solidFill>
                  <a:srgbClr val="5B6B78"/>
                </a:solidFill>
                <a:latin typeface="Consolas"/>
              </a:rPr>
              <a:t>JSONB</a:t>
            </a:r>
          </a:p>
          <a:p>
            <a:pPr>
              <a:lnSpc>
                <a:spcPct val="100000"/>
              </a:lnSpc>
              <a:spcBef>
                <a:spcPts val="0"/>
              </a:spcBef>
              <a:spcAft>
                <a:spcPts val="150"/>
              </a:spcAft>
            </a:pPr>
            <a:r>
              <a:rPr sz="1200" b="1">
                <a:solidFill>
                  <a:srgbClr val="1E2B36"/>
                </a:solidFill>
                <a:latin typeface="Consolas"/>
              </a:rPr>
              <a:t>created_at  </a:t>
            </a:r>
            <a:r>
              <a:rPr sz="1200">
                <a:solidFill>
                  <a:srgbClr val="5B6B78"/>
                </a:solidFill>
                <a:latin typeface="Consolas"/>
              </a:rPr>
              <a:t>TIMESTAMP</a:t>
            </a:r>
          </a:p>
        </p:txBody>
      </p:sp>
      <p:sp>
        <p:nvSpPr>
          <p:cNvPr id="13" name="Rounded Rectangle 12"/>
          <p:cNvSpPr/>
          <p:nvPr/>
        </p:nvSpPr>
        <p:spPr>
          <a:xfrm>
            <a:off x="4359554" y="1572768"/>
            <a:ext cx="3472586" cy="2393899"/>
          </a:xfrm>
          <a:prstGeom prst="roundRect">
            <a:avLst>
              <a:gd name="adj" fmla="val 4500"/>
            </a:avLst>
          </a:prstGeom>
          <a:solidFill>
            <a:srgbClr val="FFFFFF"/>
          </a:solidFill>
          <a:ln w="1778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59554" y="1572768"/>
            <a:ext cx="3472586" cy="365760"/>
          </a:xfrm>
          <a:prstGeom prst="roundRect">
            <a:avLst>
              <a:gd name="adj" fmla="val 8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5858" y="1591056"/>
            <a:ext cx="3198266" cy="365760"/>
          </a:xfrm>
          <a:prstGeom prst="rect">
            <a:avLst/>
          </a:prstGeom>
          <a:noFill/>
        </p:spPr>
        <p:txBody>
          <a:bodyPr wrap="square" anchor="ctr" lIns="0" rIns="0" tIns="0" bIns="0">
            <a:noAutofit/>
          </a:bodyPr>
          <a:lstStyle/>
          <a:p>
            <a:pPr algn="l">
              <a:spcBef>
                <a:spcPts val="0"/>
              </a:spcBef>
              <a:spcAft>
                <a:spcPts val="200"/>
              </a:spcAft>
            </a:pPr>
            <a:r>
              <a:rPr sz="1400" b="1" i="0">
                <a:solidFill>
                  <a:srgbClr val="FFFFFF"/>
                </a:solidFill>
                <a:latin typeface="Consolas"/>
              </a:rPr>
              <a:t>moving_features</a:t>
            </a:r>
          </a:p>
        </p:txBody>
      </p:sp>
      <p:sp>
        <p:nvSpPr>
          <p:cNvPr id="16" name="TextBox 15"/>
          <p:cNvSpPr txBox="1"/>
          <p:nvPr/>
        </p:nvSpPr>
        <p:spPr>
          <a:xfrm>
            <a:off x="4505858" y="1984248"/>
            <a:ext cx="3216554" cy="2000707"/>
          </a:xfrm>
          <a:prstGeom prst="rect">
            <a:avLst/>
          </a:prstGeom>
          <a:noFill/>
        </p:spPr>
        <p:txBody>
          <a:bodyPr wrap="none" lIns="0" rIns="0" tIns="0" bIns="0">
            <a:noAutofit/>
          </a:bodyPr>
          <a:lstStyle/>
          <a:p>
            <a:pPr>
              <a:lnSpc>
                <a:spcPct val="100000"/>
              </a:lnSpc>
              <a:spcBef>
                <a:spcPts val="0"/>
              </a:spcBef>
              <a:spcAft>
                <a:spcPts val="150"/>
              </a:spcAft>
            </a:pPr>
            <a:r>
              <a:rPr sz="1200" b="1">
                <a:solidFill>
                  <a:srgbClr val="E97132"/>
                </a:solidFill>
                <a:latin typeface="Calibri"/>
              </a:rPr>
              <a:t>PK </a:t>
            </a:r>
            <a:r>
              <a:rPr sz="1200" b="1">
                <a:solidFill>
                  <a:srgbClr val="1E2B36"/>
                </a:solidFill>
                <a:latin typeface="Consolas"/>
              </a:rPr>
              <a:t>id  </a:t>
            </a:r>
            <a:r>
              <a:rPr sz="1200">
                <a:solidFill>
                  <a:srgbClr val="5B6B78"/>
                </a:solidFill>
                <a:latin typeface="Consolas"/>
              </a:rPr>
              <a:t>TEXT</a:t>
            </a:r>
          </a:p>
          <a:p>
            <a:pPr>
              <a:lnSpc>
                <a:spcPct val="100000"/>
              </a:lnSpc>
              <a:spcBef>
                <a:spcPts val="0"/>
              </a:spcBef>
              <a:spcAft>
                <a:spcPts val="150"/>
              </a:spcAft>
            </a:pPr>
            <a:r>
              <a:rPr sz="1200" b="1">
                <a:solidFill>
                  <a:srgbClr val="156082"/>
                </a:solidFill>
                <a:latin typeface="Calibri"/>
              </a:rPr>
              <a:t>FK </a:t>
            </a:r>
            <a:r>
              <a:rPr sz="1200" b="1">
                <a:solidFill>
                  <a:srgbClr val="1E2B36"/>
                </a:solidFill>
                <a:latin typeface="Consolas"/>
              </a:rPr>
              <a:t>collection_id  </a:t>
            </a:r>
            <a:r>
              <a:rPr sz="1200">
                <a:solidFill>
                  <a:srgbClr val="5B6B78"/>
                </a:solidFill>
                <a:latin typeface="Consolas"/>
              </a:rPr>
              <a:t>TEXT</a:t>
            </a:r>
          </a:p>
          <a:p>
            <a:pPr>
              <a:lnSpc>
                <a:spcPct val="100000"/>
              </a:lnSpc>
              <a:spcBef>
                <a:spcPts val="0"/>
              </a:spcBef>
              <a:spcAft>
                <a:spcPts val="150"/>
              </a:spcAft>
            </a:pPr>
            <a:r>
              <a:rPr sz="1200" b="1">
                <a:solidFill>
                  <a:srgbClr val="1E2B36"/>
                </a:solidFill>
                <a:latin typeface="Consolas"/>
              </a:rPr>
              <a:t>type  </a:t>
            </a:r>
            <a:r>
              <a:rPr sz="1200">
                <a:solidFill>
                  <a:srgbClr val="5B6B78"/>
                </a:solidFill>
                <a:latin typeface="Consolas"/>
              </a:rPr>
              <a:t>TEXT</a:t>
            </a:r>
          </a:p>
          <a:p>
            <a:pPr>
              <a:lnSpc>
                <a:spcPct val="100000"/>
              </a:lnSpc>
              <a:spcBef>
                <a:spcPts val="0"/>
              </a:spcBef>
              <a:spcAft>
                <a:spcPts val="150"/>
              </a:spcAft>
            </a:pPr>
            <a:r>
              <a:rPr sz="1200" b="1">
                <a:solidFill>
                  <a:srgbClr val="1E2B36"/>
                </a:solidFill>
                <a:latin typeface="Consolas"/>
              </a:rPr>
              <a:t>properties  </a:t>
            </a:r>
            <a:r>
              <a:rPr sz="1200">
                <a:solidFill>
                  <a:srgbClr val="5B6B78"/>
                </a:solidFill>
                <a:latin typeface="Consolas"/>
              </a:rPr>
              <a:t>JSONB</a:t>
            </a:r>
          </a:p>
          <a:p>
            <a:pPr>
              <a:lnSpc>
                <a:spcPct val="100000"/>
              </a:lnSpc>
              <a:spcBef>
                <a:spcPts val="0"/>
              </a:spcBef>
              <a:spcAft>
                <a:spcPts val="150"/>
              </a:spcAft>
            </a:pPr>
            <a:r>
              <a:rPr sz="1200" b="1">
                <a:solidFill>
                  <a:srgbClr val="1E2B36"/>
                </a:solidFill>
                <a:latin typeface="Consolas"/>
              </a:rPr>
              <a:t>bbox  </a:t>
            </a:r>
            <a:r>
              <a:rPr sz="1200">
                <a:solidFill>
                  <a:srgbClr val="E97132"/>
                </a:solidFill>
                <a:latin typeface="Consolas"/>
              </a:rPr>
              <a:t>STBOX</a:t>
            </a:r>
          </a:p>
          <a:p>
            <a:pPr>
              <a:lnSpc>
                <a:spcPct val="100000"/>
              </a:lnSpc>
              <a:spcBef>
                <a:spcPts val="0"/>
              </a:spcBef>
              <a:spcAft>
                <a:spcPts val="150"/>
              </a:spcAft>
            </a:pPr>
            <a:r>
              <a:rPr sz="1200" b="1">
                <a:solidFill>
                  <a:srgbClr val="1E2B36"/>
                </a:solidFill>
                <a:latin typeface="Consolas"/>
              </a:rPr>
              <a:t>time  </a:t>
            </a:r>
            <a:r>
              <a:rPr sz="1200">
                <a:solidFill>
                  <a:srgbClr val="E97132"/>
                </a:solidFill>
                <a:latin typeface="Consolas"/>
              </a:rPr>
              <a:t>TSTZSPAN</a:t>
            </a:r>
          </a:p>
          <a:p>
            <a:pPr>
              <a:lnSpc>
                <a:spcPct val="100000"/>
              </a:lnSpc>
              <a:spcBef>
                <a:spcPts val="0"/>
              </a:spcBef>
              <a:spcAft>
                <a:spcPts val="150"/>
              </a:spcAft>
            </a:pPr>
            <a:r>
              <a:rPr sz="1200" b="1">
                <a:solidFill>
                  <a:srgbClr val="1E2B36"/>
                </a:solidFill>
                <a:latin typeface="Consolas"/>
              </a:rPr>
              <a:t>crs  </a:t>
            </a:r>
            <a:r>
              <a:rPr sz="1200">
                <a:solidFill>
                  <a:srgbClr val="5B6B78"/>
                </a:solidFill>
                <a:latin typeface="Consolas"/>
              </a:rPr>
              <a:t>JSONB</a:t>
            </a:r>
          </a:p>
          <a:p>
            <a:pPr>
              <a:lnSpc>
                <a:spcPct val="100000"/>
              </a:lnSpc>
              <a:spcBef>
                <a:spcPts val="0"/>
              </a:spcBef>
              <a:spcAft>
                <a:spcPts val="150"/>
              </a:spcAft>
            </a:pPr>
            <a:r>
              <a:rPr sz="1200" b="1">
                <a:solidFill>
                  <a:srgbClr val="1E2B36"/>
                </a:solidFill>
                <a:latin typeface="Consolas"/>
              </a:rPr>
              <a:t>trs  </a:t>
            </a:r>
            <a:r>
              <a:rPr sz="1200">
                <a:solidFill>
                  <a:srgbClr val="5B6B78"/>
                </a:solidFill>
                <a:latin typeface="Consolas"/>
              </a:rPr>
              <a:t>JSONB</a:t>
            </a:r>
          </a:p>
          <a:p>
            <a:pPr>
              <a:lnSpc>
                <a:spcPct val="100000"/>
              </a:lnSpc>
              <a:spcBef>
                <a:spcPts val="0"/>
              </a:spcBef>
              <a:spcAft>
                <a:spcPts val="150"/>
              </a:spcAft>
            </a:pPr>
            <a:r>
              <a:rPr sz="1200" b="1">
                <a:solidFill>
                  <a:srgbClr val="1E2B36"/>
                </a:solidFill>
                <a:latin typeface="Consolas"/>
              </a:rPr>
              <a:t>created_at  </a:t>
            </a:r>
            <a:r>
              <a:rPr sz="1200">
                <a:solidFill>
                  <a:srgbClr val="5B6B78"/>
                </a:solidFill>
                <a:latin typeface="Consolas"/>
              </a:rPr>
              <a:t>TIMESTAMP</a:t>
            </a:r>
          </a:p>
        </p:txBody>
      </p:sp>
      <p:sp>
        <p:nvSpPr>
          <p:cNvPr id="17" name="Rounded Rectangle 16"/>
          <p:cNvSpPr/>
          <p:nvPr/>
        </p:nvSpPr>
        <p:spPr>
          <a:xfrm>
            <a:off x="4359554" y="4131259"/>
            <a:ext cx="3472586" cy="1757476"/>
          </a:xfrm>
          <a:prstGeom prst="roundRect">
            <a:avLst>
              <a:gd name="adj" fmla="val 4500"/>
            </a:avLst>
          </a:prstGeom>
          <a:solidFill>
            <a:srgbClr val="FFFFFF"/>
          </a:solidFill>
          <a:ln w="17780">
            <a:solidFill>
              <a:srgbClr val="A02B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359554" y="4131259"/>
            <a:ext cx="3472586" cy="365760"/>
          </a:xfrm>
          <a:prstGeom prst="roundRect">
            <a:avLst>
              <a:gd name="adj" fmla="val 8000"/>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05858" y="4149547"/>
            <a:ext cx="3198266" cy="365760"/>
          </a:xfrm>
          <a:prstGeom prst="rect">
            <a:avLst/>
          </a:prstGeom>
          <a:noFill/>
        </p:spPr>
        <p:txBody>
          <a:bodyPr wrap="square" anchor="ctr" lIns="0" rIns="0" tIns="0" bIns="0">
            <a:noAutofit/>
          </a:bodyPr>
          <a:lstStyle/>
          <a:p>
            <a:pPr algn="l">
              <a:spcBef>
                <a:spcPts val="0"/>
              </a:spcBef>
              <a:spcAft>
                <a:spcPts val="200"/>
              </a:spcAft>
            </a:pPr>
            <a:r>
              <a:rPr sz="1400" b="1" i="0">
                <a:solidFill>
                  <a:srgbClr val="FFFFFF"/>
                </a:solidFill>
                <a:latin typeface="Consolas"/>
              </a:rPr>
              <a:t>temporal_values</a:t>
            </a:r>
          </a:p>
        </p:txBody>
      </p:sp>
      <p:sp>
        <p:nvSpPr>
          <p:cNvPr id="20" name="TextBox 19"/>
          <p:cNvSpPr txBox="1"/>
          <p:nvPr/>
        </p:nvSpPr>
        <p:spPr>
          <a:xfrm>
            <a:off x="4505858" y="4542739"/>
            <a:ext cx="3216554" cy="1364284"/>
          </a:xfrm>
          <a:prstGeom prst="rect">
            <a:avLst/>
          </a:prstGeom>
          <a:noFill/>
        </p:spPr>
        <p:txBody>
          <a:bodyPr wrap="none" lIns="0" rIns="0" tIns="0" bIns="0">
            <a:noAutofit/>
          </a:bodyPr>
          <a:lstStyle/>
          <a:p>
            <a:pPr>
              <a:lnSpc>
                <a:spcPct val="100000"/>
              </a:lnSpc>
              <a:spcBef>
                <a:spcPts val="0"/>
              </a:spcBef>
              <a:spcAft>
                <a:spcPts val="150"/>
              </a:spcAft>
            </a:pPr>
            <a:r>
              <a:rPr sz="1200" b="1">
                <a:solidFill>
                  <a:srgbClr val="A02B93"/>
                </a:solidFill>
                <a:latin typeface="Calibri"/>
              </a:rPr>
              <a:t>PK </a:t>
            </a:r>
            <a:r>
              <a:rPr sz="1200" b="1">
                <a:solidFill>
                  <a:srgbClr val="1E2B36"/>
                </a:solidFill>
                <a:latin typeface="Consolas"/>
              </a:rPr>
              <a:t>id  </a:t>
            </a:r>
            <a:r>
              <a:rPr sz="1200">
                <a:solidFill>
                  <a:srgbClr val="5B6B78"/>
                </a:solidFill>
                <a:latin typeface="Consolas"/>
              </a:rPr>
              <a:t>SERIAL</a:t>
            </a:r>
          </a:p>
          <a:p>
            <a:pPr>
              <a:lnSpc>
                <a:spcPct val="100000"/>
              </a:lnSpc>
              <a:spcBef>
                <a:spcPts val="0"/>
              </a:spcBef>
              <a:spcAft>
                <a:spcPts val="150"/>
              </a:spcAft>
            </a:pPr>
            <a:r>
              <a:rPr sz="1200" b="1">
                <a:solidFill>
                  <a:srgbClr val="156082"/>
                </a:solidFill>
                <a:latin typeface="Calibri"/>
              </a:rPr>
              <a:t>FK </a:t>
            </a:r>
            <a:r>
              <a:rPr sz="1200" b="1">
                <a:solidFill>
                  <a:srgbClr val="1E2B36"/>
                </a:solidFill>
                <a:latin typeface="Consolas"/>
              </a:rPr>
              <a:t>property_id  </a:t>
            </a:r>
            <a:r>
              <a:rPr sz="1200">
                <a:solidFill>
                  <a:srgbClr val="5B6B78"/>
                </a:solidFill>
                <a:latin typeface="Consolas"/>
              </a:rPr>
              <a:t>INTEGER</a:t>
            </a:r>
          </a:p>
          <a:p>
            <a:pPr>
              <a:lnSpc>
                <a:spcPct val="100000"/>
              </a:lnSpc>
              <a:spcBef>
                <a:spcPts val="0"/>
              </a:spcBef>
              <a:spcAft>
                <a:spcPts val="150"/>
              </a:spcAft>
            </a:pPr>
            <a:r>
              <a:rPr sz="1200" b="1">
                <a:solidFill>
                  <a:srgbClr val="1E2B36"/>
                </a:solidFill>
                <a:latin typeface="Consolas"/>
              </a:rPr>
              <a:t>datetimes  </a:t>
            </a:r>
            <a:r>
              <a:rPr sz="1200">
                <a:solidFill>
                  <a:srgbClr val="E97132"/>
                </a:solidFill>
                <a:latin typeface="Consolas"/>
              </a:rPr>
              <a:t>TIMESTAMP[]</a:t>
            </a:r>
          </a:p>
          <a:p>
            <a:pPr>
              <a:lnSpc>
                <a:spcPct val="100000"/>
              </a:lnSpc>
              <a:spcBef>
                <a:spcPts val="0"/>
              </a:spcBef>
              <a:spcAft>
                <a:spcPts val="150"/>
              </a:spcAft>
            </a:pPr>
            <a:r>
              <a:rPr sz="1200" b="1">
                <a:solidFill>
                  <a:srgbClr val="1E2B36"/>
                </a:solidFill>
                <a:latin typeface="Consolas"/>
              </a:rPr>
              <a:t>values  </a:t>
            </a:r>
            <a:r>
              <a:rPr sz="1200">
                <a:solidFill>
                  <a:srgbClr val="5B6B78"/>
                </a:solidFill>
                <a:latin typeface="Consolas"/>
              </a:rPr>
              <a:t>JSONB</a:t>
            </a:r>
          </a:p>
          <a:p>
            <a:pPr>
              <a:lnSpc>
                <a:spcPct val="100000"/>
              </a:lnSpc>
              <a:spcBef>
                <a:spcPts val="0"/>
              </a:spcBef>
              <a:spcAft>
                <a:spcPts val="150"/>
              </a:spcAft>
            </a:pPr>
            <a:r>
              <a:rPr sz="1200" b="1">
                <a:solidFill>
                  <a:srgbClr val="1E2B36"/>
                </a:solidFill>
                <a:latin typeface="Consolas"/>
              </a:rPr>
              <a:t>interpolation  </a:t>
            </a:r>
            <a:r>
              <a:rPr sz="1200">
                <a:solidFill>
                  <a:srgbClr val="5B6B78"/>
                </a:solidFill>
                <a:latin typeface="Consolas"/>
              </a:rPr>
              <a:t>TEXT</a:t>
            </a:r>
          </a:p>
          <a:p>
            <a:pPr>
              <a:lnSpc>
                <a:spcPct val="100000"/>
              </a:lnSpc>
              <a:spcBef>
                <a:spcPts val="0"/>
              </a:spcBef>
              <a:spcAft>
                <a:spcPts val="150"/>
              </a:spcAft>
            </a:pPr>
            <a:r>
              <a:rPr sz="1200" b="1">
                <a:solidFill>
                  <a:srgbClr val="1E2B36"/>
                </a:solidFill>
                <a:latin typeface="Consolas"/>
              </a:rPr>
              <a:t>created_at  </a:t>
            </a:r>
            <a:r>
              <a:rPr sz="1200">
                <a:solidFill>
                  <a:srgbClr val="5B6B78"/>
                </a:solidFill>
                <a:latin typeface="Consolas"/>
              </a:rPr>
              <a:t>TIMESTAMP</a:t>
            </a:r>
          </a:p>
        </p:txBody>
      </p:sp>
      <p:sp>
        <p:nvSpPr>
          <p:cNvPr id="21" name="Rounded Rectangle 20"/>
          <p:cNvSpPr/>
          <p:nvPr/>
        </p:nvSpPr>
        <p:spPr>
          <a:xfrm>
            <a:off x="8152180" y="1572768"/>
            <a:ext cx="3472586" cy="1969617"/>
          </a:xfrm>
          <a:prstGeom prst="roundRect">
            <a:avLst>
              <a:gd name="adj" fmla="val 4500"/>
            </a:avLst>
          </a:prstGeom>
          <a:solidFill>
            <a:srgbClr val="FFFFFF"/>
          </a:solidFill>
          <a:ln w="17780">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152180" y="1572768"/>
            <a:ext cx="3472586" cy="365760"/>
          </a:xfrm>
          <a:prstGeom prst="roundRect">
            <a:avLst>
              <a:gd name="adj" fmla="val 8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98484" y="1591056"/>
            <a:ext cx="3198266" cy="365760"/>
          </a:xfrm>
          <a:prstGeom prst="rect">
            <a:avLst/>
          </a:prstGeom>
          <a:noFill/>
        </p:spPr>
        <p:txBody>
          <a:bodyPr wrap="square" anchor="ctr" lIns="0" rIns="0" tIns="0" bIns="0">
            <a:noAutofit/>
          </a:bodyPr>
          <a:lstStyle/>
          <a:p>
            <a:pPr algn="l">
              <a:spcBef>
                <a:spcPts val="0"/>
              </a:spcBef>
              <a:spcAft>
                <a:spcPts val="200"/>
              </a:spcAft>
            </a:pPr>
            <a:r>
              <a:rPr sz="1400" b="1" i="0">
                <a:solidFill>
                  <a:srgbClr val="FFFFFF"/>
                </a:solidFill>
                <a:latin typeface="Consolas"/>
              </a:rPr>
              <a:t>temporal_properties</a:t>
            </a:r>
          </a:p>
        </p:txBody>
      </p:sp>
      <p:sp>
        <p:nvSpPr>
          <p:cNvPr id="24" name="TextBox 23"/>
          <p:cNvSpPr txBox="1"/>
          <p:nvPr/>
        </p:nvSpPr>
        <p:spPr>
          <a:xfrm>
            <a:off x="8298484" y="1984248"/>
            <a:ext cx="3216554" cy="1576425"/>
          </a:xfrm>
          <a:prstGeom prst="rect">
            <a:avLst/>
          </a:prstGeom>
          <a:noFill/>
        </p:spPr>
        <p:txBody>
          <a:bodyPr wrap="none" lIns="0" rIns="0" tIns="0" bIns="0">
            <a:noAutofit/>
          </a:bodyPr>
          <a:lstStyle/>
          <a:p>
            <a:pPr>
              <a:lnSpc>
                <a:spcPct val="100000"/>
              </a:lnSpc>
              <a:spcBef>
                <a:spcPts val="0"/>
              </a:spcBef>
              <a:spcAft>
                <a:spcPts val="150"/>
              </a:spcAft>
            </a:pPr>
            <a:r>
              <a:rPr sz="1200" b="1">
                <a:solidFill>
                  <a:srgbClr val="0E2841"/>
                </a:solidFill>
                <a:latin typeface="Calibri"/>
              </a:rPr>
              <a:t>PK </a:t>
            </a:r>
            <a:r>
              <a:rPr sz="1200" b="1">
                <a:solidFill>
                  <a:srgbClr val="1E2B36"/>
                </a:solidFill>
                <a:latin typeface="Consolas"/>
              </a:rPr>
              <a:t>id  </a:t>
            </a:r>
            <a:r>
              <a:rPr sz="1200">
                <a:solidFill>
                  <a:srgbClr val="5B6B78"/>
                </a:solidFill>
                <a:latin typeface="Consolas"/>
              </a:rPr>
              <a:t>SERIAL</a:t>
            </a:r>
          </a:p>
          <a:p>
            <a:pPr>
              <a:lnSpc>
                <a:spcPct val="100000"/>
              </a:lnSpc>
              <a:spcBef>
                <a:spcPts val="0"/>
              </a:spcBef>
              <a:spcAft>
                <a:spcPts val="150"/>
              </a:spcAft>
            </a:pPr>
            <a:r>
              <a:rPr sz="1200" b="1">
                <a:solidFill>
                  <a:srgbClr val="156082"/>
                </a:solidFill>
                <a:latin typeface="Calibri"/>
              </a:rPr>
              <a:t>FK </a:t>
            </a:r>
            <a:r>
              <a:rPr sz="1200" b="1">
                <a:solidFill>
                  <a:srgbClr val="1E2B36"/>
                </a:solidFill>
                <a:latin typeface="Consolas"/>
              </a:rPr>
              <a:t>feature_id  </a:t>
            </a:r>
            <a:r>
              <a:rPr sz="1200">
                <a:solidFill>
                  <a:srgbClr val="5B6B78"/>
                </a:solidFill>
                <a:latin typeface="Consolas"/>
              </a:rPr>
              <a:t>TEXT</a:t>
            </a:r>
          </a:p>
          <a:p>
            <a:pPr>
              <a:lnSpc>
                <a:spcPct val="100000"/>
              </a:lnSpc>
              <a:spcBef>
                <a:spcPts val="0"/>
              </a:spcBef>
              <a:spcAft>
                <a:spcPts val="150"/>
              </a:spcAft>
            </a:pPr>
            <a:r>
              <a:rPr sz="1200" b="1">
                <a:solidFill>
                  <a:srgbClr val="1E2B36"/>
                </a:solidFill>
                <a:latin typeface="Consolas"/>
              </a:rPr>
              <a:t>property_name  </a:t>
            </a:r>
            <a:r>
              <a:rPr sz="1200">
                <a:solidFill>
                  <a:srgbClr val="5B6B78"/>
                </a:solidFill>
                <a:latin typeface="Consolas"/>
              </a:rPr>
              <a:t>TEXT</a:t>
            </a:r>
          </a:p>
          <a:p>
            <a:pPr>
              <a:lnSpc>
                <a:spcPct val="100000"/>
              </a:lnSpc>
              <a:spcBef>
                <a:spcPts val="0"/>
              </a:spcBef>
              <a:spcAft>
                <a:spcPts val="150"/>
              </a:spcAft>
            </a:pPr>
            <a:r>
              <a:rPr sz="1200" b="1">
                <a:solidFill>
                  <a:srgbClr val="1E2B36"/>
                </a:solidFill>
                <a:latin typeface="Consolas"/>
              </a:rPr>
              <a:t>property_type  </a:t>
            </a:r>
            <a:r>
              <a:rPr sz="1200">
                <a:solidFill>
                  <a:srgbClr val="5B6B78"/>
                </a:solidFill>
                <a:latin typeface="Consolas"/>
              </a:rPr>
              <a:t>TEXT</a:t>
            </a:r>
          </a:p>
          <a:p>
            <a:pPr>
              <a:lnSpc>
                <a:spcPct val="100000"/>
              </a:lnSpc>
              <a:spcBef>
                <a:spcPts val="0"/>
              </a:spcBef>
              <a:spcAft>
                <a:spcPts val="150"/>
              </a:spcAft>
            </a:pPr>
            <a:r>
              <a:rPr sz="1200" b="1">
                <a:solidFill>
                  <a:srgbClr val="1E2B36"/>
                </a:solidFill>
                <a:latin typeface="Consolas"/>
              </a:rPr>
              <a:t>form  </a:t>
            </a:r>
            <a:r>
              <a:rPr sz="1200">
                <a:solidFill>
                  <a:srgbClr val="5B6B78"/>
                </a:solidFill>
                <a:latin typeface="Consolas"/>
              </a:rPr>
              <a:t>TEXT</a:t>
            </a:r>
          </a:p>
          <a:p>
            <a:pPr>
              <a:lnSpc>
                <a:spcPct val="100000"/>
              </a:lnSpc>
              <a:spcBef>
                <a:spcPts val="0"/>
              </a:spcBef>
              <a:spcAft>
                <a:spcPts val="150"/>
              </a:spcAft>
            </a:pPr>
            <a:r>
              <a:rPr sz="1200" b="1">
                <a:solidFill>
                  <a:srgbClr val="1E2B36"/>
                </a:solidFill>
                <a:latin typeface="Consolas"/>
              </a:rPr>
              <a:t>description  </a:t>
            </a:r>
            <a:r>
              <a:rPr sz="1200">
                <a:solidFill>
                  <a:srgbClr val="5B6B78"/>
                </a:solidFill>
                <a:latin typeface="Consolas"/>
              </a:rPr>
              <a:t>TEXT</a:t>
            </a:r>
          </a:p>
          <a:p>
            <a:pPr>
              <a:lnSpc>
                <a:spcPct val="100000"/>
              </a:lnSpc>
              <a:spcBef>
                <a:spcPts val="0"/>
              </a:spcBef>
              <a:spcAft>
                <a:spcPts val="150"/>
              </a:spcAft>
            </a:pPr>
            <a:r>
              <a:rPr sz="1200" b="1">
                <a:solidFill>
                  <a:srgbClr val="1E2B36"/>
                </a:solidFill>
                <a:latin typeface="Consolas"/>
              </a:rPr>
              <a:t>created_at  </a:t>
            </a:r>
            <a:r>
              <a:rPr sz="1200">
                <a:solidFill>
                  <a:srgbClr val="5B6B78"/>
                </a:solidFill>
                <a:latin typeface="Consolas"/>
              </a:rPr>
              <a:t>TIMESTAMP</a:t>
            </a:r>
          </a:p>
        </p:txBody>
      </p:sp>
      <p:sp>
        <p:nvSpPr>
          <p:cNvPr id="25" name="Rounded Rectangle 24"/>
          <p:cNvSpPr/>
          <p:nvPr/>
        </p:nvSpPr>
        <p:spPr>
          <a:xfrm>
            <a:off x="8152180" y="3743553"/>
            <a:ext cx="3472586" cy="178308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16772" y="3853281"/>
            <a:ext cx="3198266" cy="228600"/>
          </a:xfrm>
          <a:prstGeom prst="rect">
            <a:avLst/>
          </a:prstGeom>
          <a:noFill/>
        </p:spPr>
        <p:txBody>
          <a:bodyPr wrap="square" anchor="t" lIns="0" rIns="0" tIns="0" bIns="0">
            <a:noAutofit/>
          </a:bodyPr>
          <a:lstStyle/>
          <a:p>
            <a:pPr algn="l">
              <a:spcBef>
                <a:spcPts val="0"/>
              </a:spcBef>
              <a:spcAft>
                <a:spcPts val="200"/>
              </a:spcAft>
            </a:pPr>
            <a:r>
              <a:rPr sz="1200" b="1" i="0">
                <a:solidFill>
                  <a:srgbClr val="0E2841"/>
                </a:solidFill>
                <a:latin typeface="Calibri"/>
              </a:rPr>
              <a:t>LEGEND</a:t>
            </a:r>
          </a:p>
        </p:txBody>
      </p:sp>
      <p:sp>
        <p:nvSpPr>
          <p:cNvPr id="27" name="TextBox 26"/>
          <p:cNvSpPr txBox="1"/>
          <p:nvPr/>
        </p:nvSpPr>
        <p:spPr>
          <a:xfrm>
            <a:off x="8316772" y="4127601"/>
            <a:ext cx="3161690" cy="914400"/>
          </a:xfrm>
          <a:prstGeom prst="rect">
            <a:avLst/>
          </a:prstGeom>
          <a:noFill/>
        </p:spPr>
        <p:txBody>
          <a:bodyPr wrap="square" lIns="0" rIns="0" tIns="0" bIns="0">
            <a:spAutoFit/>
          </a:bodyPr>
          <a:lstStyle/>
          <a:p>
            <a:pPr>
              <a:lnSpc>
                <a:spcPct val="105000"/>
              </a:lnSpc>
              <a:spcAft>
                <a:spcPts val="300"/>
              </a:spcAft>
            </a:pPr>
            <a:r>
              <a:rPr sz="1200" b="0">
                <a:solidFill>
                  <a:srgbClr val="1E2B36"/>
                </a:solidFill>
                <a:latin typeface="Calibri"/>
              </a:rPr>
              <a:t>PK primary key      FK foreign key</a:t>
            </a:r>
          </a:p>
          <a:p>
            <a:pPr>
              <a:lnSpc>
                <a:spcPct val="105000"/>
              </a:lnSpc>
              <a:spcAft>
                <a:spcPts val="300"/>
              </a:spcAft>
            </a:pPr>
            <a:r>
              <a:rPr sz="1200" b="0">
                <a:solidFill>
                  <a:srgbClr val="1E2B36"/>
                </a:solidFill>
                <a:latin typeface="Calibri"/>
              </a:rPr>
              <a:t>FK columns reference collections /</a:t>
            </a:r>
          </a:p>
          <a:p>
            <a:pPr>
              <a:lnSpc>
                <a:spcPct val="105000"/>
              </a:lnSpc>
              <a:spcAft>
                <a:spcPts val="300"/>
              </a:spcAft>
            </a:pPr>
            <a:r>
              <a:rPr sz="1200" b="0">
                <a:solidFill>
                  <a:srgbClr val="1E2B36"/>
                </a:solidFill>
                <a:latin typeface="Calibri"/>
              </a:rPr>
              <a:t>moving_features / temporal_properties</a:t>
            </a:r>
          </a:p>
          <a:p>
            <a:pPr>
              <a:lnSpc>
                <a:spcPct val="105000"/>
              </a:lnSpc>
              <a:spcAft>
                <a:spcPts val="300"/>
              </a:spcAft>
            </a:pPr>
            <a:r>
              <a:rPr sz="1200" b="0">
                <a:solidFill>
                  <a:srgbClr val="1E2B36"/>
                </a:solidFill>
                <a:latin typeface="Calibri"/>
              </a:rPr>
              <a:t>Highlighted = native MobilityDB / PostGIS:</a:t>
            </a:r>
          </a:p>
          <a:p>
            <a:pPr>
              <a:lnSpc>
                <a:spcPct val="105000"/>
              </a:lnSpc>
              <a:spcAft>
                <a:spcPts val="300"/>
              </a:spcAft>
            </a:pPr>
            <a:r>
              <a:rPr sz="1200" b="1">
                <a:solidFill>
                  <a:srgbClr val="E97132"/>
                </a:solidFill>
                <a:latin typeface="Calibri"/>
              </a:rPr>
              <a:t>STBOX · TSTZSPAN · tgeompoint · geometry</a:t>
            </a:r>
          </a:p>
        </p:txBody>
      </p:sp>
      <p:sp>
        <p:nvSpPr>
          <p:cNvPr id="28" name="Rectangle 27"/>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30" name="TextBox 29"/>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5.1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CANONICAL EXAMPLE</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One Day of Danish AIS Ship Traffic</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g_overview.png"/>
          <p:cNvPicPr>
            <a:picLocks noChangeAspect="1"/>
          </p:cNvPicPr>
          <p:nvPr/>
        </p:nvPicPr>
        <p:blipFill>
          <a:blip r:embed="rId2"/>
          <a:stretch>
            <a:fillRect/>
          </a:stretch>
        </p:blipFill>
        <p:spPr>
          <a:xfrm>
            <a:off x="6400800" y="2030234"/>
            <a:ext cx="5394960" cy="3620490"/>
          </a:xfrm>
          <a:prstGeom prst="rect">
            <a:avLst/>
          </a:prstGeom>
        </p:spPr>
      </p:pic>
      <p:sp>
        <p:nvSpPr>
          <p:cNvPr id="6" name="TextBox 5"/>
          <p:cNvSpPr txBox="1"/>
          <p:nvPr/>
        </p:nvSpPr>
        <p:spPr>
          <a:xfrm>
            <a:off x="566928" y="1828800"/>
            <a:ext cx="5486400" cy="4023360"/>
          </a:xfrm>
          <a:prstGeom prst="rect">
            <a:avLst/>
          </a:prstGeom>
          <a:noFill/>
        </p:spPr>
        <p:txBody>
          <a:bodyPr wrap="square" lIns="0" rIns="0" tIns="0" bIns="0">
            <a:noAutofit/>
          </a:bodyPr>
          <a:lstStyle/>
          <a:p>
            <a:pPr>
              <a:lnSpc>
                <a:spcPct val="106000"/>
              </a:lnSpc>
              <a:spcBef>
                <a:spcPts val="0"/>
              </a:spcBef>
              <a:spcAft>
                <a:spcPts val="1300"/>
              </a:spcAft>
            </a:pPr>
            <a:r>
              <a:rPr sz="1400" b="1">
                <a:solidFill>
                  <a:srgbClr val="156082"/>
                </a:solidFill>
                <a:latin typeface="Calibri"/>
              </a:rPr>
              <a:t>▸  </a:t>
            </a:r>
            <a:r>
              <a:rPr sz="1400" b="1">
                <a:solidFill>
                  <a:srgbClr val="0E2841"/>
                </a:solidFill>
                <a:latin typeface="Calibri"/>
              </a:rPr>
              <a:t>Source  </a:t>
            </a:r>
            <a:r>
              <a:rPr sz="1400">
                <a:solidFill>
                  <a:srgbClr val="1E2B36"/>
                </a:solidFill>
                <a:latin typeface="Calibri"/>
              </a:rPr>
              <a:t>Danish Maritime Authority AIS feed (aisdata.ais.dk)</a:t>
            </a:r>
          </a:p>
          <a:p>
            <a:pPr>
              <a:lnSpc>
                <a:spcPct val="106000"/>
              </a:lnSpc>
              <a:spcBef>
                <a:spcPts val="0"/>
              </a:spcBef>
              <a:spcAft>
                <a:spcPts val="1300"/>
              </a:spcAft>
            </a:pPr>
            <a:r>
              <a:rPr sz="1400" b="1">
                <a:solidFill>
                  <a:srgbClr val="156082"/>
                </a:solidFill>
                <a:latin typeface="Calibri"/>
              </a:rPr>
              <a:t>▸  </a:t>
            </a:r>
            <a:r>
              <a:rPr sz="1400" b="1">
                <a:solidFill>
                  <a:srgbClr val="0E2841"/>
                </a:solidFill>
                <a:latin typeface="Calibri"/>
              </a:rPr>
              <a:t>Window  </a:t>
            </a:r>
            <a:r>
              <a:rPr sz="1400">
                <a:solidFill>
                  <a:srgbClr val="1E2B36"/>
                </a:solidFill>
                <a:latin typeface="Calibri"/>
              </a:rPr>
              <a:t>2024-08-07 — a single day of observations</a:t>
            </a:r>
          </a:p>
          <a:p>
            <a:pPr>
              <a:lnSpc>
                <a:spcPct val="106000"/>
              </a:lnSpc>
              <a:spcBef>
                <a:spcPts val="0"/>
              </a:spcBef>
              <a:spcAft>
                <a:spcPts val="1300"/>
              </a:spcAft>
            </a:pPr>
            <a:r>
              <a:rPr sz="1400" b="1">
                <a:solidFill>
                  <a:srgbClr val="156082"/>
                </a:solidFill>
                <a:latin typeface="Calibri"/>
              </a:rPr>
              <a:t>▸  </a:t>
            </a:r>
            <a:r>
              <a:rPr sz="1400" b="1">
                <a:solidFill>
                  <a:srgbClr val="0E2841"/>
                </a:solidFill>
                <a:latin typeface="Calibri"/>
              </a:rPr>
              <a:t>143 vessels  </a:t>
            </a:r>
            <a:r>
              <a:rPr sz="1400">
                <a:solidFill>
                  <a:srgbClr val="1E2B36"/>
                </a:solidFill>
                <a:latin typeface="Calibri"/>
              </a:rPr>
              <a:t>each one a MovingPoint trajectory</a:t>
            </a:r>
          </a:p>
          <a:p>
            <a:pPr>
              <a:lnSpc>
                <a:spcPct val="106000"/>
              </a:lnSpc>
              <a:spcBef>
                <a:spcPts val="0"/>
              </a:spcBef>
              <a:spcAft>
                <a:spcPts val="1300"/>
              </a:spcAft>
            </a:pPr>
            <a:r>
              <a:rPr sz="1400" b="1">
                <a:solidFill>
                  <a:srgbClr val="156082"/>
                </a:solidFill>
                <a:latin typeface="Calibri"/>
              </a:rPr>
              <a:t>▸  </a:t>
            </a:r>
            <a:r>
              <a:rPr sz="1400" b="1">
                <a:solidFill>
                  <a:srgbClr val="0E2841"/>
                </a:solidFill>
                <a:latin typeface="Calibri"/>
              </a:rPr>
              <a:t>CRS  </a:t>
            </a:r>
            <a:r>
              <a:rPr sz="1400">
                <a:solidFill>
                  <a:srgbClr val="1E2B36"/>
                </a:solidFill>
                <a:latin typeface="Calibri"/>
              </a:rPr>
              <a:t>EPSG:25832 (ETRS89 / UTM 32N, metres)</a:t>
            </a:r>
          </a:p>
          <a:p>
            <a:pPr>
              <a:lnSpc>
                <a:spcPct val="106000"/>
              </a:lnSpc>
              <a:spcBef>
                <a:spcPts val="0"/>
              </a:spcBef>
              <a:spcAft>
                <a:spcPts val="1300"/>
              </a:spcAft>
            </a:pPr>
            <a:r>
              <a:rPr sz="1400" b="1">
                <a:solidFill>
                  <a:srgbClr val="156082"/>
                </a:solidFill>
                <a:latin typeface="Calibri"/>
              </a:rPr>
              <a:t>▸  </a:t>
            </a:r>
            <a:r>
              <a:rPr sz="1400" b="1">
                <a:solidFill>
                  <a:srgbClr val="0E2841"/>
                </a:solidFill>
                <a:latin typeface="Calibri"/>
              </a:rPr>
              <a:t>Temporal properties  </a:t>
            </a:r>
            <a:r>
              <a:rPr sz="1400">
                <a:solidFill>
                  <a:srgbClr val="1E2B36"/>
                </a:solidFill>
                <a:latin typeface="Calibri"/>
              </a:rPr>
              <a:t>speed (sog), course (cog) and heading per vessel</a:t>
            </a:r>
          </a:p>
        </p:txBody>
      </p:sp>
      <p:sp>
        <p:nvSpPr>
          <p:cNvPr id="7" name="TextBox 6"/>
          <p:cNvSpPr txBox="1"/>
          <p:nvPr/>
        </p:nvSpPr>
        <p:spPr>
          <a:xfrm>
            <a:off x="6400800" y="6089904"/>
            <a:ext cx="5394960" cy="274320"/>
          </a:xfrm>
          <a:prstGeom prst="rect">
            <a:avLst/>
          </a:prstGeom>
          <a:noFill/>
        </p:spPr>
        <p:txBody>
          <a:bodyPr wrap="square" anchor="t" lIns="0" rIns="0" tIns="0" bIns="0">
            <a:noAutofit/>
          </a:bodyPr>
          <a:lstStyle/>
          <a:p>
            <a:pPr algn="ctr">
              <a:spcBef>
                <a:spcPts val="0"/>
              </a:spcBef>
              <a:spcAft>
                <a:spcPts val="200"/>
              </a:spcAft>
            </a:pPr>
            <a:r>
              <a:rPr sz="1200" b="0" i="1">
                <a:solidFill>
                  <a:srgbClr val="5B6B78"/>
                </a:solidFill>
                <a:latin typeface="Calibri"/>
              </a:rPr>
              <a:t>143 vessel trajectories across Danish and Baltic waters</a:t>
            </a:r>
          </a:p>
        </p:txBody>
      </p:sp>
      <p:sp>
        <p:nvSpPr>
          <p:cNvPr id="8" name="Rectangle 7"/>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0" name="TextBox 9"/>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06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REFERENCE</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The Complete Endpoint Surface</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72768"/>
            <a:ext cx="5257800" cy="146304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72768"/>
            <a:ext cx="82296" cy="146304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00784"/>
            <a:ext cx="4892040"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COLLECTIONS</a:t>
            </a:r>
          </a:p>
        </p:txBody>
      </p:sp>
      <p:sp>
        <p:nvSpPr>
          <p:cNvPr id="8" name="Rounded Rectangle 7"/>
          <p:cNvSpPr/>
          <p:nvPr/>
        </p:nvSpPr>
        <p:spPr>
          <a:xfrm>
            <a:off x="822960" y="2066543"/>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9" name="Rounded Rectangle 8"/>
          <p:cNvSpPr/>
          <p:nvPr/>
        </p:nvSpPr>
        <p:spPr>
          <a:xfrm>
            <a:off x="1527048" y="2066543"/>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POST</a:t>
            </a:r>
          </a:p>
        </p:txBody>
      </p:sp>
      <p:sp>
        <p:nvSpPr>
          <p:cNvPr id="10" name="TextBox 9"/>
          <p:cNvSpPr txBox="1"/>
          <p:nvPr/>
        </p:nvSpPr>
        <p:spPr>
          <a:xfrm>
            <a:off x="2359152" y="2057400"/>
            <a:ext cx="3410712" cy="256032"/>
          </a:xfrm>
          <a:prstGeom prst="rect">
            <a:avLst/>
          </a:prstGeom>
          <a:noFill/>
        </p:spPr>
        <p:txBody>
          <a:bodyPr wrap="square" anchor="ctr" lIns="0" rIns="0" tIns="0" bIns="0">
            <a:noAutofit/>
          </a:bodyPr>
          <a:lstStyle/>
          <a:p>
            <a:pPr algn="l">
              <a:spcBef>
                <a:spcPts val="0"/>
              </a:spcBef>
              <a:spcAft>
                <a:spcPts val="200"/>
              </a:spcAft>
            </a:pPr>
            <a:r>
              <a:rPr sz="1200" b="0" i="0">
                <a:solidFill>
                  <a:srgbClr val="0E2841"/>
                </a:solidFill>
                <a:latin typeface="Consolas"/>
              </a:rPr>
              <a:t>/collections</a:t>
            </a:r>
          </a:p>
        </p:txBody>
      </p:sp>
      <p:sp>
        <p:nvSpPr>
          <p:cNvPr id="11" name="Rounded Rectangle 10"/>
          <p:cNvSpPr/>
          <p:nvPr/>
        </p:nvSpPr>
        <p:spPr>
          <a:xfrm>
            <a:off x="822960" y="2523744"/>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12" name="Rounded Rectangle 11"/>
          <p:cNvSpPr/>
          <p:nvPr/>
        </p:nvSpPr>
        <p:spPr>
          <a:xfrm>
            <a:off x="1527048" y="2523744"/>
            <a:ext cx="603504" cy="292608"/>
          </a:xfrm>
          <a:prstGeom prst="roundRect">
            <a:avLst>
              <a:gd name="adj" fmla="val 4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PUT</a:t>
            </a:r>
          </a:p>
        </p:txBody>
      </p:sp>
      <p:sp>
        <p:nvSpPr>
          <p:cNvPr id="13" name="Rounded Rectangle 12"/>
          <p:cNvSpPr/>
          <p:nvPr/>
        </p:nvSpPr>
        <p:spPr>
          <a:xfrm>
            <a:off x="2194560" y="2523744"/>
            <a:ext cx="932688" cy="292608"/>
          </a:xfrm>
          <a:prstGeom prst="roundRect">
            <a:avLst>
              <a:gd name="adj" fmla="val 4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DELETE</a:t>
            </a:r>
          </a:p>
        </p:txBody>
      </p:sp>
      <p:sp>
        <p:nvSpPr>
          <p:cNvPr id="14" name="TextBox 13"/>
          <p:cNvSpPr txBox="1"/>
          <p:nvPr/>
        </p:nvSpPr>
        <p:spPr>
          <a:xfrm>
            <a:off x="3246120" y="2514600"/>
            <a:ext cx="2523744" cy="256032"/>
          </a:xfrm>
          <a:prstGeom prst="rect">
            <a:avLst/>
          </a:prstGeom>
          <a:noFill/>
        </p:spPr>
        <p:txBody>
          <a:bodyPr wrap="square" anchor="ctr" lIns="0" rIns="0" tIns="0" bIns="0">
            <a:noAutofit/>
          </a:bodyPr>
          <a:lstStyle/>
          <a:p>
            <a:pPr algn="l">
              <a:spcBef>
                <a:spcPts val="0"/>
              </a:spcBef>
              <a:spcAft>
                <a:spcPts val="200"/>
              </a:spcAft>
            </a:pPr>
            <a:r>
              <a:rPr sz="1200" b="0" i="0">
                <a:solidFill>
                  <a:srgbClr val="0E2841"/>
                </a:solidFill>
                <a:latin typeface="Consolas"/>
              </a:rPr>
              <a:t>/collections/{collectionId}</a:t>
            </a:r>
          </a:p>
        </p:txBody>
      </p:sp>
      <p:sp>
        <p:nvSpPr>
          <p:cNvPr id="15" name="Rounded Rectangle 14"/>
          <p:cNvSpPr/>
          <p:nvPr/>
        </p:nvSpPr>
        <p:spPr>
          <a:xfrm>
            <a:off x="566928" y="3200400"/>
            <a:ext cx="5257800" cy="146304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200400"/>
            <a:ext cx="82296" cy="146304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3328416"/>
            <a:ext cx="4892040" cy="274320"/>
          </a:xfrm>
          <a:prstGeom prst="rect">
            <a:avLst/>
          </a:prstGeom>
          <a:noFill/>
        </p:spPr>
        <p:txBody>
          <a:bodyPr wrap="square" anchor="t" lIns="0" rIns="0" tIns="0" bIns="0">
            <a:noAutofit/>
          </a:bodyPr>
          <a:lstStyle/>
          <a:p>
            <a:pPr algn="l">
              <a:spcBef>
                <a:spcPts val="0"/>
              </a:spcBef>
              <a:spcAft>
                <a:spcPts val="200"/>
              </a:spcAft>
            </a:pPr>
            <a:r>
              <a:rPr sz="1200" b="1" i="0">
                <a:solidFill>
                  <a:srgbClr val="E97132"/>
                </a:solidFill>
                <a:latin typeface="Calibri"/>
              </a:rPr>
              <a:t>MOVING FEATURES</a:t>
            </a:r>
          </a:p>
        </p:txBody>
      </p:sp>
      <p:sp>
        <p:nvSpPr>
          <p:cNvPr id="18" name="Rounded Rectangle 17"/>
          <p:cNvSpPr/>
          <p:nvPr/>
        </p:nvSpPr>
        <p:spPr>
          <a:xfrm>
            <a:off x="822960" y="3694176"/>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19" name="Rounded Rectangle 18"/>
          <p:cNvSpPr/>
          <p:nvPr/>
        </p:nvSpPr>
        <p:spPr>
          <a:xfrm>
            <a:off x="1527048" y="3694176"/>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POST</a:t>
            </a:r>
          </a:p>
        </p:txBody>
      </p:sp>
      <p:sp>
        <p:nvSpPr>
          <p:cNvPr id="20" name="TextBox 19"/>
          <p:cNvSpPr txBox="1"/>
          <p:nvPr/>
        </p:nvSpPr>
        <p:spPr>
          <a:xfrm>
            <a:off x="2359152" y="3685032"/>
            <a:ext cx="3410712" cy="256032"/>
          </a:xfrm>
          <a:prstGeom prst="rect">
            <a:avLst/>
          </a:prstGeom>
          <a:noFill/>
        </p:spPr>
        <p:txBody>
          <a:bodyPr wrap="square" anchor="ctr" lIns="0" rIns="0" tIns="0" bIns="0">
            <a:noAutofit/>
          </a:bodyPr>
          <a:lstStyle/>
          <a:p>
            <a:pPr algn="l">
              <a:spcBef>
                <a:spcPts val="0"/>
              </a:spcBef>
              <a:spcAft>
                <a:spcPts val="200"/>
              </a:spcAft>
            </a:pPr>
            <a:r>
              <a:rPr sz="1200" b="0" i="0">
                <a:solidFill>
                  <a:srgbClr val="0E2841"/>
                </a:solidFill>
                <a:latin typeface="Consolas"/>
              </a:rPr>
              <a:t>/collections/{collectionId}/items</a:t>
            </a:r>
          </a:p>
        </p:txBody>
      </p:sp>
      <p:sp>
        <p:nvSpPr>
          <p:cNvPr id="21" name="Rounded Rectangle 20"/>
          <p:cNvSpPr/>
          <p:nvPr/>
        </p:nvSpPr>
        <p:spPr>
          <a:xfrm>
            <a:off x="822960" y="4151376"/>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22" name="Rounded Rectangle 21"/>
          <p:cNvSpPr/>
          <p:nvPr/>
        </p:nvSpPr>
        <p:spPr>
          <a:xfrm>
            <a:off x="1527048" y="4151376"/>
            <a:ext cx="932688" cy="292608"/>
          </a:xfrm>
          <a:prstGeom prst="roundRect">
            <a:avLst>
              <a:gd name="adj" fmla="val 4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DELETE</a:t>
            </a:r>
          </a:p>
        </p:txBody>
      </p:sp>
      <p:sp>
        <p:nvSpPr>
          <p:cNvPr id="23" name="TextBox 22"/>
          <p:cNvSpPr txBox="1"/>
          <p:nvPr/>
        </p:nvSpPr>
        <p:spPr>
          <a:xfrm>
            <a:off x="2578608" y="4142232"/>
            <a:ext cx="3191256" cy="256032"/>
          </a:xfrm>
          <a:prstGeom prst="rect">
            <a:avLst/>
          </a:prstGeom>
          <a:noFill/>
        </p:spPr>
        <p:txBody>
          <a:bodyPr wrap="square" anchor="ctr" lIns="0" rIns="0" tIns="0" bIns="0">
            <a:noAutofit/>
          </a:bodyPr>
          <a:lstStyle/>
          <a:p>
            <a:pPr algn="l">
              <a:spcBef>
                <a:spcPts val="0"/>
              </a:spcBef>
              <a:spcAft>
                <a:spcPts val="200"/>
              </a:spcAft>
            </a:pPr>
            <a:r>
              <a:rPr sz="1200" b="0" i="0">
                <a:solidFill>
                  <a:srgbClr val="0E2841"/>
                </a:solidFill>
                <a:latin typeface="Consolas"/>
              </a:rPr>
              <a:t>…/items/{mFeatureId}</a:t>
            </a:r>
          </a:p>
        </p:txBody>
      </p:sp>
      <p:sp>
        <p:nvSpPr>
          <p:cNvPr id="24" name="Rounded Rectangle 23"/>
          <p:cNvSpPr/>
          <p:nvPr/>
        </p:nvSpPr>
        <p:spPr>
          <a:xfrm>
            <a:off x="566928" y="4828032"/>
            <a:ext cx="5257800" cy="146304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66928" y="4828032"/>
            <a:ext cx="82296" cy="146304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956048"/>
            <a:ext cx="4892040" cy="274320"/>
          </a:xfrm>
          <a:prstGeom prst="rect">
            <a:avLst/>
          </a:prstGeom>
          <a:noFill/>
        </p:spPr>
        <p:txBody>
          <a:bodyPr wrap="square" anchor="t" lIns="0" rIns="0" tIns="0" bIns="0">
            <a:noAutofit/>
          </a:bodyPr>
          <a:lstStyle/>
          <a:p>
            <a:pPr algn="l">
              <a:spcBef>
                <a:spcPts val="0"/>
              </a:spcBef>
              <a:spcAft>
                <a:spcPts val="200"/>
              </a:spcAft>
            </a:pPr>
            <a:r>
              <a:rPr sz="1200" b="1" i="0">
                <a:solidFill>
                  <a:srgbClr val="196B24"/>
                </a:solidFill>
                <a:latin typeface="Calibri"/>
              </a:rPr>
              <a:t>TEMPORAL GEOMETRY</a:t>
            </a:r>
          </a:p>
        </p:txBody>
      </p:sp>
      <p:sp>
        <p:nvSpPr>
          <p:cNvPr id="27" name="Rounded Rectangle 26"/>
          <p:cNvSpPr/>
          <p:nvPr/>
        </p:nvSpPr>
        <p:spPr>
          <a:xfrm>
            <a:off x="822960" y="532180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28" name="Rounded Rectangle 27"/>
          <p:cNvSpPr/>
          <p:nvPr/>
        </p:nvSpPr>
        <p:spPr>
          <a:xfrm>
            <a:off x="1527048" y="5321808"/>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POST</a:t>
            </a:r>
          </a:p>
        </p:txBody>
      </p:sp>
      <p:sp>
        <p:nvSpPr>
          <p:cNvPr id="29" name="TextBox 28"/>
          <p:cNvSpPr txBox="1"/>
          <p:nvPr/>
        </p:nvSpPr>
        <p:spPr>
          <a:xfrm>
            <a:off x="2359152" y="5312664"/>
            <a:ext cx="3410712" cy="256032"/>
          </a:xfrm>
          <a:prstGeom prst="rect">
            <a:avLst/>
          </a:prstGeom>
          <a:noFill/>
        </p:spPr>
        <p:txBody>
          <a:bodyPr wrap="square" anchor="ctr" lIns="0" rIns="0" tIns="0" bIns="0">
            <a:noAutofit/>
          </a:bodyPr>
          <a:lstStyle/>
          <a:p>
            <a:pPr algn="l">
              <a:spcBef>
                <a:spcPts val="0"/>
              </a:spcBef>
              <a:spcAft>
                <a:spcPts val="200"/>
              </a:spcAft>
            </a:pPr>
            <a:r>
              <a:rPr sz="1200" b="0" i="0">
                <a:solidFill>
                  <a:srgbClr val="0E2841"/>
                </a:solidFill>
                <a:latin typeface="Consolas"/>
              </a:rPr>
              <a:t>…/{mFeatureId}/tgsequence</a:t>
            </a:r>
          </a:p>
        </p:txBody>
      </p:sp>
      <p:sp>
        <p:nvSpPr>
          <p:cNvPr id="30" name="Rounded Rectangle 29"/>
          <p:cNvSpPr/>
          <p:nvPr/>
        </p:nvSpPr>
        <p:spPr>
          <a:xfrm>
            <a:off x="822960" y="5779008"/>
            <a:ext cx="932688" cy="292608"/>
          </a:xfrm>
          <a:prstGeom prst="roundRect">
            <a:avLst>
              <a:gd name="adj" fmla="val 4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DELETE</a:t>
            </a:r>
          </a:p>
        </p:txBody>
      </p:sp>
      <p:sp>
        <p:nvSpPr>
          <p:cNvPr id="31" name="TextBox 30"/>
          <p:cNvSpPr txBox="1"/>
          <p:nvPr/>
        </p:nvSpPr>
        <p:spPr>
          <a:xfrm>
            <a:off x="1874519" y="5769864"/>
            <a:ext cx="3895344" cy="256032"/>
          </a:xfrm>
          <a:prstGeom prst="rect">
            <a:avLst/>
          </a:prstGeom>
          <a:noFill/>
        </p:spPr>
        <p:txBody>
          <a:bodyPr wrap="square" anchor="ctr" lIns="0" rIns="0" tIns="0" bIns="0">
            <a:noAutofit/>
          </a:bodyPr>
          <a:lstStyle/>
          <a:p>
            <a:pPr algn="l">
              <a:spcBef>
                <a:spcPts val="0"/>
              </a:spcBef>
              <a:spcAft>
                <a:spcPts val="200"/>
              </a:spcAft>
            </a:pPr>
            <a:r>
              <a:rPr sz="1200" b="0" i="0">
                <a:solidFill>
                  <a:srgbClr val="0E2841"/>
                </a:solidFill>
                <a:latin typeface="Consolas"/>
              </a:rPr>
              <a:t>…/tgsequence/{tGeometryId}</a:t>
            </a:r>
          </a:p>
        </p:txBody>
      </p:sp>
      <p:sp>
        <p:nvSpPr>
          <p:cNvPr id="32" name="Rounded Rectangle 31"/>
          <p:cNvSpPr/>
          <p:nvPr/>
        </p:nvSpPr>
        <p:spPr>
          <a:xfrm>
            <a:off x="6007608" y="1572768"/>
            <a:ext cx="5617159" cy="146304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007608" y="1572768"/>
            <a:ext cx="82296" cy="1463040"/>
          </a:xfrm>
          <a:prstGeom prst="rect">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63640" y="1700784"/>
            <a:ext cx="5251399" cy="274320"/>
          </a:xfrm>
          <a:prstGeom prst="rect">
            <a:avLst/>
          </a:prstGeom>
          <a:noFill/>
        </p:spPr>
        <p:txBody>
          <a:bodyPr wrap="square" anchor="t" lIns="0" rIns="0" tIns="0" bIns="0">
            <a:noAutofit/>
          </a:bodyPr>
          <a:lstStyle/>
          <a:p>
            <a:pPr algn="l">
              <a:spcBef>
                <a:spcPts val="0"/>
              </a:spcBef>
              <a:spcAft>
                <a:spcPts val="200"/>
              </a:spcAft>
            </a:pPr>
            <a:r>
              <a:rPr sz="1200" b="1" i="0">
                <a:solidFill>
                  <a:srgbClr val="A02B93"/>
                </a:solidFill>
                <a:latin typeface="Calibri"/>
              </a:rPr>
              <a:t>DERIVED QUERIES</a:t>
            </a:r>
          </a:p>
        </p:txBody>
      </p:sp>
      <p:sp>
        <p:nvSpPr>
          <p:cNvPr id="35" name="Rounded Rectangle 34"/>
          <p:cNvSpPr/>
          <p:nvPr/>
        </p:nvSpPr>
        <p:spPr>
          <a:xfrm>
            <a:off x="6263640" y="2066543"/>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36" name="TextBox 35"/>
          <p:cNvSpPr txBox="1"/>
          <p:nvPr/>
        </p:nvSpPr>
        <p:spPr>
          <a:xfrm>
            <a:off x="7022592" y="2057400"/>
            <a:ext cx="4547311" cy="256032"/>
          </a:xfrm>
          <a:prstGeom prst="rect">
            <a:avLst/>
          </a:prstGeom>
          <a:noFill/>
        </p:spPr>
        <p:txBody>
          <a:bodyPr wrap="square" anchor="ctr" lIns="0" rIns="0" tIns="0" bIns="0">
            <a:noAutofit/>
          </a:bodyPr>
          <a:lstStyle/>
          <a:p>
            <a:pPr algn="l">
              <a:spcBef>
                <a:spcPts val="0"/>
              </a:spcBef>
              <a:spcAft>
                <a:spcPts val="200"/>
              </a:spcAft>
            </a:pPr>
            <a:r>
              <a:rPr sz="1200" b="0" i="0">
                <a:solidFill>
                  <a:srgbClr val="0E2841"/>
                </a:solidFill>
                <a:latin typeface="Consolas"/>
              </a:rPr>
              <a:t>…/tgsequence/{tGeometryId}/distance</a:t>
            </a:r>
          </a:p>
        </p:txBody>
      </p:sp>
      <p:sp>
        <p:nvSpPr>
          <p:cNvPr id="37" name="Rounded Rectangle 36"/>
          <p:cNvSpPr/>
          <p:nvPr/>
        </p:nvSpPr>
        <p:spPr>
          <a:xfrm>
            <a:off x="6263640" y="2523744"/>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38" name="TextBox 37"/>
          <p:cNvSpPr txBox="1"/>
          <p:nvPr/>
        </p:nvSpPr>
        <p:spPr>
          <a:xfrm>
            <a:off x="7022592" y="2514600"/>
            <a:ext cx="4547311" cy="256032"/>
          </a:xfrm>
          <a:prstGeom prst="rect">
            <a:avLst/>
          </a:prstGeom>
          <a:noFill/>
        </p:spPr>
        <p:txBody>
          <a:bodyPr wrap="square" anchor="ctr" lIns="0" rIns="0" tIns="0" bIns="0">
            <a:noAutofit/>
          </a:bodyPr>
          <a:lstStyle/>
          <a:p>
            <a:pPr algn="l">
              <a:spcBef>
                <a:spcPts val="0"/>
              </a:spcBef>
              <a:spcAft>
                <a:spcPts val="200"/>
              </a:spcAft>
            </a:pPr>
            <a:r>
              <a:rPr sz="1200" b="0" i="0">
                <a:solidFill>
                  <a:srgbClr val="0E2841"/>
                </a:solidFill>
                <a:latin typeface="Consolas"/>
              </a:rPr>
              <a:t>…/{tGeometryId}/velocity · /acceleration</a:t>
            </a:r>
          </a:p>
        </p:txBody>
      </p:sp>
      <p:sp>
        <p:nvSpPr>
          <p:cNvPr id="39" name="Rounded Rectangle 38"/>
          <p:cNvSpPr/>
          <p:nvPr/>
        </p:nvSpPr>
        <p:spPr>
          <a:xfrm>
            <a:off x="6007608" y="3200400"/>
            <a:ext cx="5617159" cy="192024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007608" y="3200400"/>
            <a:ext cx="82296" cy="1920240"/>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63640" y="3328416"/>
            <a:ext cx="5251399" cy="274320"/>
          </a:xfrm>
          <a:prstGeom prst="rect">
            <a:avLst/>
          </a:prstGeom>
          <a:noFill/>
        </p:spPr>
        <p:txBody>
          <a:bodyPr wrap="square" anchor="t" lIns="0" rIns="0" tIns="0" bIns="0">
            <a:noAutofit/>
          </a:bodyPr>
          <a:lstStyle/>
          <a:p>
            <a:pPr algn="l">
              <a:spcBef>
                <a:spcPts val="0"/>
              </a:spcBef>
              <a:spcAft>
                <a:spcPts val="200"/>
              </a:spcAft>
            </a:pPr>
            <a:r>
              <a:rPr sz="1200" b="1" i="0">
                <a:solidFill>
                  <a:srgbClr val="0E2841"/>
                </a:solidFill>
                <a:latin typeface="Calibri"/>
              </a:rPr>
              <a:t>TEMPORAL PROPERTIES</a:t>
            </a:r>
          </a:p>
        </p:txBody>
      </p:sp>
      <p:sp>
        <p:nvSpPr>
          <p:cNvPr id="42" name="Rounded Rectangle 41"/>
          <p:cNvSpPr/>
          <p:nvPr/>
        </p:nvSpPr>
        <p:spPr>
          <a:xfrm>
            <a:off x="6263640" y="3694176"/>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43" name="Rounded Rectangle 42"/>
          <p:cNvSpPr/>
          <p:nvPr/>
        </p:nvSpPr>
        <p:spPr>
          <a:xfrm>
            <a:off x="6967728" y="3694176"/>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POST</a:t>
            </a:r>
          </a:p>
        </p:txBody>
      </p:sp>
      <p:sp>
        <p:nvSpPr>
          <p:cNvPr id="44" name="TextBox 43"/>
          <p:cNvSpPr txBox="1"/>
          <p:nvPr/>
        </p:nvSpPr>
        <p:spPr>
          <a:xfrm>
            <a:off x="7799832" y="3685032"/>
            <a:ext cx="3770071" cy="256032"/>
          </a:xfrm>
          <a:prstGeom prst="rect">
            <a:avLst/>
          </a:prstGeom>
          <a:noFill/>
        </p:spPr>
        <p:txBody>
          <a:bodyPr wrap="square" anchor="ctr" lIns="0" rIns="0" tIns="0" bIns="0">
            <a:noAutofit/>
          </a:bodyPr>
          <a:lstStyle/>
          <a:p>
            <a:pPr algn="l">
              <a:spcBef>
                <a:spcPts val="0"/>
              </a:spcBef>
              <a:spcAft>
                <a:spcPts val="200"/>
              </a:spcAft>
            </a:pPr>
            <a:r>
              <a:rPr sz="1200" b="0" i="0">
                <a:solidFill>
                  <a:srgbClr val="0E2841"/>
                </a:solidFill>
                <a:latin typeface="Consolas"/>
              </a:rPr>
              <a:t>…/{mFeatureId}/tproperties</a:t>
            </a:r>
          </a:p>
        </p:txBody>
      </p:sp>
      <p:sp>
        <p:nvSpPr>
          <p:cNvPr id="45" name="Rounded Rectangle 44"/>
          <p:cNvSpPr/>
          <p:nvPr/>
        </p:nvSpPr>
        <p:spPr>
          <a:xfrm>
            <a:off x="6263640" y="4151376"/>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46" name="Rounded Rectangle 45"/>
          <p:cNvSpPr/>
          <p:nvPr/>
        </p:nvSpPr>
        <p:spPr>
          <a:xfrm>
            <a:off x="6967728" y="4151376"/>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POST</a:t>
            </a:r>
          </a:p>
        </p:txBody>
      </p:sp>
      <p:sp>
        <p:nvSpPr>
          <p:cNvPr id="47" name="Rounded Rectangle 46"/>
          <p:cNvSpPr/>
          <p:nvPr/>
        </p:nvSpPr>
        <p:spPr>
          <a:xfrm>
            <a:off x="7744968" y="4151376"/>
            <a:ext cx="932688" cy="292608"/>
          </a:xfrm>
          <a:prstGeom prst="roundRect">
            <a:avLst>
              <a:gd name="adj" fmla="val 4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DELETE</a:t>
            </a:r>
          </a:p>
        </p:txBody>
      </p:sp>
      <p:sp>
        <p:nvSpPr>
          <p:cNvPr id="48" name="TextBox 47"/>
          <p:cNvSpPr txBox="1"/>
          <p:nvPr/>
        </p:nvSpPr>
        <p:spPr>
          <a:xfrm>
            <a:off x="8796528" y="4142232"/>
            <a:ext cx="2773375" cy="256032"/>
          </a:xfrm>
          <a:prstGeom prst="rect">
            <a:avLst/>
          </a:prstGeom>
          <a:noFill/>
        </p:spPr>
        <p:txBody>
          <a:bodyPr wrap="square" anchor="ctr" lIns="0" rIns="0" tIns="0" bIns="0">
            <a:noAutofit/>
          </a:bodyPr>
          <a:lstStyle/>
          <a:p>
            <a:pPr algn="l">
              <a:spcBef>
                <a:spcPts val="0"/>
              </a:spcBef>
              <a:spcAft>
                <a:spcPts val="200"/>
              </a:spcAft>
            </a:pPr>
            <a:r>
              <a:rPr sz="1200" b="0" i="0">
                <a:solidFill>
                  <a:srgbClr val="0E2841"/>
                </a:solidFill>
                <a:latin typeface="Consolas"/>
              </a:rPr>
              <a:t>…/tproperties/{tPropertyName}</a:t>
            </a:r>
          </a:p>
        </p:txBody>
      </p:sp>
      <p:sp>
        <p:nvSpPr>
          <p:cNvPr id="49" name="Rounded Rectangle 48"/>
          <p:cNvSpPr/>
          <p:nvPr/>
        </p:nvSpPr>
        <p:spPr>
          <a:xfrm>
            <a:off x="6263640" y="4608576"/>
            <a:ext cx="932688" cy="292608"/>
          </a:xfrm>
          <a:prstGeom prst="roundRect">
            <a:avLst>
              <a:gd name="adj" fmla="val 4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DELETE</a:t>
            </a:r>
          </a:p>
        </p:txBody>
      </p:sp>
      <p:sp>
        <p:nvSpPr>
          <p:cNvPr id="50" name="TextBox 49"/>
          <p:cNvSpPr txBox="1"/>
          <p:nvPr/>
        </p:nvSpPr>
        <p:spPr>
          <a:xfrm>
            <a:off x="7315200" y="4599432"/>
            <a:ext cx="4254703" cy="256032"/>
          </a:xfrm>
          <a:prstGeom prst="rect">
            <a:avLst/>
          </a:prstGeom>
          <a:noFill/>
        </p:spPr>
        <p:txBody>
          <a:bodyPr wrap="square" anchor="ctr" lIns="0" rIns="0" tIns="0" bIns="0">
            <a:noAutofit/>
          </a:bodyPr>
          <a:lstStyle/>
          <a:p>
            <a:pPr algn="l">
              <a:spcBef>
                <a:spcPts val="0"/>
              </a:spcBef>
              <a:spcAft>
                <a:spcPts val="200"/>
              </a:spcAft>
            </a:pPr>
            <a:r>
              <a:rPr sz="1200" b="0" i="0">
                <a:solidFill>
                  <a:srgbClr val="0E2841"/>
                </a:solidFill>
                <a:latin typeface="Consolas"/>
              </a:rPr>
              <a:t>…/tproperties/{tPropertyName}/{tValueId}</a:t>
            </a:r>
          </a:p>
        </p:txBody>
      </p:sp>
      <p:sp>
        <p:nvSpPr>
          <p:cNvPr id="51" name="Rectangle 50"/>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53" name="TextBox 52"/>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07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240280"/>
            <a:ext cx="8229600" cy="365760"/>
          </a:xfrm>
          <a:prstGeom prst="rect">
            <a:avLst/>
          </a:prstGeom>
          <a:noFill/>
        </p:spPr>
        <p:txBody>
          <a:bodyPr wrap="square" anchor="t" lIns="0" rIns="0" tIns="0" bIns="0">
            <a:noAutofit/>
          </a:bodyPr>
          <a:lstStyle/>
          <a:p>
            <a:pPr algn="l">
              <a:spcBef>
                <a:spcPts val="0"/>
              </a:spcBef>
              <a:spcAft>
                <a:spcPts val="200"/>
              </a:spcAft>
            </a:pPr>
            <a:r>
              <a:rPr sz="1600" b="1" i="0">
                <a:solidFill>
                  <a:srgbClr val="156082"/>
                </a:solidFill>
                <a:latin typeface="Calibri"/>
              </a:rPr>
              <a:t>WALKTHROUGH</a:t>
            </a:r>
          </a:p>
        </p:txBody>
      </p:sp>
      <p:sp>
        <p:nvSpPr>
          <p:cNvPr id="5" name="TextBox 4"/>
          <p:cNvSpPr txBox="1"/>
          <p:nvPr/>
        </p:nvSpPr>
        <p:spPr>
          <a:xfrm>
            <a:off x="566928" y="2697480"/>
            <a:ext cx="10515600" cy="914400"/>
          </a:xfrm>
          <a:prstGeom prst="rect">
            <a:avLst/>
          </a:prstGeom>
          <a:noFill/>
        </p:spPr>
        <p:txBody>
          <a:bodyPr wrap="square" anchor="t" lIns="0" rIns="0" tIns="0" bIns="0">
            <a:noAutofit/>
          </a:bodyPr>
          <a:lstStyle/>
          <a:p>
            <a:pPr algn="l">
              <a:spcBef>
                <a:spcPts val="0"/>
              </a:spcBef>
              <a:spcAft>
                <a:spcPts val="200"/>
              </a:spcAft>
            </a:pPr>
            <a:r>
              <a:rPr sz="4400" b="1" i="0">
                <a:solidFill>
                  <a:srgbClr val="FFFFFF"/>
                </a:solidFill>
                <a:latin typeface="Calibri Light"/>
              </a:rPr>
              <a:t>Building the Ships Collection</a:t>
            </a:r>
          </a:p>
        </p:txBody>
      </p:sp>
      <p:sp>
        <p:nvSpPr>
          <p:cNvPr id="6" name="TextBox 5"/>
          <p:cNvSpPr txBox="1"/>
          <p:nvPr/>
        </p:nvSpPr>
        <p:spPr>
          <a:xfrm>
            <a:off x="566928" y="3794760"/>
            <a:ext cx="10058400" cy="457200"/>
          </a:xfrm>
          <a:prstGeom prst="rect">
            <a:avLst/>
          </a:prstGeom>
          <a:noFill/>
        </p:spPr>
        <p:txBody>
          <a:bodyPr wrap="square" anchor="t" lIns="0" rIns="0" tIns="0" bIns="0">
            <a:noAutofit/>
          </a:bodyPr>
          <a:lstStyle/>
          <a:p>
            <a:pPr algn="l">
              <a:spcBef>
                <a:spcPts val="0"/>
              </a:spcBef>
              <a:spcAft>
                <a:spcPts val="200"/>
              </a:spcAft>
            </a:pPr>
            <a:r>
              <a:rPr sz="1600" b="0" i="0">
                <a:solidFill>
                  <a:srgbClr val="9EB8C8"/>
                </a:solidFill>
                <a:latin typeface="Calibri"/>
              </a:rPr>
              <a:t>Create  →  insert  →  query  →  derive  →  delete, end to end over HTTP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COLLECTIONS</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Create a Collection · List Collections</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54480"/>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POST</a:t>
            </a:r>
          </a:p>
        </p:txBody>
      </p:sp>
      <p:sp>
        <p:nvSpPr>
          <p:cNvPr id="6" name="TextBox 5"/>
          <p:cNvSpPr txBox="1"/>
          <p:nvPr/>
        </p:nvSpPr>
        <p:spPr>
          <a:xfrm>
            <a:off x="1389888" y="1545336"/>
            <a:ext cx="4572000"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/collections</a:t>
            </a:r>
          </a:p>
        </p:txBody>
      </p:sp>
      <p:sp>
        <p:nvSpPr>
          <p:cNvPr id="7" name="Rounded Rectangle 6"/>
          <p:cNvSpPr/>
          <p:nvPr/>
        </p:nvSpPr>
        <p:spPr>
          <a:xfrm>
            <a:off x="566928" y="1920240"/>
            <a:ext cx="5394960" cy="182880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DEPANEL"/>
          <p:cNvSpPr txBox="1"/>
          <p:nvPr/>
        </p:nvSpPr>
        <p:spPr>
          <a:xfrm>
            <a:off x="694944" y="2011680"/>
            <a:ext cx="5138928" cy="1645920"/>
          </a:xfrm>
          <a:prstGeom prst="rect">
            <a:avLst/>
          </a:prstGeom>
          <a:noFill/>
        </p:spPr>
        <p:txBody>
          <a:bodyPr wrap="square" lIns="0" rIns="0" tIns="0" bIns="0">
            <a:noAutofit/>
          </a:bodyPr>
          <a:lstStyle/>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"title"</a:t>
            </a:r>
            <a:r>
              <a:rPr sz="1200">
                <a:solidFill>
                  <a:srgbClr val="C2D0DA"/>
                </a:solidFill>
                <a:latin typeface="Consolas"/>
              </a:rPr>
              <a:t>: </a:t>
            </a:r>
            <a:r>
              <a:rPr sz="1200">
                <a:solidFill>
                  <a:srgbClr val="E6A36A"/>
                </a:solidFill>
                <a:latin typeface="Consolas"/>
              </a:rPr>
              <a:t>"ships"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"description"</a:t>
            </a:r>
            <a:r>
              <a:rPr sz="1200">
                <a:solidFill>
                  <a:srgbClr val="C2D0DA"/>
                </a:solidFill>
                <a:latin typeface="Consolas"/>
              </a:rPr>
              <a:t>: "Ship trajectories from the Danish</a:t>
            </a:r>
          </a:p>
          <a:p>
            <a:pPr>
              <a:lnSpc>
                <a:spcPct val="102000"/>
              </a:lnSpc>
              <a:spcBef>
                <a:spcPts val="0"/>
              </a:spcBef>
              <a:spcAft>
                <a:spcPts val="0"/>
              </a:spcAft>
            </a:pPr>
            <a:r>
              <a:rPr sz="1200">
                <a:solidFill>
                  <a:srgbClr val="C2D0DA"/>
                </a:solidFill>
                <a:latin typeface="Consolas"/>
              </a:rPr>
              <a:t>                  Maritime Authority (one day of AIS).",</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"itemType"</a:t>
            </a:r>
            <a:r>
              <a:rPr sz="1200">
                <a:solidFill>
                  <a:srgbClr val="C2D0DA"/>
                </a:solidFill>
                <a:latin typeface="Consolas"/>
              </a:rPr>
              <a:t>: </a:t>
            </a:r>
            <a:r>
              <a:rPr sz="1200">
                <a:solidFill>
                  <a:srgbClr val="E6A36A"/>
                </a:solidFill>
                <a:latin typeface="Consolas"/>
              </a:rPr>
              <a:t>"movingfeature"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"updateFrequency"</a:t>
            </a:r>
            <a:r>
              <a:rPr sz="1200">
                <a:solidFill>
                  <a:srgbClr val="C2D0DA"/>
                </a:solidFill>
                <a:latin typeface="Consolas"/>
              </a:rPr>
              <a:t>: </a:t>
            </a:r>
            <a:r>
              <a:rPr sz="1200">
                <a:solidFill>
                  <a:srgbClr val="C9E08A"/>
                </a:solidFill>
                <a:latin typeface="Consolas"/>
              </a:rPr>
              <a:t>1000</a:t>
            </a:r>
          </a:p>
          <a:p>
            <a:pPr>
              <a:lnSpc>
                <a:spcPct val="102000"/>
              </a:lnSpc>
              <a:spcBef>
                <a:spcPts val="0"/>
              </a:spcBef>
              <a:spcAft>
                <a:spcPts val="0"/>
              </a:spcAft>
            </a:pPr>
            <a:r>
              <a:rPr sz="1200">
                <a:solidFill>
                  <a:srgbClr val="C2D0DA"/>
                </a:solidFill>
                <a:latin typeface="Consolas"/>
              </a:rPr>
              <a:t>}</a:t>
            </a:r>
          </a:p>
        </p:txBody>
      </p:sp>
      <p:sp>
        <p:nvSpPr>
          <p:cNvPr id="9" name="TextBox 8"/>
          <p:cNvSpPr txBox="1"/>
          <p:nvPr/>
        </p:nvSpPr>
        <p:spPr>
          <a:xfrm>
            <a:off x="566928" y="3858768"/>
            <a:ext cx="5394960" cy="274320"/>
          </a:xfrm>
          <a:prstGeom prst="rect">
            <a:avLst/>
          </a:prstGeom>
          <a:noFill/>
        </p:spPr>
        <p:txBody>
          <a:bodyPr wrap="square" anchor="t" lIns="0" rIns="0" tIns="0" bIns="0">
            <a:noAutofit/>
          </a:bodyPr>
          <a:lstStyle/>
          <a:p>
            <a:pPr algn="l">
              <a:spcBef>
                <a:spcPts val="0"/>
              </a:spcBef>
              <a:spcAft>
                <a:spcPts val="200"/>
              </a:spcAft>
            </a:pPr>
            <a:r>
              <a:rPr sz="1200" b="1" i="0">
                <a:solidFill>
                  <a:srgbClr val="196B24"/>
                </a:solidFill>
                <a:latin typeface="Consolas"/>
              </a:rPr>
              <a:t>201 Created</a:t>
            </a:r>
          </a:p>
        </p:txBody>
      </p:sp>
      <p:sp>
        <p:nvSpPr>
          <p:cNvPr id="10" name="Rounded Rectangle 9"/>
          <p:cNvSpPr/>
          <p:nvPr/>
        </p:nvSpPr>
        <p:spPr>
          <a:xfrm>
            <a:off x="566928" y="4114800"/>
            <a:ext cx="5394960" cy="205740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ODEPANEL"/>
          <p:cNvSpPr txBox="1"/>
          <p:nvPr/>
        </p:nvSpPr>
        <p:spPr>
          <a:xfrm>
            <a:off x="694944" y="4206240"/>
            <a:ext cx="5138928" cy="1874519"/>
          </a:xfrm>
          <a:prstGeom prst="rect">
            <a:avLst/>
          </a:prstGeom>
          <a:noFill/>
        </p:spPr>
        <p:txBody>
          <a:bodyPr wrap="square" lIns="0" rIns="0" tIns="0" bIns="0">
            <a:noAutofit/>
          </a:bodyPr>
          <a:lstStyle/>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"ships"</a:t>
            </a:r>
            <a:r>
              <a:rPr sz="1200">
                <a:solidFill>
                  <a:srgbClr val="C2D0DA"/>
                </a:solidFill>
                <a:latin typeface="Consolas"/>
              </a:rPr>
              <a:t>, </a:t>
            </a:r>
            <a:r>
              <a:rPr sz="1200">
                <a:solidFill>
                  <a:srgbClr val="6FC3E0"/>
                </a:solidFill>
                <a:latin typeface="Consolas"/>
              </a:rPr>
              <a:t>"title"</a:t>
            </a:r>
            <a:r>
              <a:rPr sz="1200">
                <a:solidFill>
                  <a:srgbClr val="C2D0DA"/>
                </a:solidFill>
                <a:latin typeface="Consolas"/>
              </a:rPr>
              <a:t>: </a:t>
            </a:r>
            <a:r>
              <a:rPr sz="1200">
                <a:solidFill>
                  <a:srgbClr val="E6A36A"/>
                </a:solidFill>
                <a:latin typeface="Consolas"/>
              </a:rPr>
              <a:t>"ships"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"itemType"</a:t>
            </a:r>
            <a:r>
              <a:rPr sz="1200">
                <a:solidFill>
                  <a:srgbClr val="C2D0DA"/>
                </a:solidFill>
                <a:latin typeface="Consolas"/>
              </a:rPr>
              <a:t>: </a:t>
            </a:r>
            <a:r>
              <a:rPr sz="1200">
                <a:solidFill>
                  <a:srgbClr val="E6A36A"/>
                </a:solidFill>
                <a:latin typeface="Consolas"/>
              </a:rPr>
              <a:t>"movingfeature"</a:t>
            </a:r>
            <a:r>
              <a:rPr sz="1200">
                <a:solidFill>
                  <a:srgbClr val="C2D0DA"/>
                </a:solidFill>
                <a:latin typeface="Consolas"/>
              </a:rPr>
              <a:t>, </a:t>
            </a:r>
            <a:r>
              <a:rPr sz="1200">
                <a:solidFill>
                  <a:srgbClr val="6FC3E0"/>
                </a:solidFill>
                <a:latin typeface="Consolas"/>
              </a:rPr>
              <a:t>"updateFrequency"</a:t>
            </a:r>
            <a:r>
              <a:rPr sz="1200">
                <a:solidFill>
                  <a:srgbClr val="C2D0DA"/>
                </a:solidFill>
                <a:latin typeface="Consolas"/>
              </a:rPr>
              <a:t>: </a:t>
            </a:r>
            <a:r>
              <a:rPr sz="1200">
                <a:solidFill>
                  <a:srgbClr val="C9E08A"/>
                </a:solidFill>
                <a:latin typeface="Consolas"/>
              </a:rPr>
              <a:t>1000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"extent"</a:t>
            </a:r>
            <a:r>
              <a:rPr sz="1200">
                <a:solidFill>
                  <a:srgbClr val="C2D0DA"/>
                </a:solidFill>
                <a:latin typeface="Consolas"/>
              </a:rPr>
              <a:t>: </a:t>
            </a:r>
            <a:r>
              <a:rPr sz="1200">
                <a:solidFill>
                  <a:srgbClr val="CBA0E8"/>
                </a:solidFill>
                <a:latin typeface="Consolas"/>
              </a:rPr>
              <a:t>null</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"links"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"href"</a:t>
            </a:r>
            <a:r>
              <a:rPr sz="1200">
                <a:solidFill>
                  <a:srgbClr val="C2D0DA"/>
                </a:solidFill>
                <a:latin typeface="Consolas"/>
              </a:rPr>
              <a:t>: </a:t>
            </a:r>
            <a:r>
              <a:rPr sz="1200">
                <a:solidFill>
                  <a:srgbClr val="E6A36A"/>
                </a:solidFill>
                <a:latin typeface="Consolas"/>
              </a:rPr>
              <a:t>".../collections/ships"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"self"</a:t>
            </a: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"application/json"</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"href"</a:t>
            </a:r>
            <a:r>
              <a:rPr sz="1200">
                <a:solidFill>
                  <a:srgbClr val="C2D0DA"/>
                </a:solidFill>
                <a:latin typeface="Consolas"/>
              </a:rPr>
              <a:t>: </a:t>
            </a:r>
            <a:r>
              <a:rPr sz="1200">
                <a:solidFill>
                  <a:srgbClr val="E6A36A"/>
                </a:solidFill>
                <a:latin typeface="Consolas"/>
              </a:rPr>
              <a:t>".../collections/ships/items"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"items"</a:t>
            </a: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"application/json"</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a:t>
            </a:r>
          </a:p>
        </p:txBody>
      </p:sp>
      <p:sp>
        <p:nvSpPr>
          <p:cNvPr id="12" name="Rounded Rectangle 11"/>
          <p:cNvSpPr/>
          <p:nvPr/>
        </p:nvSpPr>
        <p:spPr>
          <a:xfrm>
            <a:off x="623620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13" name="TextBox 12"/>
          <p:cNvSpPr txBox="1"/>
          <p:nvPr/>
        </p:nvSpPr>
        <p:spPr>
          <a:xfrm>
            <a:off x="6986016" y="1545336"/>
            <a:ext cx="4638751"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/collections</a:t>
            </a:r>
          </a:p>
        </p:txBody>
      </p:sp>
      <p:sp>
        <p:nvSpPr>
          <p:cNvPr id="14" name="TextBox 13"/>
          <p:cNvSpPr txBox="1"/>
          <p:nvPr/>
        </p:nvSpPr>
        <p:spPr>
          <a:xfrm>
            <a:off x="6236208" y="1920240"/>
            <a:ext cx="5388559" cy="274320"/>
          </a:xfrm>
          <a:prstGeom prst="rect">
            <a:avLst/>
          </a:prstGeom>
          <a:noFill/>
        </p:spPr>
        <p:txBody>
          <a:bodyPr wrap="square" anchor="t" lIns="0" rIns="0" tIns="0" bIns="0">
            <a:noAutofit/>
          </a:bodyPr>
          <a:lstStyle/>
          <a:p>
            <a:pPr algn="l">
              <a:spcBef>
                <a:spcPts val="0"/>
              </a:spcBef>
              <a:spcAft>
                <a:spcPts val="200"/>
              </a:spcAft>
            </a:pPr>
            <a:r>
              <a:rPr sz="1200" b="1" i="0">
                <a:solidFill>
                  <a:srgbClr val="196B24"/>
                </a:solidFill>
                <a:latin typeface="Consolas"/>
              </a:rPr>
              <a:t>200 OK</a:t>
            </a:r>
          </a:p>
        </p:txBody>
      </p:sp>
      <p:sp>
        <p:nvSpPr>
          <p:cNvPr id="15" name="Rounded Rectangle 14"/>
          <p:cNvSpPr/>
          <p:nvPr/>
        </p:nvSpPr>
        <p:spPr>
          <a:xfrm>
            <a:off x="6236208" y="2194560"/>
            <a:ext cx="5388559" cy="393192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ODEPANEL"/>
          <p:cNvSpPr txBox="1"/>
          <p:nvPr/>
        </p:nvSpPr>
        <p:spPr>
          <a:xfrm>
            <a:off x="6364224" y="2286000"/>
            <a:ext cx="5132527" cy="3749039"/>
          </a:xfrm>
          <a:prstGeom prst="rect">
            <a:avLst/>
          </a:prstGeom>
          <a:noFill/>
        </p:spPr>
        <p:txBody>
          <a:bodyPr wrap="square" lIns="0" rIns="0" tIns="0" bIns="0">
            <a:noAutofit/>
          </a:bodyPr>
          <a:lstStyle/>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"collections"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"ships"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"title"</a:t>
            </a:r>
            <a:r>
              <a:rPr sz="1200">
                <a:solidFill>
                  <a:srgbClr val="C2D0DA"/>
                </a:solidFill>
                <a:latin typeface="Consolas"/>
              </a:rPr>
              <a:t>: </a:t>
            </a:r>
            <a:r>
              <a:rPr sz="1200">
                <a:solidFill>
                  <a:srgbClr val="E6A36A"/>
                </a:solidFill>
                <a:latin typeface="Consolas"/>
              </a:rPr>
              <a:t>"ships"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"itemType"</a:t>
            </a:r>
            <a:r>
              <a:rPr sz="1200">
                <a:solidFill>
                  <a:srgbClr val="C2D0DA"/>
                </a:solidFill>
                <a:latin typeface="Consolas"/>
              </a:rPr>
              <a:t>: </a:t>
            </a:r>
            <a:r>
              <a:rPr sz="1200">
                <a:solidFill>
                  <a:srgbClr val="E6A36A"/>
                </a:solidFill>
                <a:latin typeface="Consolas"/>
              </a:rPr>
              <a:t>"movingfeature"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"updateFrequency"</a:t>
            </a:r>
            <a:r>
              <a:rPr sz="1200">
                <a:solidFill>
                  <a:srgbClr val="C2D0DA"/>
                </a:solidFill>
                <a:latin typeface="Consolas"/>
              </a:rPr>
              <a:t>: </a:t>
            </a:r>
            <a:r>
              <a:rPr sz="1200">
                <a:solidFill>
                  <a:srgbClr val="C9E08A"/>
                </a:solidFill>
                <a:latin typeface="Consolas"/>
              </a:rPr>
              <a:t>1000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"links"</a:t>
            </a:r>
            <a:r>
              <a:rPr sz="1200">
                <a:solidFill>
                  <a:srgbClr val="C2D0DA"/>
                </a:solidFill>
                <a:latin typeface="Consolas"/>
              </a:rPr>
              <a:t>: [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"self"</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"items"</a:t>
            </a:r>
            <a:r>
              <a:rPr sz="1200">
                <a:solidFill>
                  <a:srgbClr val="C2D0DA"/>
                </a:solidFill>
                <a:latin typeface="Consolas"/>
              </a:rPr>
              <a:t>, ... }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"links"</a:t>
            </a:r>
            <a:r>
              <a:rPr sz="1200">
                <a:solidFill>
                  <a:srgbClr val="C2D0DA"/>
                </a:solidFill>
                <a:latin typeface="Consolas"/>
              </a:rPr>
              <a:t>: [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"self"</a:t>
            </a:r>
            <a:r>
              <a:rPr sz="1200">
                <a:solidFill>
                  <a:srgbClr val="C2D0DA"/>
                </a:solidFill>
                <a:latin typeface="Consolas"/>
              </a:rPr>
              <a:t>, ... } ]</a:t>
            </a:r>
          </a:p>
          <a:p>
            <a:pPr>
              <a:lnSpc>
                <a:spcPct val="102000"/>
              </a:lnSpc>
              <a:spcBef>
                <a:spcPts val="0"/>
              </a:spcBef>
              <a:spcAft>
                <a:spcPts val="0"/>
              </a:spcAft>
            </a:pPr>
            <a:r>
              <a:rPr sz="1200">
                <a:solidFill>
                  <a:srgbClr val="C2D0DA"/>
                </a:solidFill>
                <a:latin typeface="Consolas"/>
              </a:rPr>
              <a:t>}</a:t>
            </a:r>
          </a:p>
        </p:txBody>
      </p:sp>
      <p:sp>
        <p:nvSpPr>
          <p:cNvPr id="17" name="Rectangle 16"/>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9" name="TextBox 18"/>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09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COLLECTIONS</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Retrieve · Replace · Delete a Collection</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6" name="TextBox 5"/>
          <p:cNvSpPr txBox="1"/>
          <p:nvPr/>
        </p:nvSpPr>
        <p:spPr>
          <a:xfrm>
            <a:off x="1316736" y="1545336"/>
            <a:ext cx="4645152"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/collections/ships</a:t>
            </a:r>
          </a:p>
        </p:txBody>
      </p:sp>
      <p:sp>
        <p:nvSpPr>
          <p:cNvPr id="7" name="Rounded Rectangle 6"/>
          <p:cNvSpPr/>
          <p:nvPr/>
        </p:nvSpPr>
        <p:spPr>
          <a:xfrm>
            <a:off x="566928" y="1920240"/>
            <a:ext cx="5394960" cy="260604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DEPANEL"/>
          <p:cNvSpPr txBox="1"/>
          <p:nvPr/>
        </p:nvSpPr>
        <p:spPr>
          <a:xfrm>
            <a:off x="694944" y="2011680"/>
            <a:ext cx="5138928" cy="2423160"/>
          </a:xfrm>
          <a:prstGeom prst="rect">
            <a:avLst/>
          </a:prstGeom>
          <a:noFill/>
        </p:spPr>
        <p:txBody>
          <a:bodyPr wrap="square" lIns="0" rIns="0" tIns="0" bIns="0">
            <a:noAutofit/>
          </a:bodyPr>
          <a:lstStyle/>
          <a:p>
            <a:pPr>
              <a:lnSpc>
                <a:spcPct val="102000"/>
              </a:lnSpc>
              <a:spcBef>
                <a:spcPts val="0"/>
              </a:spcBef>
              <a:spcAft>
                <a:spcPts val="0"/>
              </a:spcAft>
            </a:pPr>
            <a:r>
              <a:rPr sz="1200">
                <a:solidFill>
                  <a:srgbClr val="C9E08A"/>
                </a:solidFill>
                <a:latin typeface="Consolas"/>
              </a:rPr>
              <a:t>200</a:t>
            </a:r>
            <a:r>
              <a:rPr sz="1200">
                <a:solidFill>
                  <a:srgbClr val="C2D0DA"/>
                </a:solidFill>
                <a:latin typeface="Consolas"/>
              </a:rPr>
              <a:t> OK</a:t>
            </a:r>
          </a:p>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"ships"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"title"</a:t>
            </a:r>
            <a:r>
              <a:rPr sz="1200">
                <a:solidFill>
                  <a:srgbClr val="C2D0DA"/>
                </a:solidFill>
                <a:latin typeface="Consolas"/>
              </a:rPr>
              <a:t>: </a:t>
            </a:r>
            <a:r>
              <a:rPr sz="1200">
                <a:solidFill>
                  <a:srgbClr val="E6A36A"/>
                </a:solidFill>
                <a:latin typeface="Consolas"/>
              </a:rPr>
              <a:t>"ships"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"description"</a:t>
            </a:r>
            <a:r>
              <a:rPr sz="1200">
                <a:solidFill>
                  <a:srgbClr val="C2D0DA"/>
                </a:solidFill>
                <a:latin typeface="Consolas"/>
              </a:rPr>
              <a:t>: </a:t>
            </a:r>
            <a:r>
              <a:rPr sz="1200">
                <a:solidFill>
                  <a:srgbClr val="E6A36A"/>
                </a:solidFill>
                <a:latin typeface="Consolas"/>
              </a:rPr>
              <a:t>"Ship trajectories ..."</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"itemType"</a:t>
            </a:r>
            <a:r>
              <a:rPr sz="1200">
                <a:solidFill>
                  <a:srgbClr val="C2D0DA"/>
                </a:solidFill>
                <a:latin typeface="Consolas"/>
              </a:rPr>
              <a:t>: </a:t>
            </a:r>
            <a:r>
              <a:rPr sz="1200">
                <a:solidFill>
                  <a:srgbClr val="E6A36A"/>
                </a:solidFill>
                <a:latin typeface="Consolas"/>
              </a:rPr>
              <a:t>"movingfeature"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"updateFrequency"</a:t>
            </a:r>
            <a:r>
              <a:rPr sz="1200">
                <a:solidFill>
                  <a:srgbClr val="C2D0DA"/>
                </a:solidFill>
                <a:latin typeface="Consolas"/>
              </a:rPr>
              <a:t>: </a:t>
            </a:r>
            <a:r>
              <a:rPr sz="1200">
                <a:solidFill>
                  <a:srgbClr val="C9E08A"/>
                </a:solidFill>
                <a:latin typeface="Consolas"/>
              </a:rPr>
              <a:t>1000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"extent"</a:t>
            </a:r>
            <a:r>
              <a:rPr sz="1200">
                <a:solidFill>
                  <a:srgbClr val="C2D0DA"/>
                </a:solidFill>
                <a:latin typeface="Consolas"/>
              </a:rPr>
              <a:t>: </a:t>
            </a:r>
            <a:r>
              <a:rPr sz="1200">
                <a:solidFill>
                  <a:srgbClr val="CBA0E8"/>
                </a:solidFill>
                <a:latin typeface="Consolas"/>
              </a:rPr>
              <a:t>null</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"links"</a:t>
            </a:r>
            <a:r>
              <a:rPr sz="1200">
                <a:solidFill>
                  <a:srgbClr val="C2D0DA"/>
                </a:solidFill>
                <a:latin typeface="Consolas"/>
              </a:rPr>
              <a:t>: [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"self"</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"items"</a:t>
            </a:r>
            <a:r>
              <a:rPr sz="1200">
                <a:solidFill>
                  <a:srgbClr val="C2D0DA"/>
                </a:solidFill>
                <a:latin typeface="Consolas"/>
              </a:rPr>
              <a:t>, ... } ]</a:t>
            </a:r>
          </a:p>
          <a:p>
            <a:pPr>
              <a:lnSpc>
                <a:spcPct val="102000"/>
              </a:lnSpc>
              <a:spcBef>
                <a:spcPts val="0"/>
              </a:spcBef>
              <a:spcAft>
                <a:spcPts val="0"/>
              </a:spcAft>
            </a:pPr>
            <a:r>
              <a:rPr sz="1200">
                <a:solidFill>
                  <a:srgbClr val="C2D0DA"/>
                </a:solidFill>
                <a:latin typeface="Consolas"/>
              </a:rPr>
              <a:t>}</a:t>
            </a:r>
          </a:p>
        </p:txBody>
      </p:sp>
      <p:sp>
        <p:nvSpPr>
          <p:cNvPr id="9" name="Rounded Rectangle 8"/>
          <p:cNvSpPr/>
          <p:nvPr/>
        </p:nvSpPr>
        <p:spPr>
          <a:xfrm>
            <a:off x="566928" y="4709160"/>
            <a:ext cx="932688" cy="292608"/>
          </a:xfrm>
          <a:prstGeom prst="roundRect">
            <a:avLst>
              <a:gd name="adj" fmla="val 4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DELETE</a:t>
            </a:r>
          </a:p>
        </p:txBody>
      </p:sp>
      <p:sp>
        <p:nvSpPr>
          <p:cNvPr id="10" name="TextBox 9"/>
          <p:cNvSpPr txBox="1"/>
          <p:nvPr/>
        </p:nvSpPr>
        <p:spPr>
          <a:xfrm>
            <a:off x="1609344" y="4700016"/>
            <a:ext cx="4352544"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/collections/ships</a:t>
            </a:r>
          </a:p>
        </p:txBody>
      </p:sp>
      <p:sp>
        <p:nvSpPr>
          <p:cNvPr id="11" name="Rounded Rectangle 10"/>
          <p:cNvSpPr/>
          <p:nvPr/>
        </p:nvSpPr>
        <p:spPr>
          <a:xfrm>
            <a:off x="566928" y="5029200"/>
            <a:ext cx="5394960" cy="50292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ODEPANEL"/>
          <p:cNvSpPr txBox="1"/>
          <p:nvPr/>
        </p:nvSpPr>
        <p:spPr>
          <a:xfrm>
            <a:off x="694944" y="5120640"/>
            <a:ext cx="5138928" cy="320040"/>
          </a:xfrm>
          <a:prstGeom prst="rect">
            <a:avLst/>
          </a:prstGeom>
          <a:noFill/>
        </p:spPr>
        <p:txBody>
          <a:bodyPr wrap="square" lIns="0" rIns="0" tIns="0" bIns="0">
            <a:noAutofit/>
          </a:bodyPr>
          <a:lstStyle/>
          <a:p>
            <a:pPr>
              <a:lnSpc>
                <a:spcPct val="102000"/>
              </a:lnSpc>
              <a:spcBef>
                <a:spcPts val="0"/>
              </a:spcBef>
              <a:spcAft>
                <a:spcPts val="0"/>
              </a:spcAft>
            </a:pPr>
            <a:r>
              <a:rPr sz="1200">
                <a:solidFill>
                  <a:srgbClr val="C9E08A"/>
                </a:solidFill>
                <a:latin typeface="Consolas"/>
              </a:rPr>
              <a:t>200</a:t>
            </a:r>
            <a:r>
              <a:rPr sz="1200">
                <a:solidFill>
                  <a:srgbClr val="C2D0DA"/>
                </a:solidFill>
                <a:latin typeface="Consolas"/>
              </a:rPr>
              <a:t> OK   </a:t>
            </a:r>
            <a:r>
              <a:rPr sz="1200">
                <a:solidFill>
                  <a:srgbClr val="7E94A6"/>
                </a:solidFill>
                <a:latin typeface="Consolas"/>
              </a:rPr>
              <a:t>// collection and all its items removed</a:t>
            </a:r>
          </a:p>
        </p:txBody>
      </p:sp>
      <p:sp>
        <p:nvSpPr>
          <p:cNvPr id="13" name="Rounded Rectangle 12"/>
          <p:cNvSpPr/>
          <p:nvPr/>
        </p:nvSpPr>
        <p:spPr>
          <a:xfrm>
            <a:off x="6236208" y="1554480"/>
            <a:ext cx="603504" cy="292608"/>
          </a:xfrm>
          <a:prstGeom prst="roundRect">
            <a:avLst>
              <a:gd name="adj" fmla="val 40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PUT</a:t>
            </a:r>
          </a:p>
        </p:txBody>
      </p:sp>
      <p:sp>
        <p:nvSpPr>
          <p:cNvPr id="14" name="TextBox 13"/>
          <p:cNvSpPr txBox="1"/>
          <p:nvPr/>
        </p:nvSpPr>
        <p:spPr>
          <a:xfrm>
            <a:off x="6949440" y="1545336"/>
            <a:ext cx="4675327"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/collections/ships</a:t>
            </a:r>
          </a:p>
        </p:txBody>
      </p:sp>
      <p:sp>
        <p:nvSpPr>
          <p:cNvPr id="15" name="Rounded Rectangle 14"/>
          <p:cNvSpPr/>
          <p:nvPr/>
        </p:nvSpPr>
        <p:spPr>
          <a:xfrm>
            <a:off x="6236208" y="1920240"/>
            <a:ext cx="5388559" cy="274320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ODEPANEL"/>
          <p:cNvSpPr txBox="1"/>
          <p:nvPr/>
        </p:nvSpPr>
        <p:spPr>
          <a:xfrm>
            <a:off x="6364224" y="2011680"/>
            <a:ext cx="5132527" cy="2560320"/>
          </a:xfrm>
          <a:prstGeom prst="rect">
            <a:avLst/>
          </a:prstGeom>
          <a:noFill/>
        </p:spPr>
        <p:txBody>
          <a:bodyPr wrap="square" lIns="0" rIns="0" tIns="0" bIns="0">
            <a:noAutofit/>
          </a:bodyPr>
          <a:lstStyle/>
          <a:p>
            <a:pPr>
              <a:lnSpc>
                <a:spcPct val="102000"/>
              </a:lnSpc>
              <a:spcBef>
                <a:spcPts val="0"/>
              </a:spcBef>
              <a:spcAft>
                <a:spcPts val="0"/>
              </a:spcAft>
            </a:pPr>
            <a:r>
              <a:rPr sz="1200">
                <a:solidFill>
                  <a:srgbClr val="C2D0DA"/>
                </a:solidFill>
                <a:latin typeface="Consolas"/>
              </a:rPr>
              <a:t>Content-Type: application/json</a:t>
            </a:r>
          </a:p>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"title"</a:t>
            </a:r>
            <a:r>
              <a:rPr sz="1200">
                <a:solidFill>
                  <a:srgbClr val="C2D0DA"/>
                </a:solidFill>
                <a:latin typeface="Consolas"/>
              </a:rPr>
              <a:t>: </a:t>
            </a:r>
            <a:r>
              <a:rPr sz="1200">
                <a:solidFill>
                  <a:srgbClr val="E6A36A"/>
                </a:solidFill>
                <a:latin typeface="Consolas"/>
              </a:rPr>
              <a:t>"ships"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"description"</a:t>
            </a:r>
            <a:r>
              <a:rPr sz="1200">
                <a:solidFill>
                  <a:srgbClr val="C2D0DA"/>
                </a:solidFill>
                <a:latin typeface="Consolas"/>
              </a:rPr>
              <a:t>: </a:t>
            </a:r>
            <a:r>
              <a:rPr sz="1200">
                <a:solidFill>
                  <a:srgbClr val="E6A36A"/>
                </a:solidFill>
                <a:latin typeface="Consolas"/>
              </a:rPr>
              <a:t>"Danish AIS — 2024-08-07 (updated)"</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"itemType"</a:t>
            </a:r>
            <a:r>
              <a:rPr sz="1200">
                <a:solidFill>
                  <a:srgbClr val="C2D0DA"/>
                </a:solidFill>
                <a:latin typeface="Consolas"/>
              </a:rPr>
              <a:t>: </a:t>
            </a:r>
            <a:r>
              <a:rPr sz="1200">
                <a:solidFill>
                  <a:srgbClr val="E6A36A"/>
                </a:solidFill>
                <a:latin typeface="Consolas"/>
              </a:rPr>
              <a:t>"movingfeature"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"updateFrequency"</a:t>
            </a:r>
            <a:r>
              <a:rPr sz="1200">
                <a:solidFill>
                  <a:srgbClr val="C2D0DA"/>
                </a:solidFill>
                <a:latin typeface="Consolas"/>
              </a:rPr>
              <a:t>: </a:t>
            </a:r>
            <a:r>
              <a:rPr sz="1200">
                <a:solidFill>
                  <a:srgbClr val="C9E08A"/>
                </a:solidFill>
                <a:latin typeface="Consolas"/>
              </a:rPr>
              <a:t>2000</a:t>
            </a:r>
          </a:p>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latin typeface="Consolas"/>
              </a:rPr>
              <a:t> </a:t>
            </a:r>
          </a:p>
          <a:p>
            <a:pPr>
              <a:lnSpc>
                <a:spcPct val="102000"/>
              </a:lnSpc>
              <a:spcBef>
                <a:spcPts val="0"/>
              </a:spcBef>
              <a:spcAft>
                <a:spcPts val="0"/>
              </a:spcAft>
            </a:pPr>
            <a:r>
              <a:rPr sz="1200">
                <a:solidFill>
                  <a:srgbClr val="C9E08A"/>
                </a:solidFill>
                <a:latin typeface="Consolas"/>
              </a:rPr>
              <a:t>200</a:t>
            </a:r>
            <a:r>
              <a:rPr sz="1200">
                <a:solidFill>
                  <a:srgbClr val="C2D0DA"/>
                </a:solidFill>
                <a:latin typeface="Consolas"/>
              </a:rPr>
              <a:t> OK</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"ships"</a:t>
            </a:r>
            <a:r>
              <a:rPr sz="1200">
                <a:solidFill>
                  <a:srgbClr val="C2D0DA"/>
                </a:solidFill>
                <a:latin typeface="Consolas"/>
              </a:rPr>
              <a:t>, </a:t>
            </a:r>
            <a:r>
              <a:rPr sz="1200">
                <a:solidFill>
                  <a:srgbClr val="6FC3E0"/>
                </a:solidFill>
                <a:latin typeface="Consolas"/>
              </a:rPr>
              <a:t>"updateFrequency"</a:t>
            </a:r>
            <a:r>
              <a:rPr sz="1200">
                <a:solidFill>
                  <a:srgbClr val="C2D0DA"/>
                </a:solidFill>
                <a:latin typeface="Consolas"/>
              </a:rPr>
              <a:t>: </a:t>
            </a:r>
            <a:r>
              <a:rPr sz="1200">
                <a:solidFill>
                  <a:srgbClr val="C9E08A"/>
                </a:solidFill>
                <a:latin typeface="Consolas"/>
              </a:rPr>
              <a:t>2000</a:t>
            </a:r>
            <a:r>
              <a:rPr sz="1200">
                <a:solidFill>
                  <a:srgbClr val="C2D0DA"/>
                </a:solidFill>
                <a:latin typeface="Consolas"/>
              </a:rPr>
              <a:t>, ... }</a:t>
            </a:r>
          </a:p>
        </p:txBody>
      </p:sp>
      <p:sp>
        <p:nvSpPr>
          <p:cNvPr id="17" name="TextBox 16"/>
          <p:cNvSpPr txBox="1"/>
          <p:nvPr/>
        </p:nvSpPr>
        <p:spPr>
          <a:xfrm>
            <a:off x="6236208" y="4892040"/>
            <a:ext cx="5388559" cy="1097280"/>
          </a:xfrm>
          <a:prstGeom prst="rect">
            <a:avLst/>
          </a:prstGeom>
          <a:noFill/>
        </p:spPr>
        <p:txBody>
          <a:bodyPr wrap="square" lIns="0" rIns="0" tIns="0" bIns="0">
            <a:noAutofit/>
          </a:bodyPr>
          <a:lstStyle/>
          <a:p>
            <a:pPr>
              <a:lnSpc>
                <a:spcPct val="106000"/>
              </a:lnSpc>
              <a:spcBef>
                <a:spcPts val="0"/>
              </a:spcBef>
              <a:spcAft>
                <a:spcPts val="700"/>
              </a:spcAft>
            </a:pPr>
            <a:r>
              <a:rPr sz="1200" b="1">
                <a:solidFill>
                  <a:srgbClr val="156082"/>
                </a:solidFill>
                <a:latin typeface="Calibri"/>
              </a:rPr>
              <a:t>▸  </a:t>
            </a:r>
            <a:r>
              <a:rPr sz="1200">
                <a:solidFill>
                  <a:srgbClr val="1E2B36"/>
                </a:solidFill>
                <a:latin typeface="Calibri"/>
              </a:rPr>
              <a:t>PUT replaces the full collection resource</a:t>
            </a:r>
          </a:p>
          <a:p>
            <a:pPr>
              <a:lnSpc>
                <a:spcPct val="106000"/>
              </a:lnSpc>
              <a:spcBef>
                <a:spcPts val="0"/>
              </a:spcBef>
              <a:spcAft>
                <a:spcPts val="700"/>
              </a:spcAft>
            </a:pPr>
            <a:r>
              <a:rPr sz="1200" b="1">
                <a:solidFill>
                  <a:srgbClr val="156082"/>
                </a:solidFill>
                <a:latin typeface="Calibri"/>
              </a:rPr>
              <a:t>▸  </a:t>
            </a:r>
            <a:r>
              <a:rPr sz="1200">
                <a:solidFill>
                  <a:srgbClr val="1E2B36"/>
                </a:solidFill>
                <a:latin typeface="Calibri"/>
              </a:rPr>
              <a:t>DELETE cascades to items, temporal geometries and properties</a:t>
            </a:r>
          </a:p>
        </p:txBody>
      </p:sp>
      <p:sp>
        <p:nvSpPr>
          <p:cNvPr id="18" name="Rectangle 17"/>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20" name="TextBox 19"/>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MOVING FEATURES</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Insert Vessels as a FeatureCollection</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54480"/>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POST</a:t>
            </a:r>
          </a:p>
        </p:txBody>
      </p:sp>
      <p:sp>
        <p:nvSpPr>
          <p:cNvPr id="6" name="TextBox 5"/>
          <p:cNvSpPr txBox="1"/>
          <p:nvPr/>
        </p:nvSpPr>
        <p:spPr>
          <a:xfrm>
            <a:off x="1389888" y="1545336"/>
            <a:ext cx="10234879"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/collections/ships/items</a:t>
            </a:r>
          </a:p>
        </p:txBody>
      </p:sp>
      <p:sp>
        <p:nvSpPr>
          <p:cNvPr id="7" name="Rounded Rectangle 6"/>
          <p:cNvSpPr/>
          <p:nvPr/>
        </p:nvSpPr>
        <p:spPr>
          <a:xfrm>
            <a:off x="566928" y="1847088"/>
            <a:ext cx="6903720" cy="448056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DEPANEL"/>
          <p:cNvSpPr txBox="1"/>
          <p:nvPr/>
        </p:nvSpPr>
        <p:spPr>
          <a:xfrm>
            <a:off x="694944" y="1938528"/>
            <a:ext cx="6647688" cy="4297680"/>
          </a:xfrm>
          <a:prstGeom prst="rect">
            <a:avLst/>
          </a:prstGeom>
          <a:noFill/>
        </p:spPr>
        <p:txBody>
          <a:bodyPr wrap="square" lIns="0" rIns="0" tIns="0" bIns="0">
            <a:noAutofit/>
          </a:bodyPr>
          <a:lstStyle/>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"FeatureCollection"</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"features"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"Feature"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"205106000"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"MARCUS"</a:t>
            </a:r>
            <a:r>
              <a:rPr sz="1200">
                <a:solidFill>
                  <a:srgbClr val="C2D0DA"/>
                </a:solidFill>
                <a:latin typeface="Consolas"/>
              </a:rPr>
              <a:t>, </a:t>
            </a:r>
            <a:r>
              <a:rPr sz="1200">
                <a:solidFill>
                  <a:srgbClr val="6FC3E0"/>
                </a:solidFill>
                <a:latin typeface="Consolas"/>
              </a:rPr>
              <a:t>"ShipType"</a:t>
            </a:r>
            <a:r>
              <a:rPr sz="1200">
                <a:solidFill>
                  <a:srgbClr val="C2D0DA"/>
                </a:solidFill>
                <a:latin typeface="Consolas"/>
              </a:rPr>
              <a:t>: </a:t>
            </a:r>
            <a:r>
              <a:rPr sz="1200">
                <a:solidFill>
                  <a:srgbClr val="E6A36A"/>
                </a:solidFill>
                <a:latin typeface="Consolas"/>
              </a:rPr>
              <a:t>"Cargo"</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"IMO"</a:t>
            </a:r>
            <a:r>
              <a:rPr sz="1200">
                <a:solidFill>
                  <a:srgbClr val="C2D0DA"/>
                </a:solidFill>
                <a:latin typeface="Consolas"/>
              </a:rPr>
              <a:t>: </a:t>
            </a:r>
            <a:r>
              <a:rPr sz="1200">
                <a:solidFill>
                  <a:srgbClr val="E6A36A"/>
                </a:solidFill>
                <a:latin typeface="Consolas"/>
              </a:rPr>
              <a:t>"9313656"</a:t>
            </a:r>
            <a:r>
              <a:rPr sz="1200">
                <a:solidFill>
                  <a:srgbClr val="C2D0DA"/>
                </a:solidFill>
                <a:latin typeface="Consolas"/>
              </a:rPr>
              <a:t>, </a:t>
            </a:r>
            <a:r>
              <a:rPr sz="1200">
                <a:solidFill>
                  <a:srgbClr val="6FC3E0"/>
                </a:solidFill>
                <a:latin typeface="Consolas"/>
              </a:rPr>
              <a:t>"Destination"</a:t>
            </a:r>
            <a:r>
              <a:rPr sz="1200">
                <a:solidFill>
                  <a:srgbClr val="C2D0DA"/>
                </a:solidFill>
                <a:latin typeface="Consolas"/>
              </a:rPr>
              <a:t>: </a:t>
            </a:r>
            <a:r>
              <a:rPr sz="1200">
                <a:solidFill>
                  <a:srgbClr val="E6A36A"/>
                </a:solidFill>
                <a:latin typeface="Consolas"/>
              </a:rPr>
              <a:t>"PL GDN"</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"crs"</a:t>
            </a:r>
            <a:r>
              <a:rPr sz="1200">
                <a:solidFill>
                  <a:srgbClr val="C2D0DA"/>
                </a:solidFill>
                <a:latin typeface="Consolas"/>
              </a:rPr>
              <a:t>: {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"name"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"urn:ogc:def:crs:EPSG::25832"</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"trs"</a:t>
            </a:r>
            <a:r>
              <a:rPr sz="1200">
                <a:solidFill>
                  <a:srgbClr val="C2D0DA"/>
                </a:solidFill>
                <a:latin typeface="Consolas"/>
              </a:rPr>
              <a:t>: {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"Link"</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"ogcdef"</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"href"</a:t>
            </a:r>
            <a:r>
              <a:rPr sz="1200">
                <a:solidFill>
                  <a:srgbClr val="C2D0DA"/>
                </a:solidFill>
                <a:latin typeface="Consolas"/>
              </a:rPr>
              <a:t>: </a:t>
            </a:r>
            <a:r>
              <a:rPr sz="1200">
                <a:solidFill>
                  <a:srgbClr val="E6A36A"/>
                </a:solidFill>
                <a:latin typeface="Consolas"/>
              </a:rPr>
              <a:t>".../def/uom/ISO-8601/0/Gregorian"</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"temporalGeometry"</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"MovingPoint"</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"datetimes"</a:t>
            </a:r>
            <a:r>
              <a:rPr sz="1200">
                <a:solidFill>
                  <a:srgbClr val="C2D0DA"/>
                </a:solidFill>
                <a:latin typeface="Consolas"/>
              </a:rPr>
              <a:t>: [</a:t>
            </a:r>
            <a:r>
              <a:rPr sz="1200">
                <a:solidFill>
                  <a:srgbClr val="E6A36A"/>
                </a:solidFill>
                <a:latin typeface="Consolas"/>
              </a:rPr>
              <a:t>"2024-08-07T11:04:09+00"</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"coordinates"</a:t>
            </a:r>
            <a:r>
              <a:rPr sz="1200">
                <a:solidFill>
                  <a:srgbClr val="C2D0DA"/>
                </a:solidFill>
                <a:latin typeface="Consolas"/>
              </a:rPr>
              <a:t>: [[</a:t>
            </a:r>
            <a:r>
              <a:rPr sz="1200">
                <a:solidFill>
                  <a:srgbClr val="C9E08A"/>
                </a:solidFill>
                <a:latin typeface="Consolas"/>
              </a:rPr>
              <a:t>521540.85</a:t>
            </a:r>
            <a:r>
              <a:rPr sz="1200">
                <a:solidFill>
                  <a:srgbClr val="C2D0DA"/>
                </a:solidFill>
                <a:latin typeface="Consolas"/>
              </a:rPr>
              <a:t>, </a:t>
            </a:r>
            <a:r>
              <a:rPr sz="1200">
                <a:solidFill>
                  <a:srgbClr val="C9E08A"/>
                </a:solidFill>
                <a:latin typeface="Consolas"/>
              </a:rPr>
              <a:t>5995709.13</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"interpolation"</a:t>
            </a:r>
            <a:r>
              <a:rPr sz="1200">
                <a:solidFill>
                  <a:srgbClr val="C2D0DA"/>
                </a:solidFill>
                <a:latin typeface="Consolas"/>
              </a:rPr>
              <a:t>: </a:t>
            </a:r>
            <a:r>
              <a:rPr sz="1200">
                <a:solidFill>
                  <a:srgbClr val="E6A36A"/>
                </a:solidFill>
                <a:latin typeface="Consolas"/>
              </a:rPr>
              <a:t>"Linear"</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a:t>
            </a:r>
          </a:p>
        </p:txBody>
      </p:sp>
      <p:sp>
        <p:nvSpPr>
          <p:cNvPr id="9" name="TextBox 8"/>
          <p:cNvSpPr txBox="1"/>
          <p:nvPr/>
        </p:nvSpPr>
        <p:spPr>
          <a:xfrm>
            <a:off x="7744967" y="1920240"/>
            <a:ext cx="3879799" cy="274320"/>
          </a:xfrm>
          <a:prstGeom prst="rect">
            <a:avLst/>
          </a:prstGeom>
          <a:noFill/>
        </p:spPr>
        <p:txBody>
          <a:bodyPr wrap="square" anchor="t" lIns="0" rIns="0" tIns="0" bIns="0">
            <a:noAutofit/>
          </a:bodyPr>
          <a:lstStyle/>
          <a:p>
            <a:pPr algn="l">
              <a:spcBef>
                <a:spcPts val="0"/>
              </a:spcBef>
              <a:spcAft>
                <a:spcPts val="200"/>
              </a:spcAft>
            </a:pPr>
            <a:r>
              <a:rPr sz="1200" b="1" i="0">
                <a:solidFill>
                  <a:srgbClr val="196B24"/>
                </a:solidFill>
                <a:latin typeface="Consolas"/>
              </a:rPr>
              <a:t>201 Created</a:t>
            </a:r>
          </a:p>
        </p:txBody>
      </p:sp>
      <p:sp>
        <p:nvSpPr>
          <p:cNvPr id="10" name="Rounded Rectangle 9"/>
          <p:cNvSpPr/>
          <p:nvPr/>
        </p:nvSpPr>
        <p:spPr>
          <a:xfrm>
            <a:off x="7744967" y="2194560"/>
            <a:ext cx="3879799" cy="100584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ODEPANEL"/>
          <p:cNvSpPr txBox="1"/>
          <p:nvPr/>
        </p:nvSpPr>
        <p:spPr>
          <a:xfrm>
            <a:off x="7872983" y="2286000"/>
            <a:ext cx="3623767" cy="822960"/>
          </a:xfrm>
          <a:prstGeom prst="rect">
            <a:avLst/>
          </a:prstGeom>
          <a:noFill/>
        </p:spPr>
        <p:txBody>
          <a:bodyPr wrap="square" lIns="0" rIns="0" tIns="0" bIns="0">
            <a:noAutofit/>
          </a:bodyPr>
          <a:lstStyle/>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"message"</a:t>
            </a:r>
            <a:r>
              <a:rPr sz="1200">
                <a:solidFill>
                  <a:srgbClr val="C2D0DA"/>
                </a:solidFill>
                <a:latin typeface="Consolas"/>
              </a:rPr>
              <a:t>: </a:t>
            </a:r>
            <a:r>
              <a:rPr sz="1200">
                <a:solidFill>
                  <a:srgbClr val="E6A36A"/>
                </a:solidFill>
                <a:latin typeface="Consolas"/>
              </a:rPr>
              <a:t>"Created 1 features"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"ids"</a:t>
            </a:r>
            <a:r>
              <a:rPr sz="1200">
                <a:solidFill>
                  <a:srgbClr val="C2D0DA"/>
                </a:solidFill>
                <a:latin typeface="Consolas"/>
              </a:rPr>
              <a:t>: [</a:t>
            </a:r>
            <a:r>
              <a:rPr sz="1200">
                <a:solidFill>
                  <a:srgbClr val="E6A36A"/>
                </a:solidFill>
                <a:latin typeface="Consolas"/>
              </a:rPr>
              <a:t>"205106000"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a:t>
            </a:r>
          </a:p>
        </p:txBody>
      </p:sp>
      <p:sp>
        <p:nvSpPr>
          <p:cNvPr id="12" name="TextBox 11"/>
          <p:cNvSpPr txBox="1"/>
          <p:nvPr/>
        </p:nvSpPr>
        <p:spPr>
          <a:xfrm>
            <a:off x="7744967" y="3429000"/>
            <a:ext cx="3879799" cy="2468880"/>
          </a:xfrm>
          <a:prstGeom prst="rect">
            <a:avLst/>
          </a:prstGeom>
          <a:noFill/>
        </p:spPr>
        <p:txBody>
          <a:bodyPr wrap="square" lIns="0" rIns="0" tIns="0" bIns="0">
            <a:noAutofit/>
          </a:bodyPr>
          <a:lstStyle/>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Accepts a single Feature or a FeatureCollection</a:t>
            </a:r>
          </a:p>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MovingFeaturesJSON payload is validated on insert</a:t>
            </a:r>
          </a:p>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id is the vessel MMSI; properties are free-form</a:t>
            </a:r>
          </a:p>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Location header returned per created feature</a:t>
            </a:r>
          </a:p>
        </p:txBody>
      </p:sp>
      <p:sp>
        <p:nvSpPr>
          <p:cNvPr id="13" name="Rectangle 12"/>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5" name="TextBox 14"/>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11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MOVING FEATURES</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List · Retrieve · Delete Vessels</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6" name="TextBox 5"/>
          <p:cNvSpPr txBox="1"/>
          <p:nvPr/>
        </p:nvSpPr>
        <p:spPr>
          <a:xfrm>
            <a:off x="1316736" y="1545336"/>
            <a:ext cx="4736592"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/collections/ships/items?limit=50</a:t>
            </a:r>
          </a:p>
        </p:txBody>
      </p:sp>
      <p:sp>
        <p:nvSpPr>
          <p:cNvPr id="7" name="Rounded Rectangle 6"/>
          <p:cNvSpPr/>
          <p:nvPr/>
        </p:nvSpPr>
        <p:spPr>
          <a:xfrm>
            <a:off x="566928" y="1920240"/>
            <a:ext cx="5486400" cy="329184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DEPANEL"/>
          <p:cNvSpPr txBox="1"/>
          <p:nvPr/>
        </p:nvSpPr>
        <p:spPr>
          <a:xfrm>
            <a:off x="694944" y="2011680"/>
            <a:ext cx="5230368" cy="3108960"/>
          </a:xfrm>
          <a:prstGeom prst="rect">
            <a:avLst/>
          </a:prstGeom>
          <a:noFill/>
        </p:spPr>
        <p:txBody>
          <a:bodyPr wrap="square" lIns="0" rIns="0" tIns="0" bIns="0">
            <a:noAutofit/>
          </a:bodyPr>
          <a:lstStyle/>
          <a:p>
            <a:pPr>
              <a:lnSpc>
                <a:spcPct val="102000"/>
              </a:lnSpc>
              <a:spcBef>
                <a:spcPts val="0"/>
              </a:spcBef>
              <a:spcAft>
                <a:spcPts val="0"/>
              </a:spcAft>
            </a:pPr>
            <a:r>
              <a:rPr sz="1200">
                <a:solidFill>
                  <a:srgbClr val="C9E08A"/>
                </a:solidFill>
                <a:latin typeface="Consolas"/>
              </a:rPr>
              <a:t>200</a:t>
            </a:r>
            <a:r>
              <a:rPr sz="1200">
                <a:solidFill>
                  <a:srgbClr val="C2D0DA"/>
                </a:solidFill>
                <a:latin typeface="Consolas"/>
              </a:rPr>
              <a:t> OK</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"FeatureCollection"</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"features"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"Feature"</a:t>
            </a: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"205106000"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"geometry"</a:t>
            </a:r>
            <a:r>
              <a:rPr sz="1200">
                <a:solidFill>
                  <a:srgbClr val="C2D0DA"/>
                </a:solidFill>
                <a:latin typeface="Consolas"/>
              </a:rPr>
              <a:t>: {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"LineString"</a:t>
            </a:r>
            <a:r>
              <a:rPr sz="1200">
                <a:solidFill>
                  <a:srgbClr val="C2D0DA"/>
                </a:solidFill>
                <a:latin typeface="Consolas"/>
              </a:rPr>
              <a:t>, </a:t>
            </a:r>
            <a:r>
              <a:rPr sz="1200">
                <a:solidFill>
                  <a:srgbClr val="6FC3E0"/>
                </a:solidFill>
                <a:latin typeface="Consolas"/>
              </a:rPr>
              <a:t>"coordinates"</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"MARCUS"</a:t>
            </a:r>
            <a:r>
              <a:rPr sz="1200">
                <a:solidFill>
                  <a:srgbClr val="C2D0DA"/>
                </a:solidFill>
                <a:latin typeface="Consolas"/>
              </a:rPr>
              <a:t>, </a:t>
            </a:r>
            <a:r>
              <a:rPr sz="1200">
                <a:solidFill>
                  <a:srgbClr val="6FC3E0"/>
                </a:solidFill>
                <a:latin typeface="Consolas"/>
              </a:rPr>
              <a:t>"ShipType"</a:t>
            </a:r>
            <a:r>
              <a:rPr sz="1200">
                <a:solidFill>
                  <a:srgbClr val="C2D0DA"/>
                </a:solidFill>
                <a:latin typeface="Consolas"/>
              </a:rPr>
              <a:t>: </a:t>
            </a:r>
            <a:r>
              <a:rPr sz="1200">
                <a:solidFill>
                  <a:srgbClr val="E6A36A"/>
                </a:solidFill>
                <a:latin typeface="Consolas"/>
              </a:rPr>
              <a:t>"Cargo"</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"bbox"</a:t>
            </a:r>
            <a:r>
              <a:rPr sz="1200">
                <a:solidFill>
                  <a:srgbClr val="C2D0DA"/>
                </a:solidFill>
                <a:latin typeface="Consolas"/>
              </a:rPr>
              <a:t>: [</a:t>
            </a:r>
            <a:r>
              <a:rPr sz="1200">
                <a:solidFill>
                  <a:srgbClr val="C9E08A"/>
                </a:solidFill>
                <a:latin typeface="Consolas"/>
              </a:rPr>
              <a:t>521540.8</a:t>
            </a:r>
            <a:r>
              <a:rPr sz="1200">
                <a:solidFill>
                  <a:srgbClr val="C2D0DA"/>
                </a:solidFill>
                <a:latin typeface="Consolas"/>
              </a:rPr>
              <a:t>, </a:t>
            </a:r>
            <a:r>
              <a:rPr sz="1200">
                <a:solidFill>
                  <a:srgbClr val="C9E08A"/>
                </a:solidFill>
                <a:latin typeface="Consolas"/>
              </a:rPr>
              <a:t>5995709.1</a:t>
            </a:r>
            <a:r>
              <a:rPr sz="1200">
                <a:solidFill>
                  <a:srgbClr val="C2D0DA"/>
                </a:solidFill>
                <a:latin typeface="Consolas"/>
              </a:rPr>
              <a:t>, </a:t>
            </a:r>
            <a:r>
              <a:rPr sz="1200">
                <a:solidFill>
                  <a:srgbClr val="C9E08A"/>
                </a:solidFill>
                <a:latin typeface="Consolas"/>
              </a:rPr>
              <a:t>569588.8</a:t>
            </a:r>
            <a:r>
              <a:rPr sz="1200">
                <a:solidFill>
                  <a:srgbClr val="C2D0DA"/>
                </a:solidFill>
                <a:latin typeface="Consolas"/>
              </a:rPr>
              <a:t>, </a:t>
            </a:r>
            <a:r>
              <a:rPr sz="1200">
                <a:solidFill>
                  <a:srgbClr val="C9E08A"/>
                </a:solidFill>
                <a:latin typeface="Consolas"/>
              </a:rPr>
              <a:t>6024716.7</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"crs"</a:t>
            </a:r>
            <a:r>
              <a:rPr sz="1200">
                <a:solidFill>
                  <a:srgbClr val="C2D0DA"/>
                </a:solidFill>
                <a:latin typeface="Consolas"/>
              </a:rPr>
              <a:t>: { ... }, </a:t>
            </a:r>
            <a:r>
              <a:rPr sz="1200">
                <a:solidFill>
                  <a:srgbClr val="6FC3E0"/>
                </a:solidFill>
                <a:latin typeface="Consolas"/>
              </a:rPr>
              <a:t>"trs"</a:t>
            </a:r>
            <a:r>
              <a:rPr sz="1200">
                <a:solidFill>
                  <a:srgbClr val="C2D0DA"/>
                </a:solidFill>
                <a:latin typeface="Consolas"/>
              </a:rPr>
              <a:t>: </a:t>
            </a:r>
            <a:r>
              <a:rPr sz="1200">
                <a:solidFill>
                  <a:srgbClr val="CBA0E8"/>
                </a:solidFill>
                <a:latin typeface="Consolas"/>
              </a:rPr>
              <a:t>null</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"time"</a:t>
            </a:r>
            <a:r>
              <a:rPr sz="1200">
                <a:solidFill>
                  <a:srgbClr val="C2D0DA"/>
                </a:solidFill>
                <a:latin typeface="Consolas"/>
              </a:rPr>
              <a:t>: [</a:t>
            </a:r>
            <a:r>
              <a:rPr sz="1200">
                <a:solidFill>
                  <a:srgbClr val="E6A36A"/>
                </a:solidFill>
                <a:latin typeface="Consolas"/>
              </a:rPr>
              <a:t>"2024-08-07 11:04:09+00"</a:t>
            </a:r>
            <a:r>
              <a:rPr sz="1200">
                <a:solidFill>
                  <a:srgbClr val="C2D0DA"/>
                </a:solidFill>
                <a:latin typeface="Consolas"/>
              </a:rPr>
              <a:t>, </a:t>
            </a:r>
            <a:r>
              <a:rPr sz="1200">
                <a:solidFill>
                  <a:srgbClr val="E6A36A"/>
                </a:solidFill>
                <a:latin typeface="Consolas"/>
              </a:rPr>
              <a:t>"2024-08-07 16:43:09+00"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"links"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"self"</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".../temporal-geometry"</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".../temporal-properties"</a:t>
            </a:r>
            <a:r>
              <a:rPr sz="1200">
                <a:solidFill>
                  <a:srgbClr val="C2D0DA"/>
                </a:solidFill>
                <a:latin typeface="Consolas"/>
              </a:rPr>
              <a:t>, ... } ] }</a:t>
            </a:r>
          </a:p>
          <a:p>
            <a:pPr>
              <a:lnSpc>
                <a:spcPct val="102000"/>
              </a:lnSpc>
              <a:spcBef>
                <a:spcPts val="0"/>
              </a:spcBef>
              <a:spcAft>
                <a:spcPts val="0"/>
              </a:spcAft>
            </a:pPr>
            <a:r>
              <a:rPr sz="1200">
                <a:solidFill>
                  <a:srgbClr val="C2D0DA"/>
                </a:solidFill>
                <a:latin typeface="Consolas"/>
              </a:rPr>
              <a:t>  ] }</a:t>
            </a:r>
          </a:p>
        </p:txBody>
      </p:sp>
      <p:sp>
        <p:nvSpPr>
          <p:cNvPr id="9" name="Rounded Rectangle 8"/>
          <p:cNvSpPr/>
          <p:nvPr/>
        </p:nvSpPr>
        <p:spPr>
          <a:xfrm>
            <a:off x="566928" y="534924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10" name="TextBox 9"/>
          <p:cNvSpPr txBox="1"/>
          <p:nvPr/>
        </p:nvSpPr>
        <p:spPr>
          <a:xfrm>
            <a:off x="1316736" y="5340096"/>
            <a:ext cx="1901952"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…/items/{mFeatureId}</a:t>
            </a:r>
          </a:p>
        </p:txBody>
      </p:sp>
      <p:sp>
        <p:nvSpPr>
          <p:cNvPr id="11" name="Rounded Rectangle 10"/>
          <p:cNvSpPr/>
          <p:nvPr/>
        </p:nvSpPr>
        <p:spPr>
          <a:xfrm>
            <a:off x="3310128" y="5349240"/>
            <a:ext cx="932688" cy="292608"/>
          </a:xfrm>
          <a:prstGeom prst="roundRect">
            <a:avLst>
              <a:gd name="adj" fmla="val 4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DELETE</a:t>
            </a:r>
          </a:p>
        </p:txBody>
      </p:sp>
      <p:sp>
        <p:nvSpPr>
          <p:cNvPr id="12" name="TextBox 11"/>
          <p:cNvSpPr txBox="1"/>
          <p:nvPr/>
        </p:nvSpPr>
        <p:spPr>
          <a:xfrm>
            <a:off x="4352544" y="5340096"/>
            <a:ext cx="1700783"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…/items/{mFeatureId}</a:t>
            </a:r>
          </a:p>
        </p:txBody>
      </p:sp>
      <p:sp>
        <p:nvSpPr>
          <p:cNvPr id="13" name="TextBox 12"/>
          <p:cNvSpPr txBox="1"/>
          <p:nvPr/>
        </p:nvSpPr>
        <p:spPr>
          <a:xfrm>
            <a:off x="566928" y="5715000"/>
            <a:ext cx="5486400" cy="274320"/>
          </a:xfrm>
          <a:prstGeom prst="rect">
            <a:avLst/>
          </a:prstGeom>
          <a:noFill/>
        </p:spPr>
        <p:txBody>
          <a:bodyPr wrap="square" anchor="t" lIns="0" rIns="0" tIns="0" bIns="0">
            <a:noAutofit/>
          </a:bodyPr>
          <a:lstStyle/>
          <a:p>
            <a:pPr algn="l">
              <a:spcBef>
                <a:spcPts val="0"/>
              </a:spcBef>
              <a:spcAft>
                <a:spcPts val="200"/>
              </a:spcAft>
            </a:pPr>
            <a:r>
              <a:rPr sz="1200" b="0" i="1">
                <a:solidFill>
                  <a:srgbClr val="5B6B78"/>
                </a:solidFill>
                <a:latin typeface="Calibri"/>
              </a:rPr>
              <a:t>single feature movement (asMFJSON)  ·  remove one vessel</a:t>
            </a:r>
          </a:p>
        </p:txBody>
      </p:sp>
      <p:pic>
        <p:nvPicPr>
          <p:cNvPr id="14" name="Picture 13" descr="fig_overview.png"/>
          <p:cNvPicPr>
            <a:picLocks noChangeAspect="1"/>
          </p:cNvPicPr>
          <p:nvPr/>
        </p:nvPicPr>
        <p:blipFill>
          <a:blip r:embed="rId2"/>
          <a:stretch>
            <a:fillRect/>
          </a:stretch>
        </p:blipFill>
        <p:spPr>
          <a:xfrm>
            <a:off x="6492240" y="1783080"/>
            <a:ext cx="5303520" cy="3559126"/>
          </a:xfrm>
          <a:prstGeom prst="rect">
            <a:avLst/>
          </a:prstGeom>
        </p:spPr>
      </p:pic>
      <p:sp>
        <p:nvSpPr>
          <p:cNvPr id="15" name="TextBox 14"/>
          <p:cNvSpPr txBox="1"/>
          <p:nvPr/>
        </p:nvSpPr>
        <p:spPr>
          <a:xfrm>
            <a:off x="6492240" y="5989320"/>
            <a:ext cx="5303520" cy="274320"/>
          </a:xfrm>
          <a:prstGeom prst="rect">
            <a:avLst/>
          </a:prstGeom>
          <a:noFill/>
        </p:spPr>
        <p:txBody>
          <a:bodyPr wrap="square" anchor="t" lIns="0" rIns="0" tIns="0" bIns="0">
            <a:noAutofit/>
          </a:bodyPr>
          <a:lstStyle/>
          <a:p>
            <a:pPr algn="ctr">
              <a:spcBef>
                <a:spcPts val="0"/>
              </a:spcBef>
              <a:spcAft>
                <a:spcPts val="200"/>
              </a:spcAft>
            </a:pPr>
            <a:r>
              <a:rPr sz="1200" b="0" i="1">
                <a:solidFill>
                  <a:srgbClr val="5B6B78"/>
                </a:solidFill>
                <a:latin typeface="Calibri"/>
              </a:rPr>
              <a:t>GET …/items returns the FeatureCollection (limit caps page size)</a:t>
            </a:r>
          </a:p>
        </p:txBody>
      </p:sp>
      <p:sp>
        <p:nvSpPr>
          <p:cNvPr id="16" name="Rectangle 15"/>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8" name="TextBox 17"/>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12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SPATIAL FILTER</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Vessels Intersecting a Bounding Box</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7276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6" name="TextBox 5"/>
          <p:cNvSpPr txBox="1"/>
          <p:nvPr/>
        </p:nvSpPr>
        <p:spPr>
          <a:xfrm>
            <a:off x="1316736" y="1563624"/>
            <a:ext cx="4736592"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/collections/ships/items?bbox=…</a:t>
            </a:r>
          </a:p>
        </p:txBody>
      </p:sp>
      <p:sp>
        <p:nvSpPr>
          <p:cNvPr id="7" name="Rounded Rectangle 6"/>
          <p:cNvSpPr/>
          <p:nvPr/>
        </p:nvSpPr>
        <p:spPr>
          <a:xfrm>
            <a:off x="566928" y="1920240"/>
            <a:ext cx="5486400" cy="178308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DEPANEL"/>
          <p:cNvSpPr txBox="1"/>
          <p:nvPr/>
        </p:nvSpPr>
        <p:spPr>
          <a:xfrm>
            <a:off x="694944" y="2011680"/>
            <a:ext cx="5230368" cy="1600200"/>
          </a:xfrm>
          <a:prstGeom prst="rect">
            <a:avLst/>
          </a:prstGeom>
          <a:noFill/>
        </p:spPr>
        <p:txBody>
          <a:bodyPr wrap="square" lIns="0" rIns="0" tIns="0" bIns="0">
            <a:noAutofit/>
          </a:bodyPr>
          <a:lstStyle/>
          <a:p>
            <a:pPr>
              <a:lnSpc>
                <a:spcPct val="102000"/>
              </a:lnSpc>
              <a:spcBef>
                <a:spcPts val="0"/>
              </a:spcBef>
              <a:spcAft>
                <a:spcPts val="0"/>
              </a:spcAft>
            </a:pPr>
            <a:r>
              <a:rPr sz="1200">
                <a:solidFill>
                  <a:srgbClr val="C2D0DA"/>
                </a:solidFill>
                <a:latin typeface="Consolas"/>
              </a:rPr>
              <a:t>GET /collections/ships/items</a:t>
            </a:r>
          </a:p>
          <a:p>
            <a:pPr>
              <a:lnSpc>
                <a:spcPct val="102000"/>
              </a:lnSpc>
              <a:spcBef>
                <a:spcPts val="0"/>
              </a:spcBef>
              <a:spcAft>
                <a:spcPts val="0"/>
              </a:spcAft>
            </a:pPr>
            <a:r>
              <a:rPr sz="1200">
                <a:solidFill>
                  <a:srgbClr val="C2D0DA"/>
                </a:solidFill>
                <a:latin typeface="Consolas"/>
              </a:rPr>
              <a:t>      ?bbox=</a:t>
            </a:r>
            <a:r>
              <a:rPr sz="1200">
                <a:solidFill>
                  <a:srgbClr val="C9E08A"/>
                </a:solidFill>
                <a:latin typeface="Consolas"/>
              </a:rPr>
              <a:t>651135</a:t>
            </a:r>
            <a:r>
              <a:rPr sz="1200">
                <a:solidFill>
                  <a:srgbClr val="C2D0DA"/>
                </a:solidFill>
                <a:latin typeface="Consolas"/>
              </a:rPr>
              <a:t>,</a:t>
            </a:r>
            <a:r>
              <a:rPr sz="1200">
                <a:solidFill>
                  <a:srgbClr val="C9E08A"/>
                </a:solidFill>
                <a:latin typeface="Consolas"/>
              </a:rPr>
              <a:t>6058230</a:t>
            </a:r>
            <a:r>
              <a:rPr sz="1200">
                <a:solidFill>
                  <a:srgbClr val="C2D0DA"/>
                </a:solidFill>
                <a:latin typeface="Consolas"/>
              </a:rPr>
              <a:t>,</a:t>
            </a:r>
            <a:r>
              <a:rPr sz="1200">
                <a:solidFill>
                  <a:srgbClr val="C9E08A"/>
                </a:solidFill>
                <a:latin typeface="Consolas"/>
              </a:rPr>
              <a:t>651422</a:t>
            </a:r>
            <a:r>
              <a:rPr sz="1200">
                <a:solidFill>
                  <a:srgbClr val="C2D0DA"/>
                </a:solidFill>
                <a:latin typeface="Consolas"/>
              </a:rPr>
              <a:t>,</a:t>
            </a:r>
            <a:r>
              <a:rPr sz="1200">
                <a:solidFill>
                  <a:srgbClr val="C9E08A"/>
                </a:solidFill>
                <a:latin typeface="Consolas"/>
              </a:rPr>
              <a:t>6058548</a:t>
            </a:r>
          </a:p>
          <a:p>
            <a:pPr>
              <a:lnSpc>
                <a:spcPct val="102000"/>
              </a:lnSpc>
              <a:spcBef>
                <a:spcPts val="0"/>
              </a:spcBef>
              <a:spcAft>
                <a:spcPts val="0"/>
              </a:spcAft>
            </a:pPr>
            <a:r>
              <a:rPr sz="1200">
                <a:solidFill>
                  <a:srgbClr val="C2D0DA"/>
                </a:solidFill>
                <a:latin typeface="Consolas"/>
              </a:rPr>
              <a:t>      &amp;limit=</a:t>
            </a:r>
            <a:r>
              <a:rPr sz="1200">
                <a:solidFill>
                  <a:srgbClr val="C9E08A"/>
                </a:solidFill>
                <a:latin typeface="Consolas"/>
              </a:rPr>
              <a:t>97</a:t>
            </a:r>
          </a:p>
          <a:p>
            <a:pPr>
              <a:lnSpc>
                <a:spcPct val="102000"/>
              </a:lnSpc>
              <a:spcBef>
                <a:spcPts val="0"/>
              </a:spcBef>
              <a:spcAft>
                <a:spcPts val="0"/>
              </a:spcAft>
            </a:pPr>
            <a:r>
              <a:rPr sz="1200">
                <a:latin typeface="Consolas"/>
              </a:rPr>
              <a:t> </a:t>
            </a:r>
          </a:p>
          <a:p>
            <a:pPr>
              <a:lnSpc>
                <a:spcPct val="102000"/>
              </a:lnSpc>
              <a:spcBef>
                <a:spcPts val="0"/>
              </a:spcBef>
              <a:spcAft>
                <a:spcPts val="0"/>
              </a:spcAft>
            </a:pPr>
            <a:r>
              <a:rPr sz="1200">
                <a:solidFill>
                  <a:srgbClr val="7E94A6"/>
                </a:solidFill>
                <a:latin typeface="Consolas"/>
              </a:rPr>
              <a:t>// bbox = minx,miny,maxx,maxy in the storage CRS</a:t>
            </a:r>
          </a:p>
          <a:p>
            <a:pPr>
              <a:lnSpc>
                <a:spcPct val="102000"/>
              </a:lnSpc>
              <a:spcBef>
                <a:spcPts val="0"/>
              </a:spcBef>
              <a:spcAft>
                <a:spcPts val="0"/>
              </a:spcAft>
            </a:pPr>
            <a:r>
              <a:rPr sz="1200">
                <a:solidFill>
                  <a:srgbClr val="7E94A6"/>
                </a:solidFill>
                <a:latin typeface="Consolas"/>
              </a:rPr>
              <a:t>// EPSG:25832 (metres) — here a tight envelope</a:t>
            </a:r>
          </a:p>
          <a:p>
            <a:pPr>
              <a:lnSpc>
                <a:spcPct val="102000"/>
              </a:lnSpc>
              <a:spcBef>
                <a:spcPts val="0"/>
              </a:spcBef>
              <a:spcAft>
                <a:spcPts val="0"/>
              </a:spcAft>
            </a:pPr>
            <a:r>
              <a:rPr sz="1200">
                <a:solidFill>
                  <a:srgbClr val="7E94A6"/>
                </a:solidFill>
                <a:latin typeface="Consolas"/>
              </a:rPr>
              <a:t>// around Rødby ferry harbour, SE Denmark</a:t>
            </a:r>
          </a:p>
        </p:txBody>
      </p:sp>
      <p:sp>
        <p:nvSpPr>
          <p:cNvPr id="9" name="TextBox 8"/>
          <p:cNvSpPr txBox="1"/>
          <p:nvPr/>
        </p:nvSpPr>
        <p:spPr>
          <a:xfrm>
            <a:off x="566928" y="3931920"/>
            <a:ext cx="5486400" cy="2103120"/>
          </a:xfrm>
          <a:prstGeom prst="rect">
            <a:avLst/>
          </a:prstGeom>
          <a:noFill/>
        </p:spPr>
        <p:txBody>
          <a:bodyPr wrap="square" lIns="0" rIns="0" tIns="0" bIns="0">
            <a:noAutofit/>
          </a:bodyPr>
          <a:lstStyle/>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bbox  </a:t>
            </a:r>
            <a:r>
              <a:rPr sz="1400">
                <a:solidFill>
                  <a:srgbClr val="1E2B36"/>
                </a:solidFill>
                <a:latin typeface="Calibri"/>
              </a:rPr>
              <a:t>keeps vessels whose trajectory intersects the envelope</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CRS  </a:t>
            </a:r>
            <a:r>
              <a:rPr sz="1400">
                <a:solidFill>
                  <a:srgbClr val="1E2B36"/>
                </a:solidFill>
                <a:latin typeface="Calibri"/>
              </a:rPr>
              <a:t>coordinates are in the collection's storage CRS (EPSG:25832)</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21 of 143  </a:t>
            </a:r>
            <a:r>
              <a:rPr sz="1400">
                <a:solidFill>
                  <a:srgbClr val="1E2B36"/>
                </a:solidFill>
                <a:latin typeface="Calibri"/>
              </a:rPr>
              <a:t>vessels match the Rødby harbour envelope</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Composable  </a:t>
            </a:r>
            <a:r>
              <a:rPr sz="1400">
                <a:solidFill>
                  <a:srgbClr val="1E2B36"/>
                </a:solidFill>
                <a:latin typeface="Calibri"/>
              </a:rPr>
              <a:t>with limit, datetime and subTrajectory</a:t>
            </a:r>
          </a:p>
        </p:txBody>
      </p:sp>
      <p:pic>
        <p:nvPicPr>
          <p:cNvPr id="10" name="Picture 9" descr="fig_bbox.png"/>
          <p:cNvPicPr>
            <a:picLocks noChangeAspect="1"/>
          </p:cNvPicPr>
          <p:nvPr/>
        </p:nvPicPr>
        <p:blipFill>
          <a:blip r:embed="rId2"/>
          <a:stretch>
            <a:fillRect/>
          </a:stretch>
        </p:blipFill>
        <p:spPr>
          <a:xfrm>
            <a:off x="6807520" y="1691640"/>
            <a:ext cx="4672958" cy="4389120"/>
          </a:xfrm>
          <a:prstGeom prst="rect">
            <a:avLst/>
          </a:prstGeom>
        </p:spPr>
      </p:pic>
      <p:sp>
        <p:nvSpPr>
          <p:cNvPr id="11" name="TextBox 10"/>
          <p:cNvSpPr txBox="1"/>
          <p:nvPr/>
        </p:nvSpPr>
        <p:spPr>
          <a:xfrm>
            <a:off x="6400800" y="6053328"/>
            <a:ext cx="5486400" cy="274320"/>
          </a:xfrm>
          <a:prstGeom prst="rect">
            <a:avLst/>
          </a:prstGeom>
          <a:noFill/>
        </p:spPr>
        <p:txBody>
          <a:bodyPr wrap="square" anchor="t" lIns="0" rIns="0" tIns="0" bIns="0">
            <a:noAutofit/>
          </a:bodyPr>
          <a:lstStyle/>
          <a:p>
            <a:pPr algn="ctr">
              <a:spcBef>
                <a:spcPts val="0"/>
              </a:spcBef>
              <a:spcAft>
                <a:spcPts val="200"/>
              </a:spcAft>
            </a:pPr>
            <a:r>
              <a:rPr sz="1200" b="0" i="1">
                <a:solidFill>
                  <a:srgbClr val="5B6B78"/>
                </a:solidFill>
                <a:latin typeface="Calibri"/>
              </a:rPr>
              <a:t>Trajectories crossing the Rødby harbour envelope (teal); context in grey</a:t>
            </a:r>
          </a:p>
        </p:txBody>
      </p:sp>
      <p:sp>
        <p:nvSpPr>
          <p:cNvPr id="12" name="Rectangle 11"/>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4" name="TextBox 13"/>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13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TEMPORAL SLICE</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Restrict Trajectories to a Time Interval</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7276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6" name="TextBox 5"/>
          <p:cNvSpPr txBox="1"/>
          <p:nvPr/>
        </p:nvSpPr>
        <p:spPr>
          <a:xfrm>
            <a:off x="1316736" y="1563624"/>
            <a:ext cx="4736592"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…/items?subTrajectory=true</a:t>
            </a:r>
          </a:p>
        </p:txBody>
      </p:sp>
      <p:sp>
        <p:nvSpPr>
          <p:cNvPr id="7" name="Rounded Rectangle 6"/>
          <p:cNvSpPr/>
          <p:nvPr/>
        </p:nvSpPr>
        <p:spPr>
          <a:xfrm>
            <a:off x="566928" y="1920240"/>
            <a:ext cx="5486400" cy="196596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DEPANEL"/>
          <p:cNvSpPr txBox="1"/>
          <p:nvPr/>
        </p:nvSpPr>
        <p:spPr>
          <a:xfrm>
            <a:off x="694944" y="2011680"/>
            <a:ext cx="5230368" cy="1783080"/>
          </a:xfrm>
          <a:prstGeom prst="rect">
            <a:avLst/>
          </a:prstGeom>
          <a:noFill/>
        </p:spPr>
        <p:txBody>
          <a:bodyPr wrap="square" lIns="0" rIns="0" tIns="0" bIns="0">
            <a:noAutofit/>
          </a:bodyPr>
          <a:lstStyle/>
          <a:p>
            <a:pPr>
              <a:lnSpc>
                <a:spcPct val="102000"/>
              </a:lnSpc>
              <a:spcBef>
                <a:spcPts val="0"/>
              </a:spcBef>
              <a:spcAft>
                <a:spcPts val="0"/>
              </a:spcAft>
            </a:pPr>
            <a:r>
              <a:rPr sz="1200">
                <a:solidFill>
                  <a:srgbClr val="C2D0DA"/>
                </a:solidFill>
                <a:latin typeface="Consolas"/>
              </a:rPr>
              <a:t>GET /collections/ships/items</a:t>
            </a:r>
          </a:p>
          <a:p>
            <a:pPr>
              <a:lnSpc>
                <a:spcPct val="102000"/>
              </a:lnSpc>
              <a:spcBef>
                <a:spcPts val="0"/>
              </a:spcBef>
              <a:spcAft>
                <a:spcPts val="0"/>
              </a:spcAft>
            </a:pPr>
            <a:r>
              <a:rPr sz="1200">
                <a:solidFill>
                  <a:srgbClr val="C2D0DA"/>
                </a:solidFill>
                <a:latin typeface="Consolas"/>
              </a:rPr>
              <a:t>      ?subTrajectory=</a:t>
            </a:r>
            <a:r>
              <a:rPr sz="1200">
                <a:solidFill>
                  <a:srgbClr val="CBA0E8"/>
                </a:solidFill>
                <a:latin typeface="Consolas"/>
              </a:rPr>
              <a:t>true</a:t>
            </a:r>
          </a:p>
          <a:p>
            <a:pPr>
              <a:lnSpc>
                <a:spcPct val="102000"/>
              </a:lnSpc>
              <a:spcBef>
                <a:spcPts val="0"/>
              </a:spcBef>
              <a:spcAft>
                <a:spcPts val="0"/>
              </a:spcAft>
            </a:pPr>
            <a:r>
              <a:rPr sz="1200">
                <a:solidFill>
                  <a:srgbClr val="C2D0DA"/>
                </a:solidFill>
                <a:latin typeface="Consolas"/>
              </a:rPr>
              <a:t>      &amp;datetime=</a:t>
            </a:r>
            <a:r>
              <a:rPr sz="1200">
                <a:solidFill>
                  <a:srgbClr val="C9E08A"/>
                </a:solidFill>
                <a:latin typeface="Consolas"/>
              </a:rPr>
              <a:t>2024</a:t>
            </a:r>
            <a:r>
              <a:rPr sz="1200">
                <a:solidFill>
                  <a:srgbClr val="C9E08A"/>
                </a:solidFill>
                <a:latin typeface="Consolas"/>
              </a:rPr>
              <a:t>-08</a:t>
            </a:r>
            <a:r>
              <a:rPr sz="1200">
                <a:solidFill>
                  <a:srgbClr val="C9E08A"/>
                </a:solidFill>
                <a:latin typeface="Consolas"/>
              </a:rPr>
              <a:t>-07</a:t>
            </a:r>
            <a:r>
              <a:rPr sz="1200">
                <a:solidFill>
                  <a:srgbClr val="C2D0DA"/>
                </a:solidFill>
                <a:latin typeface="Consolas"/>
              </a:rPr>
              <a:t>T</a:t>
            </a:r>
            <a:r>
              <a:rPr sz="1200">
                <a:solidFill>
                  <a:srgbClr val="C9E08A"/>
                </a:solidFill>
                <a:latin typeface="Consolas"/>
              </a:rPr>
              <a:t>10</a:t>
            </a:r>
            <a:r>
              <a:rPr sz="1200">
                <a:solidFill>
                  <a:srgbClr val="C2D0DA"/>
                </a:solidFill>
                <a:latin typeface="Consolas"/>
              </a:rPr>
              <a:t>:</a:t>
            </a:r>
            <a:r>
              <a:rPr sz="1200">
                <a:solidFill>
                  <a:srgbClr val="C9E08A"/>
                </a:solidFill>
                <a:latin typeface="Consolas"/>
              </a:rPr>
              <a:t>30</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r>
              <a:rPr sz="1200">
                <a:solidFill>
                  <a:srgbClr val="C9E08A"/>
                </a:solidFill>
                <a:latin typeface="Consolas"/>
              </a:rPr>
              <a:t>00</a:t>
            </a:r>
          </a:p>
          <a:p>
            <a:pPr>
              <a:lnSpc>
                <a:spcPct val="102000"/>
              </a:lnSpc>
              <a:spcBef>
                <a:spcPts val="0"/>
              </a:spcBef>
              <a:spcAft>
                <a:spcPts val="0"/>
              </a:spcAft>
            </a:pPr>
            <a:r>
              <a:rPr sz="1200">
                <a:solidFill>
                  <a:srgbClr val="C2D0DA"/>
                </a:solidFill>
                <a:latin typeface="Consolas"/>
              </a:rPr>
              <a:t>               /</a:t>
            </a:r>
            <a:r>
              <a:rPr sz="1200">
                <a:solidFill>
                  <a:srgbClr val="C9E08A"/>
                </a:solidFill>
                <a:latin typeface="Consolas"/>
              </a:rPr>
              <a:t>2024</a:t>
            </a:r>
            <a:r>
              <a:rPr sz="1200">
                <a:solidFill>
                  <a:srgbClr val="C9E08A"/>
                </a:solidFill>
                <a:latin typeface="Consolas"/>
              </a:rPr>
              <a:t>-08</a:t>
            </a:r>
            <a:r>
              <a:rPr sz="1200">
                <a:solidFill>
                  <a:srgbClr val="C9E08A"/>
                </a:solidFill>
                <a:latin typeface="Consolas"/>
              </a:rPr>
              <a:t>-07</a:t>
            </a:r>
            <a:r>
              <a:rPr sz="1200">
                <a:solidFill>
                  <a:srgbClr val="C2D0DA"/>
                </a:solidFill>
                <a:latin typeface="Consolas"/>
              </a:rPr>
              <a:t>T</a:t>
            </a:r>
            <a:r>
              <a:rPr sz="1200">
                <a:solidFill>
                  <a:srgbClr val="C9E08A"/>
                </a:solidFill>
                <a:latin typeface="Consolas"/>
              </a:rPr>
              <a:t>11</a:t>
            </a:r>
            <a:r>
              <a:rPr sz="1200">
                <a:solidFill>
                  <a:srgbClr val="C2D0DA"/>
                </a:solidFill>
                <a:latin typeface="Consolas"/>
              </a:rPr>
              <a:t>:</a:t>
            </a:r>
            <a:r>
              <a:rPr sz="1200">
                <a:solidFill>
                  <a:srgbClr val="C9E08A"/>
                </a:solidFill>
                <a:latin typeface="Consolas"/>
              </a:rPr>
              <a:t>30</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r>
              <a:rPr sz="1200">
                <a:solidFill>
                  <a:srgbClr val="C9E08A"/>
                </a:solidFill>
                <a:latin typeface="Consolas"/>
              </a:rPr>
              <a:t>00</a:t>
            </a:r>
          </a:p>
          <a:p>
            <a:pPr>
              <a:lnSpc>
                <a:spcPct val="102000"/>
              </a:lnSpc>
              <a:spcBef>
                <a:spcPts val="0"/>
              </a:spcBef>
              <a:spcAft>
                <a:spcPts val="0"/>
              </a:spcAft>
            </a:pPr>
            <a:r>
              <a:rPr sz="1200">
                <a:latin typeface="Consolas"/>
              </a:rPr>
              <a:t> </a:t>
            </a:r>
          </a:p>
          <a:p>
            <a:pPr>
              <a:lnSpc>
                <a:spcPct val="102000"/>
              </a:lnSpc>
              <a:spcBef>
                <a:spcPts val="0"/>
              </a:spcBef>
              <a:spcAft>
                <a:spcPts val="0"/>
              </a:spcAft>
            </a:pPr>
            <a:r>
              <a:rPr sz="1200">
                <a:solidFill>
                  <a:srgbClr val="7E94A6"/>
                </a:solidFill>
                <a:latin typeface="Consolas"/>
              </a:rPr>
              <a:t>// datetime is an RFC 3339 interval (start/end)</a:t>
            </a:r>
          </a:p>
          <a:p>
            <a:pPr>
              <a:lnSpc>
                <a:spcPct val="102000"/>
              </a:lnSpc>
              <a:spcBef>
                <a:spcPts val="0"/>
              </a:spcBef>
              <a:spcAft>
                <a:spcPts val="0"/>
              </a:spcAft>
            </a:pPr>
            <a:r>
              <a:rPr sz="1200">
                <a:solidFill>
                  <a:srgbClr val="7E94A6"/>
                </a:solidFill>
                <a:latin typeface="Consolas"/>
              </a:rPr>
              <a:t>// subTrajectory=true clips each vessel to the</a:t>
            </a:r>
          </a:p>
          <a:p>
            <a:pPr>
              <a:lnSpc>
                <a:spcPct val="102000"/>
              </a:lnSpc>
              <a:spcBef>
                <a:spcPts val="0"/>
              </a:spcBef>
              <a:spcAft>
                <a:spcPts val="0"/>
              </a:spcAft>
            </a:pPr>
            <a:r>
              <a:rPr sz="1200">
                <a:solidFill>
                  <a:srgbClr val="7E94A6"/>
                </a:solidFill>
                <a:latin typeface="Consolas"/>
              </a:rPr>
              <a:t>// requested window instead of filtering whole trips</a:t>
            </a:r>
          </a:p>
        </p:txBody>
      </p:sp>
      <p:sp>
        <p:nvSpPr>
          <p:cNvPr id="9" name="TextBox 8"/>
          <p:cNvSpPr txBox="1"/>
          <p:nvPr/>
        </p:nvSpPr>
        <p:spPr>
          <a:xfrm>
            <a:off x="566928" y="4114800"/>
            <a:ext cx="5486400" cy="1920240"/>
          </a:xfrm>
          <a:prstGeom prst="rect">
            <a:avLst/>
          </a:prstGeom>
          <a:noFill/>
        </p:spPr>
        <p:txBody>
          <a:bodyPr wrap="square" lIns="0" rIns="0" tIns="0" bIns="0">
            <a:noAutofit/>
          </a:bodyPr>
          <a:lstStyle/>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subTrajectory  </a:t>
            </a:r>
            <a:r>
              <a:rPr sz="1400">
                <a:solidFill>
                  <a:srgbClr val="1E2B36"/>
                </a:solidFill>
                <a:latin typeface="Calibri"/>
              </a:rPr>
              <a:t>clips each trajectory to the datetime interval</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datetime  </a:t>
            </a:r>
            <a:r>
              <a:rPr sz="1400">
                <a:solidFill>
                  <a:srgbClr val="1E2B36"/>
                </a:solidFill>
                <a:latin typeface="Calibri"/>
              </a:rPr>
              <a:t>RFC 3339 interval; a bare instant is also accepted</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Validation  </a:t>
            </a:r>
            <a:r>
              <a:rPr sz="1400">
                <a:solidFill>
                  <a:srgbClr val="1E2B36"/>
                </a:solidFill>
                <a:latin typeface="Calibri"/>
              </a:rPr>
              <a:t>subTrajectory requires a bounded interval; cannot combine with leaf</a:t>
            </a:r>
          </a:p>
        </p:txBody>
      </p:sp>
      <p:pic>
        <p:nvPicPr>
          <p:cNvPr id="10" name="Picture 9" descr="fig_subtraj.png"/>
          <p:cNvPicPr>
            <a:picLocks noChangeAspect="1"/>
          </p:cNvPicPr>
          <p:nvPr/>
        </p:nvPicPr>
        <p:blipFill>
          <a:blip r:embed="rId2"/>
          <a:stretch>
            <a:fillRect/>
          </a:stretch>
        </p:blipFill>
        <p:spPr>
          <a:xfrm>
            <a:off x="6492240" y="1737360"/>
            <a:ext cx="5303520" cy="3559126"/>
          </a:xfrm>
          <a:prstGeom prst="rect">
            <a:avLst/>
          </a:prstGeom>
        </p:spPr>
      </p:pic>
      <p:sp>
        <p:nvSpPr>
          <p:cNvPr id="11" name="TextBox 10"/>
          <p:cNvSpPr txBox="1"/>
          <p:nvPr/>
        </p:nvSpPr>
        <p:spPr>
          <a:xfrm>
            <a:off x="6492240" y="6035040"/>
            <a:ext cx="5303520" cy="274320"/>
          </a:xfrm>
          <a:prstGeom prst="rect">
            <a:avLst/>
          </a:prstGeom>
          <a:noFill/>
        </p:spPr>
        <p:txBody>
          <a:bodyPr wrap="square" anchor="t" lIns="0" rIns="0" tIns="0" bIns="0">
            <a:noAutofit/>
          </a:bodyPr>
          <a:lstStyle/>
          <a:p>
            <a:pPr algn="ctr">
              <a:spcBef>
                <a:spcPts val="0"/>
              </a:spcBef>
              <a:spcAft>
                <a:spcPts val="200"/>
              </a:spcAft>
            </a:pPr>
            <a:r>
              <a:rPr sz="1200" b="0" i="1">
                <a:solidFill>
                  <a:srgbClr val="5B6B78"/>
                </a:solidFill>
                <a:latin typeface="Calibri"/>
              </a:rPr>
              <a:t>Subtrajectories 10:30–11:30 (green) over all trajectories (brown)</a:t>
            </a:r>
          </a:p>
        </p:txBody>
      </p:sp>
      <p:sp>
        <p:nvSpPr>
          <p:cNvPr id="12" name="Rectangle 11"/>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4" name="TextBox 13"/>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14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TEMPORAL GEOMETRY</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The Temporal-Geometry Sequence</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6" name="TextBox 5"/>
          <p:cNvSpPr txBox="1"/>
          <p:nvPr/>
        </p:nvSpPr>
        <p:spPr>
          <a:xfrm>
            <a:off x="1316736" y="1545336"/>
            <a:ext cx="4736592"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…/{mFeatureId}/tgsequence</a:t>
            </a:r>
          </a:p>
        </p:txBody>
      </p:sp>
      <p:sp>
        <p:nvSpPr>
          <p:cNvPr id="7" name="Rounded Rectangle 6"/>
          <p:cNvSpPr/>
          <p:nvPr/>
        </p:nvSpPr>
        <p:spPr>
          <a:xfrm>
            <a:off x="566928" y="1874519"/>
            <a:ext cx="5486400" cy="370332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DEPANEL"/>
          <p:cNvSpPr txBox="1"/>
          <p:nvPr/>
        </p:nvSpPr>
        <p:spPr>
          <a:xfrm>
            <a:off x="694944" y="1965960"/>
            <a:ext cx="5230368" cy="3520439"/>
          </a:xfrm>
          <a:prstGeom prst="rect">
            <a:avLst/>
          </a:prstGeom>
          <a:noFill/>
        </p:spPr>
        <p:txBody>
          <a:bodyPr wrap="square" lIns="0" rIns="0" tIns="0" bIns="0">
            <a:noAutofit/>
          </a:bodyPr>
          <a:lstStyle/>
          <a:p>
            <a:pPr>
              <a:lnSpc>
                <a:spcPct val="102000"/>
              </a:lnSpc>
              <a:spcBef>
                <a:spcPts val="0"/>
              </a:spcBef>
              <a:spcAft>
                <a:spcPts val="0"/>
              </a:spcAft>
            </a:pPr>
            <a:r>
              <a:rPr sz="1200">
                <a:solidFill>
                  <a:srgbClr val="C9E08A"/>
                </a:solidFill>
                <a:latin typeface="Consolas"/>
              </a:rPr>
              <a:t>200</a:t>
            </a:r>
            <a:r>
              <a:rPr sz="1200">
                <a:solidFill>
                  <a:srgbClr val="C2D0DA"/>
                </a:solidFill>
                <a:latin typeface="Consolas"/>
              </a:rPr>
              <a:t> OK</a:t>
            </a:r>
          </a:p>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"TemporalGeometrySequence"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"geometrySequence"</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"id"</a:t>
            </a:r>
            <a:r>
              <a:rPr sz="1200">
                <a:solidFill>
                  <a:srgbClr val="C2D0DA"/>
                </a:solidFill>
                <a:latin typeface="Consolas"/>
              </a:rPr>
              <a:t>: </a:t>
            </a:r>
            <a:r>
              <a:rPr sz="1200">
                <a:solidFill>
                  <a:srgbClr val="C9E08A"/>
                </a:solidFill>
                <a:latin typeface="Consolas"/>
              </a:rPr>
              <a:t>360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"MovingPoint"</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"datetimes"</a:t>
            </a:r>
            <a:r>
              <a:rPr sz="1200">
                <a:solidFill>
                  <a:srgbClr val="C2D0DA"/>
                </a:solidFill>
                <a:latin typeface="Consolas"/>
              </a:rPr>
              <a:t>: [</a:t>
            </a:r>
            <a:r>
              <a:rPr sz="1200">
                <a:solidFill>
                  <a:srgbClr val="E6A36A"/>
                </a:solidFill>
                <a:latin typeface="Consolas"/>
              </a:rPr>
              <a:t>"2024-08-07T11:04:09+00"</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"coordinates"</a:t>
            </a:r>
            <a:r>
              <a:rPr sz="1200">
                <a:solidFill>
                  <a:srgbClr val="C2D0DA"/>
                </a:solidFill>
                <a:latin typeface="Consolas"/>
              </a:rPr>
              <a:t>: [[</a:t>
            </a:r>
            <a:r>
              <a:rPr sz="1200">
                <a:solidFill>
                  <a:srgbClr val="C9E08A"/>
                </a:solidFill>
                <a:latin typeface="Consolas"/>
              </a:rPr>
              <a:t>521540.85</a:t>
            </a:r>
            <a:r>
              <a:rPr sz="1200">
                <a:solidFill>
                  <a:srgbClr val="C2D0DA"/>
                </a:solidFill>
                <a:latin typeface="Consolas"/>
              </a:rPr>
              <a:t>, </a:t>
            </a:r>
            <a:r>
              <a:rPr sz="1200">
                <a:solidFill>
                  <a:srgbClr val="C9E08A"/>
                </a:solidFill>
                <a:latin typeface="Consolas"/>
              </a:rPr>
              <a:t>5995709.13</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"interpolation"</a:t>
            </a:r>
            <a:r>
              <a:rPr sz="1200">
                <a:solidFill>
                  <a:srgbClr val="C2D0DA"/>
                </a:solidFill>
                <a:latin typeface="Consolas"/>
              </a:rPr>
              <a:t>: </a:t>
            </a:r>
            <a:r>
              <a:rPr sz="1200">
                <a:solidFill>
                  <a:srgbClr val="E6A36A"/>
                </a:solidFill>
                <a:latin typeface="Consolas"/>
              </a:rPr>
              <a:t>"Linear"</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"base"</a:t>
            </a:r>
            <a:r>
              <a:rPr sz="1200">
                <a:solidFill>
                  <a:srgbClr val="C2D0DA"/>
                </a:solidFill>
                <a:latin typeface="Consolas"/>
              </a:rPr>
              <a:t>: </a:t>
            </a:r>
            <a:r>
              <a:rPr sz="1200">
                <a:solidFill>
                  <a:srgbClr val="CBA0E8"/>
                </a:solidFill>
                <a:latin typeface="Consolas"/>
              </a:rPr>
              <a:t>null</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"links"</a:t>
            </a:r>
            <a:r>
              <a:rPr sz="1200">
                <a:solidFill>
                  <a:srgbClr val="C2D0DA"/>
                </a:solidFill>
                <a:latin typeface="Consolas"/>
              </a:rPr>
              <a:t>: [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"self"</a:t>
            </a:r>
            <a:r>
              <a:rPr sz="1200">
                <a:solidFill>
                  <a:srgbClr val="C2D0DA"/>
                </a:solidFill>
                <a:latin typeface="Consolas"/>
              </a:rPr>
              <a:t>, ...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"numberMatched"</a:t>
            </a:r>
            <a:r>
              <a:rPr sz="1200">
                <a:solidFill>
                  <a:srgbClr val="C2D0DA"/>
                </a:solidFill>
                <a:latin typeface="Consolas"/>
              </a:rPr>
              <a:t>: </a:t>
            </a:r>
            <a:r>
              <a:rPr sz="1200">
                <a:solidFill>
                  <a:srgbClr val="C9E08A"/>
                </a:solidFill>
                <a:latin typeface="Consolas"/>
              </a:rPr>
              <a:t>1</a:t>
            </a:r>
            <a:r>
              <a:rPr sz="1200">
                <a:solidFill>
                  <a:srgbClr val="C2D0DA"/>
                </a:solidFill>
                <a:latin typeface="Consolas"/>
              </a:rPr>
              <a:t>, </a:t>
            </a:r>
            <a:r>
              <a:rPr sz="1200">
                <a:solidFill>
                  <a:srgbClr val="6FC3E0"/>
                </a:solidFill>
                <a:latin typeface="Consolas"/>
              </a:rPr>
              <a:t>"numberReturned"</a:t>
            </a:r>
            <a:r>
              <a:rPr sz="1200">
                <a:solidFill>
                  <a:srgbClr val="C2D0DA"/>
                </a:solidFill>
                <a:latin typeface="Consolas"/>
              </a:rPr>
              <a:t>: </a:t>
            </a:r>
            <a:r>
              <a:rPr sz="1200">
                <a:solidFill>
                  <a:srgbClr val="C9E08A"/>
                </a:solidFill>
                <a:latin typeface="Consolas"/>
              </a:rPr>
              <a:t>1</a:t>
            </a:r>
          </a:p>
          <a:p>
            <a:pPr>
              <a:lnSpc>
                <a:spcPct val="102000"/>
              </a:lnSpc>
              <a:spcBef>
                <a:spcPts val="0"/>
              </a:spcBef>
              <a:spcAft>
                <a:spcPts val="0"/>
              </a:spcAft>
            </a:pPr>
            <a:r>
              <a:rPr sz="1200">
                <a:solidFill>
                  <a:srgbClr val="C2D0DA"/>
                </a:solidFill>
                <a:latin typeface="Consolas"/>
              </a:rPr>
              <a:t>}</a:t>
            </a:r>
          </a:p>
        </p:txBody>
      </p:sp>
      <p:sp>
        <p:nvSpPr>
          <p:cNvPr id="9" name="TextBox 8"/>
          <p:cNvSpPr txBox="1"/>
          <p:nvPr/>
        </p:nvSpPr>
        <p:spPr>
          <a:xfrm>
            <a:off x="6281928" y="1627632"/>
            <a:ext cx="5342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0E2841"/>
                </a:solidFill>
                <a:latin typeface="Calibri"/>
              </a:rPr>
              <a:t>Methods on this resource</a:t>
            </a:r>
          </a:p>
        </p:txBody>
      </p:sp>
      <p:sp>
        <p:nvSpPr>
          <p:cNvPr id="10" name="Rounded Rectangle 9"/>
          <p:cNvSpPr/>
          <p:nvPr/>
        </p:nvSpPr>
        <p:spPr>
          <a:xfrm>
            <a:off x="6281928" y="202996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11" name="TextBox 10"/>
          <p:cNvSpPr txBox="1"/>
          <p:nvPr/>
        </p:nvSpPr>
        <p:spPr>
          <a:xfrm>
            <a:off x="7196328" y="2011680"/>
            <a:ext cx="4428439" cy="457200"/>
          </a:xfrm>
          <a:prstGeom prst="rect">
            <a:avLst/>
          </a:prstGeom>
          <a:noFill/>
        </p:spPr>
        <p:txBody>
          <a:bodyPr wrap="square" anchor="t" lIns="0" rIns="0" tIns="0" bIns="0">
            <a:noAutofit/>
          </a:bodyPr>
          <a:lstStyle/>
          <a:p>
            <a:pPr algn="l">
              <a:spcBef>
                <a:spcPts val="0"/>
              </a:spcBef>
              <a:spcAft>
                <a:spcPts val="200"/>
              </a:spcAft>
            </a:pPr>
            <a:r>
              <a:rPr sz="1200" b="0" i="0">
                <a:solidFill>
                  <a:srgbClr val="1E2B36"/>
                </a:solidFill>
                <a:latin typeface="Calibri"/>
              </a:rPr>
              <a:t>return the TemporalGeometrySequence for a vessel</a:t>
            </a:r>
          </a:p>
        </p:txBody>
      </p:sp>
      <p:sp>
        <p:nvSpPr>
          <p:cNvPr id="12" name="Rounded Rectangle 11"/>
          <p:cNvSpPr/>
          <p:nvPr/>
        </p:nvSpPr>
        <p:spPr>
          <a:xfrm>
            <a:off x="6281928" y="2596896"/>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POST</a:t>
            </a:r>
          </a:p>
        </p:txBody>
      </p:sp>
      <p:sp>
        <p:nvSpPr>
          <p:cNvPr id="13" name="TextBox 12"/>
          <p:cNvSpPr txBox="1"/>
          <p:nvPr/>
        </p:nvSpPr>
        <p:spPr>
          <a:xfrm>
            <a:off x="7196328" y="2578608"/>
            <a:ext cx="4428439" cy="457200"/>
          </a:xfrm>
          <a:prstGeom prst="rect">
            <a:avLst/>
          </a:prstGeom>
          <a:noFill/>
        </p:spPr>
        <p:txBody>
          <a:bodyPr wrap="square" anchor="t" lIns="0" rIns="0" tIns="0" bIns="0">
            <a:noAutofit/>
          </a:bodyPr>
          <a:lstStyle/>
          <a:p>
            <a:pPr algn="l">
              <a:spcBef>
                <a:spcPts val="0"/>
              </a:spcBef>
              <a:spcAft>
                <a:spcPts val="200"/>
              </a:spcAft>
            </a:pPr>
            <a:r>
              <a:rPr sz="1200" b="0" i="0">
                <a:solidFill>
                  <a:srgbClr val="1E2B36"/>
                </a:solidFill>
                <a:latin typeface="Calibri"/>
              </a:rPr>
              <a:t>append a temporal primitive geometry</a:t>
            </a:r>
          </a:p>
        </p:txBody>
      </p:sp>
      <p:sp>
        <p:nvSpPr>
          <p:cNvPr id="14" name="Rounded Rectangle 13"/>
          <p:cNvSpPr/>
          <p:nvPr/>
        </p:nvSpPr>
        <p:spPr>
          <a:xfrm>
            <a:off x="6281928" y="3163824"/>
            <a:ext cx="932688" cy="292608"/>
          </a:xfrm>
          <a:prstGeom prst="roundRect">
            <a:avLst>
              <a:gd name="adj" fmla="val 4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DELETE</a:t>
            </a:r>
          </a:p>
        </p:txBody>
      </p:sp>
      <p:sp>
        <p:nvSpPr>
          <p:cNvPr id="15" name="TextBox 14"/>
          <p:cNvSpPr txBox="1"/>
          <p:nvPr/>
        </p:nvSpPr>
        <p:spPr>
          <a:xfrm>
            <a:off x="7196328" y="3145536"/>
            <a:ext cx="4428439" cy="457200"/>
          </a:xfrm>
          <a:prstGeom prst="rect">
            <a:avLst/>
          </a:prstGeom>
          <a:noFill/>
        </p:spPr>
        <p:txBody>
          <a:bodyPr wrap="square" anchor="t" lIns="0" rIns="0" tIns="0" bIns="0">
            <a:noAutofit/>
          </a:bodyPr>
          <a:lstStyle/>
          <a:p>
            <a:pPr algn="l">
              <a:spcBef>
                <a:spcPts val="0"/>
              </a:spcBef>
              <a:spcAft>
                <a:spcPts val="200"/>
              </a:spcAft>
            </a:pPr>
            <a:r>
              <a:rPr sz="1200" b="0" i="0">
                <a:solidFill>
                  <a:srgbClr val="1E2B36"/>
                </a:solidFill>
                <a:latin typeface="Calibri"/>
              </a:rPr>
              <a:t>remove one primitive geometry by tGeometryId</a:t>
            </a:r>
          </a:p>
        </p:txBody>
      </p:sp>
      <p:sp>
        <p:nvSpPr>
          <p:cNvPr id="16" name="TextBox 15"/>
          <p:cNvSpPr txBox="1"/>
          <p:nvPr/>
        </p:nvSpPr>
        <p:spPr>
          <a:xfrm>
            <a:off x="6281928" y="3977639"/>
            <a:ext cx="5342839" cy="1828800"/>
          </a:xfrm>
          <a:prstGeom prst="rect">
            <a:avLst/>
          </a:prstGeom>
          <a:noFill/>
        </p:spPr>
        <p:txBody>
          <a:bodyPr wrap="square" lIns="0" rIns="0" tIns="0" bIns="0">
            <a:noAutofit/>
          </a:bodyPr>
          <a:lstStyle/>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Each sequence element carries an id used by the derived-measure queries</a:t>
            </a:r>
          </a:p>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DELETE targets …/tgsequence/{tGeometryId} — the TemporalPrimitiveGeometry instance</a:t>
            </a:r>
          </a:p>
        </p:txBody>
      </p:sp>
      <p:sp>
        <p:nvSpPr>
          <p:cNvPr id="17" name="Rectangle 16"/>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9" name="TextBox 18"/>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15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A02B93"/>
                </a:solidFill>
                <a:latin typeface="Calibri"/>
              </a:rPr>
              <a:t>DERIVED MEASURES</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Distance · Velocity · Acceleration</a:t>
            </a:r>
          </a:p>
        </p:txBody>
      </p:sp>
      <p:sp>
        <p:nvSpPr>
          <p:cNvPr id="4" name="Rectangle 3"/>
          <p:cNvSpPr/>
          <p:nvPr/>
        </p:nvSpPr>
        <p:spPr>
          <a:xfrm>
            <a:off x="566928" y="1389888"/>
            <a:ext cx="1554480" cy="45720"/>
          </a:xfrm>
          <a:prstGeom prst="rect">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6" name="TextBox 5"/>
          <p:cNvSpPr txBox="1"/>
          <p:nvPr/>
        </p:nvSpPr>
        <p:spPr>
          <a:xfrm>
            <a:off x="1316736" y="1545336"/>
            <a:ext cx="4919472"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…/tgsequence/{tGeometryId}/velocity</a:t>
            </a:r>
          </a:p>
        </p:txBody>
      </p:sp>
      <p:sp>
        <p:nvSpPr>
          <p:cNvPr id="7" name="Rounded Rectangle 6"/>
          <p:cNvSpPr/>
          <p:nvPr/>
        </p:nvSpPr>
        <p:spPr>
          <a:xfrm>
            <a:off x="566928" y="1874519"/>
            <a:ext cx="5669280" cy="283464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DEPANEL"/>
          <p:cNvSpPr txBox="1"/>
          <p:nvPr/>
        </p:nvSpPr>
        <p:spPr>
          <a:xfrm>
            <a:off x="694944" y="1965960"/>
            <a:ext cx="5413248" cy="2651760"/>
          </a:xfrm>
          <a:prstGeom prst="rect">
            <a:avLst/>
          </a:prstGeom>
          <a:noFill/>
        </p:spPr>
        <p:txBody>
          <a:bodyPr wrap="square" lIns="0" rIns="0" tIns="0" bIns="0">
            <a:noAutofit/>
          </a:bodyPr>
          <a:lstStyle/>
          <a:p>
            <a:pPr>
              <a:lnSpc>
                <a:spcPct val="102000"/>
              </a:lnSpc>
              <a:spcBef>
                <a:spcPts val="0"/>
              </a:spcBef>
              <a:spcAft>
                <a:spcPts val="0"/>
              </a:spcAft>
            </a:pPr>
            <a:r>
              <a:rPr sz="1200">
                <a:solidFill>
                  <a:srgbClr val="C9E08A"/>
                </a:solidFill>
                <a:latin typeface="Consolas"/>
              </a:rPr>
              <a:t>200</a:t>
            </a:r>
            <a:r>
              <a:rPr sz="1200">
                <a:solidFill>
                  <a:srgbClr val="C2D0DA"/>
                </a:solidFill>
                <a:latin typeface="Consolas"/>
              </a:rPr>
              <a:t> OK</a:t>
            </a:r>
          </a:p>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"TReal"</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"values"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"time"</a:t>
            </a:r>
            <a:r>
              <a:rPr sz="1200">
                <a:solidFill>
                  <a:srgbClr val="C2D0DA"/>
                </a:solidFill>
                <a:latin typeface="Consolas"/>
              </a:rPr>
              <a:t>: </a:t>
            </a:r>
            <a:r>
              <a:rPr sz="1200">
                <a:solidFill>
                  <a:srgbClr val="E6A36A"/>
                </a:solidFill>
                <a:latin typeface="Consolas"/>
              </a:rPr>
              <a:t>"2024-08-07T06:00:00+00"</a:t>
            </a:r>
            <a:r>
              <a:rPr sz="1200">
                <a:solidFill>
                  <a:srgbClr val="C2D0DA"/>
                </a:solidFill>
                <a:latin typeface="Consolas"/>
              </a:rPr>
              <a:t>, </a:t>
            </a:r>
            <a:r>
              <a:rPr sz="1200">
                <a:solidFill>
                  <a:srgbClr val="6FC3E0"/>
                </a:solidFill>
                <a:latin typeface="Consolas"/>
              </a:rPr>
              <a:t>"value"</a:t>
            </a:r>
            <a:r>
              <a:rPr sz="1200">
                <a:solidFill>
                  <a:srgbClr val="C2D0DA"/>
                </a:solidFill>
                <a:latin typeface="Consolas"/>
              </a:rPr>
              <a:t>: </a:t>
            </a:r>
            <a:r>
              <a:rPr sz="1200">
                <a:solidFill>
                  <a:srgbClr val="C9E08A"/>
                </a:solidFill>
                <a:latin typeface="Consolas"/>
              </a:rPr>
              <a:t>0.79</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"time"</a:t>
            </a:r>
            <a:r>
              <a:rPr sz="1200">
                <a:solidFill>
                  <a:srgbClr val="C2D0DA"/>
                </a:solidFill>
                <a:latin typeface="Consolas"/>
              </a:rPr>
              <a:t>: </a:t>
            </a:r>
            <a:r>
              <a:rPr sz="1200">
                <a:solidFill>
                  <a:srgbClr val="E6A36A"/>
                </a:solidFill>
                <a:latin typeface="Consolas"/>
              </a:rPr>
              <a:t>"2024-08-07T06:25:00+00"</a:t>
            </a:r>
            <a:r>
              <a:rPr sz="1200">
                <a:solidFill>
                  <a:srgbClr val="C2D0DA"/>
                </a:solidFill>
                <a:latin typeface="Consolas"/>
              </a:rPr>
              <a:t>, </a:t>
            </a:r>
            <a:r>
              <a:rPr sz="1200">
                <a:solidFill>
                  <a:srgbClr val="6FC3E0"/>
                </a:solidFill>
                <a:latin typeface="Consolas"/>
              </a:rPr>
              <a:t>"value"</a:t>
            </a:r>
            <a:r>
              <a:rPr sz="1200">
                <a:solidFill>
                  <a:srgbClr val="C2D0DA"/>
                </a:solidFill>
                <a:latin typeface="Consolas"/>
              </a:rPr>
              <a:t>: </a:t>
            </a:r>
            <a:r>
              <a:rPr sz="1200">
                <a:solidFill>
                  <a:srgbClr val="C9E08A"/>
                </a:solidFill>
                <a:latin typeface="Consolas"/>
              </a:rPr>
              <a:t>6.14</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"time"</a:t>
            </a:r>
            <a:r>
              <a:rPr sz="1200">
                <a:solidFill>
                  <a:srgbClr val="C2D0DA"/>
                </a:solidFill>
                <a:latin typeface="Consolas"/>
              </a:rPr>
              <a:t>: </a:t>
            </a:r>
            <a:r>
              <a:rPr sz="1200">
                <a:solidFill>
                  <a:srgbClr val="E6A36A"/>
                </a:solidFill>
                <a:latin typeface="Consolas"/>
              </a:rPr>
              <a:t>"2024-08-07T06:50:00+00"</a:t>
            </a:r>
            <a:r>
              <a:rPr sz="1200">
                <a:solidFill>
                  <a:srgbClr val="C2D0DA"/>
                </a:solidFill>
                <a:latin typeface="Consolas"/>
              </a:rPr>
              <a:t>, </a:t>
            </a:r>
            <a:r>
              <a:rPr sz="1200">
                <a:solidFill>
                  <a:srgbClr val="6FC3E0"/>
                </a:solidFill>
                <a:latin typeface="Consolas"/>
              </a:rPr>
              <a:t>"value"</a:t>
            </a:r>
            <a:r>
              <a:rPr sz="1200">
                <a:solidFill>
                  <a:srgbClr val="C2D0DA"/>
                </a:solidFill>
                <a:latin typeface="Consolas"/>
              </a:rPr>
              <a:t>: </a:t>
            </a:r>
            <a:r>
              <a:rPr sz="1200">
                <a:solidFill>
                  <a:srgbClr val="C9E08A"/>
                </a:solidFill>
                <a:latin typeface="Consolas"/>
              </a:rPr>
              <a:t>0.00</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"unit"</a:t>
            </a:r>
            <a:r>
              <a:rPr sz="1200">
                <a:solidFill>
                  <a:srgbClr val="C2D0DA"/>
                </a:solidFill>
                <a:latin typeface="Consolas"/>
              </a:rPr>
              <a:t>: </a:t>
            </a:r>
            <a:r>
              <a:rPr sz="1200">
                <a:solidFill>
                  <a:srgbClr val="E6A36A"/>
                </a:solidFill>
                <a:latin typeface="Consolas"/>
              </a:rPr>
              <a:t>"m/s"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"queryType"</a:t>
            </a:r>
            <a:r>
              <a:rPr sz="1200">
                <a:solidFill>
                  <a:srgbClr val="C2D0DA"/>
                </a:solidFill>
                <a:latin typeface="Consolas"/>
              </a:rPr>
              <a:t>: </a:t>
            </a:r>
            <a:r>
              <a:rPr sz="1200">
                <a:solidFill>
                  <a:srgbClr val="E6A36A"/>
                </a:solidFill>
                <a:latin typeface="Consolas"/>
              </a:rPr>
              <a:t>"velocity"</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"links"</a:t>
            </a:r>
            <a:r>
              <a:rPr sz="1200">
                <a:solidFill>
                  <a:srgbClr val="C2D0DA"/>
                </a:solidFill>
                <a:latin typeface="Consolas"/>
              </a:rPr>
              <a:t>: [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"self"</a:t>
            </a:r>
            <a:r>
              <a:rPr sz="1200">
                <a:solidFill>
                  <a:srgbClr val="C2D0DA"/>
                </a:solidFill>
                <a:latin typeface="Consolas"/>
              </a:rPr>
              <a:t>, ... } ]</a:t>
            </a:r>
          </a:p>
          <a:p>
            <a:pPr>
              <a:lnSpc>
                <a:spcPct val="102000"/>
              </a:lnSpc>
              <a:spcBef>
                <a:spcPts val="0"/>
              </a:spcBef>
              <a:spcAft>
                <a:spcPts val="0"/>
              </a:spcAft>
            </a:pPr>
            <a:r>
              <a:rPr sz="1200">
                <a:solidFill>
                  <a:srgbClr val="C2D0DA"/>
                </a:solidFill>
                <a:latin typeface="Consolas"/>
              </a:rPr>
              <a:t>}</a:t>
            </a:r>
          </a:p>
        </p:txBody>
      </p:sp>
      <p:sp>
        <p:nvSpPr>
          <p:cNvPr id="9" name="Rounded Rectangle 8"/>
          <p:cNvSpPr/>
          <p:nvPr/>
        </p:nvSpPr>
        <p:spPr>
          <a:xfrm>
            <a:off x="566928" y="4892040"/>
            <a:ext cx="1027785" cy="329184"/>
          </a:xfrm>
          <a:prstGeom prst="roundRect">
            <a:avLst>
              <a:gd name="adj" fmla="val 40000"/>
            </a:avLst>
          </a:prstGeom>
          <a:noFill/>
          <a:ln w="15875">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156082"/>
                </a:solidFill>
                <a:latin typeface="Calibri"/>
              </a:rPr>
              <a:t>distance</a:t>
            </a:r>
          </a:p>
        </p:txBody>
      </p:sp>
      <p:sp>
        <p:nvSpPr>
          <p:cNvPr id="10" name="Rounded Rectangle 9"/>
          <p:cNvSpPr/>
          <p:nvPr/>
        </p:nvSpPr>
        <p:spPr>
          <a:xfrm>
            <a:off x="1759305" y="4892040"/>
            <a:ext cx="1027785" cy="329184"/>
          </a:xfrm>
          <a:prstGeom prst="roundRect">
            <a:avLst>
              <a:gd name="adj" fmla="val 40000"/>
            </a:avLst>
          </a:prstGeom>
          <a:noFill/>
          <a:ln w="15875">
            <a:solidFill>
              <a:srgbClr val="A02B9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A02B93"/>
                </a:solidFill>
                <a:latin typeface="Calibri"/>
              </a:rPr>
              <a:t>velocity</a:t>
            </a:r>
          </a:p>
        </p:txBody>
      </p:sp>
      <p:sp>
        <p:nvSpPr>
          <p:cNvPr id="11" name="Rounded Rectangle 10"/>
          <p:cNvSpPr/>
          <p:nvPr/>
        </p:nvSpPr>
        <p:spPr>
          <a:xfrm>
            <a:off x="2951683" y="4892040"/>
            <a:ext cx="1422806" cy="329184"/>
          </a:xfrm>
          <a:prstGeom prst="roundRect">
            <a:avLst>
              <a:gd name="adj" fmla="val 40000"/>
            </a:avLst>
          </a:prstGeom>
          <a:noFill/>
          <a:ln w="15875">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E97132"/>
                </a:solidFill>
                <a:latin typeface="Calibri"/>
              </a:rPr>
              <a:t>acceleration</a:t>
            </a:r>
          </a:p>
        </p:txBody>
      </p:sp>
      <p:sp>
        <p:nvSpPr>
          <p:cNvPr id="12" name="TextBox 11"/>
          <p:cNvSpPr txBox="1"/>
          <p:nvPr/>
        </p:nvSpPr>
        <p:spPr>
          <a:xfrm>
            <a:off x="566928" y="5321808"/>
            <a:ext cx="5669280" cy="457200"/>
          </a:xfrm>
          <a:prstGeom prst="rect">
            <a:avLst/>
          </a:prstGeom>
          <a:noFill/>
        </p:spPr>
        <p:txBody>
          <a:bodyPr wrap="square" anchor="t" lIns="0" rIns="0" tIns="0" bIns="0">
            <a:noAutofit/>
          </a:bodyPr>
          <a:lstStyle/>
          <a:p>
            <a:pPr algn="l">
              <a:spcBef>
                <a:spcPts val="0"/>
              </a:spcBef>
              <a:spcAft>
                <a:spcPts val="200"/>
              </a:spcAft>
            </a:pPr>
            <a:r>
              <a:rPr sz="1200" b="0" i="1">
                <a:solidFill>
                  <a:srgbClr val="5B6B78"/>
                </a:solidFill>
                <a:latin typeface="Calibri"/>
              </a:rPr>
              <a:t>interchangeable queryType values — computed by MobilityDB (e.g. speed()).</a:t>
            </a:r>
          </a:p>
        </p:txBody>
      </p:sp>
      <p:pic>
        <p:nvPicPr>
          <p:cNvPr id="13" name="Picture 12" descr="fig_velocity.png"/>
          <p:cNvPicPr>
            <a:picLocks noChangeAspect="1"/>
          </p:cNvPicPr>
          <p:nvPr/>
        </p:nvPicPr>
        <p:blipFill>
          <a:blip r:embed="rId2"/>
          <a:stretch>
            <a:fillRect/>
          </a:stretch>
        </p:blipFill>
        <p:spPr>
          <a:xfrm>
            <a:off x="6355080" y="2133731"/>
            <a:ext cx="5486400" cy="2590537"/>
          </a:xfrm>
          <a:prstGeom prst="rect">
            <a:avLst/>
          </a:prstGeom>
        </p:spPr>
      </p:pic>
      <p:sp>
        <p:nvSpPr>
          <p:cNvPr id="14" name="TextBox 13"/>
          <p:cNvSpPr txBox="1"/>
          <p:nvPr/>
        </p:nvSpPr>
        <p:spPr>
          <a:xfrm>
            <a:off x="6355080" y="5074920"/>
            <a:ext cx="5486400" cy="274320"/>
          </a:xfrm>
          <a:prstGeom prst="rect">
            <a:avLst/>
          </a:prstGeom>
          <a:noFill/>
        </p:spPr>
        <p:txBody>
          <a:bodyPr wrap="square" anchor="t" lIns="0" rIns="0" tIns="0" bIns="0">
            <a:noAutofit/>
          </a:bodyPr>
          <a:lstStyle/>
          <a:p>
            <a:pPr algn="ctr">
              <a:spcBef>
                <a:spcPts val="0"/>
              </a:spcBef>
              <a:spcAft>
                <a:spcPts val="200"/>
              </a:spcAft>
            </a:pPr>
            <a:r>
              <a:rPr sz="1200" b="0" i="1">
                <a:solidFill>
                  <a:srgbClr val="5B6B78"/>
                </a:solidFill>
                <a:latin typeface="Calibri"/>
              </a:rPr>
              <a:t>Velocity profiles of Rødby ferries vs a 10-knot (5.14 m/s) limit</a:t>
            </a:r>
          </a:p>
        </p:txBody>
      </p:sp>
      <p:sp>
        <p:nvSpPr>
          <p:cNvPr id="15" name="Rectangle 14"/>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7" name="TextBox 16"/>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16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E97132"/>
                </a:solidFill>
                <a:latin typeface="Calibri"/>
              </a:rPr>
              <a:t>TEMPORAL PROPERTIES</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Time-Varying Attributes per Feature</a:t>
            </a:r>
          </a:p>
        </p:txBody>
      </p:sp>
      <p:sp>
        <p:nvSpPr>
          <p:cNvPr id="4" name="Rectangle 3"/>
          <p:cNvSpPr/>
          <p:nvPr/>
        </p:nvSpPr>
        <p:spPr>
          <a:xfrm>
            <a:off x="566928" y="1389888"/>
            <a:ext cx="1554480" cy="4572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6" name="TextBox 5"/>
          <p:cNvSpPr txBox="1"/>
          <p:nvPr/>
        </p:nvSpPr>
        <p:spPr>
          <a:xfrm>
            <a:off x="1316736" y="1545336"/>
            <a:ext cx="4736592"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…/{mFeatureId}/tproperties</a:t>
            </a:r>
          </a:p>
        </p:txBody>
      </p:sp>
      <p:sp>
        <p:nvSpPr>
          <p:cNvPr id="7" name="Rounded Rectangle 6"/>
          <p:cNvSpPr/>
          <p:nvPr/>
        </p:nvSpPr>
        <p:spPr>
          <a:xfrm>
            <a:off x="566928" y="1874519"/>
            <a:ext cx="5486400" cy="210312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DEPANEL"/>
          <p:cNvSpPr txBox="1"/>
          <p:nvPr/>
        </p:nvSpPr>
        <p:spPr>
          <a:xfrm>
            <a:off x="694944" y="1965960"/>
            <a:ext cx="5230368" cy="1920239"/>
          </a:xfrm>
          <a:prstGeom prst="rect">
            <a:avLst/>
          </a:prstGeom>
          <a:noFill/>
        </p:spPr>
        <p:txBody>
          <a:bodyPr wrap="square" lIns="0" rIns="0" tIns="0" bIns="0">
            <a:noAutofit/>
          </a:bodyPr>
          <a:lstStyle/>
          <a:p>
            <a:pPr>
              <a:lnSpc>
                <a:spcPct val="102000"/>
              </a:lnSpc>
              <a:spcBef>
                <a:spcPts val="0"/>
              </a:spcBef>
              <a:spcAft>
                <a:spcPts val="0"/>
              </a:spcAft>
            </a:pPr>
            <a:r>
              <a:rPr sz="1200">
                <a:solidFill>
                  <a:srgbClr val="C9E08A"/>
                </a:solidFill>
                <a:latin typeface="Consolas"/>
              </a:rPr>
              <a:t>200</a:t>
            </a:r>
            <a:r>
              <a:rPr sz="1200">
                <a:solidFill>
                  <a:srgbClr val="C2D0DA"/>
                </a:solidFill>
                <a:latin typeface="Consolas"/>
              </a:rPr>
              <a:t> OK</a:t>
            </a:r>
          </a:p>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"temporalProperties"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"sog"</a:t>
            </a: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"TReal"</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"cog"</a:t>
            </a: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"TReal"</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"heading"</a:t>
            </a: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"TReal"</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"links"</a:t>
            </a:r>
            <a:r>
              <a:rPr sz="1200">
                <a:solidFill>
                  <a:srgbClr val="C2D0DA"/>
                </a:solidFill>
                <a:latin typeface="Consolas"/>
              </a:rPr>
              <a:t>: [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"self"</a:t>
            </a:r>
            <a:r>
              <a:rPr sz="1200">
                <a:solidFill>
                  <a:srgbClr val="C2D0DA"/>
                </a:solidFill>
                <a:latin typeface="Consolas"/>
              </a:rPr>
              <a:t>, ... } ]</a:t>
            </a:r>
          </a:p>
          <a:p>
            <a:pPr>
              <a:lnSpc>
                <a:spcPct val="102000"/>
              </a:lnSpc>
              <a:spcBef>
                <a:spcPts val="0"/>
              </a:spcBef>
              <a:spcAft>
                <a:spcPts val="0"/>
              </a:spcAft>
            </a:pPr>
            <a:r>
              <a:rPr sz="1200">
                <a:solidFill>
                  <a:srgbClr val="C2D0DA"/>
                </a:solidFill>
                <a:latin typeface="Consolas"/>
              </a:rPr>
              <a:t>}</a:t>
            </a:r>
          </a:p>
        </p:txBody>
      </p:sp>
      <p:sp>
        <p:nvSpPr>
          <p:cNvPr id="9" name="Rounded Rectangle 8"/>
          <p:cNvSpPr/>
          <p:nvPr/>
        </p:nvSpPr>
        <p:spPr>
          <a:xfrm>
            <a:off x="566928" y="411480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10" name="TextBox 9"/>
          <p:cNvSpPr txBox="1"/>
          <p:nvPr/>
        </p:nvSpPr>
        <p:spPr>
          <a:xfrm>
            <a:off x="1316736" y="4105656"/>
            <a:ext cx="4736592" cy="274320"/>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…/tproperties/sog</a:t>
            </a:r>
          </a:p>
        </p:txBody>
      </p:sp>
      <p:sp>
        <p:nvSpPr>
          <p:cNvPr id="11" name="Rounded Rectangle 10"/>
          <p:cNvSpPr/>
          <p:nvPr/>
        </p:nvSpPr>
        <p:spPr>
          <a:xfrm>
            <a:off x="566928" y="4434840"/>
            <a:ext cx="5486400" cy="141732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ODEPANEL"/>
          <p:cNvSpPr txBox="1"/>
          <p:nvPr/>
        </p:nvSpPr>
        <p:spPr>
          <a:xfrm>
            <a:off x="694944" y="4526279"/>
            <a:ext cx="5230368" cy="1234440"/>
          </a:xfrm>
          <a:prstGeom prst="rect">
            <a:avLst/>
          </a:prstGeom>
          <a:noFill/>
        </p:spPr>
        <p:txBody>
          <a:bodyPr wrap="square" lIns="0" rIns="0" tIns="0" bIns="0">
            <a:noAutofit/>
          </a:bodyPr>
          <a:lstStyle/>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"sog"</a:t>
            </a: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"TReal"</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"valueSequence"</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"datetimes"</a:t>
            </a:r>
            <a:r>
              <a:rPr sz="1200">
                <a:solidFill>
                  <a:srgbClr val="C2D0DA"/>
                </a:solidFill>
                <a:latin typeface="Consolas"/>
              </a:rPr>
              <a:t>: [</a:t>
            </a:r>
            <a:r>
              <a:rPr sz="1200">
                <a:solidFill>
                  <a:srgbClr val="E6A36A"/>
                </a:solidFill>
                <a:latin typeface="Consolas"/>
              </a:rPr>
              <a:t>"2024-08-07T11:04:09+00"</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"values"</a:t>
            </a:r>
            <a:r>
              <a:rPr sz="1200">
                <a:solidFill>
                  <a:srgbClr val="C2D0DA"/>
                </a:solidFill>
                <a:latin typeface="Consolas"/>
              </a:rPr>
              <a:t>: [</a:t>
            </a:r>
            <a:r>
              <a:rPr sz="1200">
                <a:solidFill>
                  <a:srgbClr val="C9E08A"/>
                </a:solidFill>
                <a:latin typeface="Consolas"/>
              </a:rPr>
              <a:t>12.4</a:t>
            </a:r>
            <a:r>
              <a:rPr sz="1200">
                <a:solidFill>
                  <a:srgbClr val="C2D0DA"/>
                </a:solidFill>
                <a:latin typeface="Consolas"/>
              </a:rPr>
              <a:t>, </a:t>
            </a:r>
            <a:r>
              <a:rPr sz="1200">
                <a:solidFill>
                  <a:srgbClr val="C9E08A"/>
                </a:solidFill>
                <a:latin typeface="Consolas"/>
              </a:rPr>
              <a:t>11.8</a:t>
            </a:r>
            <a:r>
              <a:rPr sz="1200">
                <a:solidFill>
                  <a:srgbClr val="C2D0DA"/>
                </a:solidFill>
                <a:latin typeface="Consolas"/>
              </a:rPr>
              <a:t>, </a:t>
            </a:r>
            <a:r>
              <a:rPr sz="1200">
                <a:solidFill>
                  <a:srgbClr val="C9E08A"/>
                </a:solidFill>
                <a:latin typeface="Consolas"/>
              </a:rPr>
              <a:t>0.6</a:t>
            </a:r>
            <a:r>
              <a:rPr sz="1200">
                <a:solidFill>
                  <a:srgbClr val="C2D0DA"/>
                </a:solidFill>
                <a:latin typeface="Consolas"/>
              </a:rPr>
              <a:t>, ...] } ] }</a:t>
            </a:r>
          </a:p>
        </p:txBody>
      </p:sp>
      <p:sp>
        <p:nvSpPr>
          <p:cNvPr id="13" name="TextBox 12"/>
          <p:cNvSpPr txBox="1"/>
          <p:nvPr/>
        </p:nvSpPr>
        <p:spPr>
          <a:xfrm>
            <a:off x="6281928" y="1627632"/>
            <a:ext cx="5342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0E2841"/>
                </a:solidFill>
                <a:latin typeface="Calibri"/>
              </a:rPr>
              <a:t>Methods on this group</a:t>
            </a:r>
          </a:p>
        </p:txBody>
      </p:sp>
      <p:sp>
        <p:nvSpPr>
          <p:cNvPr id="14" name="Rounded Rectangle 13"/>
          <p:cNvSpPr/>
          <p:nvPr/>
        </p:nvSpPr>
        <p:spPr>
          <a:xfrm>
            <a:off x="6281928" y="202996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15" name="Rounded Rectangle 14"/>
          <p:cNvSpPr/>
          <p:nvPr/>
        </p:nvSpPr>
        <p:spPr>
          <a:xfrm>
            <a:off x="6986016" y="2029968"/>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POST</a:t>
            </a:r>
          </a:p>
        </p:txBody>
      </p:sp>
      <p:sp>
        <p:nvSpPr>
          <p:cNvPr id="16" name="TextBox 15"/>
          <p:cNvSpPr txBox="1"/>
          <p:nvPr/>
        </p:nvSpPr>
        <p:spPr>
          <a:xfrm>
            <a:off x="7808976" y="2011680"/>
            <a:ext cx="3815791" cy="237744"/>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/tproperties</a:t>
            </a:r>
          </a:p>
        </p:txBody>
      </p:sp>
      <p:sp>
        <p:nvSpPr>
          <p:cNvPr id="17" name="TextBox 16"/>
          <p:cNvSpPr txBox="1"/>
          <p:nvPr/>
        </p:nvSpPr>
        <p:spPr>
          <a:xfrm>
            <a:off x="6281928" y="2286000"/>
            <a:ext cx="5342839" cy="237744"/>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list properties · add a new one</a:t>
            </a:r>
          </a:p>
        </p:txBody>
      </p:sp>
      <p:sp>
        <p:nvSpPr>
          <p:cNvPr id="18" name="Rounded Rectangle 17"/>
          <p:cNvSpPr/>
          <p:nvPr/>
        </p:nvSpPr>
        <p:spPr>
          <a:xfrm>
            <a:off x="6281928" y="267004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GET</a:t>
            </a:r>
          </a:p>
        </p:txBody>
      </p:sp>
      <p:sp>
        <p:nvSpPr>
          <p:cNvPr id="19" name="Rounded Rectangle 18"/>
          <p:cNvSpPr/>
          <p:nvPr/>
        </p:nvSpPr>
        <p:spPr>
          <a:xfrm>
            <a:off x="6986016" y="2670048"/>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POST</a:t>
            </a:r>
          </a:p>
        </p:txBody>
      </p:sp>
      <p:sp>
        <p:nvSpPr>
          <p:cNvPr id="20" name="TextBox 19"/>
          <p:cNvSpPr txBox="1"/>
          <p:nvPr/>
        </p:nvSpPr>
        <p:spPr>
          <a:xfrm>
            <a:off x="7808976" y="2651760"/>
            <a:ext cx="3815791" cy="237744"/>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/tproperties/{name}</a:t>
            </a:r>
          </a:p>
        </p:txBody>
      </p:sp>
      <p:sp>
        <p:nvSpPr>
          <p:cNvPr id="21" name="TextBox 20"/>
          <p:cNvSpPr txBox="1"/>
          <p:nvPr/>
        </p:nvSpPr>
        <p:spPr>
          <a:xfrm>
            <a:off x="6281928" y="2926080"/>
            <a:ext cx="5342839" cy="237744"/>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read · append values to one property</a:t>
            </a:r>
          </a:p>
        </p:txBody>
      </p:sp>
      <p:sp>
        <p:nvSpPr>
          <p:cNvPr id="22" name="Rounded Rectangle 21"/>
          <p:cNvSpPr/>
          <p:nvPr/>
        </p:nvSpPr>
        <p:spPr>
          <a:xfrm>
            <a:off x="6281928" y="3310128"/>
            <a:ext cx="932688" cy="292608"/>
          </a:xfrm>
          <a:prstGeom prst="roundRect">
            <a:avLst>
              <a:gd name="adj" fmla="val 4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DELETE</a:t>
            </a:r>
          </a:p>
        </p:txBody>
      </p:sp>
      <p:sp>
        <p:nvSpPr>
          <p:cNvPr id="23" name="TextBox 22"/>
          <p:cNvSpPr txBox="1"/>
          <p:nvPr/>
        </p:nvSpPr>
        <p:spPr>
          <a:xfrm>
            <a:off x="7324344" y="3291840"/>
            <a:ext cx="4300423" cy="237744"/>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/tproperties/{name}</a:t>
            </a:r>
          </a:p>
        </p:txBody>
      </p:sp>
      <p:sp>
        <p:nvSpPr>
          <p:cNvPr id="24" name="TextBox 23"/>
          <p:cNvSpPr txBox="1"/>
          <p:nvPr/>
        </p:nvSpPr>
        <p:spPr>
          <a:xfrm>
            <a:off x="6281928" y="3566160"/>
            <a:ext cx="5342839" cy="237744"/>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drop a whole property</a:t>
            </a:r>
          </a:p>
        </p:txBody>
      </p:sp>
      <p:sp>
        <p:nvSpPr>
          <p:cNvPr id="25" name="Rounded Rectangle 24"/>
          <p:cNvSpPr/>
          <p:nvPr/>
        </p:nvSpPr>
        <p:spPr>
          <a:xfrm>
            <a:off x="6281928" y="3950208"/>
            <a:ext cx="932688" cy="292608"/>
          </a:xfrm>
          <a:prstGeom prst="roundRect">
            <a:avLst>
              <a:gd name="adj" fmla="val 4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Calibri"/>
              </a:rPr>
              <a:t>DELETE</a:t>
            </a:r>
          </a:p>
        </p:txBody>
      </p:sp>
      <p:sp>
        <p:nvSpPr>
          <p:cNvPr id="26" name="TextBox 25"/>
          <p:cNvSpPr txBox="1"/>
          <p:nvPr/>
        </p:nvSpPr>
        <p:spPr>
          <a:xfrm>
            <a:off x="7324344" y="3931920"/>
            <a:ext cx="4300423" cy="237744"/>
          </a:xfrm>
          <a:prstGeom prst="rect">
            <a:avLst/>
          </a:prstGeom>
          <a:noFill/>
        </p:spPr>
        <p:txBody>
          <a:bodyPr wrap="square" anchor="ctr" lIns="0" rIns="0" tIns="0" bIns="0">
            <a:noAutofit/>
          </a:bodyPr>
          <a:lstStyle/>
          <a:p>
            <a:pPr algn="l">
              <a:spcBef>
                <a:spcPts val="0"/>
              </a:spcBef>
              <a:spcAft>
                <a:spcPts val="200"/>
              </a:spcAft>
            </a:pPr>
            <a:r>
              <a:rPr sz="1200" b="1" i="0">
                <a:solidFill>
                  <a:srgbClr val="0E2841"/>
                </a:solidFill>
                <a:latin typeface="Consolas"/>
              </a:rPr>
              <a:t>/tproperties/{name}/{tValueId}</a:t>
            </a:r>
          </a:p>
        </p:txBody>
      </p:sp>
      <p:sp>
        <p:nvSpPr>
          <p:cNvPr id="27" name="TextBox 26"/>
          <p:cNvSpPr txBox="1"/>
          <p:nvPr/>
        </p:nvSpPr>
        <p:spPr>
          <a:xfrm>
            <a:off x="6281928" y="4206240"/>
            <a:ext cx="5342839" cy="237744"/>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drop one primitive value</a:t>
            </a:r>
          </a:p>
        </p:txBody>
      </p:sp>
      <p:sp>
        <p:nvSpPr>
          <p:cNvPr id="28" name="TextBox 27"/>
          <p:cNvSpPr txBox="1"/>
          <p:nvPr/>
        </p:nvSpPr>
        <p:spPr>
          <a:xfrm>
            <a:off x="6281928" y="4800600"/>
            <a:ext cx="5342839" cy="457200"/>
          </a:xfrm>
          <a:prstGeom prst="rect">
            <a:avLst/>
          </a:prstGeom>
          <a:noFill/>
        </p:spPr>
        <p:txBody>
          <a:bodyPr wrap="square" anchor="t" lIns="0" rIns="0" tIns="0" bIns="0">
            <a:noAutofit/>
          </a:bodyPr>
          <a:lstStyle/>
          <a:p>
            <a:pPr algn="l">
              <a:spcBef>
                <a:spcPts val="0"/>
              </a:spcBef>
              <a:spcAft>
                <a:spcPts val="200"/>
              </a:spcAft>
            </a:pPr>
            <a:r>
              <a:rPr sz="1200" b="1" i="0">
                <a:solidFill>
                  <a:srgbClr val="E97132"/>
                </a:solidFill>
                <a:latin typeface="Calibri"/>
              </a:rPr>
              <a:t>Property types: TBoolean · TText · TInteger · TReal · TImage</a:t>
            </a:r>
          </a:p>
        </p:txBody>
      </p:sp>
      <p:sp>
        <p:nvSpPr>
          <p:cNvPr id="29" name="TextBox 28"/>
          <p:cNvSpPr txBox="1"/>
          <p:nvPr/>
        </p:nvSpPr>
        <p:spPr>
          <a:xfrm>
            <a:off x="6281928" y="5120640"/>
            <a:ext cx="5342839" cy="640080"/>
          </a:xfrm>
          <a:prstGeom prst="rect">
            <a:avLst/>
          </a:prstGeom>
          <a:noFill/>
        </p:spPr>
        <p:txBody>
          <a:bodyPr wrap="square" anchor="t" lIns="0" rIns="0" tIns="0" bIns="0">
            <a:noAutofit/>
          </a:bodyPr>
          <a:lstStyle/>
          <a:p>
            <a:pPr algn="l">
              <a:spcBef>
                <a:spcPts val="0"/>
              </a:spcBef>
              <a:spcAft>
                <a:spcPts val="200"/>
              </a:spcAft>
            </a:pPr>
            <a:r>
              <a:rPr sz="1200" b="0" i="1">
                <a:solidFill>
                  <a:srgbClr val="5B6B78"/>
                </a:solidFill>
                <a:latin typeface="Calibri"/>
              </a:rPr>
              <a:t>AIS speed (sog), course (cog) and heading ride along as TReal property streams.</a:t>
            </a:r>
          </a:p>
        </p:txBody>
      </p:sp>
      <p:sp>
        <p:nvSpPr>
          <p:cNvPr id="30" name="Rectangle 29"/>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32" name="TextBox 31"/>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17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CONFORMANCE</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Validation, Errors &amp; Hypermedia Links</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645920"/>
            <a:ext cx="3503066" cy="420624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45920"/>
            <a:ext cx="3503066" cy="457200"/>
          </a:xfrm>
          <a:prstGeom prst="roundRect">
            <a:avLst>
              <a:gd name="adj" fmla="val 6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700784"/>
            <a:ext cx="3137306" cy="320040"/>
          </a:xfrm>
          <a:prstGeom prst="rect">
            <a:avLst/>
          </a:prstGeom>
          <a:noFill/>
        </p:spPr>
        <p:txBody>
          <a:bodyPr wrap="square" anchor="ctr" lIns="0" rIns="0" tIns="0" bIns="0">
            <a:noAutofit/>
          </a:bodyPr>
          <a:lstStyle/>
          <a:p>
            <a:pPr algn="l">
              <a:spcBef>
                <a:spcPts val="0"/>
              </a:spcBef>
              <a:spcAft>
                <a:spcPts val="200"/>
              </a:spcAft>
            </a:pPr>
            <a:r>
              <a:rPr sz="1400" b="1" i="0">
                <a:solidFill>
                  <a:srgbClr val="FFFFFF"/>
                </a:solidFill>
                <a:latin typeface="Calibri"/>
              </a:rPr>
              <a:t>MovingFeaturesJSON validation</a:t>
            </a:r>
          </a:p>
        </p:txBody>
      </p:sp>
      <p:sp>
        <p:nvSpPr>
          <p:cNvPr id="8" name="TextBox 7"/>
          <p:cNvSpPr txBox="1"/>
          <p:nvPr/>
        </p:nvSpPr>
        <p:spPr>
          <a:xfrm>
            <a:off x="795528" y="2286000"/>
            <a:ext cx="3045866" cy="3474720"/>
          </a:xfrm>
          <a:prstGeom prst="rect">
            <a:avLst/>
          </a:prstGeom>
          <a:noFill/>
        </p:spPr>
        <p:txBody>
          <a:bodyPr wrap="square" lIns="0" rIns="0" tIns="0" bIns="0">
            <a:noAutofit/>
          </a:bodyPr>
          <a:lstStyle/>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Payload validated on every insert</a:t>
            </a:r>
          </a:p>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Mandatory fields and types checked before persisting</a:t>
            </a:r>
          </a:p>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Property type restricted to TBoolean / TText / TInteger / TReal / TImage</a:t>
            </a:r>
          </a:p>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subTrajectory + leaf combinations rejected</a:t>
            </a:r>
          </a:p>
        </p:txBody>
      </p:sp>
      <p:sp>
        <p:nvSpPr>
          <p:cNvPr id="9" name="Rounded Rectangle 8"/>
          <p:cNvSpPr/>
          <p:nvPr/>
        </p:nvSpPr>
        <p:spPr>
          <a:xfrm>
            <a:off x="4344314" y="1645920"/>
            <a:ext cx="3503066" cy="420624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44314" y="1645920"/>
            <a:ext cx="3503066" cy="457200"/>
          </a:xfrm>
          <a:prstGeom prst="roundRect">
            <a:avLst>
              <a:gd name="adj" fmla="val 6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914" y="1700784"/>
            <a:ext cx="3137306" cy="320040"/>
          </a:xfrm>
          <a:prstGeom prst="rect">
            <a:avLst/>
          </a:prstGeom>
          <a:noFill/>
        </p:spPr>
        <p:txBody>
          <a:bodyPr wrap="square" anchor="ctr" lIns="0" rIns="0" tIns="0" bIns="0">
            <a:noAutofit/>
          </a:bodyPr>
          <a:lstStyle/>
          <a:p>
            <a:pPr algn="l">
              <a:spcBef>
                <a:spcPts val="0"/>
              </a:spcBef>
              <a:spcAft>
                <a:spcPts val="200"/>
              </a:spcAft>
            </a:pPr>
            <a:r>
              <a:rPr sz="1400" b="1" i="0">
                <a:solidFill>
                  <a:srgbClr val="FFFFFF"/>
                </a:solidFill>
                <a:latin typeface="Calibri"/>
              </a:rPr>
              <a:t>OGC error responses</a:t>
            </a:r>
          </a:p>
        </p:txBody>
      </p:sp>
      <p:sp>
        <p:nvSpPr>
          <p:cNvPr id="12" name="TextBox 11"/>
          <p:cNvSpPr txBox="1"/>
          <p:nvPr/>
        </p:nvSpPr>
        <p:spPr>
          <a:xfrm>
            <a:off x="4572914" y="2286000"/>
            <a:ext cx="3045866" cy="3474720"/>
          </a:xfrm>
          <a:prstGeom prst="rect">
            <a:avLst/>
          </a:prstGeom>
          <a:noFill/>
        </p:spPr>
        <p:txBody>
          <a:bodyPr wrap="square" lIns="0" rIns="0" tIns="0" bIns="0">
            <a:noAutofit/>
          </a:bodyPr>
          <a:lstStyle/>
          <a:p>
            <a:pPr>
              <a:lnSpc>
                <a:spcPct val="106000"/>
              </a:lnSpc>
              <a:spcBef>
                <a:spcPts val="0"/>
              </a:spcBef>
              <a:spcAft>
                <a:spcPts val="900"/>
              </a:spcAft>
            </a:pPr>
            <a:r>
              <a:rPr sz="1200" b="1">
                <a:solidFill>
                  <a:srgbClr val="C0392B"/>
                </a:solidFill>
                <a:latin typeface="Calibri"/>
              </a:rPr>
              <a:t>▸  </a:t>
            </a:r>
            <a:r>
              <a:rPr sz="1200" b="1">
                <a:solidFill>
                  <a:srgbClr val="0E2841"/>
                </a:solidFill>
                <a:latin typeface="Calibri"/>
              </a:rPr>
              <a:t>400  </a:t>
            </a:r>
            <a:r>
              <a:rPr sz="1200">
                <a:solidFill>
                  <a:srgbClr val="1E2B36"/>
                </a:solidFill>
                <a:latin typeface="Calibri"/>
              </a:rPr>
              <a:t>invalid JSON or parameters</a:t>
            </a:r>
          </a:p>
          <a:p>
            <a:pPr>
              <a:lnSpc>
                <a:spcPct val="106000"/>
              </a:lnSpc>
              <a:spcBef>
                <a:spcPts val="0"/>
              </a:spcBef>
              <a:spcAft>
                <a:spcPts val="900"/>
              </a:spcAft>
            </a:pPr>
            <a:r>
              <a:rPr sz="1200" b="1">
                <a:solidFill>
                  <a:srgbClr val="C0392B"/>
                </a:solidFill>
                <a:latin typeface="Calibri"/>
              </a:rPr>
              <a:t>▸  </a:t>
            </a:r>
            <a:r>
              <a:rPr sz="1200" b="1">
                <a:solidFill>
                  <a:srgbClr val="0E2841"/>
                </a:solidFill>
                <a:latin typeface="Calibri"/>
              </a:rPr>
              <a:t>404  </a:t>
            </a:r>
            <a:r>
              <a:rPr sz="1200">
                <a:solidFill>
                  <a:srgbClr val="1E2B36"/>
                </a:solidFill>
                <a:latin typeface="Calibri"/>
              </a:rPr>
              <a:t>collection / feature / geometry not found</a:t>
            </a:r>
          </a:p>
          <a:p>
            <a:pPr>
              <a:lnSpc>
                <a:spcPct val="106000"/>
              </a:lnSpc>
              <a:spcBef>
                <a:spcPts val="0"/>
              </a:spcBef>
              <a:spcAft>
                <a:spcPts val="900"/>
              </a:spcAft>
            </a:pPr>
            <a:r>
              <a:rPr sz="1200" b="1">
                <a:solidFill>
                  <a:srgbClr val="C0392B"/>
                </a:solidFill>
                <a:latin typeface="Calibri"/>
              </a:rPr>
              <a:t>▸  </a:t>
            </a:r>
            <a:r>
              <a:rPr sz="1200" b="1">
                <a:solidFill>
                  <a:srgbClr val="0E2841"/>
                </a:solidFill>
                <a:latin typeface="Calibri"/>
              </a:rPr>
              <a:t>409  </a:t>
            </a:r>
            <a:r>
              <a:rPr sz="1200">
                <a:solidFill>
                  <a:srgbClr val="1E2B36"/>
                </a:solidFill>
                <a:latin typeface="Calibri"/>
              </a:rPr>
              <a:t>resource already exists</a:t>
            </a:r>
          </a:p>
          <a:p>
            <a:pPr>
              <a:lnSpc>
                <a:spcPct val="106000"/>
              </a:lnSpc>
              <a:spcBef>
                <a:spcPts val="0"/>
              </a:spcBef>
              <a:spcAft>
                <a:spcPts val="900"/>
              </a:spcAft>
            </a:pPr>
            <a:r>
              <a:rPr sz="1200" b="1">
                <a:solidFill>
                  <a:srgbClr val="C0392B"/>
                </a:solidFill>
                <a:latin typeface="Calibri"/>
              </a:rPr>
              <a:t>▸  </a:t>
            </a:r>
            <a:r>
              <a:rPr sz="1200" b="1">
                <a:solidFill>
                  <a:srgbClr val="0E2841"/>
                </a:solidFill>
                <a:latin typeface="Calibri"/>
              </a:rPr>
              <a:t>500  </a:t>
            </a:r>
            <a:r>
              <a:rPr sz="1200">
                <a:solidFill>
                  <a:srgbClr val="1E2B36"/>
                </a:solidFill>
                <a:latin typeface="Calibri"/>
              </a:rPr>
              <a:t>internal server error</a:t>
            </a:r>
          </a:p>
          <a:p>
            <a:pPr>
              <a:lnSpc>
                <a:spcPct val="106000"/>
              </a:lnSpc>
              <a:spcBef>
                <a:spcPts val="0"/>
              </a:spcBef>
              <a:spcAft>
                <a:spcPts val="900"/>
              </a:spcAft>
            </a:pPr>
            <a:r>
              <a:rPr sz="1200" b="1">
                <a:solidFill>
                  <a:srgbClr val="C0392B"/>
                </a:solidFill>
                <a:latin typeface="Calibri"/>
              </a:rPr>
              <a:t>▸  </a:t>
            </a:r>
            <a:r>
              <a:rPr sz="1200">
                <a:solidFill>
                  <a:srgbClr val="1E2B36"/>
                </a:solidFill>
                <a:latin typeface="Calibri"/>
              </a:rPr>
              <a:t>Body: { "code", "description" }</a:t>
            </a:r>
          </a:p>
        </p:txBody>
      </p:sp>
      <p:sp>
        <p:nvSpPr>
          <p:cNvPr id="13" name="Rounded Rectangle 12"/>
          <p:cNvSpPr/>
          <p:nvPr/>
        </p:nvSpPr>
        <p:spPr>
          <a:xfrm>
            <a:off x="8121700" y="1645920"/>
            <a:ext cx="3503066" cy="420624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21700" y="1645920"/>
            <a:ext cx="3503066" cy="457200"/>
          </a:xfrm>
          <a:prstGeom prst="roundRect">
            <a:avLst>
              <a:gd name="adj" fmla="val 6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0300" y="1700784"/>
            <a:ext cx="3137306" cy="320040"/>
          </a:xfrm>
          <a:prstGeom prst="rect">
            <a:avLst/>
          </a:prstGeom>
          <a:noFill/>
        </p:spPr>
        <p:txBody>
          <a:bodyPr wrap="square" anchor="ctr" lIns="0" rIns="0" tIns="0" bIns="0">
            <a:noAutofit/>
          </a:bodyPr>
          <a:lstStyle/>
          <a:p>
            <a:pPr algn="l">
              <a:spcBef>
                <a:spcPts val="0"/>
              </a:spcBef>
              <a:spcAft>
                <a:spcPts val="200"/>
              </a:spcAft>
            </a:pPr>
            <a:r>
              <a:rPr sz="1400" b="1" i="0">
                <a:solidFill>
                  <a:srgbClr val="FFFFFF"/>
                </a:solidFill>
                <a:latin typeface="Calibri"/>
              </a:rPr>
              <a:t>Hypermedia (HATEOAS)</a:t>
            </a:r>
          </a:p>
        </p:txBody>
      </p:sp>
      <p:sp>
        <p:nvSpPr>
          <p:cNvPr id="16" name="TextBox 15"/>
          <p:cNvSpPr txBox="1"/>
          <p:nvPr/>
        </p:nvSpPr>
        <p:spPr>
          <a:xfrm>
            <a:off x="8350300" y="2286000"/>
            <a:ext cx="3045866" cy="3474720"/>
          </a:xfrm>
          <a:prstGeom prst="rect">
            <a:avLst/>
          </a:prstGeom>
          <a:noFill/>
        </p:spPr>
        <p:txBody>
          <a:bodyPr wrap="square" lIns="0" rIns="0" tIns="0" bIns="0">
            <a:noAutofit/>
          </a:bodyPr>
          <a:lstStyle/>
          <a:p>
            <a:pPr>
              <a:lnSpc>
                <a:spcPct val="106000"/>
              </a:lnSpc>
              <a:spcBef>
                <a:spcPts val="0"/>
              </a:spcBef>
              <a:spcAft>
                <a:spcPts val="900"/>
              </a:spcAft>
            </a:pPr>
            <a:r>
              <a:rPr sz="1200" b="1">
                <a:solidFill>
                  <a:srgbClr val="E97132"/>
                </a:solidFill>
                <a:latin typeface="Calibri"/>
              </a:rPr>
              <a:t>▸  </a:t>
            </a:r>
            <a:r>
              <a:rPr sz="1200">
                <a:solidFill>
                  <a:srgbClr val="1E2B36"/>
                </a:solidFill>
                <a:latin typeface="Calibri"/>
              </a:rPr>
              <a:t>Every resource carries links</a:t>
            </a:r>
          </a:p>
          <a:p>
            <a:pPr>
              <a:lnSpc>
                <a:spcPct val="106000"/>
              </a:lnSpc>
              <a:spcBef>
                <a:spcPts val="0"/>
              </a:spcBef>
              <a:spcAft>
                <a:spcPts val="900"/>
              </a:spcAft>
            </a:pPr>
            <a:r>
              <a:rPr sz="1200" b="1">
                <a:solidFill>
                  <a:srgbClr val="E97132"/>
                </a:solidFill>
                <a:latin typeface="Calibri"/>
              </a:rPr>
              <a:t>▸  </a:t>
            </a:r>
            <a:r>
              <a:rPr sz="1200">
                <a:solidFill>
                  <a:srgbClr val="1E2B36"/>
                </a:solidFill>
                <a:latin typeface="Calibri"/>
              </a:rPr>
              <a:t>rel: self, items,</a:t>
            </a:r>
          </a:p>
          <a:p>
            <a:pPr>
              <a:lnSpc>
                <a:spcPct val="106000"/>
              </a:lnSpc>
              <a:spcBef>
                <a:spcPts val="0"/>
              </a:spcBef>
              <a:spcAft>
                <a:spcPts val="900"/>
              </a:spcAft>
            </a:pPr>
            <a:r>
              <a:rPr sz="1200" b="1">
                <a:solidFill>
                  <a:srgbClr val="E97132"/>
                </a:solidFill>
                <a:latin typeface="Calibri"/>
              </a:rPr>
              <a:t>▸  </a:t>
            </a:r>
            <a:r>
              <a:rPr sz="1200">
                <a:solidFill>
                  <a:srgbClr val="1E2B36"/>
                </a:solidFill>
                <a:latin typeface="Calibri"/>
              </a:rPr>
              <a:t>…/rel/ogc/1.0/temporal-geometry,</a:t>
            </a:r>
          </a:p>
          <a:p>
            <a:pPr>
              <a:lnSpc>
                <a:spcPct val="106000"/>
              </a:lnSpc>
              <a:spcBef>
                <a:spcPts val="0"/>
              </a:spcBef>
              <a:spcAft>
                <a:spcPts val="900"/>
              </a:spcAft>
            </a:pPr>
            <a:r>
              <a:rPr sz="1200" b="1">
                <a:solidFill>
                  <a:srgbClr val="E97132"/>
                </a:solidFill>
                <a:latin typeface="Calibri"/>
              </a:rPr>
              <a:t>▸  </a:t>
            </a:r>
            <a:r>
              <a:rPr sz="1200">
                <a:solidFill>
                  <a:srgbClr val="1E2B36"/>
                </a:solidFill>
                <a:latin typeface="Calibri"/>
              </a:rPr>
              <a:t>…/rel/ogc/1.0/temporal-properties</a:t>
            </a:r>
          </a:p>
          <a:p>
            <a:pPr>
              <a:lnSpc>
                <a:spcPct val="106000"/>
              </a:lnSpc>
              <a:spcBef>
                <a:spcPts val="0"/>
              </a:spcBef>
              <a:spcAft>
                <a:spcPts val="900"/>
              </a:spcAft>
            </a:pPr>
            <a:r>
              <a:rPr sz="1200" b="1">
                <a:solidFill>
                  <a:srgbClr val="E97132"/>
                </a:solidFill>
                <a:latin typeface="Calibri"/>
              </a:rPr>
              <a:t>▸  </a:t>
            </a:r>
            <a:r>
              <a:rPr sz="1200">
                <a:solidFill>
                  <a:srgbClr val="1E2B36"/>
                </a:solidFill>
                <a:latin typeface="Calibri"/>
              </a:rPr>
              <a:t>Clients navigate without hard-coding paths</a:t>
            </a:r>
          </a:p>
        </p:txBody>
      </p:sp>
      <p:sp>
        <p:nvSpPr>
          <p:cNvPr id="17" name="Rectangle 16"/>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9" name="TextBox 18"/>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18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CONTEXT</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Where MobilityAPI Fits in the MEOS Ecosystem</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828800" y="5074920"/>
            <a:ext cx="8534095" cy="777240"/>
          </a:xfrm>
          <a:prstGeom prst="roundRect">
            <a:avLst>
              <a:gd name="adj" fmla="val 6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5138928"/>
            <a:ext cx="8534095" cy="320040"/>
          </a:xfrm>
          <a:prstGeom prst="rect">
            <a:avLst/>
          </a:prstGeom>
          <a:noFill/>
        </p:spPr>
        <p:txBody>
          <a:bodyPr wrap="square" anchor="t" lIns="0" rIns="0" tIns="0" bIns="0">
            <a:noAutofit/>
          </a:bodyPr>
          <a:lstStyle/>
          <a:p>
            <a:pPr algn="ctr">
              <a:spcBef>
                <a:spcPts val="0"/>
              </a:spcBef>
              <a:spcAft>
                <a:spcPts val="200"/>
              </a:spcAft>
            </a:pPr>
            <a:r>
              <a:rPr sz="1600" b="1" i="0">
                <a:solidFill>
                  <a:srgbClr val="FFFFFF"/>
                </a:solidFill>
                <a:latin typeface="Calibri"/>
              </a:rPr>
              <a:t>MEOS</a:t>
            </a:r>
          </a:p>
        </p:txBody>
      </p:sp>
      <p:sp>
        <p:nvSpPr>
          <p:cNvPr id="7" name="TextBox 6"/>
          <p:cNvSpPr txBox="1"/>
          <p:nvPr/>
        </p:nvSpPr>
        <p:spPr>
          <a:xfrm>
            <a:off x="1828800" y="5468112"/>
            <a:ext cx="8534095" cy="274320"/>
          </a:xfrm>
          <a:prstGeom prst="rect">
            <a:avLst/>
          </a:prstGeom>
          <a:noFill/>
        </p:spPr>
        <p:txBody>
          <a:bodyPr wrap="square" anchor="t" lIns="0" rIns="0" tIns="0" bIns="0">
            <a:noAutofit/>
          </a:bodyPr>
          <a:lstStyle/>
          <a:p>
            <a:pPr algn="ctr">
              <a:spcBef>
                <a:spcPts val="0"/>
              </a:spcBef>
              <a:spcAft>
                <a:spcPts val="200"/>
              </a:spcAft>
            </a:pPr>
            <a:r>
              <a:rPr sz="1200" b="0" i="0">
                <a:solidFill>
                  <a:srgbClr val="B9D0DD"/>
                </a:solidFill>
                <a:latin typeface="Calibri"/>
              </a:rPr>
              <a:t>canonical C library — type system + computations</a:t>
            </a:r>
          </a:p>
        </p:txBody>
      </p:sp>
      <p:sp>
        <p:nvSpPr>
          <p:cNvPr id="8" name="Rounded Rectangle 7"/>
          <p:cNvSpPr/>
          <p:nvPr/>
        </p:nvSpPr>
        <p:spPr>
          <a:xfrm>
            <a:off x="914400" y="3611880"/>
            <a:ext cx="3383280" cy="1005840"/>
          </a:xfrm>
          <a:prstGeom prst="roundRect">
            <a:avLst>
              <a:gd name="adj" fmla="val 8000"/>
            </a:avLst>
          </a:prstGeom>
          <a:solidFill>
            <a:srgbClr val="FFFFFF"/>
          </a:solidFill>
          <a:ln w="22225">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767328"/>
            <a:ext cx="3383280" cy="274320"/>
          </a:xfrm>
          <a:prstGeom prst="rect">
            <a:avLst/>
          </a:prstGeom>
          <a:noFill/>
        </p:spPr>
        <p:txBody>
          <a:bodyPr wrap="square" anchor="t" lIns="0" rIns="0" tIns="0" bIns="0">
            <a:noAutofit/>
          </a:bodyPr>
          <a:lstStyle/>
          <a:p>
            <a:pPr algn="ctr">
              <a:spcBef>
                <a:spcPts val="0"/>
              </a:spcBef>
              <a:spcAft>
                <a:spcPts val="200"/>
              </a:spcAft>
            </a:pPr>
            <a:r>
              <a:rPr sz="1400" b="1" i="0">
                <a:solidFill>
                  <a:srgbClr val="156082"/>
                </a:solidFill>
                <a:latin typeface="Calibri"/>
              </a:rPr>
              <a:t>MobilityDB</a:t>
            </a:r>
          </a:p>
        </p:txBody>
      </p:sp>
      <p:sp>
        <p:nvSpPr>
          <p:cNvPr id="10" name="TextBox 9"/>
          <p:cNvSpPr txBox="1"/>
          <p:nvPr/>
        </p:nvSpPr>
        <p:spPr>
          <a:xfrm>
            <a:off x="914400" y="4069080"/>
            <a:ext cx="3383280" cy="274320"/>
          </a:xfrm>
          <a:prstGeom prst="rect">
            <a:avLst/>
          </a:prstGeom>
          <a:noFill/>
        </p:spPr>
        <p:txBody>
          <a:bodyPr wrap="square" anchor="t" lIns="0" rIns="0" tIns="0" bIns="0">
            <a:noAutofit/>
          </a:bodyPr>
          <a:lstStyle/>
          <a:p>
            <a:pPr algn="ctr">
              <a:spcBef>
                <a:spcPts val="0"/>
              </a:spcBef>
              <a:spcAft>
                <a:spcPts val="200"/>
              </a:spcAft>
            </a:pPr>
            <a:r>
              <a:rPr sz="1200" b="0" i="0">
                <a:solidFill>
                  <a:srgbClr val="5B6B78"/>
                </a:solidFill>
                <a:latin typeface="Calibri"/>
              </a:rPr>
              <a:t>PostgreSQL / PostGIS extension</a:t>
            </a:r>
          </a:p>
        </p:txBody>
      </p:sp>
      <p:sp>
        <p:nvSpPr>
          <p:cNvPr id="11" name="Rounded Rectangle 10"/>
          <p:cNvSpPr/>
          <p:nvPr/>
        </p:nvSpPr>
        <p:spPr>
          <a:xfrm>
            <a:off x="4617720" y="3611880"/>
            <a:ext cx="2971800" cy="1005840"/>
          </a:xfrm>
          <a:prstGeom prst="roundRect">
            <a:avLst>
              <a:gd name="adj" fmla="val 8000"/>
            </a:avLst>
          </a:prstGeom>
          <a:solidFill>
            <a:srgbClr val="FFFFFF"/>
          </a:solidFill>
          <a:ln w="22225">
            <a:solidFill>
              <a:srgbClr val="196B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3767328"/>
            <a:ext cx="2971800" cy="274320"/>
          </a:xfrm>
          <a:prstGeom prst="rect">
            <a:avLst/>
          </a:prstGeom>
          <a:noFill/>
        </p:spPr>
        <p:txBody>
          <a:bodyPr wrap="square" anchor="t" lIns="0" rIns="0" tIns="0" bIns="0">
            <a:noAutofit/>
          </a:bodyPr>
          <a:lstStyle/>
          <a:p>
            <a:pPr algn="ctr">
              <a:spcBef>
                <a:spcPts val="0"/>
              </a:spcBef>
              <a:spcAft>
                <a:spcPts val="200"/>
              </a:spcAft>
            </a:pPr>
            <a:r>
              <a:rPr sz="1400" b="1" i="0">
                <a:solidFill>
                  <a:srgbClr val="196B24"/>
                </a:solidFill>
                <a:latin typeface="Calibri"/>
              </a:rPr>
              <a:t>MobilityDuck</a:t>
            </a:r>
          </a:p>
        </p:txBody>
      </p:sp>
      <p:sp>
        <p:nvSpPr>
          <p:cNvPr id="13" name="TextBox 12"/>
          <p:cNvSpPr txBox="1"/>
          <p:nvPr/>
        </p:nvSpPr>
        <p:spPr>
          <a:xfrm>
            <a:off x="4617720" y="4069080"/>
            <a:ext cx="2971800" cy="274320"/>
          </a:xfrm>
          <a:prstGeom prst="rect">
            <a:avLst/>
          </a:prstGeom>
          <a:noFill/>
        </p:spPr>
        <p:txBody>
          <a:bodyPr wrap="square" anchor="t" lIns="0" rIns="0" tIns="0" bIns="0">
            <a:noAutofit/>
          </a:bodyPr>
          <a:lstStyle/>
          <a:p>
            <a:pPr algn="ctr">
              <a:spcBef>
                <a:spcPts val="0"/>
              </a:spcBef>
              <a:spcAft>
                <a:spcPts val="200"/>
              </a:spcAft>
            </a:pPr>
            <a:r>
              <a:rPr sz="1200" b="0" i="0">
                <a:solidFill>
                  <a:srgbClr val="5B6B78"/>
                </a:solidFill>
                <a:latin typeface="Calibri"/>
              </a:rPr>
              <a:t>DuckDB extension</a:t>
            </a:r>
          </a:p>
        </p:txBody>
      </p:sp>
      <p:sp>
        <p:nvSpPr>
          <p:cNvPr id="14" name="Rounded Rectangle 13"/>
          <p:cNvSpPr/>
          <p:nvPr/>
        </p:nvSpPr>
        <p:spPr>
          <a:xfrm>
            <a:off x="7909560" y="3611880"/>
            <a:ext cx="3383280" cy="1005840"/>
          </a:xfrm>
          <a:prstGeom prst="roundRect">
            <a:avLst>
              <a:gd name="adj" fmla="val 8000"/>
            </a:avLst>
          </a:prstGeom>
          <a:solidFill>
            <a:srgbClr val="FFFFFF"/>
          </a:solidFill>
          <a:ln w="22225">
            <a:solidFill>
              <a:srgbClr val="A02B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09560" y="3721608"/>
            <a:ext cx="3383280" cy="274320"/>
          </a:xfrm>
          <a:prstGeom prst="rect">
            <a:avLst/>
          </a:prstGeom>
          <a:noFill/>
        </p:spPr>
        <p:txBody>
          <a:bodyPr wrap="square" anchor="t" lIns="0" rIns="0" tIns="0" bIns="0">
            <a:noAutofit/>
          </a:bodyPr>
          <a:lstStyle/>
          <a:p>
            <a:pPr algn="ctr">
              <a:spcBef>
                <a:spcPts val="0"/>
              </a:spcBef>
              <a:spcAft>
                <a:spcPts val="200"/>
              </a:spcAft>
            </a:pPr>
            <a:r>
              <a:rPr sz="1200" b="1" i="0">
                <a:solidFill>
                  <a:srgbClr val="A02B93"/>
                </a:solidFill>
                <a:latin typeface="Calibri"/>
              </a:rPr>
              <a:t>Language bindings</a:t>
            </a:r>
          </a:p>
        </p:txBody>
      </p:sp>
      <p:sp>
        <p:nvSpPr>
          <p:cNvPr id="16" name="TextBox 15"/>
          <p:cNvSpPr txBox="1"/>
          <p:nvPr/>
        </p:nvSpPr>
        <p:spPr>
          <a:xfrm>
            <a:off x="7909560" y="4005072"/>
            <a:ext cx="3383280" cy="502920"/>
          </a:xfrm>
          <a:prstGeom prst="rect">
            <a:avLst/>
          </a:prstGeom>
          <a:noFill/>
        </p:spPr>
        <p:txBody>
          <a:bodyPr wrap="square" anchor="t" lIns="0" rIns="0" tIns="0" bIns="0">
            <a:noAutofit/>
          </a:bodyPr>
          <a:lstStyle/>
          <a:p>
            <a:pPr algn="ctr">
              <a:spcBef>
                <a:spcPts val="0"/>
              </a:spcBef>
              <a:spcAft>
                <a:spcPts val="200"/>
              </a:spcAft>
            </a:pPr>
            <a:r>
              <a:rPr sz="1200" b="0" i="0">
                <a:solidFill>
                  <a:srgbClr val="5B6B78"/>
                </a:solidFill>
                <a:latin typeface="Calibri"/>
              </a:rPr>
              <a:t>PyMEOS · JMEOS · meos-rs</a:t>
            </a:r>
          </a:p>
          <a:p>
            <a:pPr algn="ctr">
              <a:spcBef>
                <a:spcPts val="0"/>
              </a:spcBef>
              <a:spcAft>
                <a:spcPts val="200"/>
              </a:spcAft>
            </a:pPr>
            <a:r>
              <a:rPr sz="1200" b="0" i="0">
                <a:solidFill>
                  <a:srgbClr val="5B6B78"/>
                </a:solidFill>
                <a:latin typeface="Calibri"/>
              </a:rPr>
              <a:t>GoMEOS · MEOS.NET · MEOS.js</a:t>
            </a:r>
          </a:p>
        </p:txBody>
      </p:sp>
      <p:sp>
        <p:nvSpPr>
          <p:cNvPr id="17" name="Rounded Rectangle 16"/>
          <p:cNvSpPr/>
          <p:nvPr/>
        </p:nvSpPr>
        <p:spPr>
          <a:xfrm>
            <a:off x="3108960" y="1874519"/>
            <a:ext cx="5973775" cy="960120"/>
          </a:xfrm>
          <a:prstGeom prst="roundRect">
            <a:avLst>
              <a:gd name="adj" fmla="val 7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08960" y="2011680"/>
            <a:ext cx="5973775" cy="320040"/>
          </a:xfrm>
          <a:prstGeom prst="rect">
            <a:avLst/>
          </a:prstGeom>
          <a:noFill/>
        </p:spPr>
        <p:txBody>
          <a:bodyPr wrap="square" anchor="t" lIns="0" rIns="0" tIns="0" bIns="0">
            <a:noAutofit/>
          </a:bodyPr>
          <a:lstStyle/>
          <a:p>
            <a:pPr algn="ctr">
              <a:spcBef>
                <a:spcPts val="0"/>
              </a:spcBef>
              <a:spcAft>
                <a:spcPts val="200"/>
              </a:spcAft>
            </a:pPr>
            <a:r>
              <a:rPr sz="1800" b="1" i="0">
                <a:solidFill>
                  <a:srgbClr val="FFFFFF"/>
                </a:solidFill>
                <a:latin typeface="Calibri"/>
              </a:rPr>
              <a:t>MobilityAPI</a:t>
            </a:r>
          </a:p>
        </p:txBody>
      </p:sp>
      <p:sp>
        <p:nvSpPr>
          <p:cNvPr id="19" name="TextBox 18"/>
          <p:cNvSpPr txBox="1"/>
          <p:nvPr/>
        </p:nvSpPr>
        <p:spPr>
          <a:xfrm>
            <a:off x="3108960" y="2395728"/>
            <a:ext cx="5973775" cy="274320"/>
          </a:xfrm>
          <a:prstGeom prst="rect">
            <a:avLst/>
          </a:prstGeom>
          <a:noFill/>
        </p:spPr>
        <p:txBody>
          <a:bodyPr wrap="square" anchor="t" lIns="0" rIns="0" tIns="0" bIns="0">
            <a:noAutofit/>
          </a:bodyPr>
          <a:lstStyle/>
          <a:p>
            <a:pPr algn="ctr">
              <a:spcBef>
                <a:spcPts val="0"/>
              </a:spcBef>
              <a:spcAft>
                <a:spcPts val="200"/>
              </a:spcAft>
            </a:pPr>
            <a:r>
              <a:rPr sz="1200" b="0" i="0">
                <a:solidFill>
                  <a:srgbClr val="FFEADC"/>
                </a:solidFill>
                <a:latin typeface="Calibri"/>
              </a:rPr>
              <a:t>the HTTP / OGC API – Moving Features layer</a:t>
            </a:r>
          </a:p>
        </p:txBody>
      </p:sp>
      <p:sp>
        <p:nvSpPr>
          <p:cNvPr id="20" name="TextBox 19"/>
          <p:cNvSpPr txBox="1"/>
          <p:nvPr/>
        </p:nvSpPr>
        <p:spPr>
          <a:xfrm>
            <a:off x="3108960" y="2880360"/>
            <a:ext cx="5973775" cy="274320"/>
          </a:xfrm>
          <a:prstGeom prst="rect">
            <a:avLst/>
          </a:prstGeom>
          <a:noFill/>
        </p:spPr>
        <p:txBody>
          <a:bodyPr wrap="square" anchor="t" lIns="0" rIns="0" tIns="0" bIns="0">
            <a:noAutofit/>
          </a:bodyPr>
          <a:lstStyle/>
          <a:p>
            <a:pPr algn="ctr">
              <a:spcBef>
                <a:spcPts val="0"/>
              </a:spcBef>
              <a:spcAft>
                <a:spcPts val="200"/>
              </a:spcAft>
            </a:pPr>
            <a:r>
              <a:rPr sz="1200" b="0" i="0">
                <a:solidFill>
                  <a:srgbClr val="5B6B78"/>
                </a:solidFill>
                <a:latin typeface="Calibri"/>
              </a:rPr>
              <a:t>▼  consumes PyMEOS</a:t>
            </a:r>
          </a:p>
        </p:txBody>
      </p:sp>
      <p:sp>
        <p:nvSpPr>
          <p:cNvPr id="21" name="TextBox 20"/>
          <p:cNvSpPr txBox="1"/>
          <p:nvPr/>
        </p:nvSpPr>
        <p:spPr>
          <a:xfrm>
            <a:off x="1828800" y="4736592"/>
            <a:ext cx="8534095" cy="274320"/>
          </a:xfrm>
          <a:prstGeom prst="rect">
            <a:avLst/>
          </a:prstGeom>
          <a:noFill/>
        </p:spPr>
        <p:txBody>
          <a:bodyPr wrap="square" anchor="t" lIns="0" rIns="0" tIns="0" bIns="0">
            <a:noAutofit/>
          </a:bodyPr>
          <a:lstStyle/>
          <a:p>
            <a:pPr algn="ctr">
              <a:spcBef>
                <a:spcPts val="0"/>
              </a:spcBef>
              <a:spcAft>
                <a:spcPts val="200"/>
              </a:spcAft>
            </a:pPr>
            <a:r>
              <a:rPr sz="1200" b="0" i="0">
                <a:solidFill>
                  <a:srgbClr val="5B6B78"/>
                </a:solidFill>
                <a:latin typeface="Calibri"/>
              </a:rPr>
              <a:t>▼   all bind to MEOS</a:t>
            </a:r>
          </a:p>
        </p:txBody>
      </p:sp>
      <p:sp>
        <p:nvSpPr>
          <p:cNvPr id="22" name="Rectangle 21"/>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24" name="TextBox 23"/>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19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TWO TIERS, ONE DATABASE</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Two Ways to Serve the Same MobilityDB</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627632"/>
            <a:ext cx="5300319" cy="3822191"/>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27632"/>
            <a:ext cx="5300319" cy="475488"/>
          </a:xfrm>
          <a:prstGeom prst="roundRect">
            <a:avLst>
              <a:gd name="adj" fmla="val 6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82496"/>
            <a:ext cx="4934559" cy="274320"/>
          </a:xfrm>
          <a:prstGeom prst="rect">
            <a:avLst/>
          </a:prstGeom>
          <a:noFill/>
        </p:spPr>
        <p:txBody>
          <a:bodyPr wrap="square" anchor="ctr" lIns="0" rIns="0" tIns="0" bIns="0">
            <a:noAutofit/>
          </a:bodyPr>
          <a:lstStyle/>
          <a:p>
            <a:pPr algn="l">
              <a:spcBef>
                <a:spcPts val="0"/>
              </a:spcBef>
              <a:spcAft>
                <a:spcPts val="200"/>
              </a:spcAft>
            </a:pPr>
            <a:r>
              <a:rPr sz="1400" b="1" i="0">
                <a:solidFill>
                  <a:srgbClr val="FFFFFF"/>
                </a:solidFill>
                <a:latin typeface="Calibri"/>
              </a:rPr>
              <a:t>PyMEOS tier</a:t>
            </a:r>
          </a:p>
        </p:txBody>
      </p:sp>
      <p:sp>
        <p:nvSpPr>
          <p:cNvPr id="8" name="TextBox 7"/>
          <p:cNvSpPr txBox="1"/>
          <p:nvPr/>
        </p:nvSpPr>
        <p:spPr>
          <a:xfrm>
            <a:off x="795528" y="2194560"/>
            <a:ext cx="4843119" cy="274320"/>
          </a:xfrm>
          <a:prstGeom prst="rect">
            <a:avLst/>
          </a:prstGeom>
          <a:noFill/>
        </p:spPr>
        <p:txBody>
          <a:bodyPr wrap="square" anchor="t" lIns="0" rIns="0" tIns="0" bIns="0">
            <a:noAutofit/>
          </a:bodyPr>
          <a:lstStyle/>
          <a:p>
            <a:pPr algn="l">
              <a:spcBef>
                <a:spcPts val="0"/>
              </a:spcBef>
              <a:spcAft>
                <a:spcPts val="200"/>
              </a:spcAft>
            </a:pPr>
            <a:r>
              <a:rPr sz="1200" b="0" i="1">
                <a:solidFill>
                  <a:srgbClr val="5B6B78"/>
                </a:solidFill>
                <a:latin typeface="Calibri"/>
              </a:rPr>
              <a:t>JSON to type glue in Python; the database does the work</a:t>
            </a:r>
          </a:p>
        </p:txBody>
      </p:sp>
      <p:sp>
        <p:nvSpPr>
          <p:cNvPr id="9" name="Rounded Rectangle 8"/>
          <p:cNvSpPr/>
          <p:nvPr/>
        </p:nvSpPr>
        <p:spPr>
          <a:xfrm>
            <a:off x="859536" y="2542032"/>
            <a:ext cx="4715103" cy="548640"/>
          </a:xfrm>
          <a:prstGeom prst="roundRect">
            <a:avLst>
              <a:gd name="adj" fmla="val 12000"/>
            </a:avLst>
          </a:prstGeom>
          <a:solidFill>
            <a:srgbClr val="FFFFFF"/>
          </a:solidFill>
          <a:ln w="19050">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596896"/>
            <a:ext cx="4385919" cy="274320"/>
          </a:xfrm>
          <a:prstGeom prst="rect">
            <a:avLst/>
          </a:prstGeom>
          <a:noFill/>
        </p:spPr>
        <p:txBody>
          <a:bodyPr wrap="square" anchor="t" lIns="0" rIns="0" tIns="0" bIns="0">
            <a:noAutofit/>
          </a:bodyPr>
          <a:lstStyle/>
          <a:p>
            <a:pPr algn="l">
              <a:spcBef>
                <a:spcPts val="0"/>
              </a:spcBef>
              <a:spcAft>
                <a:spcPts val="200"/>
              </a:spcAft>
            </a:pPr>
            <a:r>
              <a:rPr sz="1200" b="1" i="0">
                <a:solidFill>
                  <a:srgbClr val="0E2841"/>
                </a:solidFill>
                <a:latin typeface="Calibri"/>
              </a:rPr>
              <a:t>HTTP client</a:t>
            </a:r>
          </a:p>
        </p:txBody>
      </p:sp>
      <p:sp>
        <p:nvSpPr>
          <p:cNvPr id="11" name="TextBox 10"/>
          <p:cNvSpPr txBox="1"/>
          <p:nvPr/>
        </p:nvSpPr>
        <p:spPr>
          <a:xfrm>
            <a:off x="1024128" y="2834639"/>
            <a:ext cx="4385919" cy="22860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onsolas"/>
              </a:rPr>
              <a:t>browser · mobile · ETL</a:t>
            </a:r>
          </a:p>
        </p:txBody>
      </p:sp>
      <p:sp>
        <p:nvSpPr>
          <p:cNvPr id="12" name="TextBox 11"/>
          <p:cNvSpPr txBox="1"/>
          <p:nvPr/>
        </p:nvSpPr>
        <p:spPr>
          <a:xfrm>
            <a:off x="859536" y="3090672"/>
            <a:ext cx="4715103" cy="201168"/>
          </a:xfrm>
          <a:prstGeom prst="rect">
            <a:avLst/>
          </a:prstGeom>
          <a:noFill/>
        </p:spPr>
        <p:txBody>
          <a:bodyPr wrap="square" anchor="t" lIns="0" rIns="0" tIns="0" bIns="0">
            <a:noAutofit/>
          </a:bodyPr>
          <a:lstStyle/>
          <a:p>
            <a:pPr algn="ctr">
              <a:spcBef>
                <a:spcPts val="0"/>
              </a:spcBef>
              <a:spcAft>
                <a:spcPts val="200"/>
              </a:spcAft>
            </a:pPr>
            <a:r>
              <a:rPr sz="1200" b="0" i="0">
                <a:solidFill>
                  <a:srgbClr val="5B6B78"/>
                </a:solidFill>
                <a:latin typeface="Calibri"/>
              </a:rPr>
              <a:t>▼</a:t>
            </a:r>
          </a:p>
        </p:txBody>
      </p:sp>
      <p:sp>
        <p:nvSpPr>
          <p:cNvPr id="13" name="Rounded Rectangle 12"/>
          <p:cNvSpPr/>
          <p:nvPr/>
        </p:nvSpPr>
        <p:spPr>
          <a:xfrm>
            <a:off x="859536" y="3291839"/>
            <a:ext cx="4715103" cy="548640"/>
          </a:xfrm>
          <a:prstGeom prst="roundRect">
            <a:avLst>
              <a:gd name="adj" fmla="val 12000"/>
            </a:avLst>
          </a:prstGeom>
          <a:solidFill>
            <a:srgbClr val="FFFFFF"/>
          </a:solidFill>
          <a:ln w="1905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346703"/>
            <a:ext cx="4385919" cy="274320"/>
          </a:xfrm>
          <a:prstGeom prst="rect">
            <a:avLst/>
          </a:prstGeom>
          <a:noFill/>
        </p:spPr>
        <p:txBody>
          <a:bodyPr wrap="square" anchor="t" lIns="0" rIns="0" tIns="0" bIns="0">
            <a:noAutofit/>
          </a:bodyPr>
          <a:lstStyle/>
          <a:p>
            <a:pPr algn="l">
              <a:spcBef>
                <a:spcPts val="0"/>
              </a:spcBef>
              <a:spcAft>
                <a:spcPts val="200"/>
              </a:spcAft>
            </a:pPr>
            <a:r>
              <a:rPr sz="1200" b="1" i="0">
                <a:solidFill>
                  <a:srgbClr val="E97132"/>
                </a:solidFill>
                <a:latin typeface="Calibri"/>
              </a:rPr>
              <a:t>Python (PyMEOS)</a:t>
            </a:r>
          </a:p>
        </p:txBody>
      </p:sp>
      <p:sp>
        <p:nvSpPr>
          <p:cNvPr id="15" name="TextBox 14"/>
          <p:cNvSpPr txBox="1"/>
          <p:nvPr/>
        </p:nvSpPr>
        <p:spPr>
          <a:xfrm>
            <a:off x="1024128" y="3584447"/>
            <a:ext cx="4385919" cy="22860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onsolas"/>
              </a:rPr>
              <a:t>JSON to temporal-type conversion</a:t>
            </a:r>
          </a:p>
        </p:txBody>
      </p:sp>
      <p:sp>
        <p:nvSpPr>
          <p:cNvPr id="16" name="TextBox 15"/>
          <p:cNvSpPr txBox="1"/>
          <p:nvPr/>
        </p:nvSpPr>
        <p:spPr>
          <a:xfrm>
            <a:off x="859536" y="3840479"/>
            <a:ext cx="4715103" cy="201168"/>
          </a:xfrm>
          <a:prstGeom prst="rect">
            <a:avLst/>
          </a:prstGeom>
          <a:noFill/>
        </p:spPr>
        <p:txBody>
          <a:bodyPr wrap="square" anchor="t" lIns="0" rIns="0" tIns="0" bIns="0">
            <a:noAutofit/>
          </a:bodyPr>
          <a:lstStyle/>
          <a:p>
            <a:pPr algn="ctr">
              <a:spcBef>
                <a:spcPts val="0"/>
              </a:spcBef>
              <a:spcAft>
                <a:spcPts val="200"/>
              </a:spcAft>
            </a:pPr>
            <a:r>
              <a:rPr sz="1200" b="0" i="0">
                <a:solidFill>
                  <a:srgbClr val="5B6B78"/>
                </a:solidFill>
                <a:latin typeface="Calibri"/>
              </a:rPr>
              <a:t>▼</a:t>
            </a:r>
          </a:p>
        </p:txBody>
      </p:sp>
      <p:sp>
        <p:nvSpPr>
          <p:cNvPr id="17" name="Rounded Rectangle 16"/>
          <p:cNvSpPr/>
          <p:nvPr/>
        </p:nvSpPr>
        <p:spPr>
          <a:xfrm>
            <a:off x="859536" y="4041648"/>
            <a:ext cx="4715103" cy="548640"/>
          </a:xfrm>
          <a:prstGeom prst="roundRect">
            <a:avLst>
              <a:gd name="adj" fmla="val 12000"/>
            </a:avLst>
          </a:prstGeom>
          <a:solidFill>
            <a:srgbClr val="FFFFFF"/>
          </a:solidFill>
          <a:ln w="19050">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4096511"/>
            <a:ext cx="4385919" cy="274320"/>
          </a:xfrm>
          <a:prstGeom prst="rect">
            <a:avLst/>
          </a:prstGeom>
          <a:noFill/>
        </p:spPr>
        <p:txBody>
          <a:bodyPr wrap="square" anchor="t" lIns="0" rIns="0" tIns="0" bIns="0">
            <a:noAutofit/>
          </a:bodyPr>
          <a:lstStyle/>
          <a:p>
            <a:pPr algn="l">
              <a:spcBef>
                <a:spcPts val="0"/>
              </a:spcBef>
              <a:spcAft>
                <a:spcPts val="200"/>
              </a:spcAft>
            </a:pPr>
            <a:r>
              <a:rPr sz="1200" b="1" i="0">
                <a:solidFill>
                  <a:srgbClr val="0E2841"/>
                </a:solidFill>
                <a:latin typeface="Calibri"/>
              </a:rPr>
              <a:t>MobilityDB (C)</a:t>
            </a:r>
          </a:p>
        </p:txBody>
      </p:sp>
      <p:sp>
        <p:nvSpPr>
          <p:cNvPr id="19" name="TextBox 18"/>
          <p:cNvSpPr txBox="1"/>
          <p:nvPr/>
        </p:nvSpPr>
        <p:spPr>
          <a:xfrm>
            <a:off x="1024128" y="4334256"/>
            <a:ext cx="4385919" cy="22860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onsolas"/>
              </a:rPr>
              <a:t>tgeompoint · STBOX · TSTZSPAN</a:t>
            </a:r>
          </a:p>
        </p:txBody>
      </p:sp>
      <p:sp>
        <p:nvSpPr>
          <p:cNvPr id="20" name="Rounded Rectangle 19"/>
          <p:cNvSpPr/>
          <p:nvPr/>
        </p:nvSpPr>
        <p:spPr>
          <a:xfrm>
            <a:off x="6324447" y="1627632"/>
            <a:ext cx="5300319" cy="3822191"/>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24447" y="1627632"/>
            <a:ext cx="5300319" cy="475488"/>
          </a:xfrm>
          <a:prstGeom prst="roundRect">
            <a:avLst>
              <a:gd name="adj" fmla="val 6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53047" y="1682496"/>
            <a:ext cx="4934559" cy="274320"/>
          </a:xfrm>
          <a:prstGeom prst="rect">
            <a:avLst/>
          </a:prstGeom>
          <a:noFill/>
        </p:spPr>
        <p:txBody>
          <a:bodyPr wrap="square" anchor="ctr" lIns="0" rIns="0" tIns="0" bIns="0">
            <a:noAutofit/>
          </a:bodyPr>
          <a:lstStyle/>
          <a:p>
            <a:pPr algn="l">
              <a:spcBef>
                <a:spcPts val="0"/>
              </a:spcBef>
              <a:spcAft>
                <a:spcPts val="200"/>
              </a:spcAft>
            </a:pPr>
            <a:r>
              <a:rPr sz="1400" b="1" i="0">
                <a:solidFill>
                  <a:srgbClr val="FFFFFF"/>
                </a:solidFill>
                <a:latin typeface="Calibri"/>
              </a:rPr>
              <a:t>Go tier</a:t>
            </a:r>
          </a:p>
        </p:txBody>
      </p:sp>
      <p:sp>
        <p:nvSpPr>
          <p:cNvPr id="23" name="TextBox 22"/>
          <p:cNvSpPr txBox="1"/>
          <p:nvPr/>
        </p:nvSpPr>
        <p:spPr>
          <a:xfrm>
            <a:off x="6553047" y="2194560"/>
            <a:ext cx="4843119" cy="274320"/>
          </a:xfrm>
          <a:prstGeom prst="rect">
            <a:avLst/>
          </a:prstGeom>
          <a:noFill/>
        </p:spPr>
        <p:txBody>
          <a:bodyPr wrap="square" anchor="t" lIns="0" rIns="0" tIns="0" bIns="0">
            <a:noAutofit/>
          </a:bodyPr>
          <a:lstStyle/>
          <a:p>
            <a:pPr algn="l">
              <a:spcBef>
                <a:spcPts val="0"/>
              </a:spcBef>
              <a:spcAft>
                <a:spcPts val="200"/>
              </a:spcAft>
            </a:pPr>
            <a:r>
              <a:rPr sz="1200" b="0" i="1">
                <a:solidFill>
                  <a:srgbClr val="5B6B78"/>
                </a:solidFill>
                <a:latin typeface="Calibri"/>
              </a:rPr>
              <a:t>thin net/http + pgxpool; no MEOS in the tier (no cgo, no PyMEOS)</a:t>
            </a:r>
          </a:p>
        </p:txBody>
      </p:sp>
      <p:sp>
        <p:nvSpPr>
          <p:cNvPr id="24" name="Rounded Rectangle 23"/>
          <p:cNvSpPr/>
          <p:nvPr/>
        </p:nvSpPr>
        <p:spPr>
          <a:xfrm>
            <a:off x="6617055" y="2542032"/>
            <a:ext cx="4715103" cy="548640"/>
          </a:xfrm>
          <a:prstGeom prst="roundRect">
            <a:avLst>
              <a:gd name="adj" fmla="val 12000"/>
            </a:avLst>
          </a:prstGeom>
          <a:solidFill>
            <a:srgbClr val="FFFFFF"/>
          </a:solidFill>
          <a:ln w="19050">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81647" y="2596896"/>
            <a:ext cx="4385919" cy="274320"/>
          </a:xfrm>
          <a:prstGeom prst="rect">
            <a:avLst/>
          </a:prstGeom>
          <a:noFill/>
        </p:spPr>
        <p:txBody>
          <a:bodyPr wrap="square" anchor="t" lIns="0" rIns="0" tIns="0" bIns="0">
            <a:noAutofit/>
          </a:bodyPr>
          <a:lstStyle/>
          <a:p>
            <a:pPr algn="l">
              <a:spcBef>
                <a:spcPts val="0"/>
              </a:spcBef>
              <a:spcAft>
                <a:spcPts val="200"/>
              </a:spcAft>
            </a:pPr>
            <a:r>
              <a:rPr sz="1200" b="1" i="0">
                <a:solidFill>
                  <a:srgbClr val="0E2841"/>
                </a:solidFill>
                <a:latin typeface="Calibri"/>
              </a:rPr>
              <a:t>HTTP client</a:t>
            </a:r>
          </a:p>
        </p:txBody>
      </p:sp>
      <p:sp>
        <p:nvSpPr>
          <p:cNvPr id="26" name="TextBox 25"/>
          <p:cNvSpPr txBox="1"/>
          <p:nvPr/>
        </p:nvSpPr>
        <p:spPr>
          <a:xfrm>
            <a:off x="6781647" y="2834639"/>
            <a:ext cx="4385919" cy="22860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onsolas"/>
              </a:rPr>
              <a:t>browser · mobile · ETL</a:t>
            </a:r>
          </a:p>
        </p:txBody>
      </p:sp>
      <p:sp>
        <p:nvSpPr>
          <p:cNvPr id="27" name="TextBox 26"/>
          <p:cNvSpPr txBox="1"/>
          <p:nvPr/>
        </p:nvSpPr>
        <p:spPr>
          <a:xfrm>
            <a:off x="6617055" y="3090672"/>
            <a:ext cx="4715103" cy="201168"/>
          </a:xfrm>
          <a:prstGeom prst="rect">
            <a:avLst/>
          </a:prstGeom>
          <a:noFill/>
        </p:spPr>
        <p:txBody>
          <a:bodyPr wrap="square" anchor="t" lIns="0" rIns="0" tIns="0" bIns="0">
            <a:noAutofit/>
          </a:bodyPr>
          <a:lstStyle/>
          <a:p>
            <a:pPr algn="ctr">
              <a:spcBef>
                <a:spcPts val="0"/>
              </a:spcBef>
              <a:spcAft>
                <a:spcPts val="200"/>
              </a:spcAft>
            </a:pPr>
            <a:r>
              <a:rPr sz="1200" b="0" i="0">
                <a:solidFill>
                  <a:srgbClr val="5B6B78"/>
                </a:solidFill>
                <a:latin typeface="Calibri"/>
              </a:rPr>
              <a:t>▼</a:t>
            </a:r>
          </a:p>
        </p:txBody>
      </p:sp>
      <p:sp>
        <p:nvSpPr>
          <p:cNvPr id="28" name="Rounded Rectangle 27"/>
          <p:cNvSpPr/>
          <p:nvPr/>
        </p:nvSpPr>
        <p:spPr>
          <a:xfrm>
            <a:off x="6617055" y="3291839"/>
            <a:ext cx="4715103" cy="548640"/>
          </a:xfrm>
          <a:prstGeom prst="roundRect">
            <a:avLst>
              <a:gd name="adj" fmla="val 12000"/>
            </a:avLst>
          </a:prstGeom>
          <a:solidFill>
            <a:srgbClr val="FFFFFF"/>
          </a:solidFill>
          <a:ln w="1905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81647" y="3346703"/>
            <a:ext cx="438591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Go (net/http + pgxpool)</a:t>
            </a:r>
          </a:p>
        </p:txBody>
      </p:sp>
      <p:sp>
        <p:nvSpPr>
          <p:cNvPr id="30" name="TextBox 29"/>
          <p:cNvSpPr txBox="1"/>
          <p:nvPr/>
        </p:nvSpPr>
        <p:spPr>
          <a:xfrm>
            <a:off x="6781647" y="3584447"/>
            <a:ext cx="4385919" cy="22860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onsolas"/>
              </a:rPr>
              <a:t>asMFJSON reads · tgeompointFromMFJSON writes</a:t>
            </a:r>
          </a:p>
        </p:txBody>
      </p:sp>
      <p:sp>
        <p:nvSpPr>
          <p:cNvPr id="31" name="TextBox 30"/>
          <p:cNvSpPr txBox="1"/>
          <p:nvPr/>
        </p:nvSpPr>
        <p:spPr>
          <a:xfrm>
            <a:off x="6617055" y="3840479"/>
            <a:ext cx="4715103" cy="201168"/>
          </a:xfrm>
          <a:prstGeom prst="rect">
            <a:avLst/>
          </a:prstGeom>
          <a:noFill/>
        </p:spPr>
        <p:txBody>
          <a:bodyPr wrap="square" anchor="t" lIns="0" rIns="0" tIns="0" bIns="0">
            <a:noAutofit/>
          </a:bodyPr>
          <a:lstStyle/>
          <a:p>
            <a:pPr algn="ctr">
              <a:spcBef>
                <a:spcPts val="0"/>
              </a:spcBef>
              <a:spcAft>
                <a:spcPts val="200"/>
              </a:spcAft>
            </a:pPr>
            <a:r>
              <a:rPr sz="1200" b="0" i="0">
                <a:solidFill>
                  <a:srgbClr val="5B6B78"/>
                </a:solidFill>
                <a:latin typeface="Calibri"/>
              </a:rPr>
              <a:t>▼</a:t>
            </a:r>
          </a:p>
        </p:txBody>
      </p:sp>
      <p:sp>
        <p:nvSpPr>
          <p:cNvPr id="32" name="Rounded Rectangle 31"/>
          <p:cNvSpPr/>
          <p:nvPr/>
        </p:nvSpPr>
        <p:spPr>
          <a:xfrm>
            <a:off x="6617055" y="4041648"/>
            <a:ext cx="4715103" cy="548640"/>
          </a:xfrm>
          <a:prstGeom prst="roundRect">
            <a:avLst>
              <a:gd name="adj" fmla="val 12000"/>
            </a:avLst>
          </a:prstGeom>
          <a:solidFill>
            <a:srgbClr val="FFFFFF"/>
          </a:solidFill>
          <a:ln w="19050">
            <a:solidFill>
              <a:srgbClr val="0E284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781647" y="4096511"/>
            <a:ext cx="4385919" cy="274320"/>
          </a:xfrm>
          <a:prstGeom prst="rect">
            <a:avLst/>
          </a:prstGeom>
          <a:noFill/>
        </p:spPr>
        <p:txBody>
          <a:bodyPr wrap="square" anchor="t" lIns="0" rIns="0" tIns="0" bIns="0">
            <a:noAutofit/>
          </a:bodyPr>
          <a:lstStyle/>
          <a:p>
            <a:pPr algn="l">
              <a:spcBef>
                <a:spcPts val="0"/>
              </a:spcBef>
              <a:spcAft>
                <a:spcPts val="200"/>
              </a:spcAft>
            </a:pPr>
            <a:r>
              <a:rPr sz="1200" b="1" i="0">
                <a:solidFill>
                  <a:srgbClr val="0E2841"/>
                </a:solidFill>
                <a:latin typeface="Calibri"/>
              </a:rPr>
              <a:t>MobilityDB (C)</a:t>
            </a:r>
          </a:p>
        </p:txBody>
      </p:sp>
      <p:sp>
        <p:nvSpPr>
          <p:cNvPr id="34" name="TextBox 33"/>
          <p:cNvSpPr txBox="1"/>
          <p:nvPr/>
        </p:nvSpPr>
        <p:spPr>
          <a:xfrm>
            <a:off x="6781647" y="4334256"/>
            <a:ext cx="4385919" cy="22860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onsolas"/>
              </a:rPr>
              <a:t>tgeompoint · STBOX · TSTZSPAN</a:t>
            </a:r>
          </a:p>
        </p:txBody>
      </p:sp>
      <p:sp>
        <p:nvSpPr>
          <p:cNvPr id="35" name="TextBox 34"/>
          <p:cNvSpPr txBox="1"/>
          <p:nvPr/>
        </p:nvSpPr>
        <p:spPr>
          <a:xfrm>
            <a:off x="566928" y="5650992"/>
            <a:ext cx="11057839" cy="731520"/>
          </a:xfrm>
          <a:prstGeom prst="rect">
            <a:avLst/>
          </a:prstGeom>
          <a:noFill/>
        </p:spPr>
        <p:txBody>
          <a:bodyPr wrap="square" anchor="t" lIns="0" rIns="0" tIns="0" bIns="0">
            <a:noAutofit/>
          </a:bodyPr>
          <a:lstStyle/>
          <a:p>
            <a:pPr algn="ctr">
              <a:spcBef>
                <a:spcPts val="0"/>
              </a:spcBef>
              <a:spcAft>
                <a:spcPts val="200"/>
              </a:spcAft>
            </a:pPr>
            <a:r>
              <a:rPr sz="1200" b="0" i="1">
                <a:solidFill>
                  <a:srgbClr val="5B6B78"/>
                </a:solidFill>
                <a:latin typeface="Calibri"/>
              </a:rPr>
              <a:t>Both tiers keep every temporal computation in C (the database); only the HTTP / runtime tier differs. The Go tier holds no MEOS: reads stream asMFJSON assembled in SQL, writes call tgeompointFromMFJSON, and a roughly 50-line crs / interpolation adapter is the only application logic, shipped as a single static binary.</a:t>
            </a:r>
          </a:p>
        </p:txBody>
      </p:sp>
      <p:sp>
        <p:nvSpPr>
          <p:cNvPr id="36" name="Rectangle 35"/>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38" name="TextBox 37"/>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20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SCALABILITY</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Concurrency Ceiling: Same Database, Same SQL</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627632"/>
            <a:ext cx="8961120" cy="420624"/>
          </a:xfrm>
          <a:prstGeom prst="roundRect">
            <a:avLst>
              <a:gd name="adj" fmla="val 4000"/>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627632"/>
            <a:ext cx="3904487" cy="420624"/>
          </a:xfrm>
          <a:prstGeom prst="rect">
            <a:avLst/>
          </a:prstGeom>
          <a:noFill/>
        </p:spPr>
        <p:txBody>
          <a:bodyPr wrap="square" anchor="ctr" lIns="0" rIns="0" tIns="0" bIns="0">
            <a:noAutofit/>
          </a:bodyPr>
          <a:lstStyle/>
          <a:p>
            <a:pPr algn="l">
              <a:spcBef>
                <a:spcPts val="0"/>
              </a:spcBef>
              <a:spcAft>
                <a:spcPts val="200"/>
              </a:spcAft>
            </a:pPr>
            <a:r>
              <a:rPr sz="1200" b="1" i="0">
                <a:solidFill>
                  <a:srgbClr val="FFFFFF"/>
                </a:solidFill>
                <a:latin typeface="Calibri"/>
              </a:rPr>
              <a:t>Endpoint</a:t>
            </a:r>
          </a:p>
        </p:txBody>
      </p:sp>
      <p:sp>
        <p:nvSpPr>
          <p:cNvPr id="7" name="TextBox 6"/>
          <p:cNvSpPr txBox="1"/>
          <p:nvPr/>
        </p:nvSpPr>
        <p:spPr>
          <a:xfrm>
            <a:off x="4855464" y="1627632"/>
            <a:ext cx="1161288" cy="420624"/>
          </a:xfrm>
          <a:prstGeom prst="rect">
            <a:avLst/>
          </a:prstGeom>
          <a:noFill/>
        </p:spPr>
        <p:txBody>
          <a:bodyPr wrap="square" anchor="ctr" lIns="0" rIns="0" tIns="0" bIns="0">
            <a:noAutofit/>
          </a:bodyPr>
          <a:lstStyle/>
          <a:p>
            <a:pPr algn="ctr">
              <a:spcBef>
                <a:spcPts val="0"/>
              </a:spcBef>
              <a:spcAft>
                <a:spcPts val="200"/>
              </a:spcAft>
            </a:pPr>
            <a:r>
              <a:rPr sz="1200" b="1" i="0">
                <a:solidFill>
                  <a:srgbClr val="FFFFFF"/>
                </a:solidFill>
                <a:latin typeface="Calibri"/>
              </a:rPr>
              <a:t>Concurrency</a:t>
            </a:r>
          </a:p>
        </p:txBody>
      </p:sp>
      <p:sp>
        <p:nvSpPr>
          <p:cNvPr id="8" name="TextBox 7"/>
          <p:cNvSpPr txBox="1"/>
          <p:nvPr/>
        </p:nvSpPr>
        <p:spPr>
          <a:xfrm>
            <a:off x="6272783" y="1627632"/>
            <a:ext cx="1344168" cy="420624"/>
          </a:xfrm>
          <a:prstGeom prst="rect">
            <a:avLst/>
          </a:prstGeom>
          <a:noFill/>
        </p:spPr>
        <p:txBody>
          <a:bodyPr wrap="square" anchor="ctr" lIns="0" rIns="0" tIns="0" bIns="0">
            <a:noAutofit/>
          </a:bodyPr>
          <a:lstStyle/>
          <a:p>
            <a:pPr algn="r">
              <a:spcBef>
                <a:spcPts val="0"/>
              </a:spcBef>
              <a:spcAft>
                <a:spcPts val="200"/>
              </a:spcAft>
            </a:pPr>
            <a:r>
              <a:rPr sz="1200" b="1" i="0">
                <a:solidFill>
                  <a:srgbClr val="FFFFFF"/>
                </a:solidFill>
                <a:latin typeface="Calibri"/>
              </a:rPr>
              <a:t>Go req/s</a:t>
            </a:r>
          </a:p>
        </p:txBody>
      </p:sp>
      <p:sp>
        <p:nvSpPr>
          <p:cNvPr id="9" name="TextBox 8"/>
          <p:cNvSpPr txBox="1"/>
          <p:nvPr/>
        </p:nvSpPr>
        <p:spPr>
          <a:xfrm>
            <a:off x="7872983" y="1627632"/>
            <a:ext cx="1527048" cy="420624"/>
          </a:xfrm>
          <a:prstGeom prst="rect">
            <a:avLst/>
          </a:prstGeom>
          <a:noFill/>
        </p:spPr>
        <p:txBody>
          <a:bodyPr wrap="square" anchor="ctr" lIns="0" rIns="0" tIns="0" bIns="0">
            <a:noAutofit/>
          </a:bodyPr>
          <a:lstStyle/>
          <a:p>
            <a:pPr algn="r">
              <a:spcBef>
                <a:spcPts val="0"/>
              </a:spcBef>
              <a:spcAft>
                <a:spcPts val="200"/>
              </a:spcAft>
            </a:pPr>
            <a:r>
              <a:rPr sz="1200" b="1" i="0">
                <a:solidFill>
                  <a:srgbClr val="FFFFFF"/>
                </a:solidFill>
                <a:latin typeface="Calibri"/>
              </a:rPr>
              <a:t>Python req/s</a:t>
            </a:r>
          </a:p>
        </p:txBody>
      </p:sp>
      <p:sp>
        <p:nvSpPr>
          <p:cNvPr id="10" name="Rectangle 9"/>
          <p:cNvSpPr/>
          <p:nvPr/>
        </p:nvSpPr>
        <p:spPr>
          <a:xfrm>
            <a:off x="566928" y="2048256"/>
            <a:ext cx="8961120" cy="512064"/>
          </a:xfrm>
          <a:prstGeom prst="rect">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2048256"/>
            <a:ext cx="3904487" cy="512064"/>
          </a:xfrm>
          <a:prstGeom prst="rect">
            <a:avLst/>
          </a:prstGeom>
          <a:noFill/>
        </p:spPr>
        <p:txBody>
          <a:bodyPr wrap="square" anchor="ctr" lIns="0" rIns="0" tIns="0" bIns="0">
            <a:noAutofit/>
          </a:bodyPr>
          <a:lstStyle/>
          <a:p>
            <a:pPr algn="l">
              <a:spcBef>
                <a:spcPts val="0"/>
              </a:spcBef>
              <a:spcAft>
                <a:spcPts val="200"/>
              </a:spcAft>
            </a:pPr>
            <a:r>
              <a:rPr sz="1200" b="0" i="0">
                <a:solidFill>
                  <a:srgbClr val="1E2B36"/>
                </a:solidFill>
                <a:latin typeface="Calibri"/>
              </a:rPr>
              <a:t>/health (pure tier)</a:t>
            </a:r>
          </a:p>
        </p:txBody>
      </p:sp>
      <p:sp>
        <p:nvSpPr>
          <p:cNvPr id="12" name="TextBox 11"/>
          <p:cNvSpPr txBox="1"/>
          <p:nvPr/>
        </p:nvSpPr>
        <p:spPr>
          <a:xfrm>
            <a:off x="4855464" y="2048256"/>
            <a:ext cx="1161288" cy="512064"/>
          </a:xfrm>
          <a:prstGeom prst="rect">
            <a:avLst/>
          </a:prstGeom>
          <a:noFill/>
        </p:spPr>
        <p:txBody>
          <a:bodyPr wrap="square" anchor="ctr" lIns="0" rIns="0" tIns="0" bIns="0">
            <a:noAutofit/>
          </a:bodyPr>
          <a:lstStyle/>
          <a:p>
            <a:pPr algn="ctr">
              <a:spcBef>
                <a:spcPts val="0"/>
              </a:spcBef>
              <a:spcAft>
                <a:spcPts val="200"/>
              </a:spcAft>
            </a:pPr>
            <a:r>
              <a:rPr sz="1200" b="0" i="0">
                <a:solidFill>
                  <a:srgbClr val="1E2B36"/>
                </a:solidFill>
                <a:latin typeface="Calibri"/>
              </a:rPr>
              <a:t>200</a:t>
            </a:r>
          </a:p>
        </p:txBody>
      </p:sp>
      <p:sp>
        <p:nvSpPr>
          <p:cNvPr id="13" name="TextBox 12"/>
          <p:cNvSpPr txBox="1"/>
          <p:nvPr/>
        </p:nvSpPr>
        <p:spPr>
          <a:xfrm>
            <a:off x="6272783" y="2048256"/>
            <a:ext cx="1344168" cy="512064"/>
          </a:xfrm>
          <a:prstGeom prst="rect">
            <a:avLst/>
          </a:prstGeom>
          <a:noFill/>
        </p:spPr>
        <p:txBody>
          <a:bodyPr wrap="square" anchor="ctr" lIns="0" rIns="0" tIns="0" bIns="0">
            <a:noAutofit/>
          </a:bodyPr>
          <a:lstStyle/>
          <a:p>
            <a:pPr algn="r">
              <a:spcBef>
                <a:spcPts val="0"/>
              </a:spcBef>
              <a:spcAft>
                <a:spcPts val="200"/>
              </a:spcAft>
            </a:pPr>
            <a:r>
              <a:rPr sz="1200" b="1" i="0">
                <a:solidFill>
                  <a:srgbClr val="156082"/>
                </a:solidFill>
                <a:latin typeface="Calibri"/>
              </a:rPr>
              <a:t>85,950</a:t>
            </a:r>
          </a:p>
        </p:txBody>
      </p:sp>
      <p:sp>
        <p:nvSpPr>
          <p:cNvPr id="14" name="TextBox 13"/>
          <p:cNvSpPr txBox="1"/>
          <p:nvPr/>
        </p:nvSpPr>
        <p:spPr>
          <a:xfrm>
            <a:off x="7872983" y="2048256"/>
            <a:ext cx="1527048" cy="512064"/>
          </a:xfrm>
          <a:prstGeom prst="rect">
            <a:avLst/>
          </a:prstGeom>
          <a:noFill/>
        </p:spPr>
        <p:txBody>
          <a:bodyPr wrap="square" anchor="ctr" lIns="0" rIns="0" tIns="0" bIns="0">
            <a:noAutofit/>
          </a:bodyPr>
          <a:lstStyle/>
          <a:p>
            <a:pPr algn="r">
              <a:spcBef>
                <a:spcPts val="0"/>
              </a:spcBef>
              <a:spcAft>
                <a:spcPts val="200"/>
              </a:spcAft>
            </a:pPr>
            <a:r>
              <a:rPr sz="1200" b="0" i="0">
                <a:solidFill>
                  <a:srgbClr val="5B6B78"/>
                </a:solidFill>
                <a:latin typeface="Calibri"/>
              </a:rPr>
              <a:t>1,337</a:t>
            </a:r>
          </a:p>
        </p:txBody>
      </p:sp>
      <p:sp>
        <p:nvSpPr>
          <p:cNvPr id="15" name="Rectangle 14"/>
          <p:cNvSpPr/>
          <p:nvPr/>
        </p:nvSpPr>
        <p:spPr>
          <a:xfrm>
            <a:off x="566928" y="2560320"/>
            <a:ext cx="8961120"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944" y="2560320"/>
            <a:ext cx="3904487" cy="512064"/>
          </a:xfrm>
          <a:prstGeom prst="rect">
            <a:avLst/>
          </a:prstGeom>
          <a:noFill/>
        </p:spPr>
        <p:txBody>
          <a:bodyPr wrap="square" anchor="ctr" lIns="0" rIns="0" tIns="0" bIns="0">
            <a:noAutofit/>
          </a:bodyPr>
          <a:lstStyle/>
          <a:p>
            <a:pPr algn="l">
              <a:spcBef>
                <a:spcPts val="0"/>
              </a:spcBef>
              <a:spcAft>
                <a:spcPts val="200"/>
              </a:spcAft>
            </a:pPr>
            <a:r>
              <a:rPr sz="1200" b="0" i="0">
                <a:solidFill>
                  <a:srgbClr val="1E2B36"/>
                </a:solidFill>
                <a:latin typeface="Calibri"/>
              </a:rPr>
              <a:t>/collections (light DB)</a:t>
            </a:r>
          </a:p>
        </p:txBody>
      </p:sp>
      <p:sp>
        <p:nvSpPr>
          <p:cNvPr id="17" name="TextBox 16"/>
          <p:cNvSpPr txBox="1"/>
          <p:nvPr/>
        </p:nvSpPr>
        <p:spPr>
          <a:xfrm>
            <a:off x="4855464" y="2560320"/>
            <a:ext cx="1161288" cy="512064"/>
          </a:xfrm>
          <a:prstGeom prst="rect">
            <a:avLst/>
          </a:prstGeom>
          <a:noFill/>
        </p:spPr>
        <p:txBody>
          <a:bodyPr wrap="square" anchor="ctr" lIns="0" rIns="0" tIns="0" bIns="0">
            <a:noAutofit/>
          </a:bodyPr>
          <a:lstStyle/>
          <a:p>
            <a:pPr algn="ctr">
              <a:spcBef>
                <a:spcPts val="0"/>
              </a:spcBef>
              <a:spcAft>
                <a:spcPts val="200"/>
              </a:spcAft>
            </a:pPr>
            <a:r>
              <a:rPr sz="1200" b="0" i="0">
                <a:solidFill>
                  <a:srgbClr val="1E2B36"/>
                </a:solidFill>
                <a:latin typeface="Calibri"/>
              </a:rPr>
              <a:t>200</a:t>
            </a:r>
          </a:p>
        </p:txBody>
      </p:sp>
      <p:sp>
        <p:nvSpPr>
          <p:cNvPr id="18" name="TextBox 17"/>
          <p:cNvSpPr txBox="1"/>
          <p:nvPr/>
        </p:nvSpPr>
        <p:spPr>
          <a:xfrm>
            <a:off x="6272783" y="2560320"/>
            <a:ext cx="1344168" cy="512064"/>
          </a:xfrm>
          <a:prstGeom prst="rect">
            <a:avLst/>
          </a:prstGeom>
          <a:noFill/>
        </p:spPr>
        <p:txBody>
          <a:bodyPr wrap="square" anchor="ctr" lIns="0" rIns="0" tIns="0" bIns="0">
            <a:noAutofit/>
          </a:bodyPr>
          <a:lstStyle/>
          <a:p>
            <a:pPr algn="r">
              <a:spcBef>
                <a:spcPts val="0"/>
              </a:spcBef>
              <a:spcAft>
                <a:spcPts val="200"/>
              </a:spcAft>
            </a:pPr>
            <a:r>
              <a:rPr sz="1200" b="1" i="0">
                <a:solidFill>
                  <a:srgbClr val="156082"/>
                </a:solidFill>
                <a:latin typeface="Calibri"/>
              </a:rPr>
              <a:t>30,709</a:t>
            </a:r>
          </a:p>
        </p:txBody>
      </p:sp>
      <p:sp>
        <p:nvSpPr>
          <p:cNvPr id="19" name="TextBox 18"/>
          <p:cNvSpPr txBox="1"/>
          <p:nvPr/>
        </p:nvSpPr>
        <p:spPr>
          <a:xfrm>
            <a:off x="7872983" y="2560320"/>
            <a:ext cx="1527048" cy="512064"/>
          </a:xfrm>
          <a:prstGeom prst="rect">
            <a:avLst/>
          </a:prstGeom>
          <a:noFill/>
        </p:spPr>
        <p:txBody>
          <a:bodyPr wrap="square" anchor="ctr" lIns="0" rIns="0" tIns="0" bIns="0">
            <a:noAutofit/>
          </a:bodyPr>
          <a:lstStyle/>
          <a:p>
            <a:pPr algn="r">
              <a:spcBef>
                <a:spcPts val="0"/>
              </a:spcBef>
              <a:spcAft>
                <a:spcPts val="200"/>
              </a:spcAft>
            </a:pPr>
            <a:r>
              <a:rPr sz="1200" b="0" i="0">
                <a:solidFill>
                  <a:srgbClr val="5B6B78"/>
                </a:solidFill>
                <a:latin typeface="Calibri"/>
              </a:rPr>
              <a:t>649</a:t>
            </a:r>
          </a:p>
        </p:txBody>
      </p:sp>
      <p:sp>
        <p:nvSpPr>
          <p:cNvPr id="20" name="Rectangle 19"/>
          <p:cNvSpPr/>
          <p:nvPr/>
        </p:nvSpPr>
        <p:spPr>
          <a:xfrm>
            <a:off x="566928" y="3072384"/>
            <a:ext cx="8961120" cy="512064"/>
          </a:xfrm>
          <a:prstGeom prst="rect">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 y="3072384"/>
            <a:ext cx="3904487" cy="512064"/>
          </a:xfrm>
          <a:prstGeom prst="rect">
            <a:avLst/>
          </a:prstGeom>
          <a:noFill/>
        </p:spPr>
        <p:txBody>
          <a:bodyPr wrap="square" anchor="ctr" lIns="0" rIns="0" tIns="0" bIns="0">
            <a:noAutofit/>
          </a:bodyPr>
          <a:lstStyle/>
          <a:p>
            <a:pPr algn="l">
              <a:spcBef>
                <a:spcPts val="0"/>
              </a:spcBef>
              <a:spcAft>
                <a:spcPts val="200"/>
              </a:spcAft>
            </a:pPr>
            <a:r>
              <a:rPr sz="1200" b="0" i="0">
                <a:solidFill>
                  <a:srgbClr val="1E2B36"/>
                </a:solidFill>
                <a:latin typeface="Calibri"/>
              </a:rPr>
              <a:t>one trajectory</a:t>
            </a:r>
          </a:p>
        </p:txBody>
      </p:sp>
      <p:sp>
        <p:nvSpPr>
          <p:cNvPr id="22" name="TextBox 21"/>
          <p:cNvSpPr txBox="1"/>
          <p:nvPr/>
        </p:nvSpPr>
        <p:spPr>
          <a:xfrm>
            <a:off x="4855464" y="3072384"/>
            <a:ext cx="1161288" cy="512064"/>
          </a:xfrm>
          <a:prstGeom prst="rect">
            <a:avLst/>
          </a:prstGeom>
          <a:noFill/>
        </p:spPr>
        <p:txBody>
          <a:bodyPr wrap="square" anchor="ctr" lIns="0" rIns="0" tIns="0" bIns="0">
            <a:noAutofit/>
          </a:bodyPr>
          <a:lstStyle/>
          <a:p>
            <a:pPr algn="ctr">
              <a:spcBef>
                <a:spcPts val="0"/>
              </a:spcBef>
              <a:spcAft>
                <a:spcPts val="200"/>
              </a:spcAft>
            </a:pPr>
            <a:r>
              <a:rPr sz="1200" b="0" i="0">
                <a:solidFill>
                  <a:srgbClr val="1E2B36"/>
                </a:solidFill>
                <a:latin typeface="Calibri"/>
              </a:rPr>
              <a:t>100</a:t>
            </a:r>
          </a:p>
        </p:txBody>
      </p:sp>
      <p:sp>
        <p:nvSpPr>
          <p:cNvPr id="23" name="TextBox 22"/>
          <p:cNvSpPr txBox="1"/>
          <p:nvPr/>
        </p:nvSpPr>
        <p:spPr>
          <a:xfrm>
            <a:off x="6272783" y="3072384"/>
            <a:ext cx="1344168" cy="512064"/>
          </a:xfrm>
          <a:prstGeom prst="rect">
            <a:avLst/>
          </a:prstGeom>
          <a:noFill/>
        </p:spPr>
        <p:txBody>
          <a:bodyPr wrap="square" anchor="ctr" lIns="0" rIns="0" tIns="0" bIns="0">
            <a:noAutofit/>
          </a:bodyPr>
          <a:lstStyle/>
          <a:p>
            <a:pPr algn="r">
              <a:spcBef>
                <a:spcPts val="0"/>
              </a:spcBef>
              <a:spcAft>
                <a:spcPts val="200"/>
              </a:spcAft>
            </a:pPr>
            <a:r>
              <a:rPr sz="1200" b="1" i="0">
                <a:solidFill>
                  <a:srgbClr val="156082"/>
                </a:solidFill>
                <a:latin typeface="Calibri"/>
              </a:rPr>
              <a:t>2,434</a:t>
            </a:r>
          </a:p>
        </p:txBody>
      </p:sp>
      <p:sp>
        <p:nvSpPr>
          <p:cNvPr id="24" name="TextBox 23"/>
          <p:cNvSpPr txBox="1"/>
          <p:nvPr/>
        </p:nvSpPr>
        <p:spPr>
          <a:xfrm>
            <a:off x="7872983" y="3072384"/>
            <a:ext cx="1527048" cy="512064"/>
          </a:xfrm>
          <a:prstGeom prst="rect">
            <a:avLst/>
          </a:prstGeom>
          <a:noFill/>
        </p:spPr>
        <p:txBody>
          <a:bodyPr wrap="square" anchor="ctr" lIns="0" rIns="0" tIns="0" bIns="0">
            <a:noAutofit/>
          </a:bodyPr>
          <a:lstStyle/>
          <a:p>
            <a:pPr algn="r">
              <a:spcBef>
                <a:spcPts val="0"/>
              </a:spcBef>
              <a:spcAft>
                <a:spcPts val="200"/>
              </a:spcAft>
            </a:pPr>
            <a:r>
              <a:rPr sz="1200" b="0" i="0">
                <a:solidFill>
                  <a:srgbClr val="5B6B78"/>
                </a:solidFill>
                <a:latin typeface="Calibri"/>
              </a:rPr>
              <a:t>547</a:t>
            </a:r>
          </a:p>
        </p:txBody>
      </p:sp>
      <p:sp>
        <p:nvSpPr>
          <p:cNvPr id="25" name="Rectangle 24"/>
          <p:cNvSpPr/>
          <p:nvPr/>
        </p:nvSpPr>
        <p:spPr>
          <a:xfrm>
            <a:off x="566928" y="3584448"/>
            <a:ext cx="8961120"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3584448"/>
            <a:ext cx="3904487" cy="512064"/>
          </a:xfrm>
          <a:prstGeom prst="rect">
            <a:avLst/>
          </a:prstGeom>
          <a:noFill/>
        </p:spPr>
        <p:txBody>
          <a:bodyPr wrap="square" anchor="ctr" lIns="0" rIns="0" tIns="0" bIns="0">
            <a:noAutofit/>
          </a:bodyPr>
          <a:lstStyle/>
          <a:p>
            <a:pPr algn="l">
              <a:spcBef>
                <a:spcPts val="0"/>
              </a:spcBef>
              <a:spcAft>
                <a:spcPts val="200"/>
              </a:spcAft>
            </a:pPr>
            <a:r>
              <a:rPr sz="1200" b="0" i="0">
                <a:solidFill>
                  <a:srgbClr val="1E2B36"/>
                </a:solidFill>
                <a:latin typeface="Calibri"/>
              </a:rPr>
              <a:t>ten full trajectories (asMFJSON)</a:t>
            </a:r>
          </a:p>
        </p:txBody>
      </p:sp>
      <p:sp>
        <p:nvSpPr>
          <p:cNvPr id="27" name="TextBox 26"/>
          <p:cNvSpPr txBox="1"/>
          <p:nvPr/>
        </p:nvSpPr>
        <p:spPr>
          <a:xfrm>
            <a:off x="4855464" y="3584448"/>
            <a:ext cx="1161288" cy="512064"/>
          </a:xfrm>
          <a:prstGeom prst="rect">
            <a:avLst/>
          </a:prstGeom>
          <a:noFill/>
        </p:spPr>
        <p:txBody>
          <a:bodyPr wrap="square" anchor="ctr" lIns="0" rIns="0" tIns="0" bIns="0">
            <a:noAutofit/>
          </a:bodyPr>
          <a:lstStyle/>
          <a:p>
            <a:pPr algn="ctr">
              <a:spcBef>
                <a:spcPts val="0"/>
              </a:spcBef>
              <a:spcAft>
                <a:spcPts val="200"/>
              </a:spcAft>
            </a:pPr>
            <a:r>
              <a:rPr sz="1200" b="0" i="0">
                <a:solidFill>
                  <a:srgbClr val="1E2B36"/>
                </a:solidFill>
                <a:latin typeface="Calibri"/>
              </a:rPr>
              <a:t>50</a:t>
            </a:r>
          </a:p>
        </p:txBody>
      </p:sp>
      <p:sp>
        <p:nvSpPr>
          <p:cNvPr id="28" name="TextBox 27"/>
          <p:cNvSpPr txBox="1"/>
          <p:nvPr/>
        </p:nvSpPr>
        <p:spPr>
          <a:xfrm>
            <a:off x="6272783" y="3584448"/>
            <a:ext cx="1344168" cy="512064"/>
          </a:xfrm>
          <a:prstGeom prst="rect">
            <a:avLst/>
          </a:prstGeom>
          <a:noFill/>
        </p:spPr>
        <p:txBody>
          <a:bodyPr wrap="square" anchor="ctr" lIns="0" rIns="0" tIns="0" bIns="0">
            <a:noAutofit/>
          </a:bodyPr>
          <a:lstStyle/>
          <a:p>
            <a:pPr algn="r">
              <a:spcBef>
                <a:spcPts val="0"/>
              </a:spcBef>
              <a:spcAft>
                <a:spcPts val="200"/>
              </a:spcAft>
            </a:pPr>
            <a:r>
              <a:rPr sz="1200" b="1" i="0">
                <a:solidFill>
                  <a:srgbClr val="156082"/>
                </a:solidFill>
                <a:latin typeface="Calibri"/>
              </a:rPr>
              <a:t>90 (100% served)</a:t>
            </a:r>
          </a:p>
        </p:txBody>
      </p:sp>
      <p:sp>
        <p:nvSpPr>
          <p:cNvPr id="29" name="TextBox 28"/>
          <p:cNvSpPr txBox="1"/>
          <p:nvPr/>
        </p:nvSpPr>
        <p:spPr>
          <a:xfrm>
            <a:off x="7872983" y="3584448"/>
            <a:ext cx="1527048" cy="512064"/>
          </a:xfrm>
          <a:prstGeom prst="rect">
            <a:avLst/>
          </a:prstGeom>
          <a:noFill/>
        </p:spPr>
        <p:txBody>
          <a:bodyPr wrap="square" anchor="ctr" lIns="0" rIns="0" tIns="0" bIns="0">
            <a:noAutofit/>
          </a:bodyPr>
          <a:lstStyle/>
          <a:p>
            <a:pPr algn="r">
              <a:spcBef>
                <a:spcPts val="0"/>
              </a:spcBef>
              <a:spcAft>
                <a:spcPts val="200"/>
              </a:spcAft>
            </a:pPr>
            <a:r>
              <a:rPr sz="1200" b="0" i="0">
                <a:solidFill>
                  <a:srgbClr val="5B6B78"/>
                </a:solidFill>
                <a:latin typeface="Calibri"/>
              </a:rPr>
              <a:t>sheds ~half the load</a:t>
            </a:r>
          </a:p>
        </p:txBody>
      </p:sp>
      <p:sp>
        <p:nvSpPr>
          <p:cNvPr id="30" name="Rectangle 29"/>
          <p:cNvSpPr/>
          <p:nvPr/>
        </p:nvSpPr>
        <p:spPr>
          <a:xfrm>
            <a:off x="566928" y="4096512"/>
            <a:ext cx="8961120"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187952"/>
            <a:ext cx="8961120" cy="365760"/>
          </a:xfrm>
          <a:prstGeom prst="rect">
            <a:avLst/>
          </a:prstGeom>
          <a:noFill/>
        </p:spPr>
        <p:txBody>
          <a:bodyPr wrap="square" anchor="t" lIns="0" rIns="0" tIns="0" bIns="0">
            <a:noAutofit/>
          </a:bodyPr>
          <a:lstStyle/>
          <a:p>
            <a:pPr algn="l">
              <a:spcBef>
                <a:spcPts val="0"/>
              </a:spcBef>
              <a:spcAft>
                <a:spcPts val="200"/>
              </a:spcAft>
            </a:pPr>
            <a:r>
              <a:rPr sz="1200" b="0" i="1">
                <a:solidFill>
                  <a:srgbClr val="5B6B78"/>
                </a:solidFill>
                <a:latin typeface="Calibri"/>
              </a:rPr>
              <a:t>Same MobilityDB (500 AIS vessel trajectories), identical SQL; the only variable is the HTTP / runtime tier. Load: hey, warm cache, localhost.</a:t>
            </a:r>
          </a:p>
        </p:txBody>
      </p:sp>
      <p:sp>
        <p:nvSpPr>
          <p:cNvPr id="32" name="TextBox 31"/>
          <p:cNvSpPr txBox="1"/>
          <p:nvPr/>
        </p:nvSpPr>
        <p:spPr>
          <a:xfrm>
            <a:off x="9939528" y="1783080"/>
            <a:ext cx="1685239" cy="4206240"/>
          </a:xfrm>
          <a:prstGeom prst="rect">
            <a:avLst/>
          </a:prstGeom>
          <a:noFill/>
        </p:spPr>
        <p:txBody>
          <a:bodyPr wrap="square" lIns="0" rIns="0" tIns="0" bIns="0">
            <a:noAutofit/>
          </a:bodyPr>
          <a:lstStyle/>
          <a:p>
            <a:pPr>
              <a:lnSpc>
                <a:spcPct val="106000"/>
              </a:lnSpc>
              <a:spcBef>
                <a:spcPts val="0"/>
              </a:spcBef>
              <a:spcAft>
                <a:spcPts val="1400"/>
              </a:spcAft>
            </a:pPr>
            <a:r>
              <a:rPr sz="1200" b="1">
                <a:solidFill>
                  <a:srgbClr val="156082"/>
                </a:solidFill>
                <a:latin typeface="Calibri"/>
              </a:rPr>
              <a:t>▸  </a:t>
            </a:r>
            <a:r>
              <a:rPr sz="1200" b="1">
                <a:solidFill>
                  <a:srgbClr val="0E2841"/>
                </a:solidFill>
                <a:latin typeface="Calibri"/>
              </a:rPr>
              <a:t>47 to 64x  </a:t>
            </a:r>
            <a:r>
              <a:rPr sz="1200">
                <a:solidFill>
                  <a:srgbClr val="1E2B36"/>
                </a:solidFill>
                <a:latin typeface="Calibri"/>
              </a:rPr>
              <a:t>faster on Go for tier-bound endpoints (/health, /collections), where the cost is per-request runtime overhead the compiled, no-GIL, goroutine-per-request model absorbs</a:t>
            </a:r>
          </a:p>
          <a:p>
            <a:pPr>
              <a:lnSpc>
                <a:spcPct val="106000"/>
              </a:lnSpc>
              <a:spcBef>
                <a:spcPts val="0"/>
              </a:spcBef>
              <a:spcAft>
                <a:spcPts val="1400"/>
              </a:spcAft>
            </a:pPr>
            <a:r>
              <a:rPr sz="1200" b="1">
                <a:solidFill>
                  <a:srgbClr val="156082"/>
                </a:solidFill>
                <a:latin typeface="Calibri"/>
              </a:rPr>
              <a:t>▸  </a:t>
            </a:r>
            <a:r>
              <a:rPr sz="1200" b="1">
                <a:solidFill>
                  <a:srgbClr val="0E2841"/>
                </a:solidFill>
                <a:latin typeface="Calibri"/>
              </a:rPr>
              <a:t>Heavy asMFJSON  </a:t>
            </a:r>
            <a:r>
              <a:rPr sz="1200">
                <a:solidFill>
                  <a:srgbClr val="1E2B36"/>
                </a:solidFill>
                <a:latin typeface="Calibri"/>
              </a:rPr>
              <a:t>raw throughput converges on the database (pool x asMFJSON); the Python tier sheds load under concurrency while Go serves every request at the DB-bound ceiling</a:t>
            </a:r>
          </a:p>
          <a:p>
            <a:pPr>
              <a:lnSpc>
                <a:spcPct val="106000"/>
              </a:lnSpc>
              <a:spcBef>
                <a:spcPts val="0"/>
              </a:spcBef>
              <a:spcAft>
                <a:spcPts val="1400"/>
              </a:spcAft>
            </a:pPr>
            <a:r>
              <a:rPr sz="1200" b="1">
                <a:solidFill>
                  <a:srgbClr val="156082"/>
                </a:solidFill>
                <a:latin typeface="Calibri"/>
              </a:rPr>
              <a:t>▸  </a:t>
            </a:r>
            <a:r>
              <a:rPr sz="1200" b="1">
                <a:solidFill>
                  <a:srgbClr val="0E2841"/>
                </a:solidFill>
                <a:latin typeface="Calibri"/>
              </a:rPr>
              <a:t>Shared bottleneck  </a:t>
            </a:r>
            <a:r>
              <a:rPr sz="1200">
                <a:solidFill>
                  <a:srgbClr val="1E2B36"/>
                </a:solidFill>
                <a:latin typeface="Calibri"/>
              </a:rPr>
              <a:t>the database is the limit for heavy serialization; the tier decides front-end behaviour under load</a:t>
            </a:r>
          </a:p>
        </p:txBody>
      </p:sp>
      <p:sp>
        <p:nvSpPr>
          <p:cNvPr id="33" name="Rectangle 32"/>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35" name="TextBox 34"/>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21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A02B93"/>
                </a:solidFill>
                <a:latin typeface="Calibri"/>
              </a:rPr>
              <a:t>GUIDANCE</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When to Use Which Tier</a:t>
            </a:r>
          </a:p>
        </p:txBody>
      </p:sp>
      <p:sp>
        <p:nvSpPr>
          <p:cNvPr id="4" name="Rectangle 3"/>
          <p:cNvSpPr/>
          <p:nvPr/>
        </p:nvSpPr>
        <p:spPr>
          <a:xfrm>
            <a:off x="566928" y="1389888"/>
            <a:ext cx="1554480" cy="45720"/>
          </a:xfrm>
          <a:prstGeom prst="rect">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691640"/>
            <a:ext cx="5300319" cy="338328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91640"/>
            <a:ext cx="5300319" cy="475488"/>
          </a:xfrm>
          <a:prstGeom prst="roundRect">
            <a:avLst>
              <a:gd name="adj" fmla="val 6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746504"/>
            <a:ext cx="4934559" cy="274320"/>
          </a:xfrm>
          <a:prstGeom prst="rect">
            <a:avLst/>
          </a:prstGeom>
          <a:noFill/>
        </p:spPr>
        <p:txBody>
          <a:bodyPr wrap="square" anchor="ctr" lIns="0" rIns="0" tIns="0" bIns="0">
            <a:noAutofit/>
          </a:bodyPr>
          <a:lstStyle/>
          <a:p>
            <a:pPr algn="l">
              <a:spcBef>
                <a:spcPts val="0"/>
              </a:spcBef>
              <a:spcAft>
                <a:spcPts val="200"/>
              </a:spcAft>
            </a:pPr>
            <a:r>
              <a:rPr sz="1400" b="1" i="0">
                <a:solidFill>
                  <a:srgbClr val="FFFFFF"/>
                </a:solidFill>
                <a:latin typeface="Calibri"/>
              </a:rPr>
              <a:t>PyMEOS / Python tier</a:t>
            </a:r>
          </a:p>
        </p:txBody>
      </p:sp>
      <p:sp>
        <p:nvSpPr>
          <p:cNvPr id="8" name="TextBox 7"/>
          <p:cNvSpPr txBox="1"/>
          <p:nvPr/>
        </p:nvSpPr>
        <p:spPr>
          <a:xfrm>
            <a:off x="822960" y="2377440"/>
            <a:ext cx="4797399" cy="2560320"/>
          </a:xfrm>
          <a:prstGeom prst="rect">
            <a:avLst/>
          </a:prstGeom>
          <a:noFill/>
        </p:spPr>
        <p:txBody>
          <a:bodyPr wrap="square" lIns="0" rIns="0" tIns="0" bIns="0">
            <a:noAutofit/>
          </a:bodyPr>
          <a:lstStyle/>
          <a:p>
            <a:pPr>
              <a:lnSpc>
                <a:spcPct val="106000"/>
              </a:lnSpc>
              <a:spcBef>
                <a:spcPts val="0"/>
              </a:spcBef>
              <a:spcAft>
                <a:spcPts val="1200"/>
              </a:spcAft>
            </a:pPr>
            <a:r>
              <a:rPr sz="1400" b="1">
                <a:solidFill>
                  <a:srgbClr val="E97132"/>
                </a:solidFill>
                <a:latin typeface="Calibri"/>
              </a:rPr>
              <a:t>▸  </a:t>
            </a:r>
            <a:r>
              <a:rPr sz="1400" b="1">
                <a:solidFill>
                  <a:srgbClr val="0E2841"/>
                </a:solidFill>
                <a:latin typeface="Calibri"/>
              </a:rPr>
              <a:t>Fine for moderate load  </a:t>
            </a:r>
            <a:r>
              <a:rPr sz="1400">
                <a:solidFill>
                  <a:srgbClr val="1E2B36"/>
                </a:solidFill>
                <a:latin typeface="Calibri"/>
              </a:rPr>
              <a:t>and the fastest path to build</a:t>
            </a:r>
          </a:p>
          <a:p>
            <a:pPr>
              <a:lnSpc>
                <a:spcPct val="106000"/>
              </a:lnSpc>
              <a:spcBef>
                <a:spcPts val="0"/>
              </a:spcBef>
              <a:spcAft>
                <a:spcPts val="1200"/>
              </a:spcAft>
            </a:pPr>
            <a:r>
              <a:rPr sz="1400" b="1">
                <a:solidFill>
                  <a:srgbClr val="E97132"/>
                </a:solidFill>
                <a:latin typeface="Calibri"/>
              </a:rPr>
              <a:t>▸  </a:t>
            </a:r>
            <a:r>
              <a:rPr sz="1400" b="1">
                <a:solidFill>
                  <a:srgbClr val="0E2841"/>
                </a:solidFill>
                <a:latin typeface="Calibri"/>
              </a:rPr>
              <a:t>PyMEOS in process  </a:t>
            </a:r>
            <a:r>
              <a:rPr sz="1400">
                <a:solidFill>
                  <a:srgbClr val="1E2B36"/>
                </a:solidFill>
                <a:latin typeface="Calibri"/>
              </a:rPr>
              <a:t>is the JSON to temporal-type glue; MobilityDB does the computation</a:t>
            </a:r>
          </a:p>
          <a:p>
            <a:pPr>
              <a:lnSpc>
                <a:spcPct val="106000"/>
              </a:lnSpc>
              <a:spcBef>
                <a:spcPts val="0"/>
              </a:spcBef>
              <a:spcAft>
                <a:spcPts val="1200"/>
              </a:spcAft>
            </a:pPr>
            <a:r>
              <a:rPr sz="1400" b="1">
                <a:solidFill>
                  <a:srgbClr val="E97132"/>
                </a:solidFill>
                <a:latin typeface="Calibri"/>
              </a:rPr>
              <a:t>▸  </a:t>
            </a:r>
            <a:r>
              <a:rPr sz="1400" b="1">
                <a:solidFill>
                  <a:srgbClr val="0E2841"/>
                </a:solidFill>
                <a:latin typeface="Calibri"/>
              </a:rPr>
              <a:t>Front-end ceiling  </a:t>
            </a:r>
            <a:r>
              <a:rPr sz="1400">
                <a:solidFill>
                  <a:srgbClr val="1E2B36"/>
                </a:solidFill>
                <a:latin typeface="Calibri"/>
              </a:rPr>
              <a:t>is set by the Python runtime model under high concurrency</a:t>
            </a:r>
          </a:p>
        </p:txBody>
      </p:sp>
      <p:sp>
        <p:nvSpPr>
          <p:cNvPr id="9" name="Rounded Rectangle 8"/>
          <p:cNvSpPr/>
          <p:nvPr/>
        </p:nvSpPr>
        <p:spPr>
          <a:xfrm>
            <a:off x="6324447" y="1691640"/>
            <a:ext cx="5300319" cy="338328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24447" y="1691640"/>
            <a:ext cx="5300319" cy="475488"/>
          </a:xfrm>
          <a:prstGeom prst="roundRect">
            <a:avLst>
              <a:gd name="adj" fmla="val 6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53047" y="1746504"/>
            <a:ext cx="4934559" cy="274320"/>
          </a:xfrm>
          <a:prstGeom prst="rect">
            <a:avLst/>
          </a:prstGeom>
          <a:noFill/>
        </p:spPr>
        <p:txBody>
          <a:bodyPr wrap="square" anchor="ctr" lIns="0" rIns="0" tIns="0" bIns="0">
            <a:noAutofit/>
          </a:bodyPr>
          <a:lstStyle/>
          <a:p>
            <a:pPr algn="l">
              <a:spcBef>
                <a:spcPts val="0"/>
              </a:spcBef>
              <a:spcAft>
                <a:spcPts val="200"/>
              </a:spcAft>
            </a:pPr>
            <a:r>
              <a:rPr sz="1400" b="1" i="0">
                <a:solidFill>
                  <a:srgbClr val="FFFFFF"/>
                </a:solidFill>
                <a:latin typeface="Calibri"/>
              </a:rPr>
              <a:t>Thin compiled tier (Go)</a:t>
            </a:r>
          </a:p>
        </p:txBody>
      </p:sp>
      <p:sp>
        <p:nvSpPr>
          <p:cNvPr id="12" name="TextBox 11"/>
          <p:cNvSpPr txBox="1"/>
          <p:nvPr/>
        </p:nvSpPr>
        <p:spPr>
          <a:xfrm>
            <a:off x="6580479" y="2377440"/>
            <a:ext cx="4797399" cy="2560320"/>
          </a:xfrm>
          <a:prstGeom prst="rect">
            <a:avLst/>
          </a:prstGeom>
          <a:noFill/>
        </p:spPr>
        <p:txBody>
          <a:bodyPr wrap="square" lIns="0" rIns="0" tIns="0" bIns="0">
            <a:noAutofit/>
          </a:bodyPr>
          <a:lstStyle/>
          <a:p>
            <a:pPr>
              <a:lnSpc>
                <a:spcPct val="106000"/>
              </a:lnSpc>
              <a:spcBef>
                <a:spcPts val="0"/>
              </a:spcBef>
              <a:spcAft>
                <a:spcPts val="1200"/>
              </a:spcAft>
            </a:pPr>
            <a:r>
              <a:rPr sz="1400" b="1">
                <a:solidFill>
                  <a:srgbClr val="156082"/>
                </a:solidFill>
                <a:latin typeface="Calibri"/>
              </a:rPr>
              <a:t>▸  </a:t>
            </a:r>
            <a:r>
              <a:rPr sz="1400" b="1">
                <a:solidFill>
                  <a:srgbClr val="0E2841"/>
                </a:solidFill>
                <a:latin typeface="Calibri"/>
              </a:rPr>
              <a:t>Scalable choice  </a:t>
            </a:r>
            <a:r>
              <a:rPr sz="1400">
                <a:solidFill>
                  <a:srgbClr val="1E2B36"/>
                </a:solidFill>
                <a:latin typeface="Calibri"/>
              </a:rPr>
              <a:t>under high concurrency: a thin Go tier over MobilityDB SQL</a:t>
            </a:r>
          </a:p>
          <a:p>
            <a:pPr>
              <a:lnSpc>
                <a:spcPct val="106000"/>
              </a:lnSpc>
              <a:spcBef>
                <a:spcPts val="0"/>
              </a:spcBef>
              <a:spcAft>
                <a:spcPts val="1200"/>
              </a:spcAft>
            </a:pPr>
            <a:r>
              <a:rPr sz="1400" b="1">
                <a:solidFill>
                  <a:srgbClr val="156082"/>
                </a:solidFill>
                <a:latin typeface="Calibri"/>
              </a:rPr>
              <a:t>▸  </a:t>
            </a:r>
            <a:r>
              <a:rPr sz="1400" b="1">
                <a:solidFill>
                  <a:srgbClr val="0E2841"/>
                </a:solidFill>
                <a:latin typeface="Calibri"/>
              </a:rPr>
              <a:t>Fat DB, thin API  </a:t>
            </a:r>
            <a:r>
              <a:rPr sz="1400">
                <a:solidFill>
                  <a:srgbClr val="1E2B36"/>
                </a:solidFill>
                <a:latin typeface="Calibri"/>
              </a:rPr>
              <a:t>in the pg_featureserv / PostgREST tradition: the database holds the logic, the tier just serves</a:t>
            </a:r>
          </a:p>
          <a:p>
            <a:pPr>
              <a:lnSpc>
                <a:spcPct val="106000"/>
              </a:lnSpc>
              <a:spcBef>
                <a:spcPts val="0"/>
              </a:spcBef>
              <a:spcAft>
                <a:spcPts val="1200"/>
              </a:spcAft>
            </a:pPr>
            <a:r>
              <a:rPr sz="1400" b="1">
                <a:solidFill>
                  <a:srgbClr val="156082"/>
                </a:solidFill>
                <a:latin typeface="Calibri"/>
              </a:rPr>
              <a:t>▸  </a:t>
            </a:r>
            <a:r>
              <a:rPr sz="1400" b="1">
                <a:solidFill>
                  <a:srgbClr val="0E2841"/>
                </a:solidFill>
                <a:latin typeface="Calibri"/>
              </a:rPr>
              <a:t>Single static binary  </a:t>
            </a:r>
            <a:r>
              <a:rPr sz="1400">
                <a:solidFill>
                  <a:srgbClr val="1E2B36"/>
                </a:solidFill>
                <a:latin typeface="Calibri"/>
              </a:rPr>
              <a:t>no cgo, no MEOS in the tier; reads use asMFJSON, writes use tgeompointFromMFJSON</a:t>
            </a:r>
          </a:p>
        </p:txBody>
      </p:sp>
      <p:sp>
        <p:nvSpPr>
          <p:cNvPr id="13" name="TextBox 12"/>
          <p:cNvSpPr txBox="1"/>
          <p:nvPr/>
        </p:nvSpPr>
        <p:spPr>
          <a:xfrm>
            <a:off x="566928" y="5349240"/>
            <a:ext cx="11057839" cy="822960"/>
          </a:xfrm>
          <a:prstGeom prst="rect">
            <a:avLst/>
          </a:prstGeom>
          <a:noFill/>
        </p:spPr>
        <p:txBody>
          <a:bodyPr wrap="square" anchor="t" lIns="0" rIns="0" tIns="0" bIns="0">
            <a:noAutofit/>
          </a:bodyPr>
          <a:lstStyle/>
          <a:p>
            <a:pPr algn="ctr">
              <a:spcBef>
                <a:spcPts val="0"/>
              </a:spcBef>
              <a:spcAft>
                <a:spcPts val="200"/>
              </a:spcAft>
            </a:pPr>
            <a:r>
              <a:rPr sz="1200" b="0" i="1">
                <a:solidFill>
                  <a:srgbClr val="5B6B78"/>
                </a:solidFill>
                <a:latin typeface="Calibri"/>
              </a:rPr>
              <a:t>The comparison used a controlled threaded-Python baseline. A FastAPI / uvicorn or multi-worker deployment would raise the Python ceiling, but the structural advantage of the compiled, no-GIL tier on light endpoints holds.</a:t>
            </a:r>
          </a:p>
        </p:txBody>
      </p:sp>
      <p:sp>
        <p:nvSpPr>
          <p:cNvPr id="14" name="Rectangle 13"/>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6" name="TextBox 15"/>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22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RECAP</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Everything MobilityAPI Implements</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66928" y="1645920"/>
            <a:ext cx="3503066" cy="205740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645920"/>
            <a:ext cx="82296" cy="20574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92224"/>
            <a:ext cx="3137306"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COLLECTIONS</a:t>
            </a:r>
          </a:p>
        </p:txBody>
      </p:sp>
      <p:sp>
        <p:nvSpPr>
          <p:cNvPr id="8" name="TextBox 7"/>
          <p:cNvSpPr txBox="1"/>
          <p:nvPr/>
        </p:nvSpPr>
        <p:spPr>
          <a:xfrm>
            <a:off x="822960" y="2148840"/>
            <a:ext cx="3045866" cy="1463040"/>
          </a:xfrm>
          <a:prstGeom prst="rect">
            <a:avLst/>
          </a:prstGeom>
          <a:noFill/>
        </p:spPr>
        <p:txBody>
          <a:bodyPr wrap="square" lIns="0" rIns="0" tIns="0" bIns="0">
            <a:noAutofit/>
          </a:bodyPr>
          <a:lstStyle/>
          <a:p>
            <a:pPr>
              <a:lnSpc>
                <a:spcPct val="100000"/>
              </a:lnSpc>
              <a:spcAft>
                <a:spcPts val="300"/>
              </a:spcAft>
            </a:pPr>
            <a:r>
              <a:rPr sz="1200" b="1">
                <a:solidFill>
                  <a:srgbClr val="156082"/>
                </a:solidFill>
                <a:latin typeface="Calibri"/>
              </a:rPr>
              <a:t>✓ </a:t>
            </a:r>
            <a:r>
              <a:rPr sz="1200">
                <a:solidFill>
                  <a:srgbClr val="1E2B36"/>
                </a:solidFill>
                <a:latin typeface="Calibri"/>
              </a:rPr>
              <a:t>create (POST)</a:t>
            </a:r>
          </a:p>
          <a:p>
            <a:pPr>
              <a:lnSpc>
                <a:spcPct val="100000"/>
              </a:lnSpc>
              <a:spcAft>
                <a:spcPts val="300"/>
              </a:spcAft>
            </a:pPr>
            <a:r>
              <a:rPr sz="1200" b="1">
                <a:solidFill>
                  <a:srgbClr val="156082"/>
                </a:solidFill>
                <a:latin typeface="Calibri"/>
              </a:rPr>
              <a:t>✓ </a:t>
            </a:r>
            <a:r>
              <a:rPr sz="1200">
                <a:solidFill>
                  <a:srgbClr val="1E2B36"/>
                </a:solidFill>
                <a:latin typeface="Calibri"/>
              </a:rPr>
              <a:t>list (GET)</a:t>
            </a:r>
          </a:p>
          <a:p>
            <a:pPr>
              <a:lnSpc>
                <a:spcPct val="100000"/>
              </a:lnSpc>
              <a:spcAft>
                <a:spcPts val="300"/>
              </a:spcAft>
            </a:pPr>
            <a:r>
              <a:rPr sz="1200" b="1">
                <a:solidFill>
                  <a:srgbClr val="156082"/>
                </a:solidFill>
                <a:latin typeface="Calibri"/>
              </a:rPr>
              <a:t>✓ </a:t>
            </a:r>
            <a:r>
              <a:rPr sz="1200">
                <a:solidFill>
                  <a:srgbClr val="1E2B36"/>
                </a:solidFill>
                <a:latin typeface="Calibri"/>
              </a:rPr>
              <a:t>retrieve (GET)</a:t>
            </a:r>
          </a:p>
          <a:p>
            <a:pPr>
              <a:lnSpc>
                <a:spcPct val="100000"/>
              </a:lnSpc>
              <a:spcAft>
                <a:spcPts val="300"/>
              </a:spcAft>
            </a:pPr>
            <a:r>
              <a:rPr sz="1200" b="1">
                <a:solidFill>
                  <a:srgbClr val="156082"/>
                </a:solidFill>
                <a:latin typeface="Calibri"/>
              </a:rPr>
              <a:t>✓ </a:t>
            </a:r>
            <a:r>
              <a:rPr sz="1200">
                <a:solidFill>
                  <a:srgbClr val="1E2B36"/>
                </a:solidFill>
                <a:latin typeface="Calibri"/>
              </a:rPr>
              <a:t>replace (PUT)</a:t>
            </a:r>
          </a:p>
          <a:p>
            <a:pPr>
              <a:lnSpc>
                <a:spcPct val="100000"/>
              </a:lnSpc>
              <a:spcAft>
                <a:spcPts val="300"/>
              </a:spcAft>
            </a:pPr>
            <a:r>
              <a:rPr sz="1200" b="1">
                <a:solidFill>
                  <a:srgbClr val="156082"/>
                </a:solidFill>
                <a:latin typeface="Calibri"/>
              </a:rPr>
              <a:t>✓ </a:t>
            </a:r>
            <a:r>
              <a:rPr sz="1200">
                <a:solidFill>
                  <a:srgbClr val="1E2B36"/>
                </a:solidFill>
                <a:latin typeface="Calibri"/>
              </a:rPr>
              <a:t>delete (DELETE)</a:t>
            </a:r>
          </a:p>
        </p:txBody>
      </p:sp>
      <p:sp>
        <p:nvSpPr>
          <p:cNvPr id="9" name="Rounded Rectangle 8"/>
          <p:cNvSpPr/>
          <p:nvPr/>
        </p:nvSpPr>
        <p:spPr>
          <a:xfrm>
            <a:off x="4344314" y="1645920"/>
            <a:ext cx="3503066" cy="205740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4314" y="1645920"/>
            <a:ext cx="82296" cy="20574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00346" y="1792224"/>
            <a:ext cx="3137306" cy="274320"/>
          </a:xfrm>
          <a:prstGeom prst="rect">
            <a:avLst/>
          </a:prstGeom>
          <a:noFill/>
        </p:spPr>
        <p:txBody>
          <a:bodyPr wrap="square" anchor="t" lIns="0" rIns="0" tIns="0" bIns="0">
            <a:noAutofit/>
          </a:bodyPr>
          <a:lstStyle/>
          <a:p>
            <a:pPr algn="l">
              <a:spcBef>
                <a:spcPts val="0"/>
              </a:spcBef>
              <a:spcAft>
                <a:spcPts val="200"/>
              </a:spcAft>
            </a:pPr>
            <a:r>
              <a:rPr sz="1200" b="1" i="0">
                <a:solidFill>
                  <a:srgbClr val="E97132"/>
                </a:solidFill>
                <a:latin typeface="Calibri"/>
              </a:rPr>
              <a:t>MOVING FEATURES</a:t>
            </a:r>
          </a:p>
        </p:txBody>
      </p:sp>
      <p:sp>
        <p:nvSpPr>
          <p:cNvPr id="12" name="TextBox 11"/>
          <p:cNvSpPr txBox="1"/>
          <p:nvPr/>
        </p:nvSpPr>
        <p:spPr>
          <a:xfrm>
            <a:off x="4600346" y="2148840"/>
            <a:ext cx="3045866" cy="1463040"/>
          </a:xfrm>
          <a:prstGeom prst="rect">
            <a:avLst/>
          </a:prstGeom>
          <a:noFill/>
        </p:spPr>
        <p:txBody>
          <a:bodyPr wrap="square" lIns="0" rIns="0" tIns="0" bIns="0">
            <a:noAutofit/>
          </a:bodyPr>
          <a:lstStyle/>
          <a:p>
            <a:pPr>
              <a:lnSpc>
                <a:spcPct val="100000"/>
              </a:lnSpc>
              <a:spcAft>
                <a:spcPts val="300"/>
              </a:spcAft>
            </a:pPr>
            <a:r>
              <a:rPr sz="1200" b="1">
                <a:solidFill>
                  <a:srgbClr val="E97132"/>
                </a:solidFill>
                <a:latin typeface="Calibri"/>
              </a:rPr>
              <a:t>✓ </a:t>
            </a:r>
            <a:r>
              <a:rPr sz="1200">
                <a:solidFill>
                  <a:srgbClr val="1E2B36"/>
                </a:solidFill>
                <a:latin typeface="Calibri"/>
              </a:rPr>
              <a:t>insert Feature / FeatureCollection</a:t>
            </a:r>
          </a:p>
          <a:p>
            <a:pPr>
              <a:lnSpc>
                <a:spcPct val="100000"/>
              </a:lnSpc>
              <a:spcAft>
                <a:spcPts val="300"/>
              </a:spcAft>
            </a:pPr>
            <a:r>
              <a:rPr sz="1200" b="1">
                <a:solidFill>
                  <a:srgbClr val="E97132"/>
                </a:solidFill>
                <a:latin typeface="Calibri"/>
              </a:rPr>
              <a:t>✓ </a:t>
            </a:r>
            <a:r>
              <a:rPr sz="1200">
                <a:solidFill>
                  <a:srgbClr val="1E2B36"/>
                </a:solidFill>
                <a:latin typeface="Calibri"/>
              </a:rPr>
              <a:t>list + paginate (limit)</a:t>
            </a:r>
          </a:p>
          <a:p>
            <a:pPr>
              <a:lnSpc>
                <a:spcPct val="100000"/>
              </a:lnSpc>
              <a:spcAft>
                <a:spcPts val="300"/>
              </a:spcAft>
            </a:pPr>
            <a:r>
              <a:rPr sz="1200" b="1">
                <a:solidFill>
                  <a:srgbClr val="E97132"/>
                </a:solidFill>
                <a:latin typeface="Calibri"/>
              </a:rPr>
              <a:t>✓ </a:t>
            </a:r>
            <a:r>
              <a:rPr sz="1200">
                <a:solidFill>
                  <a:srgbClr val="1E2B36"/>
                </a:solidFill>
                <a:latin typeface="Calibri"/>
              </a:rPr>
              <a:t>retrieve single</a:t>
            </a:r>
          </a:p>
          <a:p>
            <a:pPr>
              <a:lnSpc>
                <a:spcPct val="100000"/>
              </a:lnSpc>
              <a:spcAft>
                <a:spcPts val="300"/>
              </a:spcAft>
            </a:pPr>
            <a:r>
              <a:rPr sz="1200" b="1">
                <a:solidFill>
                  <a:srgbClr val="E97132"/>
                </a:solidFill>
                <a:latin typeface="Calibri"/>
              </a:rPr>
              <a:t>✓ </a:t>
            </a:r>
            <a:r>
              <a:rPr sz="1200">
                <a:solidFill>
                  <a:srgbClr val="1E2B36"/>
                </a:solidFill>
                <a:latin typeface="Calibri"/>
              </a:rPr>
              <a:t>delete</a:t>
            </a:r>
          </a:p>
          <a:p>
            <a:pPr>
              <a:lnSpc>
                <a:spcPct val="100000"/>
              </a:lnSpc>
              <a:spcAft>
                <a:spcPts val="300"/>
              </a:spcAft>
            </a:pPr>
            <a:r>
              <a:rPr sz="1200" b="1">
                <a:solidFill>
                  <a:srgbClr val="E97132"/>
                </a:solidFill>
                <a:latin typeface="Calibri"/>
              </a:rPr>
              <a:t>✓ </a:t>
            </a:r>
            <a:r>
              <a:rPr sz="1200">
                <a:solidFill>
                  <a:srgbClr val="1E2B36"/>
                </a:solidFill>
                <a:latin typeface="Calibri"/>
              </a:rPr>
              <a:t>MovingFeaturesJSON validation</a:t>
            </a:r>
          </a:p>
        </p:txBody>
      </p:sp>
      <p:sp>
        <p:nvSpPr>
          <p:cNvPr id="13" name="Rounded Rectangle 12"/>
          <p:cNvSpPr/>
          <p:nvPr/>
        </p:nvSpPr>
        <p:spPr>
          <a:xfrm>
            <a:off x="8121700" y="1645920"/>
            <a:ext cx="3503066" cy="205740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21700" y="1645920"/>
            <a:ext cx="82296" cy="205740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77732" y="1792224"/>
            <a:ext cx="3137306" cy="274320"/>
          </a:xfrm>
          <a:prstGeom prst="rect">
            <a:avLst/>
          </a:prstGeom>
          <a:noFill/>
        </p:spPr>
        <p:txBody>
          <a:bodyPr wrap="square" anchor="t" lIns="0" rIns="0" tIns="0" bIns="0">
            <a:noAutofit/>
          </a:bodyPr>
          <a:lstStyle/>
          <a:p>
            <a:pPr algn="l">
              <a:spcBef>
                <a:spcPts val="0"/>
              </a:spcBef>
              <a:spcAft>
                <a:spcPts val="200"/>
              </a:spcAft>
            </a:pPr>
            <a:r>
              <a:rPr sz="1200" b="1" i="0">
                <a:solidFill>
                  <a:srgbClr val="196B24"/>
                </a:solidFill>
                <a:latin typeface="Calibri"/>
              </a:rPr>
              <a:t>QUERYING</a:t>
            </a:r>
          </a:p>
        </p:txBody>
      </p:sp>
      <p:sp>
        <p:nvSpPr>
          <p:cNvPr id="16" name="TextBox 15"/>
          <p:cNvSpPr txBox="1"/>
          <p:nvPr/>
        </p:nvSpPr>
        <p:spPr>
          <a:xfrm>
            <a:off x="8377732" y="2148840"/>
            <a:ext cx="3045866" cy="1463040"/>
          </a:xfrm>
          <a:prstGeom prst="rect">
            <a:avLst/>
          </a:prstGeom>
          <a:noFill/>
        </p:spPr>
        <p:txBody>
          <a:bodyPr wrap="square" lIns="0" rIns="0" tIns="0" bIns="0">
            <a:noAutofit/>
          </a:bodyPr>
          <a:lstStyle/>
          <a:p>
            <a:pPr>
              <a:lnSpc>
                <a:spcPct val="100000"/>
              </a:lnSpc>
              <a:spcAft>
                <a:spcPts val="300"/>
              </a:spcAft>
            </a:pPr>
            <a:r>
              <a:rPr sz="1200" b="1">
                <a:solidFill>
                  <a:srgbClr val="196B24"/>
                </a:solidFill>
                <a:latin typeface="Calibri"/>
              </a:rPr>
              <a:t>✓ </a:t>
            </a:r>
            <a:r>
              <a:rPr sz="1200">
                <a:solidFill>
                  <a:srgbClr val="1E2B36"/>
                </a:solidFill>
                <a:latin typeface="Calibri"/>
              </a:rPr>
              <a:t>bbox spatial filter</a:t>
            </a:r>
          </a:p>
          <a:p>
            <a:pPr>
              <a:lnSpc>
                <a:spcPct val="100000"/>
              </a:lnSpc>
              <a:spcAft>
                <a:spcPts val="300"/>
              </a:spcAft>
            </a:pPr>
            <a:r>
              <a:rPr sz="1200" b="1">
                <a:solidFill>
                  <a:srgbClr val="196B24"/>
                </a:solidFill>
                <a:latin typeface="Calibri"/>
              </a:rPr>
              <a:t>✓ </a:t>
            </a:r>
            <a:r>
              <a:rPr sz="1200">
                <a:solidFill>
                  <a:srgbClr val="1E2B36"/>
                </a:solidFill>
                <a:latin typeface="Calibri"/>
              </a:rPr>
              <a:t>datetime instant / interval</a:t>
            </a:r>
          </a:p>
          <a:p>
            <a:pPr>
              <a:lnSpc>
                <a:spcPct val="100000"/>
              </a:lnSpc>
              <a:spcAft>
                <a:spcPts val="300"/>
              </a:spcAft>
            </a:pPr>
            <a:r>
              <a:rPr sz="1200" b="1">
                <a:solidFill>
                  <a:srgbClr val="196B24"/>
                </a:solidFill>
                <a:latin typeface="Calibri"/>
              </a:rPr>
              <a:t>✓ </a:t>
            </a:r>
            <a:r>
              <a:rPr sz="1200">
                <a:solidFill>
                  <a:srgbClr val="1E2B36"/>
                </a:solidFill>
                <a:latin typeface="Calibri"/>
              </a:rPr>
              <a:t>subTrajectory clipping</a:t>
            </a:r>
          </a:p>
          <a:p>
            <a:pPr>
              <a:lnSpc>
                <a:spcPct val="100000"/>
              </a:lnSpc>
              <a:spcAft>
                <a:spcPts val="300"/>
              </a:spcAft>
            </a:pPr>
            <a:r>
              <a:rPr sz="1200" b="1">
                <a:solidFill>
                  <a:srgbClr val="196B24"/>
                </a:solidFill>
                <a:latin typeface="Calibri"/>
              </a:rPr>
              <a:t>✓ </a:t>
            </a:r>
            <a:r>
              <a:rPr sz="1200">
                <a:solidFill>
                  <a:srgbClr val="1E2B36"/>
                </a:solidFill>
                <a:latin typeface="Calibri"/>
              </a:rPr>
              <a:t>leaf parameter</a:t>
            </a:r>
          </a:p>
        </p:txBody>
      </p:sp>
      <p:sp>
        <p:nvSpPr>
          <p:cNvPr id="17" name="Rounded Rectangle 16"/>
          <p:cNvSpPr/>
          <p:nvPr/>
        </p:nvSpPr>
        <p:spPr>
          <a:xfrm>
            <a:off x="566928" y="3886200"/>
            <a:ext cx="3503066" cy="205740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3886200"/>
            <a:ext cx="82296" cy="2057400"/>
          </a:xfrm>
          <a:prstGeom prst="rect">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032504"/>
            <a:ext cx="3137306" cy="274320"/>
          </a:xfrm>
          <a:prstGeom prst="rect">
            <a:avLst/>
          </a:prstGeom>
          <a:noFill/>
        </p:spPr>
        <p:txBody>
          <a:bodyPr wrap="square" anchor="t" lIns="0" rIns="0" tIns="0" bIns="0">
            <a:noAutofit/>
          </a:bodyPr>
          <a:lstStyle/>
          <a:p>
            <a:pPr algn="l">
              <a:spcBef>
                <a:spcPts val="0"/>
              </a:spcBef>
              <a:spcAft>
                <a:spcPts val="200"/>
              </a:spcAft>
            </a:pPr>
            <a:r>
              <a:rPr sz="1200" b="1" i="0">
                <a:solidFill>
                  <a:srgbClr val="A02B93"/>
                </a:solidFill>
                <a:latin typeface="Calibri"/>
              </a:rPr>
              <a:t>TEMPORAL GEOMETRY</a:t>
            </a:r>
          </a:p>
        </p:txBody>
      </p:sp>
      <p:sp>
        <p:nvSpPr>
          <p:cNvPr id="20" name="TextBox 19"/>
          <p:cNvSpPr txBox="1"/>
          <p:nvPr/>
        </p:nvSpPr>
        <p:spPr>
          <a:xfrm>
            <a:off x="822960" y="4389120"/>
            <a:ext cx="3045866" cy="1463040"/>
          </a:xfrm>
          <a:prstGeom prst="rect">
            <a:avLst/>
          </a:prstGeom>
          <a:noFill/>
        </p:spPr>
        <p:txBody>
          <a:bodyPr wrap="square" lIns="0" rIns="0" tIns="0" bIns="0">
            <a:noAutofit/>
          </a:bodyPr>
          <a:lstStyle/>
          <a:p>
            <a:pPr>
              <a:lnSpc>
                <a:spcPct val="100000"/>
              </a:lnSpc>
              <a:spcAft>
                <a:spcPts val="300"/>
              </a:spcAft>
            </a:pPr>
            <a:r>
              <a:rPr sz="1200" b="1">
                <a:solidFill>
                  <a:srgbClr val="A02B93"/>
                </a:solidFill>
                <a:latin typeface="Calibri"/>
              </a:rPr>
              <a:t>✓ </a:t>
            </a:r>
            <a:r>
              <a:rPr sz="1200">
                <a:solidFill>
                  <a:srgbClr val="1E2B36"/>
                </a:solidFill>
                <a:latin typeface="Calibri"/>
              </a:rPr>
              <a:t>get sequence (GET)</a:t>
            </a:r>
          </a:p>
          <a:p>
            <a:pPr>
              <a:lnSpc>
                <a:spcPct val="100000"/>
              </a:lnSpc>
              <a:spcAft>
                <a:spcPts val="300"/>
              </a:spcAft>
            </a:pPr>
            <a:r>
              <a:rPr sz="1200" b="1">
                <a:solidFill>
                  <a:srgbClr val="A02B93"/>
                </a:solidFill>
                <a:latin typeface="Calibri"/>
              </a:rPr>
              <a:t>✓ </a:t>
            </a:r>
            <a:r>
              <a:rPr sz="1200">
                <a:solidFill>
                  <a:srgbClr val="1E2B36"/>
                </a:solidFill>
                <a:latin typeface="Calibri"/>
              </a:rPr>
              <a:t>append primitive (POST)</a:t>
            </a:r>
          </a:p>
          <a:p>
            <a:pPr>
              <a:lnSpc>
                <a:spcPct val="100000"/>
              </a:lnSpc>
              <a:spcAft>
                <a:spcPts val="300"/>
              </a:spcAft>
            </a:pPr>
            <a:r>
              <a:rPr sz="1200" b="1">
                <a:solidFill>
                  <a:srgbClr val="A02B93"/>
                </a:solidFill>
                <a:latin typeface="Calibri"/>
              </a:rPr>
              <a:t>✓ </a:t>
            </a:r>
            <a:r>
              <a:rPr sz="1200">
                <a:solidFill>
                  <a:srgbClr val="1E2B36"/>
                </a:solidFill>
                <a:latin typeface="Calibri"/>
              </a:rPr>
              <a:t>delete primitive (DELETE)</a:t>
            </a:r>
          </a:p>
        </p:txBody>
      </p:sp>
      <p:sp>
        <p:nvSpPr>
          <p:cNvPr id="21" name="Rounded Rectangle 20"/>
          <p:cNvSpPr/>
          <p:nvPr/>
        </p:nvSpPr>
        <p:spPr>
          <a:xfrm>
            <a:off x="4344314" y="3886200"/>
            <a:ext cx="3503066" cy="205740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44314" y="3886200"/>
            <a:ext cx="82296" cy="20574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00346" y="4032504"/>
            <a:ext cx="3137306"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DERIVED MEASURES</a:t>
            </a:r>
          </a:p>
        </p:txBody>
      </p:sp>
      <p:sp>
        <p:nvSpPr>
          <p:cNvPr id="24" name="TextBox 23"/>
          <p:cNvSpPr txBox="1"/>
          <p:nvPr/>
        </p:nvSpPr>
        <p:spPr>
          <a:xfrm>
            <a:off x="4600346" y="4389120"/>
            <a:ext cx="3045866" cy="1463040"/>
          </a:xfrm>
          <a:prstGeom prst="rect">
            <a:avLst/>
          </a:prstGeom>
          <a:noFill/>
        </p:spPr>
        <p:txBody>
          <a:bodyPr wrap="square" lIns="0" rIns="0" tIns="0" bIns="0">
            <a:noAutofit/>
          </a:bodyPr>
          <a:lstStyle/>
          <a:p>
            <a:pPr>
              <a:lnSpc>
                <a:spcPct val="100000"/>
              </a:lnSpc>
              <a:spcAft>
                <a:spcPts val="300"/>
              </a:spcAft>
            </a:pPr>
            <a:r>
              <a:rPr sz="1200" b="1">
                <a:solidFill>
                  <a:srgbClr val="156082"/>
                </a:solidFill>
                <a:latin typeface="Calibri"/>
              </a:rPr>
              <a:t>✓ </a:t>
            </a:r>
            <a:r>
              <a:rPr sz="1200">
                <a:solidFill>
                  <a:srgbClr val="1E2B36"/>
                </a:solidFill>
                <a:latin typeface="Calibri"/>
              </a:rPr>
              <a:t>distance</a:t>
            </a:r>
          </a:p>
          <a:p>
            <a:pPr>
              <a:lnSpc>
                <a:spcPct val="100000"/>
              </a:lnSpc>
              <a:spcAft>
                <a:spcPts val="300"/>
              </a:spcAft>
            </a:pPr>
            <a:r>
              <a:rPr sz="1200" b="1">
                <a:solidFill>
                  <a:srgbClr val="156082"/>
                </a:solidFill>
                <a:latin typeface="Calibri"/>
              </a:rPr>
              <a:t>✓ </a:t>
            </a:r>
            <a:r>
              <a:rPr sz="1200">
                <a:solidFill>
                  <a:srgbClr val="1E2B36"/>
                </a:solidFill>
                <a:latin typeface="Calibri"/>
              </a:rPr>
              <a:t>velocity</a:t>
            </a:r>
          </a:p>
          <a:p>
            <a:pPr>
              <a:lnSpc>
                <a:spcPct val="100000"/>
              </a:lnSpc>
              <a:spcAft>
                <a:spcPts val="300"/>
              </a:spcAft>
            </a:pPr>
            <a:r>
              <a:rPr sz="1200" b="1">
                <a:solidFill>
                  <a:srgbClr val="156082"/>
                </a:solidFill>
                <a:latin typeface="Calibri"/>
              </a:rPr>
              <a:t>✓ </a:t>
            </a:r>
            <a:r>
              <a:rPr sz="1200">
                <a:solidFill>
                  <a:srgbClr val="1E2B36"/>
                </a:solidFill>
                <a:latin typeface="Calibri"/>
              </a:rPr>
              <a:t>acceleration</a:t>
            </a:r>
          </a:p>
          <a:p>
            <a:pPr>
              <a:lnSpc>
                <a:spcPct val="100000"/>
              </a:lnSpc>
              <a:spcAft>
                <a:spcPts val="300"/>
              </a:spcAft>
            </a:pPr>
            <a:r>
              <a:rPr sz="1200" b="1">
                <a:solidFill>
                  <a:srgbClr val="156082"/>
                </a:solidFill>
                <a:latin typeface="Calibri"/>
              </a:rPr>
              <a:t>✓ </a:t>
            </a:r>
            <a:r>
              <a:rPr sz="1200">
                <a:solidFill>
                  <a:srgbClr val="1E2B36"/>
                </a:solidFill>
                <a:latin typeface="Calibri"/>
              </a:rPr>
              <a:t>→ TReal series</a:t>
            </a:r>
          </a:p>
        </p:txBody>
      </p:sp>
      <p:sp>
        <p:nvSpPr>
          <p:cNvPr id="25" name="Rounded Rectangle 24"/>
          <p:cNvSpPr/>
          <p:nvPr/>
        </p:nvSpPr>
        <p:spPr>
          <a:xfrm>
            <a:off x="8121700" y="3886200"/>
            <a:ext cx="3503066" cy="205740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21700" y="3886200"/>
            <a:ext cx="82296" cy="20574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77732" y="4032504"/>
            <a:ext cx="3137306" cy="274320"/>
          </a:xfrm>
          <a:prstGeom prst="rect">
            <a:avLst/>
          </a:prstGeom>
          <a:noFill/>
        </p:spPr>
        <p:txBody>
          <a:bodyPr wrap="square" anchor="t" lIns="0" rIns="0" tIns="0" bIns="0">
            <a:noAutofit/>
          </a:bodyPr>
          <a:lstStyle/>
          <a:p>
            <a:pPr algn="l">
              <a:spcBef>
                <a:spcPts val="0"/>
              </a:spcBef>
              <a:spcAft>
                <a:spcPts val="200"/>
              </a:spcAft>
            </a:pPr>
            <a:r>
              <a:rPr sz="1200" b="1" i="0">
                <a:solidFill>
                  <a:srgbClr val="E97132"/>
                </a:solidFill>
                <a:latin typeface="Calibri"/>
              </a:rPr>
              <a:t>TEMPORAL PROPERTIES</a:t>
            </a:r>
          </a:p>
        </p:txBody>
      </p:sp>
      <p:sp>
        <p:nvSpPr>
          <p:cNvPr id="28" name="TextBox 27"/>
          <p:cNvSpPr txBox="1"/>
          <p:nvPr/>
        </p:nvSpPr>
        <p:spPr>
          <a:xfrm>
            <a:off x="8377732" y="4389120"/>
            <a:ext cx="3045866" cy="1463040"/>
          </a:xfrm>
          <a:prstGeom prst="rect">
            <a:avLst/>
          </a:prstGeom>
          <a:noFill/>
        </p:spPr>
        <p:txBody>
          <a:bodyPr wrap="square" lIns="0" rIns="0" tIns="0" bIns="0">
            <a:noAutofit/>
          </a:bodyPr>
          <a:lstStyle/>
          <a:p>
            <a:pPr>
              <a:lnSpc>
                <a:spcPct val="100000"/>
              </a:lnSpc>
              <a:spcAft>
                <a:spcPts val="300"/>
              </a:spcAft>
            </a:pPr>
            <a:r>
              <a:rPr sz="1200" b="1">
                <a:solidFill>
                  <a:srgbClr val="E97132"/>
                </a:solidFill>
                <a:latin typeface="Calibri"/>
              </a:rPr>
              <a:t>✓ </a:t>
            </a:r>
            <a:r>
              <a:rPr sz="1200">
                <a:solidFill>
                  <a:srgbClr val="1E2B36"/>
                </a:solidFill>
                <a:latin typeface="Calibri"/>
              </a:rPr>
              <a:t>list / add</a:t>
            </a:r>
          </a:p>
          <a:p>
            <a:pPr>
              <a:lnSpc>
                <a:spcPct val="100000"/>
              </a:lnSpc>
              <a:spcAft>
                <a:spcPts val="300"/>
              </a:spcAft>
            </a:pPr>
            <a:r>
              <a:rPr sz="1200" b="1">
                <a:solidFill>
                  <a:srgbClr val="E97132"/>
                </a:solidFill>
                <a:latin typeface="Calibri"/>
              </a:rPr>
              <a:t>✓ </a:t>
            </a:r>
            <a:r>
              <a:rPr sz="1200">
                <a:solidFill>
                  <a:srgbClr val="1E2B36"/>
                </a:solidFill>
                <a:latin typeface="Calibri"/>
              </a:rPr>
              <a:t>read / append values</a:t>
            </a:r>
          </a:p>
          <a:p>
            <a:pPr>
              <a:lnSpc>
                <a:spcPct val="100000"/>
              </a:lnSpc>
              <a:spcAft>
                <a:spcPts val="300"/>
              </a:spcAft>
            </a:pPr>
            <a:r>
              <a:rPr sz="1200" b="1">
                <a:solidFill>
                  <a:srgbClr val="E97132"/>
                </a:solidFill>
                <a:latin typeface="Calibri"/>
              </a:rPr>
              <a:t>✓ </a:t>
            </a:r>
            <a:r>
              <a:rPr sz="1200">
                <a:solidFill>
                  <a:srgbClr val="1E2B36"/>
                </a:solidFill>
                <a:latin typeface="Calibri"/>
              </a:rPr>
              <a:t>delete property</a:t>
            </a:r>
          </a:p>
          <a:p>
            <a:pPr>
              <a:lnSpc>
                <a:spcPct val="100000"/>
              </a:lnSpc>
              <a:spcAft>
                <a:spcPts val="300"/>
              </a:spcAft>
            </a:pPr>
            <a:r>
              <a:rPr sz="1200" b="1">
                <a:solidFill>
                  <a:srgbClr val="E97132"/>
                </a:solidFill>
                <a:latin typeface="Calibri"/>
              </a:rPr>
              <a:t>✓ </a:t>
            </a:r>
            <a:r>
              <a:rPr sz="1200">
                <a:solidFill>
                  <a:srgbClr val="1E2B36"/>
                </a:solidFill>
                <a:latin typeface="Calibri"/>
              </a:rPr>
              <a:t>delete one value</a:t>
            </a:r>
          </a:p>
        </p:txBody>
      </p:sp>
      <p:sp>
        <p:nvSpPr>
          <p:cNvPr id="29" name="Rectangle 28"/>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31" name="TextBox 30"/>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23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11696"/>
            <a:ext cx="12191695" cy="14630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468880"/>
            <a:ext cx="10058400" cy="914400"/>
          </a:xfrm>
          <a:prstGeom prst="rect">
            <a:avLst/>
          </a:prstGeom>
          <a:noFill/>
        </p:spPr>
        <p:txBody>
          <a:bodyPr wrap="square" anchor="t" lIns="0" rIns="0" tIns="0" bIns="0">
            <a:noAutofit/>
          </a:bodyPr>
          <a:lstStyle/>
          <a:p>
            <a:pPr algn="l">
              <a:spcBef>
                <a:spcPts val="0"/>
              </a:spcBef>
              <a:spcAft>
                <a:spcPts val="200"/>
              </a:spcAft>
            </a:pPr>
            <a:r>
              <a:rPr sz="4400" b="1" i="0">
                <a:solidFill>
                  <a:srgbClr val="FFFFFF"/>
                </a:solidFill>
                <a:latin typeface="Calibri Light"/>
              </a:rPr>
              <a:t>Thanks for Listening</a:t>
            </a:r>
          </a:p>
        </p:txBody>
      </p:sp>
      <p:sp>
        <p:nvSpPr>
          <p:cNvPr id="5" name="TextBox 4"/>
          <p:cNvSpPr txBox="1"/>
          <p:nvPr/>
        </p:nvSpPr>
        <p:spPr>
          <a:xfrm>
            <a:off x="566928" y="3566160"/>
            <a:ext cx="10058400" cy="548640"/>
          </a:xfrm>
          <a:prstGeom prst="rect">
            <a:avLst/>
          </a:prstGeom>
          <a:noFill/>
        </p:spPr>
        <p:txBody>
          <a:bodyPr wrap="square" anchor="t" lIns="0" rIns="0" tIns="0" bIns="0">
            <a:noAutofit/>
          </a:bodyPr>
          <a:lstStyle/>
          <a:p>
            <a:pPr algn="l">
              <a:spcBef>
                <a:spcPts val="0"/>
              </a:spcBef>
              <a:spcAft>
                <a:spcPts val="200"/>
              </a:spcAft>
            </a:pPr>
            <a:r>
              <a:rPr sz="2400" b="1" i="0">
                <a:solidFill>
                  <a:srgbClr val="E97132"/>
                </a:solidFill>
                <a:latin typeface="Calibri"/>
              </a:rPr>
              <a:t>Questions?</a:t>
            </a:r>
          </a:p>
        </p:txBody>
      </p:sp>
      <p:pic>
        <p:nvPicPr>
          <p:cNvPr id="6" name="Picture 5" descr="mobilitydb-logo.png"/>
          <p:cNvPicPr>
            <a:picLocks noChangeAspect="1"/>
          </p:cNvPicPr>
          <p:nvPr/>
        </p:nvPicPr>
        <p:blipFill>
          <a:blip r:embed="rId2"/>
          <a:stretch>
            <a:fillRect/>
          </a:stretch>
        </p:blipFill>
        <p:spPr>
          <a:xfrm>
            <a:off x="10070970" y="4297680"/>
            <a:ext cx="1633349" cy="173736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anchor="t" lIns="0" rIns="0" tIns="0" bIns="0">
            <a:noAutofit/>
          </a:bodyPr>
          <a:lstStyle/>
          <a:p>
            <a:pPr algn="l">
              <a:spcBef>
                <a:spcPts val="0"/>
              </a:spcBef>
              <a:spcAft>
                <a:spcPts val="200"/>
              </a:spcAft>
            </a:pPr>
            <a:r>
              <a:rPr sz="1200" b="1" i="0">
                <a:solidFill>
                  <a:srgbClr val="156082"/>
                </a:solidFill>
                <a:latin typeface="Calibri"/>
              </a:rPr>
              <a:t>REFERENCES</a:t>
            </a:r>
          </a:p>
        </p:txBody>
      </p:sp>
      <p:sp>
        <p:nvSpPr>
          <p:cNvPr id="3" name="TextBox 2"/>
          <p:cNvSpPr txBox="1"/>
          <p:nvPr/>
        </p:nvSpPr>
        <p:spPr>
          <a:xfrm>
            <a:off x="566928" y="603504"/>
            <a:ext cx="11057839" cy="777240"/>
          </a:xfrm>
          <a:prstGeom prst="rect">
            <a:avLst/>
          </a:prstGeom>
          <a:noFill/>
        </p:spPr>
        <p:txBody>
          <a:bodyPr wrap="square" anchor="t" lIns="0" rIns="0" tIns="0" bIns="0">
            <a:noAutofit/>
          </a:bodyPr>
          <a:lstStyle/>
          <a:p>
            <a:pPr algn="l">
              <a:spcBef>
                <a:spcPts val="0"/>
              </a:spcBef>
              <a:spcAft>
                <a:spcPts val="200"/>
              </a:spcAft>
            </a:pPr>
            <a:r>
              <a:rPr sz="3200" b="1" i="0">
                <a:solidFill>
                  <a:srgbClr val="0E2841"/>
                </a:solidFill>
                <a:latin typeface="Calibri Light"/>
              </a:rPr>
              <a:t>Find Out More</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856231"/>
            <a:ext cx="164592" cy="16459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783080"/>
            <a:ext cx="8686800" cy="320040"/>
          </a:xfrm>
          <a:prstGeom prst="rect">
            <a:avLst/>
          </a:prstGeom>
          <a:noFill/>
        </p:spPr>
        <p:txBody>
          <a:bodyPr wrap="square" anchor="t" lIns="0" rIns="0" tIns="0" bIns="0">
            <a:noAutofit/>
          </a:bodyPr>
          <a:lstStyle/>
          <a:p>
            <a:pPr algn="l">
              <a:spcBef>
                <a:spcPts val="0"/>
              </a:spcBef>
              <a:spcAft>
                <a:spcPts val="200"/>
              </a:spcAft>
            </a:pPr>
            <a:r>
              <a:rPr sz="1400" b="1" i="0">
                <a:solidFill>
                  <a:srgbClr val="0E2841"/>
                </a:solidFill>
                <a:latin typeface="Calibri"/>
              </a:rPr>
              <a:t>OGC API – Moving Features – Part 1: Core</a:t>
            </a:r>
          </a:p>
        </p:txBody>
      </p:sp>
      <p:sp>
        <p:nvSpPr>
          <p:cNvPr id="7" name="TextBox 6"/>
          <p:cNvSpPr txBox="1"/>
          <p:nvPr/>
        </p:nvSpPr>
        <p:spPr>
          <a:xfrm>
            <a:off x="932688" y="2093976"/>
            <a:ext cx="10515600" cy="292608"/>
          </a:xfrm>
          <a:prstGeom prst="rect">
            <a:avLst/>
          </a:prstGeom>
          <a:noFill/>
        </p:spPr>
        <p:txBody>
          <a:bodyPr wrap="none" lIns="0" rIns="0" tIns="0" bIns="0">
            <a:noAutofit/>
          </a:bodyPr>
          <a:lstStyle/>
          <a:p>
            <a:pPr algn="l"/>
            <a:r>
              <a:rPr sz="1200" u="none">
                <a:solidFill>
                  <a:srgbClr val="156082"/>
                </a:solidFill>
                <a:latin typeface="Consolas"/>
                <a:hlinkClick r:id="rId2"/>
              </a:rPr>
              <a:t>https://docs.ogc.org/is/22-003r3/22-003r3.html</a:t>
            </a:r>
          </a:p>
        </p:txBody>
      </p:sp>
      <p:sp>
        <p:nvSpPr>
          <p:cNvPr id="8" name="Rectangle 7"/>
          <p:cNvSpPr/>
          <p:nvPr/>
        </p:nvSpPr>
        <p:spPr>
          <a:xfrm>
            <a:off x="566928" y="2569464"/>
            <a:ext cx="164592" cy="16459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496312"/>
            <a:ext cx="8686800" cy="320040"/>
          </a:xfrm>
          <a:prstGeom prst="rect">
            <a:avLst/>
          </a:prstGeom>
          <a:noFill/>
        </p:spPr>
        <p:txBody>
          <a:bodyPr wrap="square" anchor="t" lIns="0" rIns="0" tIns="0" bIns="0">
            <a:noAutofit/>
          </a:bodyPr>
          <a:lstStyle/>
          <a:p>
            <a:pPr algn="l">
              <a:spcBef>
                <a:spcPts val="0"/>
              </a:spcBef>
              <a:spcAft>
                <a:spcPts val="200"/>
              </a:spcAft>
            </a:pPr>
            <a:r>
              <a:rPr sz="1400" b="1" i="0">
                <a:solidFill>
                  <a:srgbClr val="0E2841"/>
                </a:solidFill>
                <a:latin typeface="Calibri"/>
              </a:rPr>
              <a:t>MobilityAPI source</a:t>
            </a:r>
          </a:p>
        </p:txBody>
      </p:sp>
      <p:sp>
        <p:nvSpPr>
          <p:cNvPr id="10" name="TextBox 9"/>
          <p:cNvSpPr txBox="1"/>
          <p:nvPr/>
        </p:nvSpPr>
        <p:spPr>
          <a:xfrm>
            <a:off x="932688" y="2807208"/>
            <a:ext cx="10515600" cy="292608"/>
          </a:xfrm>
          <a:prstGeom prst="rect">
            <a:avLst/>
          </a:prstGeom>
          <a:noFill/>
        </p:spPr>
        <p:txBody>
          <a:bodyPr wrap="none" lIns="0" rIns="0" tIns="0" bIns="0">
            <a:noAutofit/>
          </a:bodyPr>
          <a:lstStyle/>
          <a:p>
            <a:pPr algn="l"/>
            <a:r>
              <a:rPr sz="1200" u="none">
                <a:solidFill>
                  <a:srgbClr val="156082"/>
                </a:solidFill>
                <a:latin typeface="Consolas"/>
                <a:hlinkClick r:id="rId3"/>
              </a:rPr>
              <a:t>https://github.com/MobilityDB/MobilityAPI</a:t>
            </a:r>
          </a:p>
        </p:txBody>
      </p:sp>
      <p:sp>
        <p:nvSpPr>
          <p:cNvPr id="11" name="Rectangle 10"/>
          <p:cNvSpPr/>
          <p:nvPr/>
        </p:nvSpPr>
        <p:spPr>
          <a:xfrm>
            <a:off x="566928" y="3282696"/>
            <a:ext cx="164592" cy="16459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3209544"/>
            <a:ext cx="8686800" cy="320040"/>
          </a:xfrm>
          <a:prstGeom prst="rect">
            <a:avLst/>
          </a:prstGeom>
          <a:noFill/>
        </p:spPr>
        <p:txBody>
          <a:bodyPr wrap="square" anchor="t" lIns="0" rIns="0" tIns="0" bIns="0">
            <a:noAutofit/>
          </a:bodyPr>
          <a:lstStyle/>
          <a:p>
            <a:pPr algn="l">
              <a:spcBef>
                <a:spcPts val="0"/>
              </a:spcBef>
              <a:spcAft>
                <a:spcPts val="200"/>
              </a:spcAft>
            </a:pPr>
            <a:r>
              <a:rPr sz="1400" b="1" i="0">
                <a:solidFill>
                  <a:srgbClr val="0E2841"/>
                </a:solidFill>
                <a:latin typeface="Calibri"/>
              </a:rPr>
              <a:t>MobilityDB</a:t>
            </a:r>
          </a:p>
        </p:txBody>
      </p:sp>
      <p:sp>
        <p:nvSpPr>
          <p:cNvPr id="13" name="TextBox 12"/>
          <p:cNvSpPr txBox="1"/>
          <p:nvPr/>
        </p:nvSpPr>
        <p:spPr>
          <a:xfrm>
            <a:off x="932688" y="3520439"/>
            <a:ext cx="10515600" cy="292608"/>
          </a:xfrm>
          <a:prstGeom prst="rect">
            <a:avLst/>
          </a:prstGeom>
          <a:noFill/>
        </p:spPr>
        <p:txBody>
          <a:bodyPr wrap="none" lIns="0" rIns="0" tIns="0" bIns="0">
            <a:noAutofit/>
          </a:bodyPr>
          <a:lstStyle/>
          <a:p>
            <a:pPr algn="l"/>
            <a:r>
              <a:rPr sz="1200" u="none">
                <a:solidFill>
                  <a:srgbClr val="156082"/>
                </a:solidFill>
                <a:latin typeface="Consolas"/>
                <a:hlinkClick r:id="rId4"/>
              </a:rPr>
              <a:t>https://github.com/MobilityDB/MobilityDB</a:t>
            </a:r>
            <a:r>
              <a:rPr sz="1200">
                <a:solidFill>
                  <a:srgbClr val="5B6B78"/>
                </a:solidFill>
                <a:latin typeface="Consolas"/>
              </a:rPr>
              <a:t>    ·    </a:t>
            </a:r>
            <a:r>
              <a:rPr sz="1200" u="none">
                <a:solidFill>
                  <a:srgbClr val="156082"/>
                </a:solidFill>
                <a:latin typeface="Consolas"/>
                <a:hlinkClick r:id="rId5"/>
              </a:rPr>
              <a:t>https://mobilitydb.com</a:t>
            </a:r>
          </a:p>
        </p:txBody>
      </p:sp>
      <p:sp>
        <p:nvSpPr>
          <p:cNvPr id="14" name="Rectangle 13"/>
          <p:cNvSpPr/>
          <p:nvPr/>
        </p:nvSpPr>
        <p:spPr>
          <a:xfrm>
            <a:off x="566928" y="3995928"/>
            <a:ext cx="164592" cy="16459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922776"/>
            <a:ext cx="8686800" cy="320040"/>
          </a:xfrm>
          <a:prstGeom prst="rect">
            <a:avLst/>
          </a:prstGeom>
          <a:noFill/>
        </p:spPr>
        <p:txBody>
          <a:bodyPr wrap="square" anchor="t" lIns="0" rIns="0" tIns="0" bIns="0">
            <a:noAutofit/>
          </a:bodyPr>
          <a:lstStyle/>
          <a:p>
            <a:pPr algn="l">
              <a:spcBef>
                <a:spcPts val="0"/>
              </a:spcBef>
              <a:spcAft>
                <a:spcPts val="200"/>
              </a:spcAft>
            </a:pPr>
            <a:r>
              <a:rPr sz="1400" b="1" i="0">
                <a:solidFill>
                  <a:srgbClr val="0E2841"/>
                </a:solidFill>
                <a:latin typeface="Calibri"/>
              </a:rPr>
              <a:t>PyMEOS (temporal-data layer)</a:t>
            </a:r>
          </a:p>
        </p:txBody>
      </p:sp>
      <p:sp>
        <p:nvSpPr>
          <p:cNvPr id="16" name="TextBox 15"/>
          <p:cNvSpPr txBox="1"/>
          <p:nvPr/>
        </p:nvSpPr>
        <p:spPr>
          <a:xfrm>
            <a:off x="932688" y="4233672"/>
            <a:ext cx="10515600" cy="292608"/>
          </a:xfrm>
          <a:prstGeom prst="rect">
            <a:avLst/>
          </a:prstGeom>
          <a:noFill/>
        </p:spPr>
        <p:txBody>
          <a:bodyPr wrap="none" lIns="0" rIns="0" tIns="0" bIns="0">
            <a:noAutofit/>
          </a:bodyPr>
          <a:lstStyle/>
          <a:p>
            <a:pPr algn="l"/>
            <a:r>
              <a:rPr sz="1200" u="none">
                <a:solidFill>
                  <a:srgbClr val="156082"/>
                </a:solidFill>
                <a:latin typeface="Consolas"/>
                <a:hlinkClick r:id="rId6"/>
              </a:rPr>
              <a:t>https://github.com/MobilityDB/PyMEOS</a:t>
            </a:r>
          </a:p>
        </p:txBody>
      </p:sp>
      <p:sp>
        <p:nvSpPr>
          <p:cNvPr id="17" name="Rectangle 16"/>
          <p:cNvSpPr/>
          <p:nvPr/>
        </p:nvSpPr>
        <p:spPr>
          <a:xfrm>
            <a:off x="566928" y="4709160"/>
            <a:ext cx="164592" cy="16459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2688" y="4636008"/>
            <a:ext cx="8686800" cy="320040"/>
          </a:xfrm>
          <a:prstGeom prst="rect">
            <a:avLst/>
          </a:prstGeom>
          <a:noFill/>
        </p:spPr>
        <p:txBody>
          <a:bodyPr wrap="square" anchor="t" lIns="0" rIns="0" tIns="0" bIns="0">
            <a:noAutofit/>
          </a:bodyPr>
          <a:lstStyle/>
          <a:p>
            <a:pPr algn="l">
              <a:spcBef>
                <a:spcPts val="0"/>
              </a:spcBef>
              <a:spcAft>
                <a:spcPts val="200"/>
              </a:spcAft>
            </a:pPr>
            <a:r>
              <a:rPr sz="1400" b="1" i="0">
                <a:solidFill>
                  <a:srgbClr val="0E2841"/>
                </a:solidFill>
                <a:latin typeface="Calibri"/>
              </a:rPr>
              <a:t>MEOS / ecosystem overview</a:t>
            </a:r>
          </a:p>
        </p:txBody>
      </p:sp>
      <p:sp>
        <p:nvSpPr>
          <p:cNvPr id="19" name="TextBox 18"/>
          <p:cNvSpPr txBox="1"/>
          <p:nvPr/>
        </p:nvSpPr>
        <p:spPr>
          <a:xfrm>
            <a:off x="932688" y="4946904"/>
            <a:ext cx="10515600" cy="292608"/>
          </a:xfrm>
          <a:prstGeom prst="rect">
            <a:avLst/>
          </a:prstGeom>
          <a:noFill/>
        </p:spPr>
        <p:txBody>
          <a:bodyPr wrap="none" lIns="0" rIns="0" tIns="0" bIns="0">
            <a:noAutofit/>
          </a:bodyPr>
          <a:lstStyle/>
          <a:p>
            <a:pPr algn="l"/>
            <a:r>
              <a:rPr sz="1200" u="none">
                <a:solidFill>
                  <a:srgbClr val="156082"/>
                </a:solidFill>
                <a:latin typeface="Consolas"/>
                <a:hlinkClick r:id="rId7"/>
              </a:rPr>
              <a:t>https://libmeos.org</a:t>
            </a:r>
          </a:p>
        </p:txBody>
      </p:sp>
      <p:sp>
        <p:nvSpPr>
          <p:cNvPr id="20" name="Rectangle 19"/>
          <p:cNvSpPr/>
          <p:nvPr/>
        </p:nvSpPr>
        <p:spPr>
          <a:xfrm>
            <a:off x="566928" y="5422392"/>
            <a:ext cx="164592" cy="16459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 y="5349240"/>
            <a:ext cx="8686800" cy="320040"/>
          </a:xfrm>
          <a:prstGeom prst="rect">
            <a:avLst/>
          </a:prstGeom>
          <a:noFill/>
        </p:spPr>
        <p:txBody>
          <a:bodyPr wrap="square" anchor="t" lIns="0" rIns="0" tIns="0" bIns="0">
            <a:noAutofit/>
          </a:bodyPr>
          <a:lstStyle/>
          <a:p>
            <a:pPr algn="l">
              <a:spcBef>
                <a:spcPts val="0"/>
              </a:spcBef>
              <a:spcAft>
                <a:spcPts val="200"/>
              </a:spcAft>
            </a:pPr>
            <a:r>
              <a:rPr sz="1400" b="1" i="0">
                <a:solidFill>
                  <a:srgbClr val="0E2841"/>
                </a:solidFill>
                <a:latin typeface="Calibri"/>
              </a:rPr>
              <a:t>AIS data — Danish Maritime Authority</a:t>
            </a:r>
          </a:p>
        </p:txBody>
      </p:sp>
      <p:sp>
        <p:nvSpPr>
          <p:cNvPr id="22" name="TextBox 21"/>
          <p:cNvSpPr txBox="1"/>
          <p:nvPr/>
        </p:nvSpPr>
        <p:spPr>
          <a:xfrm>
            <a:off x="932688" y="5660136"/>
            <a:ext cx="10515600" cy="292608"/>
          </a:xfrm>
          <a:prstGeom prst="rect">
            <a:avLst/>
          </a:prstGeom>
          <a:noFill/>
        </p:spPr>
        <p:txBody>
          <a:bodyPr wrap="none" lIns="0" rIns="0" tIns="0" bIns="0">
            <a:noAutofit/>
          </a:bodyPr>
          <a:lstStyle/>
          <a:p>
            <a:pPr algn="l"/>
            <a:r>
              <a:rPr sz="1200" u="none">
                <a:solidFill>
                  <a:srgbClr val="156082"/>
                </a:solidFill>
                <a:latin typeface="Consolas"/>
                <a:hlinkClick r:id="rId8"/>
              </a:rPr>
              <a:t>http://aisdata.ais.dk</a:t>
            </a:r>
          </a:p>
        </p:txBody>
      </p:sp>
      <p:sp>
        <p:nvSpPr>
          <p:cNvPr id="23" name="Rectangle 22"/>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 y="6510528"/>
            <a:ext cx="7315200" cy="274320"/>
          </a:xfrm>
          <a:prstGeom prst="rect">
            <a:avLst/>
          </a:prstGeom>
          <a:noFill/>
        </p:spPr>
        <p:txBody>
          <a:bodyPr wrap="square" anchor="t" lIns="0" rIns="0" tIns="0" bIns="0">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25" name="TextBox 24"/>
          <p:cNvSpPr txBox="1"/>
          <p:nvPr/>
        </p:nvSpPr>
        <p:spPr>
          <a:xfrm>
            <a:off x="10911535" y="6510528"/>
            <a:ext cx="731520" cy="274320"/>
          </a:xfrm>
          <a:prstGeom prst="rect">
            <a:avLst/>
          </a:prstGeom>
          <a:noFill/>
        </p:spPr>
        <p:txBody>
          <a:bodyPr wrap="square" anchor="t" lIns="0" rIns="0" tIns="0" bIns="0">
            <a:noAutofit/>
          </a:bodyPr>
          <a:lstStyle/>
          <a:p>
            <a:pPr algn="r">
              <a:spcBef>
                <a:spcPts val="0"/>
              </a:spcBef>
              <a:spcAft>
                <a:spcPts val="200"/>
              </a:spcAft>
            </a:pPr>
            <a:r>
              <a:rPr sz="1200" b="0" i="0">
                <a:solidFill>
                  <a:srgbClr val="5B6B78"/>
                </a:solidFill>
                <a:latin typeface="Calibri"/>
              </a:rP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