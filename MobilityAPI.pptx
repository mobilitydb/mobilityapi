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82" r:id="rId24"/>
    <p:sldId id="283" r:id="rId25"/>
    <p:sldId id="287" r:id="rId38"/>
    <p:sldId id="288" r:id="rId39"/>
    <p:sldId id="278" r:id="rId26"/>
    <p:sldId id="284" r:id="rId35"/>
    <p:sldId id="285" r:id="rId36"/>
    <p:sldId id="286" r:id="rId37"/>
    <p:sldId id="279" r:id="rId27"/>
    <p:sldId id="280" r:id="rId28"/>
    <p:sldId id="281"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4" d="100"/>
          <a:sy n="104" d="100"/>
        </p:scale>
        <p:origin x="284" y="8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9.xml"/><Relationship Id="rId28" Type="http://schemas.openxmlformats.org/officeDocument/2006/relationships/slide" Target="slides/slide30.xml"/><Relationship Id="rId29" Type="http://schemas.openxmlformats.org/officeDocument/2006/relationships/slide" Target="slides/slide31.xml"/><Relationship Id="rId30" Type="http://schemas.openxmlformats.org/officeDocument/2006/relationships/notesMaster" Target="notesMasters/notes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32.xml"/><Relationship Id="rId39" Type="http://schemas.openxmlformats.org/officeDocument/2006/relationships/slide" Target="slides/slide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3526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MobilityAPI is an OGC API – Moving Features server over MobilityDB: a thin compiled tier that keeps every temporal computation in the database and ships as a single static binary. This deck walks the implemented surface against a day of Danish AIS ship-trajectory data.</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Positioning: a thin HTTP/OGC facade in front of MobilityDB. Reads stream asMFJSON assembled in SQL; writes call tgeompointFromMFJSON. The only application logic is a small crs and interpolation adapter.</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division of labour: the tier routes, pools and streams; MobilityDB does all temporal work and (de)serialization. No MEOS runs in the tier.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OGC data model maps one to one onto MobilityAPI's REST resources.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Zoomed view of the OGC API – Moving Features class diagram for class-level detail.</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Zoomed view of the OGC API – Moving Features class diagram for class-level detail.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Stored versus served: the two tables hold the columns; every other OGC field (the collection extent, and the feature bbox, time, geometry, crs, trs and links) is derived O(1) from the tgeompoint and its inline STBOX, or generated per request.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loaded ships collection: 2,833 vessel trajectories from 1,878 MMSI over one day, 6.2 million observed instants, in EPSG:25832.</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standard endpoint surface, full paths. Beyond-standard features (the lakehouse export and in-place replace) are on the Additional features slide.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divider: the live walkthrough against the ships collection.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GET /collections lists every registered collection from the registry; GET /collections/{id} returns one collection's metadata.</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GET items streams a FeatureCollection from a cursor and pages by keyset. The temporalGeometry is MovingFeaturesJSON produced by asMFJSON.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bbox query is a spatial pre-filter executed by MobilityDB's GiST index over the inline STBOX.</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Writes: POST creates, DELETE removes, and POST tgsequence appends a temporally-disjoint sub-trajectory via merge (overlap returns 409). In-place replace (PUT) is an extension, shown on the Additional features slide. Derived-property writes and primitive deletes return 501 with the reason.</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distance and velocity are exact MobilityDB functions. Acceleration returns 501 because the derivative of a piecewise-constant speed is zero within segments and undefined at the vertices; the server does not fabricate it by resampling speed to linear.</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GET tproperties lists the derived temporal properties; GET tproperties/{name} returns its valueSequence. The leaf selector returns Discrete values at given instants.</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server declares the three Moving Features conformance classes plus OGC Common core and collections, serves an OpenAPI definition at /api, and returns the OGC exception schema on errors.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Scale and the lakehouse on one slide. The standard items resource streams from a cursor with keyset pagination and index-using filters, so a 393 MB response holds about 18 MB resident. Beyond the standard and excluded from conformsTo: a bulk export (NDJSON, or Parquet with trajectory WKB plus a bbox and time sidecar, advertised via the enclosure link) and an in-place replace (PUT).</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thin-tier pattern generalises across the MEOS ecosystem: the tier speaks MF-JSON and WKB and keeps all temporal work in the engine, so the storage and compute engine becomes a configuration choice. MobilityDB is implemented today; MobilityDuck (embedded lakehouse), MobilitySpark (distributed batch) and MobilityFlink (streaming, real time) reuse the same surface.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ogc.org/is/22-003r3/22-003r3.html" TargetMode="External"/><Relationship Id="rId3" Type="http://schemas.openxmlformats.org/officeDocument/2006/relationships/hyperlink" Target="https://github.com/MobilityDB/MobilityDB" TargetMode="External"/><Relationship Id="rId4" Type="http://schemas.openxmlformats.org/officeDocument/2006/relationships/hyperlink" Target="https://mobilitydb.com" TargetMode="External"/><Relationship Id="rId5" Type="http://schemas.openxmlformats.org/officeDocument/2006/relationships/hyperlink" Target="https://libmeos.org" TargetMode="External"/><Relationship Id="rId6" Type="http://schemas.openxmlformats.org/officeDocument/2006/relationships/hyperlink" Target="http://aisdata.ais.dk" TargetMode="External"/><Relationship Id="rId7" Type="http://schemas.openxmlformats.org/officeDocument/2006/relationships/hyperlink" Target="https://github.com/MobilityDB/MobilityAPI/blob/master/tutorial/tutorial.ipynb" TargetMode="Externa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11696"/>
            <a:ext cx="12191695" cy="14630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1965960"/>
            <a:ext cx="8686800" cy="1097280"/>
          </a:xfrm>
          <a:prstGeom prst="rect">
            <a:avLst/>
          </a:prstGeom>
          <a:noFill/>
        </p:spPr>
        <p:txBody>
          <a:bodyPr wrap="square" lIns="0" tIns="0" rIns="0" bIns="0" anchor="t">
            <a:noAutofit/>
          </a:bodyPr>
          <a:lstStyle/>
          <a:p>
            <a:pPr algn="l">
              <a:spcBef>
                <a:spcPts val="0"/>
              </a:spcBef>
              <a:spcAft>
                <a:spcPts val="200"/>
              </a:spcAft>
            </a:pPr>
            <a:r>
              <a:rPr sz="6600" b="1" i="0">
                <a:solidFill>
                  <a:srgbClr val="FFFFFF"/>
                </a:solidFill>
                <a:latin typeface="Calibri Light"/>
              </a:rPr>
              <a:t>MobilityAPI</a:t>
            </a:r>
          </a:p>
        </p:txBody>
      </p:sp>
      <p:sp>
        <p:nvSpPr>
          <p:cNvPr id="5" name="TextBox 4"/>
          <p:cNvSpPr txBox="1"/>
          <p:nvPr/>
        </p:nvSpPr>
        <p:spPr>
          <a:xfrm>
            <a:off x="566928" y="3127248"/>
            <a:ext cx="8961120" cy="731520"/>
          </a:xfrm>
          <a:prstGeom prst="rect">
            <a:avLst/>
          </a:prstGeom>
          <a:noFill/>
        </p:spPr>
        <p:txBody>
          <a:bodyPr wrap="square" lIns="0" tIns="0" rIns="0" bIns="0" anchor="t">
            <a:noAutofit/>
          </a:bodyPr>
          <a:lstStyle/>
          <a:p>
            <a:pPr algn="l">
              <a:spcBef>
                <a:spcPts val="0"/>
              </a:spcBef>
              <a:spcAft>
                <a:spcPts val="200"/>
              </a:spcAft>
            </a:pPr>
            <a:r>
              <a:rPr sz="2000" b="0" i="0">
                <a:solidFill>
                  <a:srgbClr val="BFD6E2"/>
                </a:solidFill>
                <a:latin typeface="Calibri"/>
              </a:rPr>
              <a:t>An OGC API – Moving Features server over MobilityDB</a:t>
            </a:r>
          </a:p>
        </p:txBody>
      </p:sp>
      <p:sp>
        <p:nvSpPr>
          <p:cNvPr id="6" name="Rectangle 5"/>
          <p:cNvSpPr/>
          <p:nvPr/>
        </p:nvSpPr>
        <p:spPr>
          <a:xfrm>
            <a:off x="566928" y="3913632"/>
            <a:ext cx="1828800" cy="4572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4096512"/>
            <a:ext cx="9326880" cy="457200"/>
          </a:xfrm>
          <a:prstGeom prst="rect">
            <a:avLst/>
          </a:prstGeom>
          <a:noFill/>
        </p:spPr>
        <p:txBody>
          <a:bodyPr wrap="square" lIns="0" tIns="0" rIns="0" bIns="0" anchor="t">
            <a:noAutofit/>
          </a:bodyPr>
          <a:lstStyle/>
          <a:p>
            <a:pPr algn="l">
              <a:spcBef>
                <a:spcPts val="0"/>
              </a:spcBef>
              <a:spcAft>
                <a:spcPts val="200"/>
              </a:spcAft>
            </a:pPr>
            <a:r>
              <a:rPr sz="1400" b="0" i="0">
                <a:solidFill>
                  <a:srgbClr val="9EB8C8"/>
                </a:solidFill>
                <a:latin typeface="Calibri"/>
              </a:rPr>
              <a:t>A thin compiled tier over MobilityDB  ·  canonical Danish AIS example</a:t>
            </a:r>
          </a:p>
        </p:txBody>
      </p:sp>
      <p:pic>
        <p:nvPicPr>
          <p:cNvPr id="8" name="Picture 7" descr="mobilitydb-logo.png"/>
          <p:cNvPicPr>
            <a:picLocks noChangeAspect="1"/>
          </p:cNvPicPr>
          <p:nvPr/>
        </p:nvPicPr>
        <p:blipFill>
          <a:blip r:embed="rId3"/>
          <a:stretch>
            <a:fillRect/>
          </a:stretch>
        </p:blipFill>
        <p:spPr>
          <a:xfrm>
            <a:off x="10414833" y="457200"/>
            <a:ext cx="1289486" cy="1371600"/>
          </a:xfrm>
          <a:prstGeom prst="rect">
            <a:avLst/>
          </a:prstGeom>
        </p:spPr>
      </p:pic>
      <p:pic>
        <p:nvPicPr>
          <p:cNvPr id="9" name="Picture 8" descr="OGC_navy.png"/>
          <p:cNvPicPr>
            <a:picLocks noChangeAspect="1"/>
          </p:cNvPicPr>
          <p:nvPr/>
        </p:nvPicPr>
        <p:blipFill>
          <a:blip r:embed="rId4"/>
          <a:stretch>
            <a:fillRect/>
          </a:stretch>
        </p:blipFill>
        <p:spPr>
          <a:xfrm>
            <a:off x="10058400" y="5166359"/>
            <a:ext cx="1645920" cy="1234440"/>
          </a:xfrm>
          <a:prstGeom prst="rect">
            <a:avLst/>
          </a:prstGeom>
        </p:spPr>
      </p:pic>
      <p:sp>
        <p:nvSpPr>
          <p:cNvPr id="10" name="TextBox 9"/>
          <p:cNvSpPr txBox="1"/>
          <p:nvPr/>
        </p:nvSpPr>
        <p:spPr>
          <a:xfrm>
            <a:off x="566928" y="5943600"/>
            <a:ext cx="9144000" cy="274320"/>
          </a:xfrm>
          <a:prstGeom prst="rect">
            <a:avLst/>
          </a:prstGeom>
          <a:noFill/>
        </p:spPr>
        <p:txBody>
          <a:bodyPr wrap="square" lIns="0" tIns="0" rIns="0" bIns="0" anchor="t">
            <a:noAutofit/>
          </a:bodyPr>
          <a:lstStyle/>
          <a:p>
            <a:pPr algn="l">
              <a:spcBef>
                <a:spcPts val="0"/>
              </a:spcBef>
              <a:spcAft>
                <a:spcPts val="200"/>
              </a:spcAft>
            </a:pPr>
            <a:r>
              <a:rPr sz="1200" b="0" i="0">
                <a:solidFill>
                  <a:srgbClr val="7F9BAD"/>
                </a:solidFill>
                <a:latin typeface="Consolas"/>
              </a:rPr>
              <a:t>net/http + pgxpool  ·  single static binary  ·  no MEOS in the tier</a:t>
            </a:r>
          </a:p>
        </p:txBody>
      </p:sp>
      <p:sp>
        <p:nvSpPr>
          <p:cNvPr id="11" name="TextBox 10"/>
          <p:cNvSpPr txBox="1"/>
          <p:nvPr/>
        </p:nvSpPr>
        <p:spPr>
          <a:xfrm>
            <a:off x="10908792" y="6510528"/>
            <a:ext cx="731520" cy="274320"/>
          </a:xfrm>
          <a:prstGeom prst="rect">
            <a:avLst/>
          </a:prstGeom>
          <a:noFill/>
        </p:spPr>
        <p:txBody>
          <a:bodyPr wrap="none">
            <a:spAutoFit/>
          </a:bodyPr>
          <a:lstStyle/>
          <a:p>
            <a:pPr algn="r"/>
            <a:r>
              <a:rPr sz="1200">
                <a:solidFill>
                  <a:srgbClr val="5B6B78"/>
                </a:solidFill>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WHAT IT IS</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A Thin Tier over MobilityDB, Fat Database</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645920"/>
            <a:ext cx="6400800" cy="4206240"/>
          </a:xfrm>
          <a:prstGeom prst="rect">
            <a:avLst/>
          </a:prstGeom>
          <a:noFill/>
        </p:spPr>
        <p:txBody>
          <a:bodyPr wrap="square" lIns="0" tIns="0" rIns="0" bIns="0">
            <a:noAutofit/>
          </a:bodyPr>
          <a:lstStyle/>
          <a:p>
            <a:pPr>
              <a:lnSpc>
                <a:spcPct val="106000"/>
              </a:lnSpc>
              <a:spcBef>
                <a:spcPts val="0"/>
              </a:spcBef>
              <a:spcAft>
                <a:spcPts val="1200"/>
              </a:spcAft>
            </a:pPr>
            <a:r>
              <a:rPr sz="1400" b="1">
                <a:solidFill>
                  <a:srgbClr val="156082"/>
                </a:solidFill>
                <a:latin typeface="Calibri"/>
              </a:rPr>
              <a:t>▸  </a:t>
            </a:r>
            <a:r>
              <a:rPr sz="1400" b="1">
                <a:solidFill>
                  <a:srgbClr val="0E2841"/>
                </a:solidFill>
                <a:latin typeface="Calibri"/>
              </a:rPr>
              <a:t>OGC-compliant:  </a:t>
            </a:r>
            <a:r>
              <a:rPr sz="1400">
                <a:solidFill>
                  <a:srgbClr val="1E2B36"/>
                </a:solidFill>
                <a:latin typeface="Calibri"/>
              </a:rPr>
              <a:t>implements OGC API – Moving Features – Part 1: Core (collections, items, temporal geometry, derived queries, temporal properties)</a:t>
            </a:r>
          </a:p>
          <a:p>
            <a:pPr>
              <a:lnSpc>
                <a:spcPct val="106000"/>
              </a:lnSpc>
              <a:spcBef>
                <a:spcPts val="0"/>
              </a:spcBef>
              <a:spcAft>
                <a:spcPts val="1200"/>
              </a:spcAft>
            </a:pPr>
            <a:r>
              <a:rPr sz="1400" b="1">
                <a:solidFill>
                  <a:srgbClr val="156082"/>
                </a:solidFill>
                <a:latin typeface="Calibri"/>
              </a:rPr>
              <a:t>▸  </a:t>
            </a:r>
            <a:r>
              <a:rPr sz="1400" b="1">
                <a:solidFill>
                  <a:srgbClr val="0E2841"/>
                </a:solidFill>
                <a:latin typeface="Calibri"/>
              </a:rPr>
              <a:t>Thin compiled tier:  </a:t>
            </a:r>
            <a:r>
              <a:rPr sz="1400">
                <a:solidFill>
                  <a:srgbClr val="1E2B36"/>
                </a:solidFill>
                <a:latin typeface="Calibri"/>
              </a:rPr>
              <a:t>net/http and a pgx connection pool; a single static binary, no cgo and no MEOS in the process</a:t>
            </a:r>
          </a:p>
          <a:p>
            <a:pPr>
              <a:lnSpc>
                <a:spcPct val="106000"/>
              </a:lnSpc>
              <a:spcBef>
                <a:spcPts val="0"/>
              </a:spcBef>
              <a:spcAft>
                <a:spcPts val="1200"/>
              </a:spcAft>
            </a:pPr>
            <a:r>
              <a:rPr sz="1400" b="1">
                <a:solidFill>
                  <a:srgbClr val="156082"/>
                </a:solidFill>
                <a:latin typeface="Calibri"/>
              </a:rPr>
              <a:t>▸  </a:t>
            </a:r>
            <a:r>
              <a:rPr sz="1400" b="1">
                <a:solidFill>
                  <a:srgbClr val="0E2841"/>
                </a:solidFill>
                <a:latin typeface="Calibri"/>
              </a:rPr>
              <a:t>Fat database:  </a:t>
            </a:r>
            <a:r>
              <a:rPr sz="1400">
                <a:solidFill>
                  <a:srgbClr val="1E2B36"/>
                </a:solidFill>
                <a:latin typeface="Calibri"/>
              </a:rPr>
              <a:t>every temporal computation stays in MobilityDB; the tier never parses or transforms a trajectory in memory</a:t>
            </a:r>
          </a:p>
          <a:p>
            <a:pPr>
              <a:lnSpc>
                <a:spcPct val="106000"/>
              </a:lnSpc>
              <a:spcBef>
                <a:spcPts val="0"/>
              </a:spcBef>
              <a:spcAft>
                <a:spcPts val="1200"/>
              </a:spcAft>
            </a:pPr>
            <a:r>
              <a:rPr sz="1400" b="1">
                <a:solidFill>
                  <a:srgbClr val="156082"/>
                </a:solidFill>
                <a:latin typeface="Calibri"/>
              </a:rPr>
              <a:t>▸  </a:t>
            </a:r>
            <a:r>
              <a:rPr sz="1400" b="1">
                <a:solidFill>
                  <a:srgbClr val="0E2841"/>
                </a:solidFill>
                <a:latin typeface="Calibri"/>
              </a:rPr>
              <a:t>REST for any client:  </a:t>
            </a:r>
            <a:r>
              <a:rPr sz="1400">
                <a:solidFill>
                  <a:srgbClr val="1E2B36"/>
                </a:solidFill>
                <a:latin typeface="Calibri"/>
              </a:rPr>
              <a:t>browsers, mobile, microservices and ETL consume mobility data without SQL or the PostgreSQL wire protocol</a:t>
            </a:r>
          </a:p>
          <a:p>
            <a:pPr>
              <a:lnSpc>
                <a:spcPct val="106000"/>
              </a:lnSpc>
              <a:spcBef>
                <a:spcPts val="0"/>
              </a:spcBef>
              <a:spcAft>
                <a:spcPts val="1200"/>
              </a:spcAft>
            </a:pPr>
            <a:r>
              <a:rPr sz="1400" b="1">
                <a:solidFill>
                  <a:srgbClr val="156082"/>
                </a:solidFill>
                <a:latin typeface="Calibri"/>
              </a:rPr>
              <a:t>▸  </a:t>
            </a:r>
            <a:r>
              <a:rPr sz="1400" b="1">
                <a:solidFill>
                  <a:srgbClr val="0E2841"/>
                </a:solidFill>
                <a:latin typeface="Calibri"/>
              </a:rPr>
              <a:t>Bounded as data grows:  </a:t>
            </a:r>
            <a:r>
              <a:rPr sz="1400">
                <a:solidFill>
                  <a:srgbClr val="1E2B36"/>
                </a:solidFill>
                <a:latin typeface="Calibri"/>
              </a:rPr>
              <a:t>streaming responses, keyset pagination and index-using filters keep memory and paging bounded as collections grow</a:t>
            </a:r>
          </a:p>
        </p:txBody>
      </p:sp>
      <p:sp>
        <p:nvSpPr>
          <p:cNvPr id="6" name="Rounded Rectangle 5"/>
          <p:cNvSpPr/>
          <p:nvPr/>
        </p:nvSpPr>
        <p:spPr>
          <a:xfrm>
            <a:off x="7589520" y="1627632"/>
            <a:ext cx="4069080" cy="3566160"/>
          </a:xfrm>
          <a:prstGeom prst="roundRect">
            <a:avLst>
              <a:gd name="adj" fmla="val 4000"/>
            </a:avLst>
          </a:prstGeom>
          <a:solidFill>
            <a:srgbClr val="F1F5F8"/>
          </a:solidFill>
          <a:ln>
            <a:noFill/>
          </a:ln>
          <a:effectLst/>
        </p:spPr>
        <p:txBody>
          <a:bodyPr rtlCol="0" anchor="ctr"/>
          <a:lstStyle/>
          <a:p>
            <a:pPr algn="ctr"/>
            <a:endParaRPr/>
          </a:p>
        </p:txBody>
      </p:sp>
      <p:sp>
        <p:nvSpPr>
          <p:cNvPr id="7" name="TextBox 6"/>
          <p:cNvSpPr txBox="1"/>
          <p:nvPr/>
        </p:nvSpPr>
        <p:spPr>
          <a:xfrm>
            <a:off x="7863840" y="1773936"/>
            <a:ext cx="3520440"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REQUEST FLOW</a:t>
            </a:r>
          </a:p>
        </p:txBody>
      </p:sp>
      <p:sp>
        <p:nvSpPr>
          <p:cNvPr id="8" name="Rounded Rectangle 7"/>
          <p:cNvSpPr/>
          <p:nvPr/>
        </p:nvSpPr>
        <p:spPr>
          <a:xfrm>
            <a:off x="7909560" y="2121408"/>
            <a:ext cx="1057655" cy="457200"/>
          </a:xfrm>
          <a:prstGeom prst="roundRect">
            <a:avLst>
              <a:gd name="adj" fmla="val 12000"/>
            </a:avLst>
          </a:prstGeom>
          <a:solidFill>
            <a:srgbClr val="FFFFFF"/>
          </a:solidFill>
          <a:ln w="19050">
            <a:solidFill>
              <a:srgbClr val="0E2841"/>
            </a:solidFill>
          </a:ln>
          <a:effectLst/>
        </p:spPr>
        <p:txBody>
          <a:bodyPr rtlCol="0" anchor="ctr"/>
          <a:lstStyle/>
          <a:p>
            <a:pPr algn="ctr"/>
            <a:endParaRPr/>
          </a:p>
        </p:txBody>
      </p:sp>
      <p:sp>
        <p:nvSpPr>
          <p:cNvPr id="9" name="TextBox 8"/>
          <p:cNvSpPr txBox="1"/>
          <p:nvPr/>
        </p:nvSpPr>
        <p:spPr>
          <a:xfrm>
            <a:off x="7909560" y="2231136"/>
            <a:ext cx="1057655" cy="274320"/>
          </a:xfrm>
          <a:prstGeom prst="rect">
            <a:avLst/>
          </a:prstGeom>
          <a:noFill/>
        </p:spPr>
        <p:txBody>
          <a:bodyPr wrap="square" lIns="0" tIns="0" rIns="0" bIns="0" anchor="t">
            <a:noAutofit/>
          </a:bodyPr>
          <a:lstStyle/>
          <a:p>
            <a:pPr algn="ctr">
              <a:spcBef>
                <a:spcPts val="0"/>
              </a:spcBef>
              <a:spcAft>
                <a:spcPts val="200"/>
              </a:spcAft>
            </a:pPr>
            <a:r>
              <a:rPr sz="1200" b="1" i="0">
                <a:solidFill>
                  <a:srgbClr val="0E2841"/>
                </a:solidFill>
                <a:latin typeface="Calibri"/>
              </a:rPr>
              <a:t>Browser</a:t>
            </a:r>
          </a:p>
        </p:txBody>
      </p:sp>
      <p:sp>
        <p:nvSpPr>
          <p:cNvPr id="10" name="Rounded Rectangle 9"/>
          <p:cNvSpPr/>
          <p:nvPr/>
        </p:nvSpPr>
        <p:spPr>
          <a:xfrm>
            <a:off x="9095232" y="2121408"/>
            <a:ext cx="1057655" cy="457200"/>
          </a:xfrm>
          <a:prstGeom prst="roundRect">
            <a:avLst>
              <a:gd name="adj" fmla="val 12000"/>
            </a:avLst>
          </a:prstGeom>
          <a:solidFill>
            <a:srgbClr val="FFFFFF"/>
          </a:solidFill>
          <a:ln w="19050">
            <a:solidFill>
              <a:srgbClr val="0E2841"/>
            </a:solidFill>
          </a:ln>
          <a:effectLst/>
        </p:spPr>
        <p:txBody>
          <a:bodyPr rtlCol="0" anchor="ctr"/>
          <a:lstStyle/>
          <a:p>
            <a:pPr algn="ctr"/>
            <a:endParaRPr/>
          </a:p>
        </p:txBody>
      </p:sp>
      <p:sp>
        <p:nvSpPr>
          <p:cNvPr id="11" name="TextBox 10"/>
          <p:cNvSpPr txBox="1"/>
          <p:nvPr/>
        </p:nvSpPr>
        <p:spPr>
          <a:xfrm>
            <a:off x="9095232" y="2231136"/>
            <a:ext cx="1057655" cy="274320"/>
          </a:xfrm>
          <a:prstGeom prst="rect">
            <a:avLst/>
          </a:prstGeom>
          <a:noFill/>
        </p:spPr>
        <p:txBody>
          <a:bodyPr wrap="square" lIns="0" tIns="0" rIns="0" bIns="0" anchor="t">
            <a:noAutofit/>
          </a:bodyPr>
          <a:lstStyle/>
          <a:p>
            <a:pPr algn="ctr">
              <a:spcBef>
                <a:spcPts val="0"/>
              </a:spcBef>
              <a:spcAft>
                <a:spcPts val="200"/>
              </a:spcAft>
            </a:pPr>
            <a:r>
              <a:rPr sz="1200" b="1" i="0">
                <a:solidFill>
                  <a:srgbClr val="0E2841"/>
                </a:solidFill>
                <a:latin typeface="Calibri"/>
              </a:rPr>
              <a:t>Mobile</a:t>
            </a:r>
          </a:p>
        </p:txBody>
      </p:sp>
      <p:sp>
        <p:nvSpPr>
          <p:cNvPr id="12" name="Rounded Rectangle 11"/>
          <p:cNvSpPr/>
          <p:nvPr/>
        </p:nvSpPr>
        <p:spPr>
          <a:xfrm>
            <a:off x="10280903" y="2121408"/>
            <a:ext cx="1057655" cy="457200"/>
          </a:xfrm>
          <a:prstGeom prst="roundRect">
            <a:avLst>
              <a:gd name="adj" fmla="val 12000"/>
            </a:avLst>
          </a:prstGeom>
          <a:solidFill>
            <a:srgbClr val="FFFFFF"/>
          </a:solidFill>
          <a:ln w="19050">
            <a:solidFill>
              <a:srgbClr val="0E2841"/>
            </a:solidFill>
          </a:ln>
          <a:effectLst/>
        </p:spPr>
        <p:txBody>
          <a:bodyPr rtlCol="0" anchor="ctr"/>
          <a:lstStyle/>
          <a:p>
            <a:pPr algn="ctr"/>
            <a:endParaRPr/>
          </a:p>
        </p:txBody>
      </p:sp>
      <p:sp>
        <p:nvSpPr>
          <p:cNvPr id="13" name="TextBox 12"/>
          <p:cNvSpPr txBox="1"/>
          <p:nvPr/>
        </p:nvSpPr>
        <p:spPr>
          <a:xfrm>
            <a:off x="10280903" y="2231136"/>
            <a:ext cx="1057655" cy="274320"/>
          </a:xfrm>
          <a:prstGeom prst="rect">
            <a:avLst/>
          </a:prstGeom>
          <a:noFill/>
        </p:spPr>
        <p:txBody>
          <a:bodyPr wrap="square" lIns="0" tIns="0" rIns="0" bIns="0" anchor="t">
            <a:noAutofit/>
          </a:bodyPr>
          <a:lstStyle/>
          <a:p>
            <a:pPr algn="ctr">
              <a:spcBef>
                <a:spcPts val="0"/>
              </a:spcBef>
              <a:spcAft>
                <a:spcPts val="200"/>
              </a:spcAft>
            </a:pPr>
            <a:r>
              <a:rPr sz="1200" b="1" i="0">
                <a:solidFill>
                  <a:srgbClr val="0E2841"/>
                </a:solidFill>
                <a:latin typeface="Calibri"/>
              </a:rPr>
              <a:t>ETL / lake</a:t>
            </a:r>
          </a:p>
        </p:txBody>
      </p:sp>
      <p:sp>
        <p:nvSpPr>
          <p:cNvPr id="14" name="TextBox 13"/>
          <p:cNvSpPr txBox="1"/>
          <p:nvPr/>
        </p:nvSpPr>
        <p:spPr>
          <a:xfrm>
            <a:off x="7909560" y="2615184"/>
            <a:ext cx="3429000" cy="219456"/>
          </a:xfrm>
          <a:prstGeom prst="rect">
            <a:avLst/>
          </a:prstGeom>
          <a:noFill/>
        </p:spPr>
        <p:txBody>
          <a:bodyPr wrap="square" lIns="0" tIns="0" rIns="0" bIns="0" anchor="t">
            <a:noAutofit/>
          </a:bodyPr>
          <a:lstStyle/>
          <a:p>
            <a:pPr algn="ctr">
              <a:spcBef>
                <a:spcPts val="0"/>
              </a:spcBef>
              <a:spcAft>
                <a:spcPts val="200"/>
              </a:spcAft>
            </a:pPr>
            <a:r>
              <a:rPr sz="1200" b="1" i="0">
                <a:solidFill>
                  <a:srgbClr val="156082"/>
                </a:solidFill>
                <a:latin typeface="Calibri"/>
              </a:rPr>
              <a:t>▼  HTTP</a:t>
            </a:r>
          </a:p>
        </p:txBody>
      </p:sp>
      <p:sp>
        <p:nvSpPr>
          <p:cNvPr id="15" name="TextBox 14"/>
          <p:cNvSpPr txBox="1"/>
          <p:nvPr/>
        </p:nvSpPr>
        <p:spPr>
          <a:xfrm>
            <a:off x="7909560" y="2825496"/>
            <a:ext cx="3429000" cy="201168"/>
          </a:xfrm>
          <a:prstGeom prst="rect">
            <a:avLst/>
          </a:prstGeom>
          <a:noFill/>
        </p:spPr>
        <p:txBody>
          <a:bodyPr wrap="square" lIns="0" tIns="0" rIns="0" bIns="0" anchor="t">
            <a:noAutofit/>
          </a:bodyPr>
          <a:lstStyle/>
          <a:p>
            <a:pPr algn="ctr">
              <a:spcBef>
                <a:spcPts val="0"/>
              </a:spcBef>
              <a:spcAft>
                <a:spcPts val="200"/>
              </a:spcAft>
            </a:pPr>
            <a:r>
              <a:rPr sz="1200" b="0" i="0">
                <a:solidFill>
                  <a:srgbClr val="5B6B78"/>
                </a:solidFill>
                <a:latin typeface="Consolas"/>
              </a:rPr>
              <a:t>OGC API – Moving Features · MF-JSON</a:t>
            </a:r>
          </a:p>
        </p:txBody>
      </p:sp>
      <p:sp>
        <p:nvSpPr>
          <p:cNvPr id="16" name="Rounded Rectangle 15"/>
          <p:cNvSpPr/>
          <p:nvPr/>
        </p:nvSpPr>
        <p:spPr>
          <a:xfrm>
            <a:off x="7909560" y="3108960"/>
            <a:ext cx="3429000" cy="603504"/>
          </a:xfrm>
          <a:prstGeom prst="roundRect">
            <a:avLst>
              <a:gd name="adj" fmla="val 12000"/>
            </a:avLst>
          </a:prstGeom>
          <a:solidFill>
            <a:srgbClr val="FFFFFF"/>
          </a:solidFill>
          <a:ln w="19050">
            <a:solidFill>
              <a:srgbClr val="0E2841"/>
            </a:solidFill>
          </a:ln>
          <a:effectLst/>
        </p:spPr>
        <p:txBody>
          <a:bodyPr rtlCol="0" anchor="ctr"/>
          <a:lstStyle/>
          <a:p>
            <a:pPr algn="ctr"/>
            <a:endParaRPr/>
          </a:p>
        </p:txBody>
      </p:sp>
      <p:sp>
        <p:nvSpPr>
          <p:cNvPr id="17" name="TextBox 16"/>
          <p:cNvSpPr txBox="1"/>
          <p:nvPr/>
        </p:nvSpPr>
        <p:spPr>
          <a:xfrm>
            <a:off x="8092440" y="3191256"/>
            <a:ext cx="3063240" cy="274320"/>
          </a:xfrm>
          <a:prstGeom prst="rect">
            <a:avLst/>
          </a:prstGeom>
          <a:noFill/>
        </p:spPr>
        <p:txBody>
          <a:bodyPr wrap="square" lIns="0" tIns="0" rIns="0" bIns="0" anchor="t">
            <a:noAutofit/>
          </a:bodyPr>
          <a:lstStyle/>
          <a:p>
            <a:pPr algn="l">
              <a:spcBef>
                <a:spcPts val="0"/>
              </a:spcBef>
              <a:spcAft>
                <a:spcPts val="200"/>
              </a:spcAft>
            </a:pPr>
            <a:r>
              <a:rPr sz="1400" b="1" i="0">
                <a:solidFill>
                  <a:srgbClr val="156082"/>
                </a:solidFill>
                <a:latin typeface="Calibri"/>
              </a:rPr>
              <a:t>MobilityAPI (Go)</a:t>
            </a:r>
          </a:p>
        </p:txBody>
      </p:sp>
      <p:sp>
        <p:nvSpPr>
          <p:cNvPr id="18" name="TextBox 17"/>
          <p:cNvSpPr txBox="1"/>
          <p:nvPr/>
        </p:nvSpPr>
        <p:spPr>
          <a:xfrm>
            <a:off x="8092440" y="3456432"/>
            <a:ext cx="3063240" cy="22860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onsolas"/>
              </a:rPr>
              <a:t>net/http + pgxpool</a:t>
            </a:r>
          </a:p>
        </p:txBody>
      </p:sp>
      <p:sp>
        <p:nvSpPr>
          <p:cNvPr id="19" name="TextBox 18"/>
          <p:cNvSpPr txBox="1"/>
          <p:nvPr/>
        </p:nvSpPr>
        <p:spPr>
          <a:xfrm>
            <a:off x="7909560" y="3749040"/>
            <a:ext cx="3429000" cy="219456"/>
          </a:xfrm>
          <a:prstGeom prst="rect">
            <a:avLst/>
          </a:prstGeom>
          <a:noFill/>
        </p:spPr>
        <p:txBody>
          <a:bodyPr wrap="square" lIns="0" tIns="0" rIns="0" bIns="0" anchor="t">
            <a:noAutofit/>
          </a:bodyPr>
          <a:lstStyle/>
          <a:p>
            <a:pPr algn="ctr">
              <a:spcBef>
                <a:spcPts val="0"/>
              </a:spcBef>
              <a:spcAft>
                <a:spcPts val="200"/>
              </a:spcAft>
            </a:pPr>
            <a:r>
              <a:rPr sz="1200" b="1" i="0">
                <a:solidFill>
                  <a:srgbClr val="E97132"/>
                </a:solidFill>
                <a:latin typeface="Calibri"/>
              </a:rPr>
              <a:t>▼  SQL</a:t>
            </a:r>
          </a:p>
        </p:txBody>
      </p:sp>
      <p:sp>
        <p:nvSpPr>
          <p:cNvPr id="20" name="TextBox 19"/>
          <p:cNvSpPr txBox="1"/>
          <p:nvPr/>
        </p:nvSpPr>
        <p:spPr>
          <a:xfrm>
            <a:off x="7909560" y="3959352"/>
            <a:ext cx="3429000" cy="201168"/>
          </a:xfrm>
          <a:prstGeom prst="rect">
            <a:avLst/>
          </a:prstGeom>
          <a:noFill/>
        </p:spPr>
        <p:txBody>
          <a:bodyPr wrap="square" lIns="0" tIns="0" rIns="0" bIns="0" anchor="t">
            <a:noAutofit/>
          </a:bodyPr>
          <a:lstStyle/>
          <a:p>
            <a:pPr algn="ctr">
              <a:spcBef>
                <a:spcPts val="0"/>
              </a:spcBef>
              <a:spcAft>
                <a:spcPts val="200"/>
              </a:spcAft>
            </a:pPr>
            <a:r>
              <a:rPr sz="1200" b="0" i="0">
                <a:solidFill>
                  <a:srgbClr val="5B6B78"/>
                </a:solidFill>
                <a:latin typeface="Consolas"/>
              </a:rPr>
              <a:t>PostgreSQL wire · pgx</a:t>
            </a:r>
          </a:p>
        </p:txBody>
      </p:sp>
      <p:sp>
        <p:nvSpPr>
          <p:cNvPr id="21" name="Rounded Rectangle 20"/>
          <p:cNvSpPr/>
          <p:nvPr/>
        </p:nvSpPr>
        <p:spPr>
          <a:xfrm>
            <a:off x="7909560" y="4242816"/>
            <a:ext cx="3429000" cy="621792"/>
          </a:xfrm>
          <a:prstGeom prst="roundRect">
            <a:avLst>
              <a:gd name="adj" fmla="val 12000"/>
            </a:avLst>
          </a:prstGeom>
          <a:solidFill>
            <a:srgbClr val="FFFFFF"/>
          </a:solidFill>
          <a:ln w="19050">
            <a:solidFill>
              <a:srgbClr val="0E2841"/>
            </a:solidFill>
          </a:ln>
          <a:effectLst/>
        </p:spPr>
        <p:txBody>
          <a:bodyPr rtlCol="0" anchor="ctr"/>
          <a:lstStyle/>
          <a:p>
            <a:pPr algn="ctr"/>
            <a:endParaRPr/>
          </a:p>
        </p:txBody>
      </p:sp>
      <p:sp>
        <p:nvSpPr>
          <p:cNvPr id="22" name="TextBox 21"/>
          <p:cNvSpPr txBox="1"/>
          <p:nvPr/>
        </p:nvSpPr>
        <p:spPr>
          <a:xfrm>
            <a:off x="8092440" y="4334256"/>
            <a:ext cx="3063240" cy="274320"/>
          </a:xfrm>
          <a:prstGeom prst="rect">
            <a:avLst/>
          </a:prstGeom>
          <a:noFill/>
        </p:spPr>
        <p:txBody>
          <a:bodyPr wrap="square" lIns="0" tIns="0" rIns="0" bIns="0" anchor="t">
            <a:noAutofit/>
          </a:bodyPr>
          <a:lstStyle/>
          <a:p>
            <a:pPr algn="l">
              <a:spcBef>
                <a:spcPts val="0"/>
              </a:spcBef>
              <a:spcAft>
                <a:spcPts val="200"/>
              </a:spcAft>
            </a:pPr>
            <a:r>
              <a:rPr sz="1200" b="1" i="0">
                <a:solidFill>
                  <a:srgbClr val="0E2841"/>
                </a:solidFill>
                <a:latin typeface="Calibri"/>
              </a:rPr>
              <a:t>MobilityDB / PostgreSQL</a:t>
            </a:r>
          </a:p>
        </p:txBody>
      </p:sp>
      <p:sp>
        <p:nvSpPr>
          <p:cNvPr id="23" name="TextBox 22"/>
          <p:cNvSpPr txBox="1"/>
          <p:nvPr/>
        </p:nvSpPr>
        <p:spPr>
          <a:xfrm>
            <a:off x="8092440" y="4599432"/>
            <a:ext cx="3063240" cy="22860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onsolas"/>
              </a:rPr>
              <a:t>tgeompoint · STBOX · TSTZSPAN</a:t>
            </a:r>
          </a:p>
        </p:txBody>
      </p:sp>
      <p:sp>
        <p:nvSpPr>
          <p:cNvPr id="24" name="Rectangle 23"/>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26" name="TextBox 25"/>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ARCHITECTURE</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Where the Work Happens</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572768"/>
            <a:ext cx="5346039" cy="274320"/>
          </a:xfrm>
          <a:prstGeom prst="rect">
            <a:avLst/>
          </a:prstGeom>
          <a:noFill/>
        </p:spPr>
        <p:txBody>
          <a:bodyPr wrap="square" lIns="0" tIns="0" rIns="0" bIns="0" anchor="t">
            <a:noAutofit/>
          </a:bodyPr>
          <a:lstStyle/>
          <a:p>
            <a:pPr algn="l">
              <a:spcBef>
                <a:spcPts val="0"/>
              </a:spcBef>
              <a:spcAft>
                <a:spcPts val="200"/>
              </a:spcAft>
            </a:pPr>
            <a:r>
              <a:rPr sz="1400" b="1" i="0">
                <a:solidFill>
                  <a:srgbClr val="156082"/>
                </a:solidFill>
                <a:latin typeface="Calibri"/>
              </a:rPr>
              <a:t>In the tier (Go)</a:t>
            </a:r>
          </a:p>
        </p:txBody>
      </p:sp>
      <p:sp>
        <p:nvSpPr>
          <p:cNvPr id="6" name="TextBox 5"/>
          <p:cNvSpPr txBox="1"/>
          <p:nvPr/>
        </p:nvSpPr>
        <p:spPr>
          <a:xfrm>
            <a:off x="566928" y="1920240"/>
            <a:ext cx="5346039" cy="2377440"/>
          </a:xfrm>
          <a:prstGeom prst="rect">
            <a:avLst/>
          </a:prstGeom>
          <a:noFill/>
        </p:spPr>
        <p:txBody>
          <a:bodyPr wrap="square" lIns="0" tIns="0" rIns="0" bIns="0">
            <a:noAutofit/>
          </a:bodyPr>
          <a:lstStyle/>
          <a:p>
            <a:pPr>
              <a:lnSpc>
                <a:spcPct val="106000"/>
              </a:lnSpc>
              <a:spcBef>
                <a:spcPts val="0"/>
              </a:spcBef>
              <a:spcAft>
                <a:spcPts val="900"/>
              </a:spcAft>
            </a:pPr>
            <a:r>
              <a:rPr sz="1400" b="1">
                <a:solidFill>
                  <a:srgbClr val="156082"/>
                </a:solidFill>
                <a:latin typeface="Calibri"/>
              </a:rPr>
              <a:t>▸  </a:t>
            </a:r>
            <a:r>
              <a:rPr sz="1400" b="1">
                <a:solidFill>
                  <a:srgbClr val="0E2841"/>
                </a:solidFill>
                <a:latin typeface="Calibri"/>
              </a:rPr>
              <a:t>Routing:  </a:t>
            </a:r>
            <a:r>
              <a:rPr sz="1400">
                <a:solidFill>
                  <a:srgbClr val="1E2B36"/>
                </a:solidFill>
                <a:latin typeface="Calibri"/>
              </a:rPr>
              <a:t>net/http with the Go 1.22 pattern mux; one handler per OGC resource</a:t>
            </a:r>
          </a:p>
          <a:p>
            <a:pPr>
              <a:lnSpc>
                <a:spcPct val="106000"/>
              </a:lnSpc>
              <a:spcBef>
                <a:spcPts val="0"/>
              </a:spcBef>
              <a:spcAft>
                <a:spcPts val="900"/>
              </a:spcAft>
            </a:pPr>
            <a:r>
              <a:rPr sz="1400" b="1">
                <a:solidFill>
                  <a:srgbClr val="156082"/>
                </a:solidFill>
                <a:latin typeface="Calibri"/>
              </a:rPr>
              <a:t>▸  </a:t>
            </a:r>
            <a:r>
              <a:rPr sz="1400" b="1">
                <a:solidFill>
                  <a:srgbClr val="0E2841"/>
                </a:solidFill>
                <a:latin typeface="Calibri"/>
              </a:rPr>
              <a:t>Pooling:  </a:t>
            </a:r>
            <a:r>
              <a:rPr sz="1400">
                <a:solidFill>
                  <a:srgbClr val="1E2B36"/>
                </a:solidFill>
                <a:latin typeface="Calibri"/>
              </a:rPr>
              <a:t>a pgx pool multiplexes requests onto a bounded set of database connections</a:t>
            </a:r>
          </a:p>
          <a:p>
            <a:pPr>
              <a:lnSpc>
                <a:spcPct val="106000"/>
              </a:lnSpc>
              <a:spcBef>
                <a:spcPts val="0"/>
              </a:spcBef>
              <a:spcAft>
                <a:spcPts val="900"/>
              </a:spcAft>
            </a:pPr>
            <a:r>
              <a:rPr sz="1400" b="1">
                <a:solidFill>
                  <a:srgbClr val="156082"/>
                </a:solidFill>
                <a:latin typeface="Calibri"/>
              </a:rPr>
              <a:t>▸  </a:t>
            </a:r>
            <a:r>
              <a:rPr sz="1400" b="1">
                <a:solidFill>
                  <a:srgbClr val="0E2841"/>
                </a:solidFill>
                <a:latin typeface="Calibri"/>
              </a:rPr>
              <a:t>Adapter:  </a:t>
            </a:r>
            <a:r>
              <a:rPr sz="1400">
                <a:solidFill>
                  <a:srgbClr val="1E2B36"/>
                </a:solidFill>
                <a:latin typeface="Calibri"/>
              </a:rPr>
              <a:t>crs URN to EPSG and interpolation Stepwise to Step, roughly fifty lines</a:t>
            </a:r>
          </a:p>
          <a:p>
            <a:pPr>
              <a:lnSpc>
                <a:spcPct val="106000"/>
              </a:lnSpc>
              <a:spcBef>
                <a:spcPts val="0"/>
              </a:spcBef>
              <a:spcAft>
                <a:spcPts val="900"/>
              </a:spcAft>
            </a:pPr>
            <a:r>
              <a:rPr sz="1400" b="1">
                <a:solidFill>
                  <a:srgbClr val="156082"/>
                </a:solidFill>
                <a:latin typeface="Calibri"/>
              </a:rPr>
              <a:t>▸  </a:t>
            </a:r>
            <a:r>
              <a:rPr sz="1400" b="1">
                <a:solidFill>
                  <a:srgbClr val="0E2841"/>
                </a:solidFill>
                <a:latin typeface="Calibri"/>
              </a:rPr>
              <a:t>Streaming:  </a:t>
            </a:r>
            <a:r>
              <a:rPr sz="1400">
                <a:solidFill>
                  <a:srgbClr val="1E2B36"/>
                </a:solidFill>
                <a:latin typeface="Calibri"/>
              </a:rPr>
              <a:t>responses are written row by row from a server-side cursor</a:t>
            </a:r>
          </a:p>
        </p:txBody>
      </p:sp>
      <p:sp>
        <p:nvSpPr>
          <p:cNvPr id="7" name="TextBox 6"/>
          <p:cNvSpPr txBox="1"/>
          <p:nvPr/>
        </p:nvSpPr>
        <p:spPr>
          <a:xfrm>
            <a:off x="6278727" y="1572768"/>
            <a:ext cx="5346039" cy="274320"/>
          </a:xfrm>
          <a:prstGeom prst="rect">
            <a:avLst/>
          </a:prstGeom>
          <a:noFill/>
        </p:spPr>
        <p:txBody>
          <a:bodyPr wrap="square" lIns="0" tIns="0" rIns="0" bIns="0" anchor="t">
            <a:noAutofit/>
          </a:bodyPr>
          <a:lstStyle/>
          <a:p>
            <a:pPr algn="l">
              <a:spcBef>
                <a:spcPts val="0"/>
              </a:spcBef>
              <a:spcAft>
                <a:spcPts val="200"/>
              </a:spcAft>
            </a:pPr>
            <a:r>
              <a:rPr sz="1400" b="1" i="0">
                <a:solidFill>
                  <a:srgbClr val="E97132"/>
                </a:solidFill>
                <a:latin typeface="Calibri"/>
              </a:rPr>
              <a:t>In the database (MobilityDB)</a:t>
            </a:r>
          </a:p>
        </p:txBody>
      </p:sp>
      <p:sp>
        <p:nvSpPr>
          <p:cNvPr id="8" name="TextBox 7"/>
          <p:cNvSpPr txBox="1"/>
          <p:nvPr/>
        </p:nvSpPr>
        <p:spPr>
          <a:xfrm>
            <a:off x="6278727" y="1920240"/>
            <a:ext cx="5346039" cy="2377440"/>
          </a:xfrm>
          <a:prstGeom prst="rect">
            <a:avLst/>
          </a:prstGeom>
          <a:noFill/>
        </p:spPr>
        <p:txBody>
          <a:bodyPr wrap="square" lIns="0" tIns="0" rIns="0" bIns="0">
            <a:noAutofit/>
          </a:bodyPr>
          <a:lstStyle/>
          <a:p>
            <a:pPr>
              <a:lnSpc>
                <a:spcPct val="106000"/>
              </a:lnSpc>
              <a:spcBef>
                <a:spcPts val="0"/>
              </a:spcBef>
              <a:spcAft>
                <a:spcPts val="900"/>
              </a:spcAft>
            </a:pPr>
            <a:r>
              <a:rPr sz="1400" b="1">
                <a:solidFill>
                  <a:srgbClr val="E97132"/>
                </a:solidFill>
                <a:latin typeface="Calibri"/>
              </a:rPr>
              <a:t>▸  </a:t>
            </a:r>
            <a:r>
              <a:rPr sz="1400" b="1">
                <a:solidFill>
                  <a:srgbClr val="0E2841"/>
                </a:solidFill>
                <a:latin typeface="Calibri"/>
              </a:rPr>
              <a:t>Reads:  </a:t>
            </a:r>
            <a:r>
              <a:rPr sz="1400">
                <a:solidFill>
                  <a:srgbClr val="1E2B36"/>
                </a:solidFill>
                <a:latin typeface="Calibri"/>
              </a:rPr>
              <a:t>asMFJSON assembles MovingFeaturesJSON in SQL; the tier streams the text</a:t>
            </a:r>
          </a:p>
          <a:p>
            <a:pPr>
              <a:lnSpc>
                <a:spcPct val="106000"/>
              </a:lnSpc>
              <a:spcBef>
                <a:spcPts val="0"/>
              </a:spcBef>
              <a:spcAft>
                <a:spcPts val="900"/>
              </a:spcAft>
            </a:pPr>
            <a:r>
              <a:rPr sz="1400" b="1">
                <a:solidFill>
                  <a:srgbClr val="E97132"/>
                </a:solidFill>
                <a:latin typeface="Calibri"/>
              </a:rPr>
              <a:t>▸  </a:t>
            </a:r>
            <a:r>
              <a:rPr sz="1400" b="1">
                <a:solidFill>
                  <a:srgbClr val="0E2841"/>
                </a:solidFill>
                <a:latin typeface="Calibri"/>
              </a:rPr>
              <a:t>Writes:  </a:t>
            </a:r>
            <a:r>
              <a:rPr sz="1400">
                <a:solidFill>
                  <a:srgbClr val="1E2B36"/>
                </a:solidFill>
                <a:latin typeface="Calibri"/>
              </a:rPr>
              <a:t>tgeompointFromMFJSON parses the payload into a tgeompoint</a:t>
            </a:r>
          </a:p>
          <a:p>
            <a:pPr>
              <a:lnSpc>
                <a:spcPct val="106000"/>
              </a:lnSpc>
              <a:spcBef>
                <a:spcPts val="0"/>
              </a:spcBef>
              <a:spcAft>
                <a:spcPts val="900"/>
              </a:spcAft>
            </a:pPr>
            <a:r>
              <a:rPr sz="1400" b="1">
                <a:solidFill>
                  <a:srgbClr val="E97132"/>
                </a:solidFill>
                <a:latin typeface="Calibri"/>
              </a:rPr>
              <a:t>▸  </a:t>
            </a:r>
            <a:r>
              <a:rPr sz="1400" b="1">
                <a:solidFill>
                  <a:srgbClr val="0E2841"/>
                </a:solidFill>
                <a:latin typeface="Calibri"/>
              </a:rPr>
              <a:t>Filters:  </a:t>
            </a:r>
            <a:r>
              <a:rPr sz="1400">
                <a:solidFill>
                  <a:srgbClr val="1E2B36"/>
                </a:solidFill>
                <a:latin typeface="Calibri"/>
              </a:rPr>
              <a:t>bbox and datetime push to the GiST index; atTime clips</a:t>
            </a:r>
          </a:p>
          <a:p>
            <a:pPr>
              <a:lnSpc>
                <a:spcPct val="106000"/>
              </a:lnSpc>
              <a:spcBef>
                <a:spcPts val="0"/>
              </a:spcBef>
              <a:spcAft>
                <a:spcPts val="900"/>
              </a:spcAft>
            </a:pPr>
            <a:r>
              <a:rPr sz="1400" b="1">
                <a:solidFill>
                  <a:srgbClr val="E97132"/>
                </a:solidFill>
                <a:latin typeface="Calibri"/>
              </a:rPr>
              <a:t>▸  </a:t>
            </a:r>
            <a:r>
              <a:rPr sz="1400" b="1">
                <a:solidFill>
                  <a:srgbClr val="0E2841"/>
                </a:solidFill>
                <a:latin typeface="Calibri"/>
              </a:rPr>
              <a:t>Measures:  </a:t>
            </a:r>
            <a:r>
              <a:rPr sz="1400">
                <a:solidFill>
                  <a:srgbClr val="1E2B36"/>
                </a:solidFill>
                <a:latin typeface="Calibri"/>
              </a:rPr>
              <a:t>speed, cumulativeLength and azimuth compute the derived properties</a:t>
            </a:r>
          </a:p>
        </p:txBody>
      </p:sp>
      <p:sp>
        <p:nvSpPr>
          <p:cNvPr id="9" name="Rounded Rectangle 8"/>
          <p:cNvSpPr/>
          <p:nvPr/>
        </p:nvSpPr>
        <p:spPr>
          <a:xfrm>
            <a:off x="566928" y="4572000"/>
            <a:ext cx="11057839" cy="155448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41247" y="4681728"/>
            <a:ext cx="5486400" cy="320040"/>
          </a:xfrm>
          <a:prstGeom prst="rect">
            <a:avLst/>
          </a:prstGeom>
          <a:noFill/>
        </p:spPr>
        <p:txBody>
          <a:bodyPr wrap="square" lIns="0" tIns="0" rIns="0" bIns="0" anchor="t">
            <a:noAutofit/>
          </a:bodyPr>
          <a:lstStyle/>
          <a:p>
            <a:pPr algn="l">
              <a:spcBef>
                <a:spcPts val="0"/>
              </a:spcBef>
              <a:spcAft>
                <a:spcPts val="200"/>
              </a:spcAft>
            </a:pPr>
            <a:r>
              <a:rPr sz="1400" b="1" i="0">
                <a:solidFill>
                  <a:srgbClr val="156082"/>
                </a:solidFill>
                <a:latin typeface="Calibri"/>
              </a:rPr>
              <a:t>No MEOS in the tier</a:t>
            </a:r>
          </a:p>
        </p:txBody>
      </p:sp>
      <p:sp>
        <p:nvSpPr>
          <p:cNvPr id="11" name="TextBox 10"/>
          <p:cNvSpPr txBox="1"/>
          <p:nvPr/>
        </p:nvSpPr>
        <p:spPr>
          <a:xfrm>
            <a:off x="841247" y="4992624"/>
            <a:ext cx="10509199" cy="1051560"/>
          </a:xfrm>
          <a:prstGeom prst="rect">
            <a:avLst/>
          </a:prstGeom>
          <a:noFill/>
        </p:spPr>
        <p:txBody>
          <a:bodyPr wrap="square" lIns="0" tIns="0" rIns="0" bIns="0">
            <a:noAutofit/>
          </a:bodyPr>
          <a:lstStyle/>
          <a:p>
            <a:pPr>
              <a:lnSpc>
                <a:spcPct val="106000"/>
              </a:lnSpc>
              <a:spcBef>
                <a:spcPts val="0"/>
              </a:spcBef>
              <a:spcAft>
                <a:spcPts val="400"/>
              </a:spcAft>
            </a:pPr>
            <a:r>
              <a:rPr sz="1200" b="1">
                <a:solidFill>
                  <a:srgbClr val="156082"/>
                </a:solidFill>
                <a:latin typeface="Calibri"/>
              </a:rPr>
              <a:t>▸  </a:t>
            </a:r>
            <a:r>
              <a:rPr sz="1200">
                <a:solidFill>
                  <a:srgbClr val="1E2B36"/>
                </a:solidFill>
                <a:latin typeface="Calibri"/>
              </a:rPr>
              <a:t>The trajectory is never materialised or parsed in the tier</a:t>
            </a:r>
          </a:p>
          <a:p>
            <a:pPr>
              <a:lnSpc>
                <a:spcPct val="106000"/>
              </a:lnSpc>
              <a:spcBef>
                <a:spcPts val="0"/>
              </a:spcBef>
              <a:spcAft>
                <a:spcPts val="400"/>
              </a:spcAft>
            </a:pPr>
            <a:r>
              <a:rPr sz="1200" b="1">
                <a:solidFill>
                  <a:srgbClr val="156082"/>
                </a:solidFill>
                <a:latin typeface="Calibri"/>
              </a:rPr>
              <a:t>▸  </a:t>
            </a:r>
            <a:r>
              <a:rPr sz="1200">
                <a:solidFill>
                  <a:srgbClr val="1E2B36"/>
                </a:solidFill>
                <a:latin typeface="Calibri"/>
              </a:rPr>
              <a:t>It travels as MF-JSON text on the way out, MovingFeaturesJSON on the way in</a:t>
            </a:r>
          </a:p>
          <a:p>
            <a:pPr>
              <a:lnSpc>
                <a:spcPct val="106000"/>
              </a:lnSpc>
              <a:spcBef>
                <a:spcPts val="0"/>
              </a:spcBef>
              <a:spcAft>
                <a:spcPts val="400"/>
              </a:spcAft>
            </a:pPr>
            <a:r>
              <a:rPr sz="1200" b="1">
                <a:solidFill>
                  <a:srgbClr val="156082"/>
                </a:solidFill>
                <a:latin typeface="Calibri"/>
              </a:rPr>
              <a:t>▸  </a:t>
            </a:r>
            <a:r>
              <a:rPr sz="1200">
                <a:solidFill>
                  <a:srgbClr val="1E2B36"/>
                </a:solidFill>
                <a:latin typeface="Calibri"/>
              </a:rPr>
              <a:t>MobilityDB does the parsing, the geometry algebra and the temporal computations</a:t>
            </a:r>
          </a:p>
          <a:p>
            <a:pPr>
              <a:lnSpc>
                <a:spcPct val="106000"/>
              </a:lnSpc>
              <a:spcBef>
                <a:spcPts val="0"/>
              </a:spcBef>
              <a:spcAft>
                <a:spcPts val="400"/>
              </a:spcAft>
            </a:pPr>
            <a:r>
              <a:rPr sz="1200" b="1">
                <a:solidFill>
                  <a:srgbClr val="156082"/>
                </a:solidFill>
                <a:latin typeface="Calibri"/>
              </a:rPr>
              <a:t>▸  </a:t>
            </a:r>
            <a:r>
              <a:rPr sz="1200">
                <a:solidFill>
                  <a:srgbClr val="1E2B36"/>
                </a:solidFill>
                <a:latin typeface="Calibri"/>
              </a:rPr>
              <a:t>A single static binary, no cgo dependency</a:t>
            </a:r>
          </a:p>
        </p:txBody>
      </p:sp>
      <p:sp>
        <p:nvSpPr>
          <p:cNvPr id="12" name="Rectangle 11"/>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4" name="TextBox 13"/>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SAME DATA, TWO INTERFACES</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MobilityDB SQL  vs  MobilityAPI REST</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600200"/>
            <a:ext cx="5346039" cy="274320"/>
          </a:xfrm>
          <a:prstGeom prst="rect">
            <a:avLst/>
          </a:prstGeom>
          <a:noFill/>
        </p:spPr>
        <p:txBody>
          <a:bodyPr wrap="square" lIns="0" tIns="0" rIns="0" bIns="0" anchor="t">
            <a:noAutofit/>
          </a:bodyPr>
          <a:lstStyle/>
          <a:p>
            <a:pPr algn="l">
              <a:spcBef>
                <a:spcPts val="0"/>
              </a:spcBef>
              <a:spcAft>
                <a:spcPts val="200"/>
              </a:spcAft>
            </a:pPr>
            <a:r>
              <a:rPr sz="1400" b="1" i="0">
                <a:solidFill>
                  <a:srgbClr val="156082"/>
                </a:solidFill>
                <a:latin typeface="Calibri"/>
              </a:rPr>
              <a:t>PostgreSQL / MobilityDB</a:t>
            </a:r>
          </a:p>
        </p:txBody>
      </p:sp>
      <p:sp>
        <p:nvSpPr>
          <p:cNvPr id="6" name="Rounded Rectangle 5"/>
          <p:cNvSpPr/>
          <p:nvPr/>
        </p:nvSpPr>
        <p:spPr>
          <a:xfrm>
            <a:off x="566928" y="1920240"/>
            <a:ext cx="5346039" cy="246888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CODEPANEL"/>
          <p:cNvSpPr txBox="1"/>
          <p:nvPr/>
        </p:nvSpPr>
        <p:spPr>
          <a:xfrm>
            <a:off x="694944" y="2011680"/>
            <a:ext cx="5090007" cy="2286000"/>
          </a:xfrm>
          <a:prstGeom prst="rect">
            <a:avLst/>
          </a:prstGeom>
          <a:noFill/>
        </p:spPr>
        <p:txBody>
          <a:bodyPr wrap="square" lIns="0" tIns="0" rIns="0" bIns="0">
            <a:noAutofit/>
          </a:bodyPr>
          <a:lstStyle/>
          <a:p>
            <a:pPr>
              <a:lnSpc>
                <a:spcPct val="102000"/>
              </a:lnSpc>
              <a:spcBef>
                <a:spcPts val="0"/>
              </a:spcBef>
              <a:spcAft>
                <a:spcPts val="0"/>
              </a:spcAft>
            </a:pPr>
            <a:r>
              <a:rPr sz="1200">
                <a:solidFill>
                  <a:srgbClr val="C2D0DA"/>
                </a:solidFill>
                <a:latin typeface="Consolas"/>
              </a:rPr>
              <a:t>INSERT INTO ships (id, mmsi, name, trip)</a:t>
            </a:r>
          </a:p>
          <a:p>
            <a:pPr>
              <a:lnSpc>
                <a:spcPct val="102000"/>
              </a:lnSpc>
              <a:spcBef>
                <a:spcPts val="0"/>
              </a:spcBef>
              <a:spcAft>
                <a:spcPts val="0"/>
              </a:spcAft>
            </a:pPr>
            <a:r>
              <a:rPr sz="1200">
                <a:solidFill>
                  <a:srgbClr val="C2D0DA"/>
                </a:solidFill>
                <a:latin typeface="Consolas"/>
              </a:rPr>
              <a:t>VALUES (</a:t>
            </a:r>
            <a:r>
              <a:rPr sz="1200">
                <a:solidFill>
                  <a:srgbClr val="C9E08A"/>
                </a:solidFill>
                <a:latin typeface="Consolas"/>
              </a:rPr>
              <a:t>205106000</a:t>
            </a:r>
            <a:r>
              <a:rPr sz="1200">
                <a:solidFill>
                  <a:srgbClr val="C2D0DA"/>
                </a:solidFill>
                <a:latin typeface="Consolas"/>
              </a:rPr>
              <a:t>, </a:t>
            </a:r>
            <a:r>
              <a:rPr sz="1200">
                <a:solidFill>
                  <a:srgbClr val="C9E08A"/>
                </a:solidFill>
                <a:latin typeface="Consolas"/>
              </a:rPr>
              <a:t>205106000</a:t>
            </a:r>
            <a:r>
              <a:rPr sz="1200">
                <a:solidFill>
                  <a:srgbClr val="C2D0DA"/>
                </a:solidFill>
                <a:latin typeface="Consolas"/>
              </a:rPr>
              <a:t>, 'MARCUS',</a:t>
            </a:r>
          </a:p>
          <a:p>
            <a:pPr>
              <a:lnSpc>
                <a:spcPct val="102000"/>
              </a:lnSpc>
              <a:spcBef>
                <a:spcPts val="0"/>
              </a:spcBef>
              <a:spcAft>
                <a:spcPts val="0"/>
              </a:spcAft>
            </a:pPr>
            <a:r>
              <a:rPr sz="1200">
                <a:solidFill>
                  <a:srgbClr val="C2D0DA"/>
                </a:solidFill>
                <a:latin typeface="Consolas"/>
              </a:rPr>
              <a:t>  tgeompoint '[</a:t>
            </a:r>
          </a:p>
          <a:p>
            <a:pPr>
              <a:lnSpc>
                <a:spcPct val="102000"/>
              </a:lnSpc>
              <a:spcBef>
                <a:spcPts val="0"/>
              </a:spcBef>
              <a:spcAft>
                <a:spcPts val="0"/>
              </a:spcAft>
            </a:pPr>
            <a:r>
              <a:rPr sz="1200">
                <a:solidFill>
                  <a:srgbClr val="C2D0DA"/>
                </a:solidFill>
                <a:latin typeface="Consolas"/>
              </a:rPr>
              <a:t>    Point(</a:t>
            </a:r>
            <a:r>
              <a:rPr sz="1200">
                <a:solidFill>
                  <a:srgbClr val="C9E08A"/>
                </a:solidFill>
                <a:latin typeface="Consolas"/>
              </a:rPr>
              <a:t>645829</a:t>
            </a:r>
            <a:r>
              <a:rPr sz="1200">
                <a:solidFill>
                  <a:srgbClr val="C2D0DA"/>
                </a:solidFill>
                <a:latin typeface="Consolas"/>
              </a:rPr>
              <a:t> </a:t>
            </a:r>
            <a:r>
              <a:rPr sz="1200">
                <a:solidFill>
                  <a:srgbClr val="C9E08A"/>
                </a:solidFill>
                <a:latin typeface="Consolas"/>
              </a:rPr>
              <a:t>6058110</a:t>
            </a:r>
            <a:r>
              <a:rPr sz="1200">
                <a:solidFill>
                  <a:srgbClr val="C2D0DA"/>
                </a:solidFill>
                <a:latin typeface="Consolas"/>
              </a:rPr>
              <a:t>)@</a:t>
            </a:r>
            <a:r>
              <a:rPr sz="1200">
                <a:solidFill>
                  <a:srgbClr val="C9E08A"/>
                </a:solidFill>
                <a:latin typeface="Consolas"/>
              </a:rPr>
              <a:t>2026-02-26</a:t>
            </a:r>
            <a:r>
              <a:rPr sz="1200">
                <a:solidFill>
                  <a:srgbClr val="C2D0DA"/>
                </a:solidFill>
                <a:latin typeface="Consolas"/>
              </a:rPr>
              <a:t> </a:t>
            </a:r>
            <a:r>
              <a:rPr sz="1200">
                <a:solidFill>
                  <a:srgbClr val="C9E08A"/>
                </a:solidFill>
                <a:latin typeface="Consolas"/>
              </a:rPr>
              <a:t>06</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Point(</a:t>
            </a:r>
            <a:r>
              <a:rPr sz="1200">
                <a:solidFill>
                  <a:srgbClr val="C9E08A"/>
                </a:solidFill>
                <a:latin typeface="Consolas"/>
              </a:rPr>
              <a:t>651280</a:t>
            </a:r>
            <a:r>
              <a:rPr sz="1200">
                <a:solidFill>
                  <a:srgbClr val="C2D0DA"/>
                </a:solidFill>
                <a:latin typeface="Consolas"/>
              </a:rPr>
              <a:t> </a:t>
            </a:r>
            <a:r>
              <a:rPr sz="1200">
                <a:solidFill>
                  <a:srgbClr val="C9E08A"/>
                </a:solidFill>
                <a:latin typeface="Consolas"/>
              </a:rPr>
              <a:t>6058390</a:t>
            </a:r>
            <a:r>
              <a:rPr sz="1200">
                <a:solidFill>
                  <a:srgbClr val="C2D0DA"/>
                </a:solidFill>
                <a:latin typeface="Consolas"/>
              </a:rPr>
              <a:t>)@</a:t>
            </a:r>
            <a:r>
              <a:rPr sz="1200">
                <a:solidFill>
                  <a:srgbClr val="C9E08A"/>
                </a:solidFill>
                <a:latin typeface="Consolas"/>
              </a:rPr>
              <a:t>2026-02-26</a:t>
            </a:r>
            <a:r>
              <a:rPr sz="1200">
                <a:solidFill>
                  <a:srgbClr val="C2D0DA"/>
                </a:solidFill>
                <a:latin typeface="Consolas"/>
              </a:rPr>
              <a:t> </a:t>
            </a:r>
            <a:r>
              <a:rPr sz="1200">
                <a:solidFill>
                  <a:srgbClr val="C9E08A"/>
                </a:solidFill>
                <a:latin typeface="Consolas"/>
              </a:rPr>
              <a:t>06</a:t>
            </a:r>
            <a:r>
              <a:rPr sz="1200">
                <a:solidFill>
                  <a:srgbClr val="C2D0DA"/>
                </a:solidFill>
                <a:latin typeface="Consolas"/>
              </a:rPr>
              <a:t>:</a:t>
            </a:r>
            <a:r>
              <a:rPr sz="1200">
                <a:solidFill>
                  <a:srgbClr val="C9E08A"/>
                </a:solidFill>
                <a:latin typeface="Consolas"/>
              </a:rPr>
              <a:t>25</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Point(</a:t>
            </a:r>
            <a:r>
              <a:rPr sz="1200">
                <a:solidFill>
                  <a:srgbClr val="C9E08A"/>
                </a:solidFill>
                <a:latin typeface="Consolas"/>
              </a:rPr>
              <a:t>656731</a:t>
            </a:r>
            <a:r>
              <a:rPr sz="1200">
                <a:solidFill>
                  <a:srgbClr val="C2D0DA"/>
                </a:solidFill>
                <a:latin typeface="Consolas"/>
              </a:rPr>
              <a:t> </a:t>
            </a:r>
            <a:r>
              <a:rPr sz="1200">
                <a:solidFill>
                  <a:srgbClr val="C9E08A"/>
                </a:solidFill>
                <a:latin typeface="Consolas"/>
              </a:rPr>
              <a:t>6058670</a:t>
            </a:r>
            <a:r>
              <a:rPr sz="1200">
                <a:solidFill>
                  <a:srgbClr val="C2D0DA"/>
                </a:solidFill>
                <a:latin typeface="Consolas"/>
              </a:rPr>
              <a:t>)@</a:t>
            </a:r>
            <a:r>
              <a:rPr sz="1200">
                <a:solidFill>
                  <a:srgbClr val="C9E08A"/>
                </a:solidFill>
                <a:latin typeface="Consolas"/>
              </a:rPr>
              <a:t>2026-02-26</a:t>
            </a:r>
            <a:r>
              <a:rPr sz="1200">
                <a:solidFill>
                  <a:srgbClr val="C2D0DA"/>
                </a:solidFill>
                <a:latin typeface="Consolas"/>
              </a:rPr>
              <a:t> </a:t>
            </a:r>
            <a:r>
              <a:rPr sz="1200">
                <a:solidFill>
                  <a:srgbClr val="C9E08A"/>
                </a:solidFill>
                <a:latin typeface="Consolas"/>
              </a:rPr>
              <a:t>06</a:t>
            </a:r>
            <a:r>
              <a:rPr sz="1200">
                <a:solidFill>
                  <a:srgbClr val="C2D0DA"/>
                </a:solidFill>
                <a:latin typeface="Consolas"/>
              </a:rPr>
              <a:t>:</a:t>
            </a:r>
            <a:r>
              <a:rPr sz="1200">
                <a:solidFill>
                  <a:srgbClr val="C9E08A"/>
                </a:solidFill>
                <a:latin typeface="Consolas"/>
              </a:rPr>
              <a:t>50</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a:t>
            </a:r>
          </a:p>
        </p:txBody>
      </p:sp>
      <p:sp>
        <p:nvSpPr>
          <p:cNvPr id="8" name="TextBox 7"/>
          <p:cNvSpPr txBox="1"/>
          <p:nvPr/>
        </p:nvSpPr>
        <p:spPr>
          <a:xfrm>
            <a:off x="6278727" y="1600200"/>
            <a:ext cx="5346039" cy="274320"/>
          </a:xfrm>
          <a:prstGeom prst="rect">
            <a:avLst/>
          </a:prstGeom>
          <a:noFill/>
        </p:spPr>
        <p:txBody>
          <a:bodyPr wrap="square" lIns="0" tIns="0" rIns="0" bIns="0" anchor="t">
            <a:noAutofit/>
          </a:bodyPr>
          <a:lstStyle/>
          <a:p>
            <a:pPr algn="l">
              <a:spcBef>
                <a:spcPts val="0"/>
              </a:spcBef>
              <a:spcAft>
                <a:spcPts val="200"/>
              </a:spcAft>
            </a:pPr>
            <a:r>
              <a:rPr sz="1400" b="1" i="0">
                <a:solidFill>
                  <a:srgbClr val="E97132"/>
                </a:solidFill>
                <a:latin typeface="Calibri"/>
              </a:rPr>
              <a:t>MobilityAPI</a:t>
            </a:r>
          </a:p>
        </p:txBody>
      </p:sp>
      <p:sp>
        <p:nvSpPr>
          <p:cNvPr id="9" name="Rounded Rectangle 8"/>
          <p:cNvSpPr/>
          <p:nvPr/>
        </p:nvSpPr>
        <p:spPr>
          <a:xfrm>
            <a:off x="6278727" y="1920240"/>
            <a:ext cx="5346039" cy="352044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CODEPANEL"/>
          <p:cNvSpPr txBox="1"/>
          <p:nvPr/>
        </p:nvSpPr>
        <p:spPr>
          <a:xfrm>
            <a:off x="6406743" y="2011680"/>
            <a:ext cx="5090007" cy="3337560"/>
          </a:xfrm>
          <a:prstGeom prst="rect">
            <a:avLst/>
          </a:prstGeom>
          <a:noFill/>
        </p:spPr>
        <p:txBody>
          <a:bodyPr wrap="square" lIns="0" tIns="0" rIns="0" bIns="0">
            <a:noAutofit/>
          </a:bodyPr>
          <a:lstStyle/>
          <a:p>
            <a:pPr>
              <a:lnSpc>
                <a:spcPct val="102000"/>
              </a:lnSpc>
              <a:spcBef>
                <a:spcPts val="0"/>
              </a:spcBef>
              <a:spcAft>
                <a:spcPts val="0"/>
              </a:spcAft>
            </a:pPr>
            <a:r>
              <a:rPr sz="1200">
                <a:solidFill>
                  <a:srgbClr val="C2D0DA"/>
                </a:solidFill>
                <a:latin typeface="Consolas"/>
              </a:rPr>
              <a:t>POST /collections/ships/items</a:t>
            </a:r>
          </a:p>
          <a:p>
            <a:pPr>
              <a:lnSpc>
                <a:spcPct val="102000"/>
              </a:lnSpc>
              <a:spcBef>
                <a:spcPts val="0"/>
              </a:spcBef>
              <a:spcAft>
                <a:spcPts val="0"/>
              </a:spcAft>
            </a:pPr>
            <a:r>
              <a:rPr sz="1200">
                <a:solidFill>
                  <a:srgbClr val="C2D0DA"/>
                </a:solidFill>
                <a:latin typeface="Consolas"/>
              </a:rPr>
              <a:t>Content-Type: application/json</a:t>
            </a:r>
          </a:p>
          <a:p>
            <a:pPr>
              <a:lnSpc>
                <a:spcPct val="102000"/>
              </a:lnSpc>
              <a:spcBef>
                <a:spcPts val="0"/>
              </a:spcBef>
              <a:spcAft>
                <a:spcPts val="0"/>
              </a:spcAft>
            </a:pPr>
            <a:r>
              <a:rPr sz="1200">
                <a:latin typeface="Consolas"/>
              </a:rPr>
              <a:t> </a:t>
            </a:r>
          </a:p>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"Feature"</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"205106000"</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"properties"</a:t>
            </a:r>
            <a:r>
              <a:rPr sz="1200">
                <a:solidFill>
                  <a:srgbClr val="C2D0DA"/>
                </a:solidFill>
                <a:latin typeface="Consolas"/>
              </a:rPr>
              <a:t>: {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"MARCUS"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"temporalGeometry"</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"MovingPoint"</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"datetimes"</a:t>
            </a:r>
            <a:r>
              <a:rPr sz="1200">
                <a:solidFill>
                  <a:srgbClr val="C2D0DA"/>
                </a:solidFill>
                <a:latin typeface="Consolas"/>
              </a:rPr>
              <a:t>: [</a:t>
            </a:r>
            <a:r>
              <a:rPr sz="1200">
                <a:solidFill>
                  <a:srgbClr val="E6A36A"/>
                </a:solidFill>
                <a:latin typeface="Consolas"/>
              </a:rPr>
              <a:t>"2026-02-26T06:00:00+00"</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"coordinates"</a:t>
            </a:r>
            <a:r>
              <a:rPr sz="1200">
                <a:solidFill>
                  <a:srgbClr val="C2D0DA"/>
                </a:solidFill>
                <a:latin typeface="Consolas"/>
              </a:rPr>
              <a:t>: [[</a:t>
            </a:r>
            <a:r>
              <a:rPr sz="1200">
                <a:solidFill>
                  <a:srgbClr val="C9E08A"/>
                </a:solidFill>
                <a:latin typeface="Consolas"/>
              </a:rPr>
              <a:t>645829</a:t>
            </a:r>
            <a:r>
              <a:rPr sz="1200">
                <a:solidFill>
                  <a:srgbClr val="C2D0DA"/>
                </a:solidFill>
                <a:latin typeface="Consolas"/>
              </a:rPr>
              <a:t>, </a:t>
            </a:r>
            <a:r>
              <a:rPr sz="1200">
                <a:solidFill>
                  <a:srgbClr val="C9E08A"/>
                </a:solidFill>
                <a:latin typeface="Consolas"/>
              </a:rPr>
              <a:t>6058110</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"interpolation"</a:t>
            </a:r>
            <a:r>
              <a:rPr sz="1200">
                <a:solidFill>
                  <a:srgbClr val="C2D0DA"/>
                </a:solidFill>
                <a:latin typeface="Consolas"/>
              </a:rPr>
              <a:t>: </a:t>
            </a:r>
            <a:r>
              <a:rPr sz="1200">
                <a:solidFill>
                  <a:srgbClr val="E6A36A"/>
                </a:solidFill>
                <a:latin typeface="Consolas"/>
              </a:rPr>
              <a:t>"Linear"</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a:t>
            </a:r>
          </a:p>
        </p:txBody>
      </p:sp>
      <p:sp>
        <p:nvSpPr>
          <p:cNvPr id="11" name="Rectangle 10"/>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3" name="TextBox 12"/>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04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STANDARD</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OGC API – Moving Features Data Model</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ogc-moving-features-class-diagram.png"/>
          <p:cNvPicPr>
            <a:picLocks noChangeAspect="1"/>
          </p:cNvPicPr>
          <p:nvPr/>
        </p:nvPicPr>
        <p:blipFill>
          <a:blip r:embed="rId3"/>
          <a:stretch>
            <a:fillRect/>
          </a:stretch>
        </p:blipFill>
        <p:spPr>
          <a:xfrm>
            <a:off x="2471471" y="1600200"/>
            <a:ext cx="3579265" cy="4526280"/>
          </a:xfrm>
          <a:prstGeom prst="rect">
            <a:avLst/>
          </a:prstGeom>
        </p:spPr>
      </p:pic>
      <p:sp>
        <p:nvSpPr>
          <p:cNvPr id="6" name="TextBox 5"/>
          <p:cNvSpPr txBox="1"/>
          <p:nvPr/>
        </p:nvSpPr>
        <p:spPr>
          <a:xfrm>
            <a:off x="7955279" y="1828800"/>
            <a:ext cx="3749039" cy="4206240"/>
          </a:xfrm>
          <a:prstGeom prst="rect">
            <a:avLst/>
          </a:prstGeom>
          <a:noFill/>
        </p:spPr>
        <p:txBody>
          <a:bodyPr wrap="square" lIns="0" tIns="0" rIns="0" bIns="0">
            <a:noAutofit/>
          </a:bodyPr>
          <a:lstStyle/>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Collection:  </a:t>
            </a:r>
            <a:r>
              <a:rPr sz="1400">
                <a:solidFill>
                  <a:srgbClr val="1E2B36"/>
                </a:solidFill>
                <a:latin typeface="Calibri"/>
              </a:rPr>
              <a:t>a named group of moving features (itemType movingfeature)</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MovingFeature:  </a:t>
            </a:r>
            <a:r>
              <a:rPr sz="1400">
                <a:solidFill>
                  <a:srgbClr val="1E2B36"/>
                </a:solidFill>
                <a:latin typeface="Calibri"/>
              </a:rPr>
              <a:t>an item with id, properties, crs and trs</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TemporalGeometry:  </a:t>
            </a:r>
            <a:r>
              <a:rPr sz="1400">
                <a:solidFill>
                  <a:srgbClr val="1E2B36"/>
                </a:solidFill>
                <a:latin typeface="Calibri"/>
              </a:rPr>
              <a:t>a MovingPoint with parallel coordinates and datetimes plus interpolation</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Derived queries:  </a:t>
            </a:r>
            <a:r>
              <a:rPr sz="1400">
                <a:solidFill>
                  <a:srgbClr val="1E2B36"/>
                </a:solidFill>
                <a:latin typeface="Calibri"/>
              </a:rPr>
              <a:t>distance and velocity over a temporal geometry</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TemporalProperties:  </a:t>
            </a:r>
            <a:r>
              <a:rPr sz="1400">
                <a:solidFill>
                  <a:srgbClr val="1E2B36"/>
                </a:solidFill>
                <a:latin typeface="Calibri"/>
              </a:rPr>
              <a:t>time-varying attributes derived from the trajectory</a:t>
            </a:r>
          </a:p>
        </p:txBody>
      </p:sp>
      <p:sp>
        <p:nvSpPr>
          <p:cNvPr id="7" name="TextBox 6"/>
          <p:cNvSpPr txBox="1"/>
          <p:nvPr/>
        </p:nvSpPr>
        <p:spPr>
          <a:xfrm>
            <a:off x="566928" y="6163056"/>
            <a:ext cx="7388352" cy="274320"/>
          </a:xfrm>
          <a:prstGeom prst="rect">
            <a:avLst/>
          </a:prstGeom>
          <a:noFill/>
        </p:spPr>
        <p:txBody>
          <a:bodyPr wrap="square" lIns="0" tIns="0" rIns="0" bIns="0" anchor="t">
            <a:noAutofit/>
          </a:bodyPr>
          <a:lstStyle/>
          <a:p>
            <a:pPr algn="ctr">
              <a:spcBef>
                <a:spcPts val="0"/>
              </a:spcBef>
              <a:spcAft>
                <a:spcPts val="200"/>
              </a:spcAft>
            </a:pPr>
            <a:r>
              <a:rPr sz="1200" b="0" i="1">
                <a:solidFill>
                  <a:srgbClr val="5B6B78"/>
                </a:solidFill>
                <a:latin typeface="Calibri"/>
              </a:rPr>
              <a:t>Class diagram — OGC API – Moving Features – Part 1: Core (fig. 1)</a:t>
            </a:r>
          </a:p>
        </p:txBody>
      </p:sp>
      <p:sp>
        <p:nvSpPr>
          <p:cNvPr id="8" name="Rectangle 7"/>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0" name="TextBox 9"/>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05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8229600"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OGC DATA MODEL · DETAIL</a:t>
            </a:r>
          </a:p>
        </p:txBody>
      </p:sp>
      <p:sp>
        <p:nvSpPr>
          <p:cNvPr id="3" name="TextBox 2"/>
          <p:cNvSpPr txBox="1"/>
          <p:nvPr/>
        </p:nvSpPr>
        <p:spPr>
          <a:xfrm>
            <a:off x="9082735" y="274320"/>
            <a:ext cx="2743200" cy="274320"/>
          </a:xfrm>
          <a:prstGeom prst="rect">
            <a:avLst/>
          </a:prstGeom>
          <a:noFill/>
        </p:spPr>
        <p:txBody>
          <a:bodyPr wrap="square" lIns="0" tIns="0" rIns="0" bIns="0" anchor="t">
            <a:noAutofit/>
          </a:bodyPr>
          <a:lstStyle/>
          <a:p>
            <a:pPr algn="r">
              <a:spcBef>
                <a:spcPts val="0"/>
              </a:spcBef>
              <a:spcAft>
                <a:spcPts val="200"/>
              </a:spcAft>
            </a:pPr>
            <a:r>
              <a:rPr sz="1200" b="1" i="0">
                <a:solidFill>
                  <a:srgbClr val="5B6B78"/>
                </a:solidFill>
                <a:latin typeface="Calibri"/>
              </a:rPr>
              <a:t>upper half · 1 / 2</a:t>
            </a:r>
          </a:p>
        </p:txBody>
      </p:sp>
      <p:sp>
        <p:nvSpPr>
          <p:cNvPr id="4" name="Rectangle 3"/>
          <p:cNvSpPr/>
          <p:nvPr/>
        </p:nvSpPr>
        <p:spPr>
          <a:xfrm>
            <a:off x="566928" y="548640"/>
            <a:ext cx="1554480" cy="41148"/>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ogc_top.png"/>
          <p:cNvPicPr>
            <a:picLocks noChangeAspect="1"/>
          </p:cNvPicPr>
          <p:nvPr/>
        </p:nvPicPr>
        <p:blipFill>
          <a:blip r:embed="rId3"/>
          <a:stretch>
            <a:fillRect/>
          </a:stretch>
        </p:blipFill>
        <p:spPr>
          <a:xfrm>
            <a:off x="1888257" y="749808"/>
            <a:ext cx="8415180" cy="5559552"/>
          </a:xfrm>
          <a:prstGeom prst="rect">
            <a:avLst/>
          </a:prstGeom>
        </p:spPr>
      </p:pic>
      <p:sp>
        <p:nvSpPr>
          <p:cNvPr id="6" name="Rectangle 5"/>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8" name="TextBox 7"/>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06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274320"/>
            <a:ext cx="8229600"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OGC DATA MODEL · DETAIL</a:t>
            </a:r>
          </a:p>
        </p:txBody>
      </p:sp>
      <p:sp>
        <p:nvSpPr>
          <p:cNvPr id="3" name="TextBox 2"/>
          <p:cNvSpPr txBox="1"/>
          <p:nvPr/>
        </p:nvSpPr>
        <p:spPr>
          <a:xfrm>
            <a:off x="9082735" y="274320"/>
            <a:ext cx="2743200" cy="274320"/>
          </a:xfrm>
          <a:prstGeom prst="rect">
            <a:avLst/>
          </a:prstGeom>
          <a:noFill/>
        </p:spPr>
        <p:txBody>
          <a:bodyPr wrap="square" lIns="0" tIns="0" rIns="0" bIns="0" anchor="t">
            <a:noAutofit/>
          </a:bodyPr>
          <a:lstStyle/>
          <a:p>
            <a:pPr algn="r">
              <a:spcBef>
                <a:spcPts val="0"/>
              </a:spcBef>
              <a:spcAft>
                <a:spcPts val="200"/>
              </a:spcAft>
            </a:pPr>
            <a:r>
              <a:rPr sz="1200" b="1" i="0">
                <a:solidFill>
                  <a:srgbClr val="5B6B78"/>
                </a:solidFill>
                <a:latin typeface="Calibri"/>
              </a:rPr>
              <a:t>lower half · 2 / 2</a:t>
            </a:r>
          </a:p>
        </p:txBody>
      </p:sp>
      <p:sp>
        <p:nvSpPr>
          <p:cNvPr id="4" name="Rectangle 3"/>
          <p:cNvSpPr/>
          <p:nvPr/>
        </p:nvSpPr>
        <p:spPr>
          <a:xfrm>
            <a:off x="566928" y="548640"/>
            <a:ext cx="1554480" cy="41148"/>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ogc_bot.png"/>
          <p:cNvPicPr>
            <a:picLocks noChangeAspect="1"/>
          </p:cNvPicPr>
          <p:nvPr/>
        </p:nvPicPr>
        <p:blipFill>
          <a:blip r:embed="rId3"/>
          <a:stretch>
            <a:fillRect/>
          </a:stretch>
        </p:blipFill>
        <p:spPr>
          <a:xfrm>
            <a:off x="1895000" y="749808"/>
            <a:ext cx="8401694" cy="5559552"/>
          </a:xfrm>
          <a:prstGeom prst="rect">
            <a:avLst/>
          </a:prstGeom>
        </p:spPr>
      </p:pic>
      <p:sp>
        <p:nvSpPr>
          <p:cNvPr id="6" name="Rectangle 5"/>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8" name="TextBox 7"/>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07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UNDER THE HOOD</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How MobilityAPI Persists Moving Features</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1444752"/>
            <a:ext cx="4206240"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STORED COLUMNS</a:t>
            </a:r>
          </a:p>
        </p:txBody>
      </p:sp>
      <p:sp>
        <p:nvSpPr>
          <p:cNvPr id="6" name="Rounded Rectangle 5"/>
          <p:cNvSpPr/>
          <p:nvPr/>
        </p:nvSpPr>
        <p:spPr>
          <a:xfrm>
            <a:off x="566928" y="1737360"/>
            <a:ext cx="4206240" cy="1901952"/>
          </a:xfrm>
          <a:prstGeom prst="roundRect">
            <a:avLst>
              <a:gd name="adj" fmla="val 4000"/>
            </a:avLst>
          </a:prstGeom>
          <a:solidFill>
            <a:srgbClr val="FFFFFF"/>
          </a:solidFill>
          <a:ln w="19050">
            <a:solidFill>
              <a:srgbClr val="15608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566928" y="1737360"/>
            <a:ext cx="4206240" cy="402336"/>
          </a:xfrm>
          <a:prstGeom prst="roundRect">
            <a:avLst>
              <a:gd name="adj" fmla="val 7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755648"/>
            <a:ext cx="3931920" cy="402336"/>
          </a:xfrm>
          <a:prstGeom prst="rect">
            <a:avLst/>
          </a:prstGeom>
          <a:noFill/>
        </p:spPr>
        <p:txBody>
          <a:bodyPr wrap="square" lIns="0" tIns="0" rIns="0" bIns="0" anchor="ctr">
            <a:noAutofit/>
          </a:bodyPr>
          <a:lstStyle/>
          <a:p>
            <a:pPr algn="l">
              <a:spcBef>
                <a:spcPts val="0"/>
              </a:spcBef>
              <a:spcAft>
                <a:spcPts val="200"/>
              </a:spcAft>
            </a:pPr>
            <a:r>
              <a:rPr sz="1600" b="1" i="0">
                <a:solidFill>
                  <a:srgbClr val="FFFFFF"/>
                </a:solidFill>
                <a:latin typeface="Consolas"/>
              </a:rPr>
              <a:t>collections</a:t>
            </a:r>
          </a:p>
        </p:txBody>
      </p:sp>
      <p:sp>
        <p:nvSpPr>
          <p:cNvPr id="9" name="TextBox 8"/>
          <p:cNvSpPr txBox="1"/>
          <p:nvPr/>
        </p:nvSpPr>
        <p:spPr>
          <a:xfrm>
            <a:off x="731520" y="2194560"/>
            <a:ext cx="3913631" cy="1463040"/>
          </a:xfrm>
          <a:prstGeom prst="rect">
            <a:avLst/>
          </a:prstGeom>
          <a:noFill/>
        </p:spPr>
        <p:txBody>
          <a:bodyPr wrap="none" lIns="0" tIns="0" rIns="0" bIns="0">
            <a:noAutofit/>
          </a:bodyPr>
          <a:lstStyle/>
          <a:p>
            <a:pPr>
              <a:lnSpc>
                <a:spcPct val="100000"/>
              </a:lnSpc>
              <a:spcBef>
                <a:spcPts val="0"/>
              </a:spcBef>
              <a:spcAft>
                <a:spcPts val="300"/>
              </a:spcAft>
            </a:pPr>
            <a:r>
              <a:rPr sz="1200" b="1">
                <a:solidFill>
                  <a:srgbClr val="156082"/>
                </a:solidFill>
                <a:latin typeface="Calibri"/>
              </a:rPr>
              <a:t>PK </a:t>
            </a:r>
            <a:r>
              <a:rPr sz="1400" b="1">
                <a:solidFill>
                  <a:srgbClr val="1E2B36"/>
                </a:solidFill>
                <a:latin typeface="Consolas"/>
              </a:rPr>
              <a:t>id   </a:t>
            </a:r>
            <a:r>
              <a:rPr sz="1400">
                <a:solidFill>
                  <a:srgbClr val="5B6B78"/>
                </a:solidFill>
                <a:latin typeface="Consolas"/>
              </a:rPr>
              <a:t>TEXT</a:t>
            </a:r>
          </a:p>
          <a:p>
            <a:pPr>
              <a:lnSpc>
                <a:spcPct val="100000"/>
              </a:lnSpc>
              <a:spcBef>
                <a:spcPts val="0"/>
              </a:spcBef>
              <a:spcAft>
                <a:spcPts val="300"/>
              </a:spcAft>
            </a:pPr>
            <a:r>
              <a:rPr sz="1400" b="1">
                <a:solidFill>
                  <a:srgbClr val="1E2B36"/>
                </a:solidFill>
                <a:latin typeface="Consolas"/>
              </a:rPr>
              <a:t>title   </a:t>
            </a:r>
            <a:r>
              <a:rPr sz="1400">
                <a:solidFill>
                  <a:srgbClr val="5B6B78"/>
                </a:solidFill>
                <a:latin typeface="Consolas"/>
              </a:rPr>
              <a:t>TEXT</a:t>
            </a:r>
          </a:p>
          <a:p>
            <a:pPr>
              <a:lnSpc>
                <a:spcPct val="100000"/>
              </a:lnSpc>
              <a:spcBef>
                <a:spcPts val="0"/>
              </a:spcBef>
              <a:spcAft>
                <a:spcPts val="300"/>
              </a:spcAft>
            </a:pPr>
            <a:r>
              <a:rPr sz="1400" b="1">
                <a:solidFill>
                  <a:srgbClr val="1E2B36"/>
                </a:solidFill>
                <a:latin typeface="Consolas"/>
              </a:rPr>
              <a:t>description   </a:t>
            </a:r>
            <a:r>
              <a:rPr sz="1400">
                <a:solidFill>
                  <a:srgbClr val="5B6B78"/>
                </a:solidFill>
                <a:latin typeface="Consolas"/>
              </a:rPr>
              <a:t>TEXT</a:t>
            </a:r>
          </a:p>
          <a:p>
            <a:pPr>
              <a:lnSpc>
                <a:spcPct val="100000"/>
              </a:lnSpc>
              <a:spcBef>
                <a:spcPts val="0"/>
              </a:spcBef>
              <a:spcAft>
                <a:spcPts val="300"/>
              </a:spcAft>
            </a:pPr>
            <a:r>
              <a:rPr sz="1400" b="1">
                <a:solidFill>
                  <a:srgbClr val="1E2B36"/>
                </a:solidFill>
                <a:latin typeface="Consolas"/>
              </a:rPr>
              <a:t>itemType   </a:t>
            </a:r>
            <a:r>
              <a:rPr sz="1400">
                <a:solidFill>
                  <a:srgbClr val="5B6B78"/>
                </a:solidFill>
                <a:latin typeface="Consolas"/>
              </a:rPr>
              <a:t>TEXT</a:t>
            </a:r>
          </a:p>
          <a:p>
            <a:pPr>
              <a:lnSpc>
                <a:spcPct val="100000"/>
              </a:lnSpc>
              <a:spcBef>
                <a:spcPts val="0"/>
              </a:spcBef>
              <a:spcAft>
                <a:spcPts val="300"/>
              </a:spcAft>
            </a:pPr>
            <a:r>
              <a:rPr sz="1400" b="1">
                <a:solidFill>
                  <a:srgbClr val="1E2B36"/>
                </a:solidFill>
                <a:latin typeface="Consolas"/>
              </a:rPr>
              <a:t>crs   </a:t>
            </a:r>
            <a:r>
              <a:rPr sz="1400">
                <a:solidFill>
                  <a:srgbClr val="5B6B78"/>
                </a:solidFill>
                <a:latin typeface="Consolas"/>
              </a:rPr>
              <a:t>INTEGER</a:t>
            </a:r>
          </a:p>
        </p:txBody>
      </p:sp>
      <p:sp>
        <p:nvSpPr>
          <p:cNvPr id="10" name="Rounded Rectangle 9"/>
          <p:cNvSpPr/>
          <p:nvPr/>
        </p:nvSpPr>
        <p:spPr>
          <a:xfrm>
            <a:off x="566928" y="3950208"/>
            <a:ext cx="4206240" cy="1627631"/>
          </a:xfrm>
          <a:prstGeom prst="roundRect">
            <a:avLst>
              <a:gd name="adj" fmla="val 4000"/>
            </a:avLst>
          </a:prstGeom>
          <a:solidFill>
            <a:srgbClr val="FFFFFF"/>
          </a:solidFill>
          <a:ln w="19050">
            <a:solidFill>
              <a:srgbClr val="E9713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66928" y="3950208"/>
            <a:ext cx="4206240" cy="402336"/>
          </a:xfrm>
          <a:prstGeom prst="roundRect">
            <a:avLst>
              <a:gd name="adj" fmla="val 7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31520" y="3968496"/>
            <a:ext cx="3931920" cy="402336"/>
          </a:xfrm>
          <a:prstGeom prst="rect">
            <a:avLst/>
          </a:prstGeom>
          <a:noFill/>
        </p:spPr>
        <p:txBody>
          <a:bodyPr wrap="square" lIns="0" tIns="0" rIns="0" bIns="0" anchor="ctr">
            <a:noAutofit/>
          </a:bodyPr>
          <a:lstStyle/>
          <a:p>
            <a:pPr algn="l">
              <a:spcBef>
                <a:spcPts val="0"/>
              </a:spcBef>
              <a:spcAft>
                <a:spcPts val="200"/>
              </a:spcAft>
            </a:pPr>
            <a:r>
              <a:rPr sz="1600" b="1" i="0">
                <a:solidFill>
                  <a:srgbClr val="FFFFFF"/>
                </a:solidFill>
                <a:latin typeface="Consolas"/>
              </a:rPr>
              <a:t>ships</a:t>
            </a:r>
          </a:p>
        </p:txBody>
      </p:sp>
      <p:sp>
        <p:nvSpPr>
          <p:cNvPr id="13" name="TextBox 12"/>
          <p:cNvSpPr txBox="1"/>
          <p:nvPr/>
        </p:nvSpPr>
        <p:spPr>
          <a:xfrm>
            <a:off x="731520" y="4407408"/>
            <a:ext cx="3913631" cy="1188720"/>
          </a:xfrm>
          <a:prstGeom prst="rect">
            <a:avLst/>
          </a:prstGeom>
          <a:noFill/>
        </p:spPr>
        <p:txBody>
          <a:bodyPr wrap="none" lIns="0" tIns="0" rIns="0" bIns="0">
            <a:noAutofit/>
          </a:bodyPr>
          <a:lstStyle/>
          <a:p>
            <a:pPr>
              <a:lnSpc>
                <a:spcPct val="100000"/>
              </a:lnSpc>
              <a:spcBef>
                <a:spcPts val="0"/>
              </a:spcBef>
              <a:spcAft>
                <a:spcPts val="300"/>
              </a:spcAft>
            </a:pPr>
            <a:r>
              <a:rPr sz="1200" b="1">
                <a:solidFill>
                  <a:srgbClr val="E97132"/>
                </a:solidFill>
                <a:latin typeface="Calibri"/>
              </a:rPr>
              <a:t>PK </a:t>
            </a:r>
            <a:r>
              <a:rPr sz="1400" b="1">
                <a:solidFill>
                  <a:srgbClr val="1E2B36"/>
                </a:solidFill>
                <a:latin typeface="Consolas"/>
              </a:rPr>
              <a:t>id   </a:t>
            </a:r>
            <a:r>
              <a:rPr sz="1400">
                <a:solidFill>
                  <a:srgbClr val="5B6B78"/>
                </a:solidFill>
                <a:latin typeface="Consolas"/>
              </a:rPr>
              <a:t>INTEGER</a:t>
            </a:r>
          </a:p>
          <a:p>
            <a:pPr>
              <a:lnSpc>
                <a:spcPct val="100000"/>
              </a:lnSpc>
              <a:spcBef>
                <a:spcPts val="0"/>
              </a:spcBef>
              <a:spcAft>
                <a:spcPts val="300"/>
              </a:spcAft>
            </a:pPr>
            <a:r>
              <a:rPr sz="1400" b="1">
                <a:solidFill>
                  <a:srgbClr val="1E2B36"/>
                </a:solidFill>
                <a:latin typeface="Consolas"/>
              </a:rPr>
              <a:t>mmsi   </a:t>
            </a:r>
            <a:r>
              <a:rPr sz="1400">
                <a:solidFill>
                  <a:srgbClr val="5B6B78"/>
                </a:solidFill>
                <a:latin typeface="Consolas"/>
              </a:rPr>
              <a:t>BIGINT</a:t>
            </a:r>
          </a:p>
          <a:p>
            <a:pPr>
              <a:lnSpc>
                <a:spcPct val="100000"/>
              </a:lnSpc>
              <a:spcBef>
                <a:spcPts val="0"/>
              </a:spcBef>
              <a:spcAft>
                <a:spcPts val="300"/>
              </a:spcAft>
            </a:pPr>
            <a:r>
              <a:rPr sz="1400" b="1">
                <a:solidFill>
                  <a:srgbClr val="1E2B36"/>
                </a:solidFill>
                <a:latin typeface="Consolas"/>
              </a:rPr>
              <a:t>name   </a:t>
            </a:r>
            <a:r>
              <a:rPr sz="1400">
                <a:solidFill>
                  <a:srgbClr val="5B6B78"/>
                </a:solidFill>
                <a:latin typeface="Consolas"/>
              </a:rPr>
              <a:t>TEXT</a:t>
            </a:r>
          </a:p>
          <a:p>
            <a:pPr>
              <a:lnSpc>
                <a:spcPct val="100000"/>
              </a:lnSpc>
              <a:spcBef>
                <a:spcPts val="0"/>
              </a:spcBef>
              <a:spcAft>
                <a:spcPts val="300"/>
              </a:spcAft>
            </a:pPr>
            <a:r>
              <a:rPr sz="1400" b="1">
                <a:solidFill>
                  <a:srgbClr val="1E2B36"/>
                </a:solidFill>
                <a:latin typeface="Consolas"/>
              </a:rPr>
              <a:t>trip   </a:t>
            </a:r>
            <a:r>
              <a:rPr sz="1400">
                <a:solidFill>
                  <a:srgbClr val="E97132"/>
                </a:solidFill>
                <a:latin typeface="Consolas"/>
              </a:rPr>
              <a:t>tgeompoint</a:t>
            </a:r>
          </a:p>
        </p:txBody>
      </p:sp>
      <p:sp>
        <p:nvSpPr>
          <p:cNvPr id="14" name="TextBox 13"/>
          <p:cNvSpPr txBox="1"/>
          <p:nvPr/>
        </p:nvSpPr>
        <p:spPr>
          <a:xfrm>
            <a:off x="566928" y="5641848"/>
            <a:ext cx="4206240" cy="274320"/>
          </a:xfrm>
          <a:prstGeom prst="rect">
            <a:avLst/>
          </a:prstGeom>
          <a:noFill/>
        </p:spPr>
        <p:txBody>
          <a:bodyPr wrap="square" lIns="0" tIns="0" rIns="0" bIns="0" anchor="t">
            <a:noAutofit/>
          </a:bodyPr>
          <a:lstStyle/>
          <a:p>
            <a:pPr algn="l">
              <a:spcBef>
                <a:spcPts val="0"/>
              </a:spcBef>
              <a:spcAft>
                <a:spcPts val="200"/>
              </a:spcAft>
            </a:pPr>
            <a:r>
              <a:rPr sz="1200" b="0" i="1">
                <a:solidFill>
                  <a:srgbClr val="5B6B78"/>
                </a:solidFill>
                <a:latin typeface="Calibri"/>
              </a:rPr>
              <a:t>one feature table per collection</a:t>
            </a:r>
          </a:p>
        </p:txBody>
      </p:sp>
      <p:sp>
        <p:nvSpPr>
          <p:cNvPr id="15" name="TextBox 14"/>
          <p:cNvSpPr txBox="1"/>
          <p:nvPr/>
        </p:nvSpPr>
        <p:spPr>
          <a:xfrm>
            <a:off x="5138928" y="1444752"/>
            <a:ext cx="6485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0E2841"/>
                </a:solidFill>
                <a:latin typeface="Calibri"/>
              </a:rPr>
              <a:t>STANDARD FIELDS SERVED</a:t>
            </a:r>
          </a:p>
        </p:txBody>
      </p:sp>
      <p:sp>
        <p:nvSpPr>
          <p:cNvPr id="16" name="TextBox 15"/>
          <p:cNvSpPr txBox="1"/>
          <p:nvPr/>
        </p:nvSpPr>
        <p:spPr>
          <a:xfrm>
            <a:off x="5138928" y="1773936"/>
            <a:ext cx="6485839" cy="274320"/>
          </a:xfrm>
          <a:prstGeom prst="rect">
            <a:avLst/>
          </a:prstGeom>
          <a:noFill/>
        </p:spPr>
        <p:txBody>
          <a:bodyPr wrap="square" lIns="0" tIns="0" rIns="0" bIns="0" anchor="t">
            <a:noAutofit/>
          </a:bodyPr>
          <a:lstStyle/>
          <a:p>
            <a:pPr algn="l">
              <a:spcBef>
                <a:spcPts val="0"/>
              </a:spcBef>
              <a:spcAft>
                <a:spcPts val="200"/>
              </a:spcAft>
            </a:pPr>
            <a:r>
              <a:rPr sz="1400" b="1" i="0">
                <a:solidFill>
                  <a:srgbClr val="156082"/>
                </a:solidFill>
                <a:latin typeface="Calibri"/>
              </a:rPr>
              <a:t>Collection</a:t>
            </a:r>
          </a:p>
        </p:txBody>
      </p:sp>
      <p:sp>
        <p:nvSpPr>
          <p:cNvPr id="17" name="TextBox 16"/>
          <p:cNvSpPr txBox="1"/>
          <p:nvPr/>
        </p:nvSpPr>
        <p:spPr>
          <a:xfrm>
            <a:off x="5138928" y="2084831"/>
            <a:ext cx="6485839" cy="1097280"/>
          </a:xfrm>
          <a:prstGeom prst="rect">
            <a:avLst/>
          </a:prstGeom>
          <a:noFill/>
        </p:spPr>
        <p:txBody>
          <a:bodyPr wrap="square" lIns="0" tIns="0" rIns="0" bIns="0">
            <a:noAutofit/>
          </a:bodyPr>
          <a:lstStyle/>
          <a:p>
            <a:pPr>
              <a:lnSpc>
                <a:spcPct val="106000"/>
              </a:lnSpc>
              <a:spcBef>
                <a:spcPts val="0"/>
              </a:spcBef>
              <a:spcAft>
                <a:spcPts val="500"/>
              </a:spcAft>
            </a:pPr>
            <a:r>
              <a:rPr sz="1200" b="1">
                <a:solidFill>
                  <a:srgbClr val="156082"/>
                </a:solidFill>
                <a:latin typeface="Calibri"/>
              </a:rPr>
              <a:t>▸  </a:t>
            </a:r>
            <a:r>
              <a:rPr sz="1200" b="1">
                <a:solidFill>
                  <a:srgbClr val="0E2841"/>
                </a:solidFill>
                <a:latin typeface="Calibri"/>
              </a:rPr>
              <a:t>Stored:  </a:t>
            </a:r>
            <a:r>
              <a:rPr sz="1200">
                <a:solidFill>
                  <a:srgbClr val="1E2B36"/>
                </a:solidFill>
                <a:latin typeface="Calibri"/>
              </a:rPr>
              <a:t>id, title, description, itemType, crs</a:t>
            </a:r>
          </a:p>
          <a:p>
            <a:pPr>
              <a:lnSpc>
                <a:spcPct val="106000"/>
              </a:lnSpc>
              <a:spcBef>
                <a:spcPts val="0"/>
              </a:spcBef>
              <a:spcAft>
                <a:spcPts val="500"/>
              </a:spcAft>
            </a:pPr>
            <a:r>
              <a:rPr sz="1200" b="1">
                <a:solidFill>
                  <a:srgbClr val="156082"/>
                </a:solidFill>
                <a:latin typeface="Calibri"/>
              </a:rPr>
              <a:t>▸  </a:t>
            </a:r>
            <a:r>
              <a:rPr sz="1200" b="1">
                <a:solidFill>
                  <a:srgbClr val="0E2841"/>
                </a:solidFill>
                <a:latin typeface="Calibri"/>
              </a:rPr>
              <a:t>Derived:  </a:t>
            </a:r>
            <a:r>
              <a:rPr sz="1200">
                <a:solidFill>
                  <a:srgbClr val="1E2B36"/>
                </a:solidFill>
                <a:latin typeface="Calibri"/>
              </a:rPr>
              <a:t>extent (spatial bbox and time interval)</a:t>
            </a:r>
          </a:p>
          <a:p>
            <a:pPr>
              <a:lnSpc>
                <a:spcPct val="106000"/>
              </a:lnSpc>
              <a:spcBef>
                <a:spcPts val="0"/>
              </a:spcBef>
              <a:spcAft>
                <a:spcPts val="500"/>
              </a:spcAft>
            </a:pPr>
            <a:r>
              <a:rPr sz="1200" b="1">
                <a:solidFill>
                  <a:srgbClr val="156082"/>
                </a:solidFill>
                <a:latin typeface="Calibri"/>
              </a:rPr>
              <a:t>▸  </a:t>
            </a:r>
            <a:r>
              <a:rPr sz="1200" b="1">
                <a:solidFill>
                  <a:srgbClr val="0E2841"/>
                </a:solidFill>
                <a:latin typeface="Calibri"/>
              </a:rPr>
              <a:t>Generated:  </a:t>
            </a:r>
            <a:r>
              <a:rPr sz="1200">
                <a:solidFill>
                  <a:srgbClr val="1E2B36"/>
                </a:solidFill>
                <a:latin typeface="Calibri"/>
              </a:rPr>
              <a:t>links</a:t>
            </a:r>
          </a:p>
        </p:txBody>
      </p:sp>
      <p:sp>
        <p:nvSpPr>
          <p:cNvPr id="18" name="TextBox 17"/>
          <p:cNvSpPr txBox="1"/>
          <p:nvPr/>
        </p:nvSpPr>
        <p:spPr>
          <a:xfrm>
            <a:off x="5138928" y="3255264"/>
            <a:ext cx="6485839" cy="274320"/>
          </a:xfrm>
          <a:prstGeom prst="rect">
            <a:avLst/>
          </a:prstGeom>
          <a:noFill/>
        </p:spPr>
        <p:txBody>
          <a:bodyPr wrap="square" lIns="0" tIns="0" rIns="0" bIns="0" anchor="t">
            <a:noAutofit/>
          </a:bodyPr>
          <a:lstStyle/>
          <a:p>
            <a:pPr algn="l">
              <a:spcBef>
                <a:spcPts val="0"/>
              </a:spcBef>
              <a:spcAft>
                <a:spcPts val="200"/>
              </a:spcAft>
            </a:pPr>
            <a:r>
              <a:rPr sz="1400" b="1" i="0">
                <a:solidFill>
                  <a:srgbClr val="E97132"/>
                </a:solidFill>
                <a:latin typeface="Calibri"/>
              </a:rPr>
              <a:t>MovingFeature</a:t>
            </a:r>
          </a:p>
        </p:txBody>
      </p:sp>
      <p:sp>
        <p:nvSpPr>
          <p:cNvPr id="19" name="TextBox 18"/>
          <p:cNvSpPr txBox="1"/>
          <p:nvPr/>
        </p:nvSpPr>
        <p:spPr>
          <a:xfrm>
            <a:off x="5138928" y="3566160"/>
            <a:ext cx="6485839" cy="1828800"/>
          </a:xfrm>
          <a:prstGeom prst="rect">
            <a:avLst/>
          </a:prstGeom>
          <a:noFill/>
        </p:spPr>
        <p:txBody>
          <a:bodyPr wrap="square" lIns="0" tIns="0" rIns="0" bIns="0">
            <a:noAutofit/>
          </a:bodyPr>
          <a:lstStyle/>
          <a:p>
            <a:pPr>
              <a:lnSpc>
                <a:spcPct val="106000"/>
              </a:lnSpc>
              <a:spcBef>
                <a:spcPts val="0"/>
              </a:spcBef>
              <a:spcAft>
                <a:spcPts val="500"/>
              </a:spcAft>
            </a:pPr>
            <a:r>
              <a:rPr sz="1200" b="1">
                <a:solidFill>
                  <a:srgbClr val="E97132"/>
                </a:solidFill>
                <a:latin typeface="Calibri"/>
              </a:rPr>
              <a:t>▸  </a:t>
            </a:r>
            <a:r>
              <a:rPr sz="1200" b="1">
                <a:solidFill>
                  <a:srgbClr val="0E2841"/>
                </a:solidFill>
                <a:latin typeface="Calibri"/>
              </a:rPr>
              <a:t>Stored:  </a:t>
            </a:r>
            <a:r>
              <a:rPr sz="1200">
                <a:solidFill>
                  <a:srgbClr val="1E2B36"/>
                </a:solidFill>
                <a:latin typeface="Calibri"/>
              </a:rPr>
              <a:t>id, properties (mmsi, name)</a:t>
            </a:r>
          </a:p>
          <a:p>
            <a:pPr>
              <a:lnSpc>
                <a:spcPct val="106000"/>
              </a:lnSpc>
              <a:spcBef>
                <a:spcPts val="0"/>
              </a:spcBef>
              <a:spcAft>
                <a:spcPts val="500"/>
              </a:spcAft>
            </a:pPr>
            <a:r>
              <a:rPr sz="1200" b="1">
                <a:solidFill>
                  <a:srgbClr val="E97132"/>
                </a:solidFill>
                <a:latin typeface="Calibri"/>
              </a:rPr>
              <a:t>▸  </a:t>
            </a:r>
            <a:r>
              <a:rPr sz="1200" b="1">
                <a:solidFill>
                  <a:srgbClr val="0E2841"/>
                </a:solidFill>
                <a:latin typeface="Calibri"/>
              </a:rPr>
              <a:t>Derived from trip:  </a:t>
            </a:r>
            <a:r>
              <a:rPr sz="1200">
                <a:solidFill>
                  <a:srgbClr val="1E2B36"/>
                </a:solidFill>
                <a:latin typeface="Calibri"/>
              </a:rPr>
              <a:t>temporalGeometry, bbox, time, geometry</a:t>
            </a:r>
          </a:p>
          <a:p>
            <a:pPr>
              <a:lnSpc>
                <a:spcPct val="106000"/>
              </a:lnSpc>
              <a:spcBef>
                <a:spcPts val="0"/>
              </a:spcBef>
              <a:spcAft>
                <a:spcPts val="500"/>
              </a:spcAft>
            </a:pPr>
            <a:r>
              <a:rPr sz="1200" b="1">
                <a:solidFill>
                  <a:srgbClr val="E97132"/>
                </a:solidFill>
                <a:latin typeface="Calibri"/>
              </a:rPr>
              <a:t>▸  </a:t>
            </a:r>
            <a:r>
              <a:rPr sz="1200" b="1">
                <a:solidFill>
                  <a:srgbClr val="0E2841"/>
                </a:solidFill>
                <a:latin typeface="Calibri"/>
              </a:rPr>
              <a:t>From the registry:  </a:t>
            </a:r>
            <a:r>
              <a:rPr sz="1200">
                <a:solidFill>
                  <a:srgbClr val="1E2B36"/>
                </a:solidFill>
                <a:latin typeface="Calibri"/>
              </a:rPr>
              <a:t>crs</a:t>
            </a:r>
          </a:p>
          <a:p>
            <a:pPr>
              <a:lnSpc>
                <a:spcPct val="106000"/>
              </a:lnSpc>
              <a:spcBef>
                <a:spcPts val="0"/>
              </a:spcBef>
              <a:spcAft>
                <a:spcPts val="500"/>
              </a:spcAft>
            </a:pPr>
            <a:r>
              <a:rPr sz="1200" b="1">
                <a:solidFill>
                  <a:srgbClr val="E97132"/>
                </a:solidFill>
                <a:latin typeface="Calibri"/>
              </a:rPr>
              <a:t>▸  </a:t>
            </a:r>
            <a:r>
              <a:rPr sz="1200" b="1">
                <a:solidFill>
                  <a:srgbClr val="0E2841"/>
                </a:solidFill>
                <a:latin typeface="Calibri"/>
              </a:rPr>
              <a:t>Constant:  </a:t>
            </a:r>
            <a:r>
              <a:rPr sz="1200">
                <a:solidFill>
                  <a:srgbClr val="1E2B36"/>
                </a:solidFill>
                <a:latin typeface="Calibri"/>
              </a:rPr>
              <a:t>trs</a:t>
            </a:r>
          </a:p>
          <a:p>
            <a:pPr>
              <a:lnSpc>
                <a:spcPct val="106000"/>
              </a:lnSpc>
              <a:spcBef>
                <a:spcPts val="0"/>
              </a:spcBef>
              <a:spcAft>
                <a:spcPts val="500"/>
              </a:spcAft>
            </a:pPr>
            <a:r>
              <a:rPr sz="1200" b="1">
                <a:solidFill>
                  <a:srgbClr val="E97132"/>
                </a:solidFill>
                <a:latin typeface="Calibri"/>
              </a:rPr>
              <a:t>▸  </a:t>
            </a:r>
            <a:r>
              <a:rPr sz="1200" b="1">
                <a:solidFill>
                  <a:srgbClr val="0E2841"/>
                </a:solidFill>
                <a:latin typeface="Calibri"/>
              </a:rPr>
              <a:t>Generated:  </a:t>
            </a:r>
            <a:r>
              <a:rPr sz="1200">
                <a:solidFill>
                  <a:srgbClr val="1E2B36"/>
                </a:solidFill>
                <a:latin typeface="Calibri"/>
              </a:rPr>
              <a:t>links</a:t>
            </a:r>
          </a:p>
        </p:txBody>
      </p:sp>
      <p:sp>
        <p:nvSpPr>
          <p:cNvPr id="20" name="Rounded Rectangle 19"/>
          <p:cNvSpPr/>
          <p:nvPr/>
        </p:nvSpPr>
        <p:spPr>
          <a:xfrm>
            <a:off x="5138928" y="5376672"/>
            <a:ext cx="6485839" cy="969264"/>
          </a:xfrm>
          <a:prstGeom prst="roundRect">
            <a:avLst>
              <a:gd name="adj" fmla="val 4000"/>
            </a:avLst>
          </a:prstGeom>
          <a:solidFill>
            <a:srgbClr val="F1F5F8"/>
          </a:solidFill>
          <a:ln>
            <a:noFill/>
          </a:ln>
          <a:effectLst/>
        </p:spPr>
        <p:txBody>
          <a:bodyPr rtlCol="0" anchor="ctr"/>
          <a:lstStyle/>
          <a:p>
            <a:pPr algn="ctr"/>
            <a:endParaRPr/>
          </a:p>
        </p:txBody>
      </p:sp>
      <p:sp>
        <p:nvSpPr>
          <p:cNvPr id="21" name="TextBox 20"/>
          <p:cNvSpPr txBox="1"/>
          <p:nvPr/>
        </p:nvSpPr>
        <p:spPr>
          <a:xfrm>
            <a:off x="5394960" y="5468112"/>
            <a:ext cx="5973775"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How fields are provided</a:t>
            </a:r>
          </a:p>
        </p:txBody>
      </p:sp>
      <p:sp>
        <p:nvSpPr>
          <p:cNvPr id="22" name="TextBox 21"/>
          <p:cNvSpPr txBox="1"/>
          <p:nvPr/>
        </p:nvSpPr>
        <p:spPr>
          <a:xfrm>
            <a:off x="5394960" y="5760720"/>
            <a:ext cx="5973775" cy="530352"/>
          </a:xfrm>
          <a:prstGeom prst="rect">
            <a:avLst/>
          </a:prstGeom>
          <a:noFill/>
        </p:spPr>
        <p:txBody>
          <a:bodyPr wrap="square" lIns="0" tIns="0" rIns="0" bIns="0">
            <a:noAutofit/>
          </a:bodyPr>
          <a:lstStyle/>
          <a:p>
            <a:pPr>
              <a:lnSpc>
                <a:spcPct val="106000"/>
              </a:lnSpc>
              <a:spcBef>
                <a:spcPts val="0"/>
              </a:spcBef>
              <a:spcAft>
                <a:spcPts val="300"/>
              </a:spcAft>
            </a:pPr>
            <a:r>
              <a:rPr sz="1200" b="1">
                <a:solidFill>
                  <a:srgbClr val="156082"/>
                </a:solidFill>
                <a:latin typeface="Calibri"/>
              </a:rPr>
              <a:t>▸  </a:t>
            </a:r>
            <a:r>
              <a:rPr sz="1200">
                <a:solidFill>
                  <a:srgbClr val="1E2B36"/>
                </a:solidFill>
                <a:latin typeface="Calibri"/>
              </a:rPr>
              <a:t>Derived fields come O(1) from the tgeompoint and its inline STBOX</a:t>
            </a:r>
          </a:p>
          <a:p>
            <a:pPr>
              <a:lnSpc>
                <a:spcPct val="106000"/>
              </a:lnSpc>
              <a:spcBef>
                <a:spcPts val="0"/>
              </a:spcBef>
              <a:spcAft>
                <a:spcPts val="300"/>
              </a:spcAft>
            </a:pPr>
            <a:r>
              <a:rPr sz="1200" b="1">
                <a:solidFill>
                  <a:srgbClr val="156082"/>
                </a:solidFill>
                <a:latin typeface="Calibri"/>
              </a:rPr>
              <a:t>▸  </a:t>
            </a:r>
            <a:r>
              <a:rPr sz="1200">
                <a:solidFill>
                  <a:srgbClr val="1E2B36"/>
                </a:solidFill>
                <a:latin typeface="Calibri"/>
              </a:rPr>
              <a:t>Links are generated per request</a:t>
            </a:r>
          </a:p>
        </p:txBody>
      </p:sp>
      <p:sp>
        <p:nvSpPr>
          <p:cNvPr id="23" name="Rectangle 22"/>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25" name="TextBox 24"/>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08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CANONICAL EXAMPLE</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A Day of Danish AIS Ship Traffic</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fig_overview_real.png"/>
          <p:cNvPicPr>
            <a:picLocks noChangeAspect="1"/>
          </p:cNvPicPr>
          <p:nvPr/>
        </p:nvPicPr>
        <p:blipFill>
          <a:blip r:embed="rId3"/>
          <a:stretch>
            <a:fillRect/>
          </a:stretch>
        </p:blipFill>
        <p:spPr>
          <a:xfrm>
            <a:off x="6400800" y="1554480"/>
            <a:ext cx="5394960" cy="4046220"/>
          </a:xfrm>
          <a:prstGeom prst="rect">
            <a:avLst/>
          </a:prstGeom>
        </p:spPr>
      </p:pic>
      <p:sp>
        <p:nvSpPr>
          <p:cNvPr id="6" name="TextBox 5"/>
          <p:cNvSpPr txBox="1"/>
          <p:nvPr/>
        </p:nvSpPr>
        <p:spPr>
          <a:xfrm>
            <a:off x="566928" y="1828800"/>
            <a:ext cx="5486400" cy="4023360"/>
          </a:xfrm>
          <a:prstGeom prst="rect">
            <a:avLst/>
          </a:prstGeom>
          <a:noFill/>
        </p:spPr>
        <p:txBody>
          <a:bodyPr wrap="square" lIns="0" tIns="0" rIns="0" bIns="0">
            <a:noAutofit/>
          </a:bodyPr>
          <a:lstStyle/>
          <a:p>
            <a:pPr>
              <a:lnSpc>
                <a:spcPct val="106000"/>
              </a:lnSpc>
              <a:spcBef>
                <a:spcPts val="0"/>
              </a:spcBef>
              <a:spcAft>
                <a:spcPts val="1300"/>
              </a:spcAft>
            </a:pPr>
            <a:r>
              <a:rPr sz="1400" b="1">
                <a:solidFill>
                  <a:srgbClr val="156082"/>
                </a:solidFill>
                <a:latin typeface="Calibri"/>
              </a:rPr>
              <a:t>▸  </a:t>
            </a:r>
            <a:r>
              <a:rPr sz="1400" b="1">
                <a:solidFill>
                  <a:srgbClr val="0E2841"/>
                </a:solidFill>
                <a:latin typeface="Calibri"/>
              </a:rPr>
              <a:t>Source:  </a:t>
            </a:r>
            <a:r>
              <a:rPr sz="1400">
                <a:solidFill>
                  <a:srgbClr val="1E2B36"/>
                </a:solidFill>
                <a:latin typeface="Calibri"/>
              </a:rPr>
              <a:t>Danish Maritime Authority AIS feed (aisdata.ais.dk)</a:t>
            </a:r>
          </a:p>
          <a:p>
            <a:pPr>
              <a:lnSpc>
                <a:spcPct val="106000"/>
              </a:lnSpc>
              <a:spcBef>
                <a:spcPts val="0"/>
              </a:spcBef>
              <a:spcAft>
                <a:spcPts val="1300"/>
              </a:spcAft>
            </a:pPr>
            <a:r>
              <a:rPr sz="1400" b="1">
                <a:solidFill>
                  <a:srgbClr val="156082"/>
                </a:solidFill>
                <a:latin typeface="Calibri"/>
              </a:rPr>
              <a:t>▸  </a:t>
            </a:r>
            <a:r>
              <a:rPr sz="1400" b="1">
                <a:solidFill>
                  <a:srgbClr val="0E2841"/>
                </a:solidFill>
                <a:latin typeface="Calibri"/>
              </a:rPr>
              <a:t>Window:  </a:t>
            </a:r>
            <a:r>
              <a:rPr sz="1400">
                <a:solidFill>
                  <a:srgbClr val="1E2B36"/>
                </a:solidFill>
                <a:latin typeface="Calibri"/>
              </a:rPr>
              <a:t>2026-02-26 to 2026-02-27</a:t>
            </a:r>
          </a:p>
          <a:p>
            <a:pPr>
              <a:lnSpc>
                <a:spcPct val="106000"/>
              </a:lnSpc>
              <a:spcBef>
                <a:spcPts val="0"/>
              </a:spcBef>
              <a:spcAft>
                <a:spcPts val="1300"/>
              </a:spcAft>
            </a:pPr>
            <a:r>
              <a:rPr sz="1400" b="1">
                <a:solidFill>
                  <a:srgbClr val="156082"/>
                </a:solidFill>
                <a:latin typeface="Calibri"/>
              </a:rPr>
              <a:t>▸  </a:t>
            </a:r>
            <a:r>
              <a:rPr sz="1400" b="1">
                <a:solidFill>
                  <a:srgbClr val="0E2841"/>
                </a:solidFill>
                <a:latin typeface="Calibri"/>
              </a:rPr>
              <a:t>2,833 trajectories:  </a:t>
            </a:r>
            <a:r>
              <a:rPr sz="1400">
                <a:solidFill>
                  <a:srgbClr val="1E2B36"/>
                </a:solidFill>
                <a:latin typeface="Calibri"/>
              </a:rPr>
              <a:t>1,878 distinct vessels (MMSI), each a MovingPoint</a:t>
            </a:r>
          </a:p>
          <a:p>
            <a:pPr>
              <a:lnSpc>
                <a:spcPct val="106000"/>
              </a:lnSpc>
              <a:spcBef>
                <a:spcPts val="0"/>
              </a:spcBef>
              <a:spcAft>
                <a:spcPts val="1300"/>
              </a:spcAft>
            </a:pPr>
            <a:r>
              <a:rPr sz="1400" b="1">
                <a:solidFill>
                  <a:srgbClr val="156082"/>
                </a:solidFill>
                <a:latin typeface="Calibri"/>
              </a:rPr>
              <a:t>▸  </a:t>
            </a:r>
            <a:r>
              <a:rPr sz="1400" b="1">
                <a:solidFill>
                  <a:srgbClr val="0E2841"/>
                </a:solidFill>
                <a:latin typeface="Calibri"/>
              </a:rPr>
              <a:t>6.2 million instants:  </a:t>
            </a:r>
            <a:r>
              <a:rPr sz="1400">
                <a:solidFill>
                  <a:srgbClr val="1E2B36"/>
                </a:solidFill>
                <a:latin typeface="Calibri"/>
              </a:rPr>
              <a:t>observed position across the collection</a:t>
            </a:r>
          </a:p>
          <a:p>
            <a:pPr>
              <a:lnSpc>
                <a:spcPct val="106000"/>
              </a:lnSpc>
              <a:spcBef>
                <a:spcPts val="0"/>
              </a:spcBef>
              <a:spcAft>
                <a:spcPts val="1300"/>
              </a:spcAft>
            </a:pPr>
            <a:r>
              <a:rPr sz="1400" b="1">
                <a:solidFill>
                  <a:srgbClr val="156082"/>
                </a:solidFill>
                <a:latin typeface="Calibri"/>
              </a:rPr>
              <a:t>▸  </a:t>
            </a:r>
            <a:r>
              <a:rPr sz="1400" b="1">
                <a:solidFill>
                  <a:srgbClr val="0E2841"/>
                </a:solidFill>
                <a:latin typeface="Calibri"/>
              </a:rPr>
              <a:t>CRS:  </a:t>
            </a:r>
            <a:r>
              <a:rPr sz="1400">
                <a:solidFill>
                  <a:srgbClr val="1E2B36"/>
                </a:solidFill>
                <a:latin typeface="Calibri"/>
              </a:rPr>
              <a:t>EPSG:25832 (ETRS89 / UTM 32N, metres)</a:t>
            </a:r>
          </a:p>
        </p:txBody>
      </p:sp>
      <p:sp>
        <p:nvSpPr>
          <p:cNvPr id="7" name="TextBox 6"/>
          <p:cNvSpPr txBox="1"/>
          <p:nvPr/>
        </p:nvSpPr>
        <p:spPr>
          <a:xfrm>
            <a:off x="6035040" y="5692140"/>
            <a:ext cx="6126480" cy="274320"/>
          </a:xfrm>
          <a:prstGeom prst="rect">
            <a:avLst/>
          </a:prstGeom>
          <a:noFill/>
        </p:spPr>
        <p:txBody>
          <a:bodyPr wrap="square" lIns="0" tIns="0" rIns="0" bIns="0" anchor="t">
            <a:noAutofit/>
          </a:bodyPr>
          <a:lstStyle/>
          <a:p>
            <a:pPr algn="ctr">
              <a:spcBef>
                <a:spcPts val="0"/>
              </a:spcBef>
              <a:spcAft>
                <a:spcPts val="200"/>
              </a:spcAft>
            </a:pPr>
            <a:r>
              <a:rPr sz="1200" b="0" i="1">
                <a:solidFill>
                  <a:srgbClr val="5B6B78"/>
                </a:solidFill>
                <a:latin typeface="Calibri"/>
              </a:rPr>
              <a:t>Danish AIS vessel trajectories, 2026-02-26</a:t>
            </a:r>
          </a:p>
        </p:txBody>
      </p:sp>
      <p:sp>
        <p:nvSpPr>
          <p:cNvPr id="8" name="Rectangle 7"/>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0" name="TextBox 9"/>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09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REFERENCE</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The OGC Endpoint Surface</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595628"/>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6" name="Rounded Rectangle 5"/>
          <p:cNvSpPr/>
          <p:nvPr/>
        </p:nvSpPr>
        <p:spPr>
          <a:xfrm>
            <a:off x="1280160" y="1595628"/>
            <a:ext cx="713232" cy="292608"/>
          </a:xfrm>
          <a:prstGeom prst="roundRect">
            <a:avLst>
              <a:gd name="adj" fmla="val 4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POST</a:t>
            </a:r>
          </a:p>
        </p:txBody>
      </p:sp>
      <p:sp>
        <p:nvSpPr>
          <p:cNvPr id="7" name="TextBox 6"/>
          <p:cNvSpPr txBox="1"/>
          <p:nvPr/>
        </p:nvSpPr>
        <p:spPr>
          <a:xfrm>
            <a:off x="2139696" y="1591056"/>
            <a:ext cx="9466783" cy="292608"/>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a:t>
            </a:r>
          </a:p>
        </p:txBody>
      </p:sp>
      <p:sp>
        <p:nvSpPr>
          <p:cNvPr id="8" name="Rounded Rectangle 7"/>
          <p:cNvSpPr/>
          <p:nvPr/>
        </p:nvSpPr>
        <p:spPr>
          <a:xfrm>
            <a:off x="566928" y="1961388"/>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9" name="TextBox 8"/>
          <p:cNvSpPr txBox="1"/>
          <p:nvPr/>
        </p:nvSpPr>
        <p:spPr>
          <a:xfrm>
            <a:off x="1353312" y="1956816"/>
            <a:ext cx="10253167" cy="292608"/>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/collections/{collectionId}</a:t>
            </a:r>
          </a:p>
        </p:txBody>
      </p:sp>
      <p:sp>
        <p:nvSpPr>
          <p:cNvPr id="10" name="Rounded Rectangle 9"/>
          <p:cNvSpPr/>
          <p:nvPr/>
        </p:nvSpPr>
        <p:spPr>
          <a:xfrm>
            <a:off x="566928" y="2327148"/>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11" name="Rounded Rectangle 10"/>
          <p:cNvSpPr/>
          <p:nvPr/>
        </p:nvSpPr>
        <p:spPr>
          <a:xfrm>
            <a:off x="1280160" y="2327148"/>
            <a:ext cx="713232" cy="292608"/>
          </a:xfrm>
          <a:prstGeom prst="roundRect">
            <a:avLst>
              <a:gd name="adj" fmla="val 4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POST</a:t>
            </a:r>
          </a:p>
        </p:txBody>
      </p:sp>
      <p:sp>
        <p:nvSpPr>
          <p:cNvPr id="12" name="TextBox 11"/>
          <p:cNvSpPr txBox="1"/>
          <p:nvPr/>
        </p:nvSpPr>
        <p:spPr>
          <a:xfrm>
            <a:off x="2139696" y="2322576"/>
            <a:ext cx="9466783" cy="292608"/>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/collections/{collectionId}/items</a:t>
            </a:r>
          </a:p>
        </p:txBody>
      </p:sp>
      <p:sp>
        <p:nvSpPr>
          <p:cNvPr id="13" name="Rounded Rectangle 12"/>
          <p:cNvSpPr/>
          <p:nvPr/>
        </p:nvSpPr>
        <p:spPr>
          <a:xfrm>
            <a:off x="566928" y="2692908"/>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14" name="Rounded Rectangle 13"/>
          <p:cNvSpPr/>
          <p:nvPr/>
        </p:nvSpPr>
        <p:spPr>
          <a:xfrm>
            <a:off x="1280160" y="2692908"/>
            <a:ext cx="932688" cy="292608"/>
          </a:xfrm>
          <a:prstGeom prst="roundRect">
            <a:avLst>
              <a:gd name="adj" fmla="val 4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DELETE</a:t>
            </a:r>
          </a:p>
        </p:txBody>
      </p:sp>
      <p:sp>
        <p:nvSpPr>
          <p:cNvPr id="15" name="TextBox 14"/>
          <p:cNvSpPr txBox="1"/>
          <p:nvPr/>
        </p:nvSpPr>
        <p:spPr>
          <a:xfrm>
            <a:off x="2359152" y="2688336"/>
            <a:ext cx="9247327" cy="292608"/>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/collections/{collectionId}/items/{mFeatureId}</a:t>
            </a:r>
          </a:p>
        </p:txBody>
      </p:sp>
      <p:sp>
        <p:nvSpPr>
          <p:cNvPr id="16" name="Rounded Rectangle 15"/>
          <p:cNvSpPr/>
          <p:nvPr/>
        </p:nvSpPr>
        <p:spPr>
          <a:xfrm>
            <a:off x="566928" y="3058668"/>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17" name="Rounded Rectangle 16"/>
          <p:cNvSpPr/>
          <p:nvPr/>
        </p:nvSpPr>
        <p:spPr>
          <a:xfrm>
            <a:off x="1280160" y="3058668"/>
            <a:ext cx="713232" cy="292608"/>
          </a:xfrm>
          <a:prstGeom prst="roundRect">
            <a:avLst>
              <a:gd name="adj" fmla="val 4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POST</a:t>
            </a:r>
          </a:p>
        </p:txBody>
      </p:sp>
      <p:sp>
        <p:nvSpPr>
          <p:cNvPr id="18" name="TextBox 17"/>
          <p:cNvSpPr txBox="1"/>
          <p:nvPr/>
        </p:nvSpPr>
        <p:spPr>
          <a:xfrm>
            <a:off x="2139696" y="3054096"/>
            <a:ext cx="9466783" cy="292608"/>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/collections/{collectionId}/items/{mFeatureId}/tgsequence</a:t>
            </a:r>
          </a:p>
        </p:txBody>
      </p:sp>
      <p:sp>
        <p:nvSpPr>
          <p:cNvPr id="19" name="Rounded Rectangle 18"/>
          <p:cNvSpPr/>
          <p:nvPr/>
        </p:nvSpPr>
        <p:spPr>
          <a:xfrm>
            <a:off x="566928" y="3424427"/>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20" name="TextBox 19"/>
          <p:cNvSpPr txBox="1"/>
          <p:nvPr/>
        </p:nvSpPr>
        <p:spPr>
          <a:xfrm>
            <a:off x="1353312" y="3419856"/>
            <a:ext cx="10253167" cy="292608"/>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/collections/{collectionId}/items/{mFeatureId}/tgsequence/{tGeometryId}/distance</a:t>
            </a:r>
          </a:p>
        </p:txBody>
      </p:sp>
      <p:sp>
        <p:nvSpPr>
          <p:cNvPr id="21" name="Rounded Rectangle 20"/>
          <p:cNvSpPr/>
          <p:nvPr/>
        </p:nvSpPr>
        <p:spPr>
          <a:xfrm>
            <a:off x="566928" y="3790187"/>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22" name="TextBox 21"/>
          <p:cNvSpPr txBox="1"/>
          <p:nvPr/>
        </p:nvSpPr>
        <p:spPr>
          <a:xfrm>
            <a:off x="1353312" y="3785615"/>
            <a:ext cx="10253167" cy="292608"/>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/collections/{collectionId}/items/{mFeatureId}/tgsequence/{tGeometryId}/velocity</a:t>
            </a:r>
          </a:p>
        </p:txBody>
      </p:sp>
      <p:sp>
        <p:nvSpPr>
          <p:cNvPr id="23" name="Rounded Rectangle 22"/>
          <p:cNvSpPr/>
          <p:nvPr/>
        </p:nvSpPr>
        <p:spPr>
          <a:xfrm>
            <a:off x="566928" y="4155948"/>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24" name="TextBox 23"/>
          <p:cNvSpPr txBox="1"/>
          <p:nvPr/>
        </p:nvSpPr>
        <p:spPr>
          <a:xfrm>
            <a:off x="1353312" y="4151376"/>
            <a:ext cx="10253167" cy="292608"/>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/collections/{collectionId}/items/{mFeatureId}/tproperties</a:t>
            </a:r>
          </a:p>
        </p:txBody>
      </p:sp>
      <p:sp>
        <p:nvSpPr>
          <p:cNvPr id="25" name="Rounded Rectangle 24"/>
          <p:cNvSpPr/>
          <p:nvPr/>
        </p:nvSpPr>
        <p:spPr>
          <a:xfrm>
            <a:off x="566928" y="4521708"/>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26" name="TextBox 25"/>
          <p:cNvSpPr txBox="1"/>
          <p:nvPr/>
        </p:nvSpPr>
        <p:spPr>
          <a:xfrm>
            <a:off x="1353312" y="4517136"/>
            <a:ext cx="10253167" cy="292608"/>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/collections/{collectionId}/items/{mFeatureId}/tproperties/{tPropertyName}</a:t>
            </a:r>
          </a:p>
        </p:txBody>
      </p:sp>
      <p:sp>
        <p:nvSpPr>
          <p:cNvPr id="27" name="Rounded Rectangle 26"/>
          <p:cNvSpPr/>
          <p:nvPr/>
        </p:nvSpPr>
        <p:spPr>
          <a:xfrm>
            <a:off x="566928" y="4887468"/>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28" name="TextBox 27"/>
          <p:cNvSpPr txBox="1"/>
          <p:nvPr/>
        </p:nvSpPr>
        <p:spPr>
          <a:xfrm>
            <a:off x="1353312" y="4882896"/>
            <a:ext cx="10253167" cy="292608"/>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   ·   /api   ·   /conformance</a:t>
            </a:r>
          </a:p>
        </p:txBody>
      </p:sp>
      <p:sp>
        <p:nvSpPr>
          <p:cNvPr id="29" name="Rounded Rectangle 28"/>
          <p:cNvSpPr/>
          <p:nvPr/>
        </p:nvSpPr>
        <p:spPr>
          <a:xfrm>
            <a:off x="566928" y="5358384"/>
            <a:ext cx="11057839" cy="969264"/>
          </a:xfrm>
          <a:prstGeom prst="roundRect">
            <a:avLst>
              <a:gd name="adj" fmla="val 4000"/>
            </a:avLst>
          </a:prstGeom>
          <a:solidFill>
            <a:srgbClr val="F1F5F8"/>
          </a:solidFill>
          <a:ln>
            <a:noFill/>
          </a:ln>
          <a:effectLst/>
        </p:spPr>
        <p:txBody>
          <a:bodyPr rtlCol="0" anchor="ctr"/>
          <a:lstStyle/>
          <a:p>
            <a:pPr algn="ctr"/>
            <a:endParaRPr/>
          </a:p>
        </p:txBody>
      </p:sp>
      <p:sp>
        <p:nvSpPr>
          <p:cNvPr id="30" name="TextBox 29"/>
          <p:cNvSpPr txBox="1"/>
          <p:nvPr/>
        </p:nvSpPr>
        <p:spPr>
          <a:xfrm>
            <a:off x="822960" y="5449824"/>
            <a:ext cx="10545775"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Notes</a:t>
            </a:r>
          </a:p>
        </p:txBody>
      </p:sp>
      <p:sp>
        <p:nvSpPr>
          <p:cNvPr id="31" name="TextBox 30"/>
          <p:cNvSpPr txBox="1"/>
          <p:nvPr/>
        </p:nvSpPr>
        <p:spPr>
          <a:xfrm>
            <a:off x="822960" y="5742432"/>
            <a:ext cx="10545775" cy="530352"/>
          </a:xfrm>
          <a:prstGeom prst="rect">
            <a:avLst/>
          </a:prstGeom>
          <a:noFill/>
        </p:spPr>
        <p:txBody>
          <a:bodyPr wrap="square" lIns="0" tIns="0" rIns="0" bIns="0">
            <a:noAutofit/>
          </a:bodyPr>
          <a:lstStyle/>
          <a:p>
            <a:pPr>
              <a:lnSpc>
                <a:spcPct val="106000"/>
              </a:lnSpc>
              <a:spcBef>
                <a:spcPts val="0"/>
              </a:spcBef>
              <a:spcAft>
                <a:spcPts val="300"/>
              </a:spcAft>
            </a:pPr>
            <a:r>
              <a:rPr sz="1200" b="1">
                <a:solidFill>
                  <a:srgbClr val="156082"/>
                </a:solidFill>
                <a:latin typeface="Calibri"/>
              </a:rPr>
              <a:t>▸  </a:t>
            </a:r>
            <a:r>
              <a:rPr sz="1200">
                <a:solidFill>
                  <a:srgbClr val="1E2B36"/>
                </a:solidFill>
                <a:latin typeface="Calibri"/>
              </a:rPr>
              <a:t>Every path above is OGC API – Moving Features – Part 1: Core; acceleration returns 501 (not derivable)</a:t>
            </a:r>
          </a:p>
          <a:p>
            <a:pPr>
              <a:lnSpc>
                <a:spcPct val="106000"/>
              </a:lnSpc>
              <a:spcBef>
                <a:spcPts val="0"/>
              </a:spcBef>
              <a:spcAft>
                <a:spcPts val="300"/>
              </a:spcAft>
            </a:pPr>
            <a:r>
              <a:rPr sz="1200" b="1">
                <a:solidFill>
                  <a:srgbClr val="156082"/>
                </a:solidFill>
                <a:latin typeface="Calibri"/>
              </a:rPr>
              <a:t>▸  </a:t>
            </a:r>
            <a:r>
              <a:rPr sz="1200">
                <a:solidFill>
                  <a:srgbClr val="1E2B36"/>
                </a:solidFill>
                <a:latin typeface="Calibri"/>
              </a:rPr>
              <a:t>Items query parameters: bbox, datetime, subtrajectory, leaf, limit, page cursor</a:t>
            </a:r>
          </a:p>
        </p:txBody>
      </p:sp>
      <p:sp>
        <p:nvSpPr>
          <p:cNvPr id="32" name="Rectangle 31"/>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34" name="TextBox 33"/>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p:cNvGrpSpPr/>
        <p:nvPr/>
      </p:nvGrpSpPr>
      <p:grpSpPr>
        <a:xfrm>
          <a:off x="0" y="0"/>
          <a:ext cx="0" cy="0"/>
          <a:chOff x="0" y="0"/>
          <a:chExt cx="0" cy="0"/>
        </a:xfrm>
      </p:grpSpPr>
      <p:sp>
        <p:nvSpPr>
          <p:cNvPr id="2" name="Rectangle 1"/>
          <p:cNvSpPr/>
          <p:nvPr/>
        </p:nvSpPr>
        <p:spPr>
          <a:xfrm>
            <a:off x="0" y="0"/>
            <a:ext cx="164592" cy="68580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11696"/>
            <a:ext cx="12191695" cy="14630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240280"/>
            <a:ext cx="8229600" cy="365760"/>
          </a:xfrm>
          <a:prstGeom prst="rect">
            <a:avLst/>
          </a:prstGeom>
          <a:noFill/>
        </p:spPr>
        <p:txBody>
          <a:bodyPr wrap="square" lIns="0" tIns="0" rIns="0" bIns="0" anchor="t">
            <a:noAutofit/>
          </a:bodyPr>
          <a:lstStyle/>
          <a:p>
            <a:pPr algn="l">
              <a:spcBef>
                <a:spcPts val="0"/>
              </a:spcBef>
              <a:spcAft>
                <a:spcPts val="200"/>
              </a:spcAft>
            </a:pPr>
            <a:r>
              <a:rPr sz="1600" b="1" i="0">
                <a:solidFill>
                  <a:srgbClr val="156082"/>
                </a:solidFill>
                <a:latin typeface="Calibri"/>
              </a:rPr>
              <a:t>WALKTHROUGH</a:t>
            </a:r>
          </a:p>
        </p:txBody>
      </p:sp>
      <p:sp>
        <p:nvSpPr>
          <p:cNvPr id="5" name="TextBox 4"/>
          <p:cNvSpPr txBox="1"/>
          <p:nvPr/>
        </p:nvSpPr>
        <p:spPr>
          <a:xfrm>
            <a:off x="566928" y="2697480"/>
            <a:ext cx="10515600" cy="914400"/>
          </a:xfrm>
          <a:prstGeom prst="rect">
            <a:avLst/>
          </a:prstGeom>
          <a:noFill/>
        </p:spPr>
        <p:txBody>
          <a:bodyPr wrap="square" lIns="0" tIns="0" rIns="0" bIns="0" anchor="t">
            <a:noAutofit/>
          </a:bodyPr>
          <a:lstStyle/>
          <a:p>
            <a:pPr algn="l">
              <a:spcBef>
                <a:spcPts val="0"/>
              </a:spcBef>
              <a:spcAft>
                <a:spcPts val="200"/>
              </a:spcAft>
            </a:pPr>
            <a:r>
              <a:rPr sz="4400" b="1" i="0">
                <a:solidFill>
                  <a:srgbClr val="FFFFFF"/>
                </a:solidFill>
                <a:latin typeface="Calibri Light"/>
              </a:rPr>
              <a:t>The Ships Collection, End to End</a:t>
            </a:r>
          </a:p>
        </p:txBody>
      </p:sp>
      <p:sp>
        <p:nvSpPr>
          <p:cNvPr id="6" name="TextBox 5"/>
          <p:cNvSpPr txBox="1"/>
          <p:nvPr/>
        </p:nvSpPr>
        <p:spPr>
          <a:xfrm>
            <a:off x="566928" y="3794760"/>
            <a:ext cx="10058400" cy="457200"/>
          </a:xfrm>
          <a:prstGeom prst="rect">
            <a:avLst/>
          </a:prstGeom>
          <a:noFill/>
        </p:spPr>
        <p:txBody>
          <a:bodyPr wrap="square" lIns="0" tIns="0" rIns="0" bIns="0" anchor="t">
            <a:noAutofit/>
          </a:bodyPr>
          <a:lstStyle/>
          <a:p>
            <a:pPr algn="l">
              <a:spcBef>
                <a:spcPts val="0"/>
              </a:spcBef>
              <a:spcAft>
                <a:spcPts val="200"/>
              </a:spcAft>
            </a:pPr>
            <a:r>
              <a:rPr sz="1600" b="0" i="0">
                <a:solidFill>
                  <a:srgbClr val="9EB8C8"/>
                </a:solidFill>
                <a:latin typeface="Calibri"/>
              </a:rPr>
              <a:t>List  →  filter  →  retrieve  →  derive  →  write, all over HTTP</a:t>
            </a:r>
          </a:p>
        </p:txBody>
      </p:sp>
      <p:sp>
        <p:nvSpPr>
          <p:cNvPr id="7" name="TextBox 6"/>
          <p:cNvSpPr txBox="1"/>
          <p:nvPr/>
        </p:nvSpPr>
        <p:spPr>
          <a:xfrm>
            <a:off x="10908792" y="6510528"/>
            <a:ext cx="731520" cy="274320"/>
          </a:xfrm>
          <a:prstGeom prst="rect">
            <a:avLst/>
          </a:prstGeom>
          <a:noFill/>
        </p:spPr>
        <p:txBody>
          <a:bodyPr wrap="none">
            <a:spAutoFit/>
          </a:bodyPr>
          <a:lstStyle/>
          <a:p>
            <a:pPr algn="r"/>
            <a:r>
              <a:rPr sz="1200">
                <a:solidFill>
                  <a:srgbClr val="5B6B78"/>
                </a:solidFill>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COLLECTIONS</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List Collections · Retrieve One</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55448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6" name="TextBox 5"/>
          <p:cNvSpPr txBox="1"/>
          <p:nvPr/>
        </p:nvSpPr>
        <p:spPr>
          <a:xfrm>
            <a:off x="1316736" y="1545336"/>
            <a:ext cx="4736592"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a:t>
            </a:r>
          </a:p>
        </p:txBody>
      </p:sp>
      <p:sp>
        <p:nvSpPr>
          <p:cNvPr id="7" name="TextBox 6"/>
          <p:cNvSpPr txBox="1"/>
          <p:nvPr/>
        </p:nvSpPr>
        <p:spPr>
          <a:xfrm>
            <a:off x="566928" y="1883664"/>
            <a:ext cx="5486400" cy="274320"/>
          </a:xfrm>
          <a:prstGeom prst="rect">
            <a:avLst/>
          </a:prstGeom>
          <a:noFill/>
        </p:spPr>
        <p:txBody>
          <a:bodyPr wrap="square" lIns="0" tIns="0" rIns="0" bIns="0" anchor="t">
            <a:noAutofit/>
          </a:bodyPr>
          <a:lstStyle/>
          <a:p>
            <a:pPr algn="l">
              <a:spcBef>
                <a:spcPts val="0"/>
              </a:spcBef>
              <a:spcAft>
                <a:spcPts val="200"/>
              </a:spcAft>
            </a:pPr>
            <a:r>
              <a:rPr sz="1200" b="1" i="0">
                <a:solidFill>
                  <a:srgbClr val="196B24"/>
                </a:solidFill>
                <a:latin typeface="Consolas"/>
              </a:rPr>
              <a:t>200 OK</a:t>
            </a:r>
          </a:p>
        </p:txBody>
      </p:sp>
      <p:sp>
        <p:nvSpPr>
          <p:cNvPr id="8" name="Rounded Rectangle 7"/>
          <p:cNvSpPr/>
          <p:nvPr/>
        </p:nvSpPr>
        <p:spPr>
          <a:xfrm>
            <a:off x="566928" y="2194560"/>
            <a:ext cx="5486400" cy="393192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ODEPANEL"/>
          <p:cNvSpPr txBox="1"/>
          <p:nvPr/>
        </p:nvSpPr>
        <p:spPr>
          <a:xfrm>
            <a:off x="694944" y="2286000"/>
            <a:ext cx="5230368" cy="3749039"/>
          </a:xfrm>
          <a:prstGeom prst="rect">
            <a:avLst/>
          </a:prstGeom>
          <a:noFill/>
        </p:spPr>
        <p:txBody>
          <a:bodyPr wrap="square" lIns="0" tIns="0" rIns="0" bIns="0">
            <a:noAutofit/>
          </a:bodyPr>
          <a:lstStyle/>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"collections"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"ships"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"title"</a:t>
            </a:r>
            <a:r>
              <a:rPr sz="1200">
                <a:solidFill>
                  <a:srgbClr val="C2D0DA"/>
                </a:solidFill>
                <a:latin typeface="Consolas"/>
              </a:rPr>
              <a:t>: </a:t>
            </a:r>
            <a:r>
              <a:rPr sz="1200">
                <a:solidFill>
                  <a:srgbClr val="E6A36A"/>
                </a:solidFill>
                <a:latin typeface="Consolas"/>
              </a:rPr>
              <a:t>"ships"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"itemType"</a:t>
            </a:r>
            <a:r>
              <a:rPr sz="1200">
                <a:solidFill>
                  <a:srgbClr val="C2D0DA"/>
                </a:solidFill>
                <a:latin typeface="Consolas"/>
              </a:rPr>
              <a:t>: </a:t>
            </a:r>
            <a:r>
              <a:rPr sz="1200">
                <a:solidFill>
                  <a:srgbClr val="E6A36A"/>
                </a:solidFill>
                <a:latin typeface="Consolas"/>
              </a:rPr>
              <a:t>"movingfeature"</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"description"</a:t>
            </a:r>
            <a:r>
              <a:rPr sz="1200">
                <a:solidFill>
                  <a:srgbClr val="C2D0DA"/>
                </a:solidFill>
                <a:latin typeface="Consolas"/>
              </a:rPr>
              <a:t>: </a:t>
            </a:r>
            <a:r>
              <a:rPr sz="1200">
                <a:solidFill>
                  <a:srgbClr val="E6A36A"/>
                </a:solidFill>
                <a:latin typeface="Consolas"/>
              </a:rPr>
              <a:t>"Danish AIS vessel trajectories"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"links"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"items"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"href"</a:t>
            </a:r>
            <a:r>
              <a:rPr sz="1200">
                <a:solidFill>
                  <a:srgbClr val="C2D0DA"/>
                </a:solidFill>
                <a:latin typeface="Consolas"/>
              </a:rPr>
              <a:t>: </a:t>
            </a:r>
            <a:r>
              <a:rPr sz="1200">
                <a:solidFill>
                  <a:srgbClr val="E6A36A"/>
                </a:solidFill>
                <a:latin typeface="Consolas"/>
              </a:rPr>
              <a:t>"/collections/ships/items"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"enclosure"</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"href"</a:t>
            </a:r>
            <a:r>
              <a:rPr sz="1200">
                <a:solidFill>
                  <a:srgbClr val="C2D0DA"/>
                </a:solidFill>
                <a:latin typeface="Consolas"/>
              </a:rPr>
              <a:t>: </a:t>
            </a:r>
            <a:r>
              <a:rPr sz="1200">
                <a:solidFill>
                  <a:srgbClr val="E6A36A"/>
                </a:solidFill>
                <a:latin typeface="Consolas"/>
              </a:rPr>
              <a:t>"/collections/ships/export"</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"application/x-ndjson"</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a:t>
            </a:r>
          </a:p>
        </p:txBody>
      </p:sp>
      <p:sp>
        <p:nvSpPr>
          <p:cNvPr id="10" name="Rounded Rectangle 9"/>
          <p:cNvSpPr/>
          <p:nvPr/>
        </p:nvSpPr>
        <p:spPr>
          <a:xfrm>
            <a:off x="6281928" y="155448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11" name="TextBox 10"/>
          <p:cNvSpPr txBox="1"/>
          <p:nvPr/>
        </p:nvSpPr>
        <p:spPr>
          <a:xfrm>
            <a:off x="7031736" y="1545336"/>
            <a:ext cx="4593031"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/collections/ships</a:t>
            </a:r>
          </a:p>
        </p:txBody>
      </p:sp>
      <p:sp>
        <p:nvSpPr>
          <p:cNvPr id="12" name="TextBox 11"/>
          <p:cNvSpPr txBox="1"/>
          <p:nvPr/>
        </p:nvSpPr>
        <p:spPr>
          <a:xfrm>
            <a:off x="6281928" y="1883664"/>
            <a:ext cx="5342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96B24"/>
                </a:solidFill>
                <a:latin typeface="Consolas"/>
              </a:rPr>
              <a:t>200 OK</a:t>
            </a:r>
          </a:p>
        </p:txBody>
      </p:sp>
      <p:sp>
        <p:nvSpPr>
          <p:cNvPr id="13" name="Rounded Rectangle 12"/>
          <p:cNvSpPr/>
          <p:nvPr/>
        </p:nvSpPr>
        <p:spPr>
          <a:xfrm>
            <a:off x="6281928" y="2194560"/>
            <a:ext cx="5342839" cy="274320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CODEPANEL"/>
          <p:cNvSpPr txBox="1"/>
          <p:nvPr/>
        </p:nvSpPr>
        <p:spPr>
          <a:xfrm>
            <a:off x="6409944" y="2286000"/>
            <a:ext cx="5086807" cy="2560320"/>
          </a:xfrm>
          <a:prstGeom prst="rect">
            <a:avLst/>
          </a:prstGeom>
          <a:noFill/>
        </p:spPr>
        <p:txBody>
          <a:bodyPr wrap="square" lIns="0" tIns="0" rIns="0" bIns="0">
            <a:noAutofit/>
          </a:bodyPr>
          <a:lstStyle/>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"ships"</a:t>
            </a:r>
            <a:r>
              <a:rPr sz="1200">
                <a:solidFill>
                  <a:srgbClr val="C2D0DA"/>
                </a:solidFill>
                <a:latin typeface="Consolas"/>
              </a:rPr>
              <a:t>, </a:t>
            </a:r>
            <a:r>
              <a:rPr sz="1200">
                <a:solidFill>
                  <a:srgbClr val="6FC3E0"/>
                </a:solidFill>
                <a:latin typeface="Consolas"/>
              </a:rPr>
              <a:t>"title"</a:t>
            </a:r>
            <a:r>
              <a:rPr sz="1200">
                <a:solidFill>
                  <a:srgbClr val="C2D0DA"/>
                </a:solidFill>
                <a:latin typeface="Consolas"/>
              </a:rPr>
              <a:t>: </a:t>
            </a:r>
            <a:r>
              <a:rPr sz="1200">
                <a:solidFill>
                  <a:srgbClr val="E6A36A"/>
                </a:solidFill>
                <a:latin typeface="Consolas"/>
              </a:rPr>
              <a:t>"ships"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"itemType"</a:t>
            </a:r>
            <a:r>
              <a:rPr sz="1200">
                <a:solidFill>
                  <a:srgbClr val="C2D0DA"/>
                </a:solidFill>
                <a:latin typeface="Consolas"/>
              </a:rPr>
              <a:t>: </a:t>
            </a:r>
            <a:r>
              <a:rPr sz="1200">
                <a:solidFill>
                  <a:srgbClr val="E6A36A"/>
                </a:solidFill>
                <a:latin typeface="Consolas"/>
              </a:rPr>
              <a:t>"movingfeature"</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"description"</a:t>
            </a:r>
            <a:r>
              <a:rPr sz="1200">
                <a:solidFill>
                  <a:srgbClr val="C2D0DA"/>
                </a:solidFill>
                <a:latin typeface="Consolas"/>
              </a:rPr>
              <a:t>: </a:t>
            </a:r>
            <a:r>
              <a:rPr sz="1200">
                <a:solidFill>
                  <a:srgbClr val="E6A36A"/>
                </a:solidFill>
                <a:latin typeface="Consolas"/>
              </a:rPr>
              <a:t>"Danish AIS vessel trajectories"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"crs"</a:t>
            </a:r>
            <a:r>
              <a:rPr sz="1200">
                <a:solidFill>
                  <a:srgbClr val="C2D0DA"/>
                </a:solidFill>
                <a:latin typeface="Consolas"/>
              </a:rPr>
              <a:t>: [</a:t>
            </a:r>
            <a:r>
              <a:rPr sz="1200">
                <a:solidFill>
                  <a:srgbClr val="E6A36A"/>
                </a:solidFill>
                <a:latin typeface="Consolas"/>
              </a:rPr>
              <a:t>".../def/crs/EPSG/0/25832"</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"extent"</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"spatial"</a:t>
            </a:r>
            <a:r>
              <a:rPr sz="1200">
                <a:solidFill>
                  <a:srgbClr val="C2D0DA"/>
                </a:solidFill>
                <a:latin typeface="Consolas"/>
              </a:rPr>
              <a:t>:  { </a:t>
            </a:r>
            <a:r>
              <a:rPr sz="1200">
                <a:solidFill>
                  <a:srgbClr val="6FC3E0"/>
                </a:solidFill>
                <a:latin typeface="Consolas"/>
              </a:rPr>
              <a:t>"bbox"</a:t>
            </a:r>
            <a:r>
              <a:rPr sz="1200">
                <a:solidFill>
                  <a:srgbClr val="C2D0DA"/>
                </a:solidFill>
                <a:latin typeface="Consolas"/>
              </a:rPr>
              <a:t>: [[</a:t>
            </a:r>
            <a:r>
              <a:rPr sz="1200">
                <a:solidFill>
                  <a:srgbClr val="C9E08A"/>
                </a:solidFill>
                <a:latin typeface="Consolas"/>
              </a:rPr>
              <a:t>152625</a:t>
            </a:r>
            <a:r>
              <a:rPr sz="1200">
                <a:solidFill>
                  <a:srgbClr val="C2D0DA"/>
                </a:solidFill>
                <a:latin typeface="Consolas"/>
              </a:rPr>
              <a:t>, </a:t>
            </a:r>
            <a:r>
              <a:rPr sz="1200">
                <a:solidFill>
                  <a:srgbClr val="C9E08A"/>
                </a:solidFill>
                <a:latin typeface="Consolas"/>
              </a:rPr>
              <a:t>5942006</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C9E08A"/>
                </a:solidFill>
                <a:latin typeface="Consolas"/>
              </a:rPr>
              <a:t>1020003</a:t>
            </a:r>
            <a:r>
              <a:rPr sz="1200">
                <a:solidFill>
                  <a:srgbClr val="C2D0DA"/>
                </a:solidFill>
                <a:latin typeface="Consolas"/>
              </a:rPr>
              <a:t>, </a:t>
            </a:r>
            <a:r>
              <a:rPr sz="1200">
                <a:solidFill>
                  <a:srgbClr val="C9E08A"/>
                </a:solidFill>
                <a:latin typeface="Consolas"/>
              </a:rPr>
              <a:t>6545239</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"temporal"</a:t>
            </a:r>
            <a:r>
              <a:rPr sz="1200">
                <a:solidFill>
                  <a:srgbClr val="C2D0DA"/>
                </a:solidFill>
                <a:latin typeface="Consolas"/>
              </a:rPr>
              <a:t>: { </a:t>
            </a:r>
            <a:r>
              <a:rPr sz="1200">
                <a:solidFill>
                  <a:srgbClr val="6FC3E0"/>
                </a:solidFill>
                <a:latin typeface="Consolas"/>
              </a:rPr>
              <a:t>"interval"</a:t>
            </a:r>
            <a:r>
              <a:rPr sz="1200">
                <a:solidFill>
                  <a:srgbClr val="C2D0DA"/>
                </a:solidFill>
                <a:latin typeface="Consolas"/>
              </a:rPr>
              <a:t>: [[</a:t>
            </a:r>
            <a:r>
              <a:rPr sz="1200">
                <a:solidFill>
                  <a:srgbClr val="E6A36A"/>
                </a:solidFill>
                <a:latin typeface="Consolas"/>
              </a:rPr>
              <a:t>"2026-02-26 ..."</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E6A36A"/>
                </a:solidFill>
                <a:latin typeface="Consolas"/>
              </a:rPr>
              <a:t>"2026-02-27 ..."</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"links"</a:t>
            </a:r>
            <a:r>
              <a:rPr sz="1200">
                <a:solidFill>
                  <a:srgbClr val="C2D0DA"/>
                </a:solidFill>
                <a:latin typeface="Consolas"/>
              </a:rPr>
              <a:t>: [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"self"</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"items"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"enclosure"</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a:t>
            </a:r>
          </a:p>
        </p:txBody>
      </p:sp>
      <p:sp>
        <p:nvSpPr>
          <p:cNvPr id="15" name="TextBox 14"/>
          <p:cNvSpPr txBox="1"/>
          <p:nvPr/>
        </p:nvSpPr>
        <p:spPr>
          <a:xfrm>
            <a:off x="6281928" y="5029200"/>
            <a:ext cx="5342839" cy="1097280"/>
          </a:xfrm>
          <a:prstGeom prst="rect">
            <a:avLst/>
          </a:prstGeom>
          <a:noFill/>
        </p:spPr>
        <p:txBody>
          <a:bodyPr wrap="square" lIns="0" tIns="0" rIns="0" bIns="0">
            <a:noAutofit/>
          </a:bodyPr>
          <a:lstStyle/>
          <a:p>
            <a:pPr>
              <a:lnSpc>
                <a:spcPct val="106000"/>
              </a:lnSpc>
              <a:spcBef>
                <a:spcPts val="0"/>
              </a:spcBef>
              <a:spcAft>
                <a:spcPts val="800"/>
              </a:spcAft>
            </a:pPr>
            <a:r>
              <a:rPr sz="1200" b="1">
                <a:solidFill>
                  <a:srgbClr val="156082"/>
                </a:solidFill>
                <a:latin typeface="Calibri"/>
              </a:rPr>
              <a:t>▸  </a:t>
            </a:r>
            <a:r>
              <a:rPr sz="1200">
                <a:solidFill>
                  <a:srgbClr val="1E2B36"/>
                </a:solidFill>
                <a:latin typeface="Calibri"/>
              </a:rPr>
              <a:t>extent is the spatial bbox and time interval of the collection</a:t>
            </a:r>
          </a:p>
          <a:p>
            <a:pPr>
              <a:lnSpc>
                <a:spcPct val="106000"/>
              </a:lnSpc>
              <a:spcBef>
                <a:spcPts val="0"/>
              </a:spcBef>
              <a:spcAft>
                <a:spcPts val="800"/>
              </a:spcAft>
            </a:pPr>
            <a:r>
              <a:rPr sz="1200" b="1">
                <a:solidFill>
                  <a:srgbClr val="156082"/>
                </a:solidFill>
                <a:latin typeface="Calibri"/>
              </a:rPr>
              <a:t>▸  </a:t>
            </a:r>
            <a:r>
              <a:rPr sz="1200">
                <a:solidFill>
                  <a:srgbClr val="1E2B36"/>
                </a:solidFill>
                <a:latin typeface="Calibri"/>
              </a:rPr>
              <a:t>crs and links round out the standard collection resource</a:t>
            </a:r>
          </a:p>
        </p:txBody>
      </p:sp>
      <p:sp>
        <p:nvSpPr>
          <p:cNvPr id="16" name="Rectangle 15"/>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8" name="TextBox 17"/>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MOVING FEATURES</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Stream the FeatureCollection, Page by Keyset</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55448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6" name="TextBox 5"/>
          <p:cNvSpPr txBox="1"/>
          <p:nvPr/>
        </p:nvSpPr>
        <p:spPr>
          <a:xfrm>
            <a:off x="1316736" y="1545336"/>
            <a:ext cx="10308031"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/collections/ships/items?limit=2</a:t>
            </a:r>
          </a:p>
        </p:txBody>
      </p:sp>
      <p:sp>
        <p:nvSpPr>
          <p:cNvPr id="7" name="Rounded Rectangle 6"/>
          <p:cNvSpPr/>
          <p:nvPr/>
        </p:nvSpPr>
        <p:spPr>
          <a:xfrm>
            <a:off x="566928" y="1874519"/>
            <a:ext cx="7040880" cy="443484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DEPANEL"/>
          <p:cNvSpPr txBox="1"/>
          <p:nvPr/>
        </p:nvSpPr>
        <p:spPr>
          <a:xfrm>
            <a:off x="694944" y="1965960"/>
            <a:ext cx="6784848" cy="4251959"/>
          </a:xfrm>
          <a:prstGeom prst="rect">
            <a:avLst/>
          </a:prstGeom>
          <a:noFill/>
        </p:spPr>
        <p:txBody>
          <a:bodyPr wrap="square" lIns="0" tIns="0" rIns="0" bIns="0">
            <a:noAutofit/>
          </a:bodyPr>
          <a:lstStyle/>
          <a:p>
            <a:pPr>
              <a:lnSpc>
                <a:spcPct val="102000"/>
              </a:lnSpc>
              <a:spcBef>
                <a:spcPts val="0"/>
              </a:spcBef>
              <a:spcAft>
                <a:spcPts val="0"/>
              </a:spcAft>
            </a:pPr>
            <a:r>
              <a:rPr sz="1200">
                <a:solidFill>
                  <a:srgbClr val="C9E08A"/>
                </a:solidFill>
                <a:latin typeface="Consolas"/>
              </a:rPr>
              <a:t>200</a:t>
            </a:r>
            <a:r>
              <a:rPr sz="1200">
                <a:solidFill>
                  <a:srgbClr val="C2D0DA"/>
                </a:solidFill>
                <a:latin typeface="Consolas"/>
              </a:rPr>
              <a:t> OK   Content-Type: application/json</a:t>
            </a:r>
          </a:p>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"FeatureCollection"</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"features"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"1"</a:t>
            </a: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"Feature"</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"properties"</a:t>
            </a:r>
            <a:r>
              <a:rPr sz="1200">
                <a:solidFill>
                  <a:srgbClr val="C2D0DA"/>
                </a:solidFill>
                <a:latin typeface="Consolas"/>
              </a:rPr>
              <a:t>: { </a:t>
            </a:r>
            <a:r>
              <a:rPr sz="1200">
                <a:solidFill>
                  <a:srgbClr val="6FC3E0"/>
                </a:solidFill>
                <a:latin typeface="Consolas"/>
              </a:rPr>
              <a:t>"mmsi"</a:t>
            </a:r>
            <a:r>
              <a:rPr sz="1200">
                <a:solidFill>
                  <a:srgbClr val="C2D0DA"/>
                </a:solidFill>
                <a:latin typeface="Consolas"/>
              </a:rPr>
              <a:t>: </a:t>
            </a:r>
            <a:r>
              <a:rPr sz="1200">
                <a:solidFill>
                  <a:srgbClr val="C9E08A"/>
                </a:solidFill>
                <a:latin typeface="Consolas"/>
              </a:rPr>
              <a:t>111219510</a:t>
            </a:r>
            <a:r>
              <a:rPr sz="1200">
                <a:solidFill>
                  <a:srgbClr val="C2D0DA"/>
                </a:solidFill>
                <a:latin typeface="Consolas"/>
              </a:rPr>
              <a:t>,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"vessel 111219510"</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"crs"</a:t>
            </a:r>
            <a:r>
              <a:rPr sz="1200">
                <a:solidFill>
                  <a:srgbClr val="C2D0DA"/>
                </a:solidFill>
                <a:latin typeface="Consolas"/>
              </a:rPr>
              <a:t>: {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"Name"</a:t>
            </a:r>
            <a:r>
              <a:rPr sz="1200">
                <a:solidFill>
                  <a:srgbClr val="C2D0DA"/>
                </a:solidFill>
                <a:latin typeface="Consolas"/>
              </a:rPr>
              <a:t>, </a:t>
            </a:r>
            <a:r>
              <a:rPr sz="1200">
                <a:solidFill>
                  <a:srgbClr val="6FC3E0"/>
                </a:solidFill>
                <a:latin typeface="Consolas"/>
              </a:rPr>
              <a:t>"properties"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"urn:ogc:def:crs:EPSG::25832"</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"bbox"</a:t>
            </a:r>
            <a:r>
              <a:rPr sz="1200">
                <a:solidFill>
                  <a:srgbClr val="C2D0DA"/>
                </a:solidFill>
                <a:latin typeface="Consolas"/>
              </a:rPr>
              <a:t>: [</a:t>
            </a:r>
            <a:r>
              <a:rPr sz="1200">
                <a:solidFill>
                  <a:srgbClr val="C9E08A"/>
                </a:solidFill>
                <a:latin typeface="Consolas"/>
              </a:rPr>
              <a:t>550889</a:t>
            </a:r>
            <a:r>
              <a:rPr sz="1200">
                <a:solidFill>
                  <a:srgbClr val="C2D0DA"/>
                </a:solidFill>
                <a:latin typeface="Consolas"/>
              </a:rPr>
              <a:t>, </a:t>
            </a:r>
            <a:r>
              <a:rPr sz="1200">
                <a:solidFill>
                  <a:srgbClr val="C9E08A"/>
                </a:solidFill>
                <a:latin typeface="Consolas"/>
              </a:rPr>
              <a:t>6328752</a:t>
            </a:r>
            <a:r>
              <a:rPr sz="1200">
                <a:solidFill>
                  <a:srgbClr val="C2D0DA"/>
                </a:solidFill>
                <a:latin typeface="Consolas"/>
              </a:rPr>
              <a:t>, </a:t>
            </a:r>
            <a:r>
              <a:rPr sz="1200">
                <a:solidFill>
                  <a:srgbClr val="C9E08A"/>
                </a:solidFill>
                <a:latin typeface="Consolas"/>
              </a:rPr>
              <a:t>616716</a:t>
            </a:r>
            <a:r>
              <a:rPr sz="1200">
                <a:solidFill>
                  <a:srgbClr val="C2D0DA"/>
                </a:solidFill>
                <a:latin typeface="Consolas"/>
              </a:rPr>
              <a:t>, </a:t>
            </a:r>
            <a:r>
              <a:rPr sz="1200">
                <a:solidFill>
                  <a:srgbClr val="C9E08A"/>
                </a:solidFill>
                <a:latin typeface="Consolas"/>
              </a:rPr>
              <a:t>6346258</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"time"</a:t>
            </a:r>
            <a:r>
              <a:rPr sz="1200">
                <a:solidFill>
                  <a:srgbClr val="C2D0DA"/>
                </a:solidFill>
                <a:latin typeface="Consolas"/>
              </a:rPr>
              <a:t>: [</a:t>
            </a:r>
            <a:r>
              <a:rPr sz="1200">
                <a:solidFill>
                  <a:srgbClr val="E6A36A"/>
                </a:solidFill>
                <a:latin typeface="Consolas"/>
              </a:rPr>
              <a:t>"2026-02-26 13:28:08+01"</a:t>
            </a:r>
            <a:r>
              <a:rPr sz="1200">
                <a:solidFill>
                  <a:srgbClr val="C2D0DA"/>
                </a:solidFill>
                <a:latin typeface="Consolas"/>
              </a:rPr>
              <a:t>, </a:t>
            </a:r>
            <a:r>
              <a:rPr sz="1200">
                <a:solidFill>
                  <a:srgbClr val="E6A36A"/>
                </a:solidFill>
                <a:latin typeface="Consolas"/>
              </a:rPr>
              <a:t>"2026-02-26 14:41:04+01"</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"temporalGeometry"</a:t>
            </a:r>
            <a:r>
              <a:rPr sz="1200">
                <a:solidFill>
                  <a:srgbClr val="C2D0DA"/>
                </a:solidFill>
                <a:latin typeface="Consolas"/>
              </a:rPr>
              <a:t>: {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"MovingPoint"</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"sequences"</a:t>
            </a:r>
            <a:r>
              <a:rPr sz="1200">
                <a:solidFill>
                  <a:srgbClr val="C2D0DA"/>
                </a:solidFill>
                <a:latin typeface="Consolas"/>
              </a:rPr>
              <a:t>: [ { </a:t>
            </a:r>
            <a:r>
              <a:rPr sz="1200">
                <a:solidFill>
                  <a:srgbClr val="6FC3E0"/>
                </a:solidFill>
                <a:latin typeface="Consolas"/>
              </a:rPr>
              <a:t>"datetimes"</a:t>
            </a:r>
            <a:r>
              <a:rPr sz="1200">
                <a:solidFill>
                  <a:srgbClr val="C2D0DA"/>
                </a:solidFill>
                <a:latin typeface="Consolas"/>
              </a:rPr>
              <a:t>: [...], </a:t>
            </a:r>
            <a:r>
              <a:rPr sz="1200">
                <a:solidFill>
                  <a:srgbClr val="6FC3E0"/>
                </a:solidFill>
                <a:latin typeface="Consolas"/>
              </a:rPr>
              <a:t>"coordinates"</a:t>
            </a:r>
            <a:r>
              <a:rPr sz="1200">
                <a:solidFill>
                  <a:srgbClr val="C2D0DA"/>
                </a:solidFill>
                <a:latin typeface="Consolas"/>
              </a:rPr>
              <a:t>: [...] }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"interpolation"</a:t>
            </a:r>
            <a:r>
              <a:rPr sz="1200">
                <a:solidFill>
                  <a:srgbClr val="C2D0DA"/>
                </a:solidFill>
                <a:latin typeface="Consolas"/>
              </a:rPr>
              <a:t>: </a:t>
            </a:r>
            <a:r>
              <a:rPr sz="1200">
                <a:solidFill>
                  <a:srgbClr val="E6A36A"/>
                </a:solidFill>
                <a:latin typeface="Consolas"/>
              </a:rPr>
              <a:t>"Linear"</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"links"</a:t>
            </a:r>
            <a:r>
              <a:rPr sz="1200">
                <a:solidFill>
                  <a:srgbClr val="C2D0DA"/>
                </a:solidFill>
                <a:latin typeface="Consolas"/>
              </a:rPr>
              <a:t>: [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"self"</a:t>
            </a:r>
            <a:r>
              <a:rPr sz="1200">
                <a:solidFill>
                  <a:srgbClr val="C2D0DA"/>
                </a:solidFill>
                <a:latin typeface="Consolas"/>
              </a:rPr>
              <a:t>, </a:t>
            </a:r>
            <a:r>
              <a:rPr sz="1200">
                <a:solidFill>
                  <a:srgbClr val="6FC3E0"/>
                </a:solidFill>
                <a:latin typeface="Consolas"/>
              </a:rPr>
              <a:t>"href"</a:t>
            </a:r>
            <a:r>
              <a:rPr sz="1200">
                <a:solidFill>
                  <a:srgbClr val="C2D0DA"/>
                </a:solidFill>
                <a:latin typeface="Consolas"/>
              </a:rPr>
              <a:t>: </a:t>
            </a:r>
            <a:r>
              <a:rPr sz="1200">
                <a:solidFill>
                  <a:srgbClr val="E6A36A"/>
                </a:solidFill>
                <a:latin typeface="Consolas"/>
              </a:rPr>
              <a:t>".../items/1"</a:t>
            </a:r>
            <a:r>
              <a:rPr sz="1200">
                <a:solidFill>
                  <a:srgbClr val="C2D0DA"/>
                </a:solidFill>
                <a:latin typeface="Consolas"/>
              </a:rPr>
              <a:t> } ]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"2"</a:t>
            </a: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"Feature"</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"numberReturned"</a:t>
            </a:r>
            <a:r>
              <a:rPr sz="1200">
                <a:solidFill>
                  <a:srgbClr val="C2D0DA"/>
                </a:solidFill>
                <a:latin typeface="Consolas"/>
              </a:rPr>
              <a:t>: </a:t>
            </a:r>
            <a:r>
              <a:rPr sz="1200">
                <a:solidFill>
                  <a:srgbClr val="C9E08A"/>
                </a:solidFill>
                <a:latin typeface="Consolas"/>
              </a:rPr>
              <a:t>2</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"links"</a:t>
            </a:r>
            <a:r>
              <a:rPr sz="1200">
                <a:solidFill>
                  <a:srgbClr val="C2D0DA"/>
                </a:solidFill>
                <a:latin typeface="Consolas"/>
              </a:rPr>
              <a:t>: [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"next"</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"href"</a:t>
            </a:r>
            <a:r>
              <a:rPr sz="1200">
                <a:solidFill>
                  <a:srgbClr val="C2D0DA"/>
                </a:solidFill>
                <a:latin typeface="Consolas"/>
              </a:rPr>
              <a:t>: </a:t>
            </a:r>
            <a:r>
              <a:rPr sz="1200">
                <a:solidFill>
                  <a:srgbClr val="E6A36A"/>
                </a:solidFill>
                <a:latin typeface="Consolas"/>
              </a:rPr>
              <a:t>"/collections/ships/items?after=2&amp;limit=2"</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a:t>
            </a:r>
          </a:p>
        </p:txBody>
      </p:sp>
      <p:sp>
        <p:nvSpPr>
          <p:cNvPr id="9" name="TextBox 8"/>
          <p:cNvSpPr txBox="1"/>
          <p:nvPr/>
        </p:nvSpPr>
        <p:spPr>
          <a:xfrm>
            <a:off x="7836408" y="1828800"/>
            <a:ext cx="3788359" cy="4206240"/>
          </a:xfrm>
          <a:prstGeom prst="rect">
            <a:avLst/>
          </a:prstGeom>
          <a:noFill/>
        </p:spPr>
        <p:txBody>
          <a:bodyPr wrap="square" lIns="0" tIns="0" rIns="0" bIns="0">
            <a:noAutofit/>
          </a:bodyPr>
          <a:lstStyle/>
          <a:p>
            <a:pPr>
              <a:lnSpc>
                <a:spcPct val="106000"/>
              </a:lnSpc>
              <a:spcBef>
                <a:spcPts val="0"/>
              </a:spcBef>
              <a:spcAft>
                <a:spcPts val="1300"/>
              </a:spcAft>
            </a:pPr>
            <a:r>
              <a:rPr sz="1200" b="1">
                <a:solidFill>
                  <a:srgbClr val="156082"/>
                </a:solidFill>
                <a:latin typeface="Calibri"/>
              </a:rPr>
              <a:t>▸  </a:t>
            </a:r>
            <a:r>
              <a:rPr sz="1200" b="1">
                <a:solidFill>
                  <a:srgbClr val="0E2841"/>
                </a:solidFill>
                <a:latin typeface="Calibri"/>
              </a:rPr>
              <a:t>Streamed:  </a:t>
            </a:r>
            <a:r>
              <a:rPr sz="1200">
                <a:solidFill>
                  <a:srgbClr val="1E2B36"/>
                </a:solidFill>
                <a:latin typeface="Calibri"/>
              </a:rPr>
              <a:t>each Feature is written from a server-side cursor; memory is bounded for any page size</a:t>
            </a:r>
          </a:p>
          <a:p>
            <a:pPr>
              <a:lnSpc>
                <a:spcPct val="106000"/>
              </a:lnSpc>
              <a:spcBef>
                <a:spcPts val="0"/>
              </a:spcBef>
              <a:spcAft>
                <a:spcPts val="1300"/>
              </a:spcAft>
            </a:pPr>
            <a:r>
              <a:rPr sz="1200" b="1">
                <a:solidFill>
                  <a:srgbClr val="156082"/>
                </a:solidFill>
                <a:latin typeface="Calibri"/>
              </a:rPr>
              <a:t>▸  </a:t>
            </a:r>
            <a:r>
              <a:rPr sz="1200" b="1">
                <a:solidFill>
                  <a:srgbClr val="0E2841"/>
                </a:solidFill>
                <a:latin typeface="Calibri"/>
              </a:rPr>
              <a:t>Keyset next:  </a:t>
            </a:r>
            <a:r>
              <a:rPr sz="1200">
                <a:solidFill>
                  <a:srgbClr val="1E2B36"/>
                </a:solidFill>
                <a:latin typeface="Calibri"/>
              </a:rPr>
              <a:t>the next link advances by id (after=), with no OFFSET</a:t>
            </a:r>
          </a:p>
          <a:p>
            <a:pPr>
              <a:lnSpc>
                <a:spcPct val="106000"/>
              </a:lnSpc>
              <a:spcBef>
                <a:spcPts val="0"/>
              </a:spcBef>
              <a:spcAft>
                <a:spcPts val="1300"/>
              </a:spcAft>
            </a:pPr>
            <a:r>
              <a:rPr sz="1200" b="1">
                <a:solidFill>
                  <a:srgbClr val="156082"/>
                </a:solidFill>
                <a:latin typeface="Calibri"/>
              </a:rPr>
              <a:t>▸  </a:t>
            </a:r>
            <a:r>
              <a:rPr sz="1200" b="1">
                <a:solidFill>
                  <a:srgbClr val="0E2841"/>
                </a:solidFill>
                <a:latin typeface="Calibri"/>
              </a:rPr>
              <a:t>asMFJSON:  </a:t>
            </a:r>
            <a:r>
              <a:rPr sz="1200">
                <a:solidFill>
                  <a:srgbClr val="1E2B36"/>
                </a:solidFill>
                <a:latin typeface="Calibri"/>
              </a:rPr>
              <a:t>the temporalGeometry is assembled in SQL and streamed as text</a:t>
            </a:r>
          </a:p>
          <a:p>
            <a:pPr>
              <a:lnSpc>
                <a:spcPct val="106000"/>
              </a:lnSpc>
              <a:spcBef>
                <a:spcPts val="0"/>
              </a:spcBef>
              <a:spcAft>
                <a:spcPts val="1300"/>
              </a:spcAft>
            </a:pPr>
            <a:r>
              <a:rPr sz="1200" b="1">
                <a:solidFill>
                  <a:srgbClr val="156082"/>
                </a:solidFill>
                <a:latin typeface="Calibri"/>
              </a:rPr>
              <a:t>▸  </a:t>
            </a:r>
            <a:r>
              <a:rPr sz="1200" b="1">
                <a:solidFill>
                  <a:srgbClr val="0E2841"/>
                </a:solidFill>
                <a:latin typeface="Calibri"/>
              </a:rPr>
              <a:t>limit:  </a:t>
            </a:r>
            <a:r>
              <a:rPr sz="1200">
                <a:solidFill>
                  <a:srgbClr val="1E2B36"/>
                </a:solidFill>
                <a:latin typeface="Calibri"/>
              </a:rPr>
              <a:t>caps the page; the tier enforces a maximum</a:t>
            </a:r>
          </a:p>
        </p:txBody>
      </p:sp>
      <p:sp>
        <p:nvSpPr>
          <p:cNvPr id="10" name="Rectangle 9"/>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2" name="TextBox 11"/>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MOVING FEATURES</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Retrieve a Single Vessel</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55448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6" name="TextBox 5"/>
          <p:cNvSpPr txBox="1"/>
          <p:nvPr/>
        </p:nvSpPr>
        <p:spPr>
          <a:xfrm>
            <a:off x="1316736" y="1545336"/>
            <a:ext cx="4736592"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/collections/ships/items/1</a:t>
            </a:r>
          </a:p>
        </p:txBody>
      </p:sp>
      <p:sp>
        <p:nvSpPr>
          <p:cNvPr id="7" name="Rounded Rectangle 6"/>
          <p:cNvSpPr/>
          <p:nvPr/>
        </p:nvSpPr>
        <p:spPr>
          <a:xfrm>
            <a:off x="566928" y="1874519"/>
            <a:ext cx="6629400" cy="448056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DEPANEL"/>
          <p:cNvSpPr txBox="1"/>
          <p:nvPr/>
        </p:nvSpPr>
        <p:spPr>
          <a:xfrm>
            <a:off x="694944" y="1965960"/>
            <a:ext cx="6373368" cy="4297680"/>
          </a:xfrm>
          <a:prstGeom prst="rect">
            <a:avLst/>
          </a:prstGeom>
          <a:noFill/>
        </p:spPr>
        <p:txBody>
          <a:bodyPr wrap="square" lIns="0" tIns="0" rIns="0" bIns="0">
            <a:noAutofit/>
          </a:bodyPr>
          <a:lstStyle/>
          <a:p>
            <a:pPr>
              <a:lnSpc>
                <a:spcPct val="102000"/>
              </a:lnSpc>
              <a:spcBef>
                <a:spcPts val="0"/>
              </a:spcBef>
              <a:spcAft>
                <a:spcPts val="0"/>
              </a:spcAft>
            </a:pPr>
            <a:r>
              <a:rPr sz="1200">
                <a:solidFill>
                  <a:srgbClr val="C9E08A"/>
                </a:solidFill>
                <a:latin typeface="Consolas"/>
              </a:rPr>
              <a:t>200</a:t>
            </a:r>
            <a:r>
              <a:rPr sz="1200">
                <a:solidFill>
                  <a:srgbClr val="C2D0DA"/>
                </a:solidFill>
                <a:latin typeface="Consolas"/>
              </a:rPr>
              <a:t> OK</a:t>
            </a:r>
          </a:p>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"1"</a:t>
            </a: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"Feature"</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"properties"</a:t>
            </a:r>
            <a:r>
              <a:rPr sz="1200">
                <a:solidFill>
                  <a:srgbClr val="C2D0DA"/>
                </a:solidFill>
                <a:latin typeface="Consolas"/>
              </a:rPr>
              <a:t>: { </a:t>
            </a:r>
            <a:r>
              <a:rPr sz="1200">
                <a:solidFill>
                  <a:srgbClr val="6FC3E0"/>
                </a:solidFill>
                <a:latin typeface="Consolas"/>
              </a:rPr>
              <a:t>"mmsi"</a:t>
            </a:r>
            <a:r>
              <a:rPr sz="1200">
                <a:solidFill>
                  <a:srgbClr val="C2D0DA"/>
                </a:solidFill>
                <a:latin typeface="Consolas"/>
              </a:rPr>
              <a:t>: </a:t>
            </a:r>
            <a:r>
              <a:rPr sz="1200">
                <a:solidFill>
                  <a:srgbClr val="C9E08A"/>
                </a:solidFill>
                <a:latin typeface="Consolas"/>
              </a:rPr>
              <a:t>111219510</a:t>
            </a:r>
            <a:r>
              <a:rPr sz="1200">
                <a:solidFill>
                  <a:srgbClr val="C2D0DA"/>
                </a:solidFill>
                <a:latin typeface="Consolas"/>
              </a:rPr>
              <a:t>,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"vessel 111219510"</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"crs"</a:t>
            </a:r>
            <a:r>
              <a:rPr sz="1200">
                <a:solidFill>
                  <a:srgbClr val="C2D0DA"/>
                </a:solidFill>
                <a:latin typeface="Consolas"/>
              </a:rPr>
              <a:t>: {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"Name"</a:t>
            </a:r>
            <a:r>
              <a:rPr sz="1200">
                <a:solidFill>
                  <a:srgbClr val="C2D0DA"/>
                </a:solidFill>
                <a:latin typeface="Consolas"/>
              </a:rPr>
              <a:t>, </a:t>
            </a:r>
            <a:r>
              <a:rPr sz="1200">
                <a:solidFill>
                  <a:srgbClr val="6FC3E0"/>
                </a:solidFill>
                <a:latin typeface="Consolas"/>
              </a:rPr>
              <a:t>"properties"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"urn:ogc:def:crs:EPSG::25832"</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"trs"</a:t>
            </a:r>
            <a:r>
              <a:rPr sz="1200">
                <a:solidFill>
                  <a:srgbClr val="C2D0DA"/>
                </a:solidFill>
                <a:latin typeface="Consolas"/>
              </a:rPr>
              <a:t>: {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"Link"</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"properties"</a:t>
            </a:r>
            <a:r>
              <a:rPr sz="1200">
                <a:solidFill>
                  <a:srgbClr val="C2D0DA"/>
                </a:solidFill>
                <a:latin typeface="Consolas"/>
              </a:rPr>
              <a:t>: {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"ogcdef"</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"href"</a:t>
            </a:r>
            <a:r>
              <a:rPr sz="1200">
                <a:solidFill>
                  <a:srgbClr val="C2D0DA"/>
                </a:solidFill>
                <a:latin typeface="Consolas"/>
              </a:rPr>
              <a:t>: </a:t>
            </a:r>
            <a:r>
              <a:rPr sz="1200">
                <a:solidFill>
                  <a:srgbClr val="E6A36A"/>
                </a:solidFill>
                <a:latin typeface="Consolas"/>
              </a:rPr>
              <a:t>".../uom/ISO-8601/0/Gregorian"</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"bbox"</a:t>
            </a:r>
            <a:r>
              <a:rPr sz="1200">
                <a:solidFill>
                  <a:srgbClr val="C2D0DA"/>
                </a:solidFill>
                <a:latin typeface="Consolas"/>
              </a:rPr>
              <a:t>: [</a:t>
            </a:r>
            <a:r>
              <a:rPr sz="1200">
                <a:solidFill>
                  <a:srgbClr val="C9E08A"/>
                </a:solidFill>
                <a:latin typeface="Consolas"/>
              </a:rPr>
              <a:t>550889</a:t>
            </a:r>
            <a:r>
              <a:rPr sz="1200">
                <a:solidFill>
                  <a:srgbClr val="C2D0DA"/>
                </a:solidFill>
                <a:latin typeface="Consolas"/>
              </a:rPr>
              <a:t>, </a:t>
            </a:r>
            <a:r>
              <a:rPr sz="1200">
                <a:solidFill>
                  <a:srgbClr val="C9E08A"/>
                </a:solidFill>
                <a:latin typeface="Consolas"/>
              </a:rPr>
              <a:t>6328752</a:t>
            </a:r>
            <a:r>
              <a:rPr sz="1200">
                <a:solidFill>
                  <a:srgbClr val="C2D0DA"/>
                </a:solidFill>
                <a:latin typeface="Consolas"/>
              </a:rPr>
              <a:t>, </a:t>
            </a:r>
            <a:r>
              <a:rPr sz="1200">
                <a:solidFill>
                  <a:srgbClr val="C9E08A"/>
                </a:solidFill>
                <a:latin typeface="Consolas"/>
              </a:rPr>
              <a:t>616716</a:t>
            </a:r>
            <a:r>
              <a:rPr sz="1200">
                <a:solidFill>
                  <a:srgbClr val="C2D0DA"/>
                </a:solidFill>
                <a:latin typeface="Consolas"/>
              </a:rPr>
              <a:t>, </a:t>
            </a:r>
            <a:r>
              <a:rPr sz="1200">
                <a:solidFill>
                  <a:srgbClr val="C9E08A"/>
                </a:solidFill>
                <a:latin typeface="Consolas"/>
              </a:rPr>
              <a:t>6346258</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"time"</a:t>
            </a:r>
            <a:r>
              <a:rPr sz="1200">
                <a:solidFill>
                  <a:srgbClr val="C2D0DA"/>
                </a:solidFill>
                <a:latin typeface="Consolas"/>
              </a:rPr>
              <a:t>: [</a:t>
            </a:r>
            <a:r>
              <a:rPr sz="1200">
                <a:solidFill>
                  <a:srgbClr val="E6A36A"/>
                </a:solidFill>
                <a:latin typeface="Consolas"/>
              </a:rPr>
              <a:t>"2026-02-26 13:28:08+01"</a:t>
            </a:r>
            <a:r>
              <a:rPr sz="1200">
                <a:solidFill>
                  <a:srgbClr val="C2D0DA"/>
                </a:solidFill>
                <a:latin typeface="Consolas"/>
              </a:rPr>
              <a:t>, </a:t>
            </a:r>
            <a:r>
              <a:rPr sz="1200">
                <a:solidFill>
                  <a:srgbClr val="E6A36A"/>
                </a:solidFill>
                <a:latin typeface="Consolas"/>
              </a:rPr>
              <a:t>"2026-02-26 14:41:04+01"</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"geometry"</a:t>
            </a:r>
            <a:r>
              <a:rPr sz="1200">
                <a:solidFill>
                  <a:srgbClr val="C2D0DA"/>
                </a:solidFill>
                <a:latin typeface="Consolas"/>
              </a:rPr>
              <a:t>: {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"MultiLineString"</a:t>
            </a:r>
            <a:r>
              <a:rPr sz="1200">
                <a:solidFill>
                  <a:srgbClr val="C2D0DA"/>
                </a:solidFill>
                <a:latin typeface="Consolas"/>
              </a:rPr>
              <a:t>, </a:t>
            </a:r>
            <a:r>
              <a:rPr sz="1200">
                <a:solidFill>
                  <a:srgbClr val="6FC3E0"/>
                </a:solidFill>
                <a:latin typeface="Consolas"/>
              </a:rPr>
              <a:t>"coordinates"</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"temporalGeometry"</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"MovingPoint"</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"sequences"</a:t>
            </a:r>
            <a:r>
              <a:rPr sz="1200">
                <a:solidFill>
                  <a:srgbClr val="C2D0DA"/>
                </a:solidFill>
                <a:latin typeface="Consolas"/>
              </a:rPr>
              <a:t>: [ { </a:t>
            </a:r>
            <a:r>
              <a:rPr sz="1200">
                <a:solidFill>
                  <a:srgbClr val="6FC3E0"/>
                </a:solidFill>
                <a:latin typeface="Consolas"/>
              </a:rPr>
              <a:t>"datetimes"</a:t>
            </a:r>
            <a:r>
              <a:rPr sz="1200">
                <a:solidFill>
                  <a:srgbClr val="C2D0DA"/>
                </a:solidFill>
                <a:latin typeface="Consolas"/>
              </a:rPr>
              <a:t>: [...], </a:t>
            </a:r>
            <a:r>
              <a:rPr sz="1200">
                <a:solidFill>
                  <a:srgbClr val="6FC3E0"/>
                </a:solidFill>
                <a:latin typeface="Consolas"/>
              </a:rPr>
              <a:t>"coordinates"</a:t>
            </a:r>
            <a:r>
              <a:rPr sz="1200">
                <a:solidFill>
                  <a:srgbClr val="C2D0DA"/>
                </a:solidFill>
                <a:latin typeface="Consolas"/>
              </a:rPr>
              <a:t>: [...] }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"interpolation"</a:t>
            </a:r>
            <a:r>
              <a:rPr sz="1200">
                <a:solidFill>
                  <a:srgbClr val="C2D0DA"/>
                </a:solidFill>
                <a:latin typeface="Consolas"/>
              </a:rPr>
              <a:t>: </a:t>
            </a:r>
            <a:r>
              <a:rPr sz="1200">
                <a:solidFill>
                  <a:srgbClr val="E6A36A"/>
                </a:solidFill>
                <a:latin typeface="Consolas"/>
              </a:rPr>
              <a:t>"Linear"</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"links"</a:t>
            </a:r>
            <a:r>
              <a:rPr sz="1200">
                <a:solidFill>
                  <a:srgbClr val="C2D0DA"/>
                </a:solidFill>
                <a:latin typeface="Consolas"/>
              </a:rPr>
              <a:t>: [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"self"</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"href"</a:t>
            </a:r>
            <a:r>
              <a:rPr sz="1200">
                <a:solidFill>
                  <a:srgbClr val="C2D0DA"/>
                </a:solidFill>
                <a:latin typeface="Consolas"/>
              </a:rPr>
              <a:t>: </a:t>
            </a:r>
            <a:r>
              <a:rPr sz="1200">
                <a:solidFill>
                  <a:srgbClr val="E6A36A"/>
                </a:solidFill>
                <a:latin typeface="Consolas"/>
              </a:rPr>
              <a:t>"/collections/ships/items/1"</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a:t>
            </a:r>
          </a:p>
        </p:txBody>
      </p:sp>
      <p:sp>
        <p:nvSpPr>
          <p:cNvPr id="9" name="TextBox 8"/>
          <p:cNvSpPr txBox="1"/>
          <p:nvPr/>
        </p:nvSpPr>
        <p:spPr>
          <a:xfrm>
            <a:off x="7424927" y="1828800"/>
            <a:ext cx="4199839" cy="4206240"/>
          </a:xfrm>
          <a:prstGeom prst="rect">
            <a:avLst/>
          </a:prstGeom>
          <a:noFill/>
        </p:spPr>
        <p:txBody>
          <a:bodyPr wrap="square" lIns="0" tIns="0" rIns="0" bIns="0">
            <a:noAutofit/>
          </a:bodyPr>
          <a:lstStyle/>
          <a:p>
            <a:pPr>
              <a:lnSpc>
                <a:spcPct val="106000"/>
              </a:lnSpc>
              <a:spcBef>
                <a:spcPts val="0"/>
              </a:spcBef>
              <a:spcAft>
                <a:spcPts val="1200"/>
              </a:spcAft>
            </a:pPr>
            <a:r>
              <a:rPr sz="1200" b="1">
                <a:solidFill>
                  <a:srgbClr val="156082"/>
                </a:solidFill>
                <a:latin typeface="Calibri"/>
              </a:rPr>
              <a:t>▸  </a:t>
            </a:r>
            <a:r>
              <a:rPr sz="1200" b="1">
                <a:solidFill>
                  <a:srgbClr val="0E2841"/>
                </a:solidFill>
                <a:latin typeface="Calibri"/>
              </a:rPr>
              <a:t>One movement:  </a:t>
            </a:r>
            <a:r>
              <a:rPr sz="1200">
                <a:solidFill>
                  <a:srgbClr val="1E2B36"/>
                </a:solidFill>
                <a:latin typeface="Calibri"/>
              </a:rPr>
              <a:t>the full trajectory of one vessel as MovingFeaturesJSON</a:t>
            </a:r>
          </a:p>
          <a:p>
            <a:pPr>
              <a:lnSpc>
                <a:spcPct val="106000"/>
              </a:lnSpc>
              <a:spcBef>
                <a:spcPts val="0"/>
              </a:spcBef>
              <a:spcAft>
                <a:spcPts val="1200"/>
              </a:spcAft>
            </a:pPr>
            <a:r>
              <a:rPr sz="1200" b="1">
                <a:solidFill>
                  <a:srgbClr val="156082"/>
                </a:solidFill>
                <a:latin typeface="Calibri"/>
              </a:rPr>
              <a:t>▸  </a:t>
            </a:r>
            <a:r>
              <a:rPr sz="1200" b="1">
                <a:solidFill>
                  <a:srgbClr val="0E2841"/>
                </a:solidFill>
                <a:latin typeface="Calibri"/>
              </a:rPr>
              <a:t>crs:  </a:t>
            </a:r>
            <a:r>
              <a:rPr sz="1200">
                <a:solidFill>
                  <a:srgbClr val="1E2B36"/>
                </a:solidFill>
                <a:latin typeface="Calibri"/>
              </a:rPr>
              <a:t>carried as an OGC URN; the tier maps to and from the EPSG form</a:t>
            </a:r>
          </a:p>
          <a:p>
            <a:pPr>
              <a:lnSpc>
                <a:spcPct val="106000"/>
              </a:lnSpc>
              <a:spcBef>
                <a:spcPts val="0"/>
              </a:spcBef>
              <a:spcAft>
                <a:spcPts val="1200"/>
              </a:spcAft>
            </a:pPr>
            <a:r>
              <a:rPr sz="1200" b="1">
                <a:solidFill>
                  <a:srgbClr val="156082"/>
                </a:solidFill>
                <a:latin typeface="Calibri"/>
              </a:rPr>
              <a:t>▸  </a:t>
            </a:r>
            <a:r>
              <a:rPr sz="1200" b="1">
                <a:solidFill>
                  <a:srgbClr val="0E2841"/>
                </a:solidFill>
                <a:latin typeface="Calibri"/>
              </a:rPr>
              <a:t>interpolation:  </a:t>
            </a:r>
            <a:r>
              <a:rPr sz="1200">
                <a:solidFill>
                  <a:srgbClr val="1E2B36"/>
                </a:solidFill>
                <a:latin typeface="Calibri"/>
              </a:rPr>
              <a:t>Linear, so the vessel moves continuously between fixes</a:t>
            </a:r>
          </a:p>
          <a:p>
            <a:pPr>
              <a:lnSpc>
                <a:spcPct val="106000"/>
              </a:lnSpc>
              <a:spcBef>
                <a:spcPts val="0"/>
              </a:spcBef>
              <a:spcAft>
                <a:spcPts val="1200"/>
              </a:spcAft>
            </a:pPr>
            <a:r>
              <a:rPr sz="1200" b="1">
                <a:solidFill>
                  <a:srgbClr val="156082"/>
                </a:solidFill>
                <a:latin typeface="Calibri"/>
              </a:rPr>
              <a:t>▸  </a:t>
            </a:r>
            <a:r>
              <a:rPr sz="1200" b="1">
                <a:solidFill>
                  <a:srgbClr val="0E2841"/>
                </a:solidFill>
                <a:latin typeface="Calibri"/>
              </a:rPr>
              <a:t>sequences:  </a:t>
            </a:r>
            <a:r>
              <a:rPr sz="1200">
                <a:solidFill>
                  <a:srgbClr val="1E2B36"/>
                </a:solidFill>
                <a:latin typeface="Calibri"/>
              </a:rPr>
              <a:t>one per continuous run; gaps split the trajectory</a:t>
            </a:r>
          </a:p>
        </p:txBody>
      </p:sp>
      <p:sp>
        <p:nvSpPr>
          <p:cNvPr id="10" name="Rectangle 9"/>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2" name="TextBox 11"/>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SPATIAL FILTER</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Vessels Intersecting a Bounding Box</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572768"/>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6" name="TextBox 5"/>
          <p:cNvSpPr txBox="1"/>
          <p:nvPr/>
        </p:nvSpPr>
        <p:spPr>
          <a:xfrm>
            <a:off x="1316736" y="1563624"/>
            <a:ext cx="4736592"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/collections/ships/items?bbox=720000,6160000,738000,6178000</a:t>
            </a:r>
          </a:p>
        </p:txBody>
      </p:sp>
      <p:sp>
        <p:nvSpPr>
          <p:cNvPr id="7" name="Rounded Rectangle 6"/>
          <p:cNvSpPr/>
          <p:nvPr/>
        </p:nvSpPr>
        <p:spPr>
          <a:xfrm>
            <a:off x="566928" y="1920240"/>
            <a:ext cx="5486400" cy="178308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DEPANEL"/>
          <p:cNvSpPr txBox="1"/>
          <p:nvPr/>
        </p:nvSpPr>
        <p:spPr>
          <a:xfrm>
            <a:off x="694944" y="2011680"/>
            <a:ext cx="5230368" cy="1600200"/>
          </a:xfrm>
          <a:prstGeom prst="rect">
            <a:avLst/>
          </a:prstGeom>
          <a:noFill/>
        </p:spPr>
        <p:txBody>
          <a:bodyPr wrap="square" lIns="0" tIns="0" rIns="0" bIns="0">
            <a:noAutofit/>
          </a:bodyPr>
          <a:lstStyle/>
          <a:p>
            <a:pPr>
              <a:lnSpc>
                <a:spcPct val="102000"/>
              </a:lnSpc>
              <a:spcBef>
                <a:spcPts val="0"/>
              </a:spcBef>
              <a:spcAft>
                <a:spcPts val="0"/>
              </a:spcAft>
            </a:pPr>
            <a:r>
              <a:rPr sz="1200">
                <a:solidFill>
                  <a:srgbClr val="C2D0DA"/>
                </a:solidFill>
                <a:latin typeface="Consolas"/>
              </a:rPr>
              <a:t>GET /collections/ships/items</a:t>
            </a:r>
          </a:p>
          <a:p>
            <a:pPr>
              <a:lnSpc>
                <a:spcPct val="102000"/>
              </a:lnSpc>
              <a:spcBef>
                <a:spcPts val="0"/>
              </a:spcBef>
              <a:spcAft>
                <a:spcPts val="0"/>
              </a:spcAft>
            </a:pPr>
            <a:r>
              <a:rPr sz="1200">
                <a:solidFill>
                  <a:srgbClr val="C2D0DA"/>
                </a:solidFill>
                <a:latin typeface="Consolas"/>
              </a:rPr>
              <a:t>      ?bbox=</a:t>
            </a:r>
            <a:r>
              <a:rPr sz="1200">
                <a:solidFill>
                  <a:srgbClr val="C9E08A"/>
                </a:solidFill>
                <a:latin typeface="Consolas"/>
              </a:rPr>
              <a:t>720000</a:t>
            </a:r>
            <a:r>
              <a:rPr sz="1200">
                <a:solidFill>
                  <a:srgbClr val="C2D0DA"/>
                </a:solidFill>
                <a:latin typeface="Consolas"/>
              </a:rPr>
              <a:t>,</a:t>
            </a:r>
            <a:r>
              <a:rPr sz="1200">
                <a:solidFill>
                  <a:srgbClr val="C9E08A"/>
                </a:solidFill>
                <a:latin typeface="Consolas"/>
              </a:rPr>
              <a:t>6160000</a:t>
            </a:r>
            <a:r>
              <a:rPr sz="1200">
                <a:solidFill>
                  <a:srgbClr val="C2D0DA"/>
                </a:solidFill>
                <a:latin typeface="Consolas"/>
              </a:rPr>
              <a:t>,</a:t>
            </a:r>
            <a:r>
              <a:rPr sz="1200">
                <a:solidFill>
                  <a:srgbClr val="C9E08A"/>
                </a:solidFill>
                <a:latin typeface="Consolas"/>
              </a:rPr>
              <a:t>738000</a:t>
            </a:r>
            <a:r>
              <a:rPr sz="1200">
                <a:solidFill>
                  <a:srgbClr val="C2D0DA"/>
                </a:solidFill>
                <a:latin typeface="Consolas"/>
              </a:rPr>
              <a:t>,</a:t>
            </a:r>
            <a:r>
              <a:rPr sz="1200">
                <a:solidFill>
                  <a:srgbClr val="C9E08A"/>
                </a:solidFill>
                <a:latin typeface="Consolas"/>
              </a:rPr>
              <a:t>6178000</a:t>
            </a:r>
          </a:p>
          <a:p>
            <a:pPr>
              <a:lnSpc>
                <a:spcPct val="102000"/>
              </a:lnSpc>
              <a:spcBef>
                <a:spcPts val="0"/>
              </a:spcBef>
              <a:spcAft>
                <a:spcPts val="0"/>
              </a:spcAft>
            </a:pPr>
            <a:r>
              <a:rPr sz="1200">
                <a:solidFill>
                  <a:srgbClr val="C2D0DA"/>
                </a:solidFill>
                <a:latin typeface="Consolas"/>
              </a:rPr>
              <a:t>      &amp;limit=</a:t>
            </a:r>
            <a:r>
              <a:rPr sz="1200">
                <a:solidFill>
                  <a:srgbClr val="C9E08A"/>
                </a:solidFill>
                <a:latin typeface="Consolas"/>
              </a:rPr>
              <a:t>10000</a:t>
            </a:r>
          </a:p>
          <a:p>
            <a:pPr>
              <a:lnSpc>
                <a:spcPct val="102000"/>
              </a:lnSpc>
              <a:spcBef>
                <a:spcPts val="0"/>
              </a:spcBef>
              <a:spcAft>
                <a:spcPts val="0"/>
              </a:spcAft>
            </a:pPr>
            <a:r>
              <a:rPr sz="1200">
                <a:latin typeface="Consolas"/>
              </a:rPr>
              <a:t> </a:t>
            </a:r>
          </a:p>
          <a:p>
            <a:pPr>
              <a:lnSpc>
                <a:spcPct val="102000"/>
              </a:lnSpc>
              <a:spcBef>
                <a:spcPts val="0"/>
              </a:spcBef>
              <a:spcAft>
                <a:spcPts val="0"/>
              </a:spcAft>
            </a:pPr>
            <a:r>
              <a:rPr sz="1200">
                <a:solidFill>
                  <a:srgbClr val="7E94A6"/>
                </a:solidFill>
                <a:latin typeface="Consolas"/>
              </a:rPr>
              <a:t>// bbox = minx,miny,maxx,maxy in the storage CRS</a:t>
            </a:r>
          </a:p>
          <a:p>
            <a:pPr>
              <a:lnSpc>
                <a:spcPct val="102000"/>
              </a:lnSpc>
              <a:spcBef>
                <a:spcPts val="0"/>
              </a:spcBef>
              <a:spcAft>
                <a:spcPts val="0"/>
              </a:spcAft>
            </a:pPr>
            <a:r>
              <a:rPr sz="1200">
                <a:solidFill>
                  <a:srgbClr val="7E94A6"/>
                </a:solidFill>
                <a:latin typeface="Consolas"/>
              </a:rPr>
              <a:t>// EPSG:25832 (metres)</a:t>
            </a:r>
          </a:p>
          <a:p>
            <a:pPr>
              <a:lnSpc>
                <a:spcPct val="102000"/>
              </a:lnSpc>
              <a:spcBef>
                <a:spcPts val="0"/>
              </a:spcBef>
              <a:spcAft>
                <a:spcPts val="0"/>
              </a:spcAft>
            </a:pPr>
            <a:r>
              <a:rPr sz="1200">
                <a:solidFill>
                  <a:srgbClr val="7E94A6"/>
                </a:solidFill>
                <a:latin typeface="Consolas"/>
              </a:rPr>
              <a:t>// 170 of 2,833 trajectories cross the box</a:t>
            </a:r>
          </a:p>
        </p:txBody>
      </p:sp>
      <p:sp>
        <p:nvSpPr>
          <p:cNvPr id="9" name="TextBox 8"/>
          <p:cNvSpPr txBox="1"/>
          <p:nvPr/>
        </p:nvSpPr>
        <p:spPr>
          <a:xfrm>
            <a:off x="566928" y="3931920"/>
            <a:ext cx="5486400" cy="2103120"/>
          </a:xfrm>
          <a:prstGeom prst="rect">
            <a:avLst/>
          </a:prstGeom>
          <a:noFill/>
        </p:spPr>
        <p:txBody>
          <a:bodyPr wrap="square" lIns="0" tIns="0" rIns="0" bIns="0">
            <a:noAutofit/>
          </a:bodyPr>
          <a:lstStyle/>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bbox:  </a:t>
            </a:r>
            <a:r>
              <a:rPr sz="1400">
                <a:solidFill>
                  <a:srgbClr val="1E2B36"/>
                </a:solidFill>
                <a:latin typeface="Calibri"/>
              </a:rPr>
              <a:t>keeps vessels whose trajectory intersects the envelope</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Index:  </a:t>
            </a:r>
            <a:r>
              <a:rPr sz="1400">
                <a:solidFill>
                  <a:srgbClr val="1E2B36"/>
                </a:solidFill>
                <a:latin typeface="Calibri"/>
              </a:rPr>
              <a:t>pushed to the MobilityDB GiST index via the overlap operator</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CRS:  </a:t>
            </a:r>
            <a:r>
              <a:rPr sz="1400">
                <a:solidFill>
                  <a:srgbClr val="1E2B36"/>
                </a:solidFill>
                <a:latin typeface="Calibri"/>
              </a:rPr>
              <a:t>coordinates are in the collection's storage CRS (EPSG:25832)</a:t>
            </a:r>
          </a:p>
          <a:p>
            <a:pPr>
              <a:lnSpc>
                <a:spcPct val="106000"/>
              </a:lnSpc>
              <a:spcBef>
                <a:spcPts val="0"/>
              </a:spcBef>
              <a:spcAft>
                <a:spcPts val="1100"/>
              </a:spcAft>
            </a:pPr>
            <a:r>
              <a:rPr sz="1400" b="1">
                <a:solidFill>
                  <a:srgbClr val="156082"/>
                </a:solidFill>
                <a:latin typeface="Calibri"/>
              </a:rPr>
              <a:t>▸  </a:t>
            </a:r>
            <a:r>
              <a:rPr sz="1400" b="1">
                <a:solidFill>
                  <a:srgbClr val="0E2841"/>
                </a:solidFill>
                <a:latin typeface="Calibri"/>
              </a:rPr>
              <a:t>Composable:  </a:t>
            </a:r>
            <a:r>
              <a:rPr sz="1400">
                <a:solidFill>
                  <a:srgbClr val="1E2B36"/>
                </a:solidFill>
                <a:latin typeface="Calibri"/>
              </a:rPr>
              <a:t>datetime, subtrajectory, limit and after</a:t>
            </a:r>
          </a:p>
        </p:txBody>
      </p:sp>
      <p:pic>
        <p:nvPicPr>
          <p:cNvPr id="10" name="Picture 9" descr="fig_bbox_real.png"/>
          <p:cNvPicPr>
            <a:picLocks noChangeAspect="1"/>
          </p:cNvPicPr>
          <p:nvPr/>
        </p:nvPicPr>
        <p:blipFill>
          <a:blip r:embed="rId3"/>
          <a:stretch>
            <a:fillRect/>
          </a:stretch>
        </p:blipFill>
        <p:spPr>
          <a:xfrm>
            <a:off x="6998486" y="1627632"/>
            <a:ext cx="4291027" cy="4297680"/>
          </a:xfrm>
          <a:prstGeom prst="rect">
            <a:avLst/>
          </a:prstGeom>
        </p:spPr>
      </p:pic>
      <p:sp>
        <p:nvSpPr>
          <p:cNvPr id="11" name="TextBox 10"/>
          <p:cNvSpPr txBox="1"/>
          <p:nvPr/>
        </p:nvSpPr>
        <p:spPr>
          <a:xfrm>
            <a:off x="6632726" y="6016752"/>
            <a:ext cx="5022547" cy="274320"/>
          </a:xfrm>
          <a:prstGeom prst="rect">
            <a:avLst/>
          </a:prstGeom>
          <a:noFill/>
        </p:spPr>
        <p:txBody>
          <a:bodyPr wrap="square" lIns="0" tIns="0" rIns="0" bIns="0" anchor="t">
            <a:noAutofit/>
          </a:bodyPr>
          <a:lstStyle/>
          <a:p>
            <a:pPr algn="ctr">
              <a:spcBef>
                <a:spcPts val="0"/>
              </a:spcBef>
              <a:spcAft>
                <a:spcPts val="200"/>
              </a:spcAft>
            </a:pPr>
            <a:r>
              <a:rPr sz="1200" b="0" i="1">
                <a:solidFill>
                  <a:srgbClr val="5B6B78"/>
                </a:solidFill>
                <a:latin typeface="Calibri"/>
              </a:rPr>
              <a:t>Trajectories crossing the box (teal) over other traffic (grey); the box in red</a:t>
            </a:r>
          </a:p>
        </p:txBody>
      </p:sp>
      <p:sp>
        <p:nvSpPr>
          <p:cNvPr id="12" name="Rectangle 11"/>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4" name="TextBox 13"/>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15</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TEMPORAL SLICE</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Restrict Trajectories to a Time Interval</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572768"/>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6" name="TextBox 5"/>
          <p:cNvSpPr txBox="1"/>
          <p:nvPr/>
        </p:nvSpPr>
        <p:spPr>
          <a:xfrm>
            <a:off x="1316736" y="1563624"/>
            <a:ext cx="4736592"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/collections/ships/items?subtrajectory=true</a:t>
            </a:r>
          </a:p>
        </p:txBody>
      </p:sp>
      <p:sp>
        <p:nvSpPr>
          <p:cNvPr id="7" name="Rounded Rectangle 6"/>
          <p:cNvSpPr/>
          <p:nvPr/>
        </p:nvSpPr>
        <p:spPr>
          <a:xfrm>
            <a:off x="566928" y="1920240"/>
            <a:ext cx="5486400" cy="196596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DEPANEL"/>
          <p:cNvSpPr txBox="1"/>
          <p:nvPr/>
        </p:nvSpPr>
        <p:spPr>
          <a:xfrm>
            <a:off x="694944" y="2011680"/>
            <a:ext cx="5230368" cy="1783080"/>
          </a:xfrm>
          <a:prstGeom prst="rect">
            <a:avLst/>
          </a:prstGeom>
          <a:noFill/>
        </p:spPr>
        <p:txBody>
          <a:bodyPr wrap="square" lIns="0" tIns="0" rIns="0" bIns="0">
            <a:noAutofit/>
          </a:bodyPr>
          <a:lstStyle/>
          <a:p>
            <a:pPr>
              <a:lnSpc>
                <a:spcPct val="102000"/>
              </a:lnSpc>
              <a:spcBef>
                <a:spcPts val="0"/>
              </a:spcBef>
              <a:spcAft>
                <a:spcPts val="0"/>
              </a:spcAft>
            </a:pPr>
            <a:r>
              <a:rPr sz="1200">
                <a:solidFill>
                  <a:srgbClr val="C2D0DA"/>
                </a:solidFill>
                <a:latin typeface="Consolas"/>
              </a:rPr>
              <a:t>GET /collections/ships/items</a:t>
            </a:r>
          </a:p>
          <a:p>
            <a:pPr>
              <a:lnSpc>
                <a:spcPct val="102000"/>
              </a:lnSpc>
              <a:spcBef>
                <a:spcPts val="0"/>
              </a:spcBef>
              <a:spcAft>
                <a:spcPts val="0"/>
              </a:spcAft>
            </a:pPr>
            <a:r>
              <a:rPr sz="1200">
                <a:solidFill>
                  <a:srgbClr val="C2D0DA"/>
                </a:solidFill>
                <a:latin typeface="Consolas"/>
              </a:rPr>
              <a:t>      ?subtrajectory=</a:t>
            </a:r>
            <a:r>
              <a:rPr sz="1200">
                <a:solidFill>
                  <a:srgbClr val="CBA0E8"/>
                </a:solidFill>
                <a:latin typeface="Consolas"/>
              </a:rPr>
              <a:t>true</a:t>
            </a:r>
          </a:p>
          <a:p>
            <a:pPr>
              <a:lnSpc>
                <a:spcPct val="102000"/>
              </a:lnSpc>
              <a:spcBef>
                <a:spcPts val="0"/>
              </a:spcBef>
              <a:spcAft>
                <a:spcPts val="0"/>
              </a:spcAft>
            </a:pPr>
            <a:r>
              <a:rPr sz="1200">
                <a:solidFill>
                  <a:srgbClr val="C2D0DA"/>
                </a:solidFill>
                <a:latin typeface="Consolas"/>
              </a:rPr>
              <a:t>      &amp;datetime=</a:t>
            </a:r>
            <a:r>
              <a:rPr sz="1200">
                <a:solidFill>
                  <a:srgbClr val="C9E08A"/>
                </a:solidFill>
                <a:latin typeface="Consolas"/>
              </a:rPr>
              <a:t>2026-02-26</a:t>
            </a:r>
            <a:r>
              <a:rPr sz="1200">
                <a:solidFill>
                  <a:srgbClr val="C2D0DA"/>
                </a:solidFill>
                <a:latin typeface="Consolas"/>
              </a:rPr>
              <a:t>T</a:t>
            </a:r>
            <a:r>
              <a:rPr sz="1200">
                <a:solidFill>
                  <a:srgbClr val="C9E08A"/>
                </a:solidFill>
                <a:latin typeface="Consolas"/>
              </a:rPr>
              <a:t>14</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r>
              <a:rPr sz="1200">
                <a:solidFill>
                  <a:srgbClr val="C9E08A"/>
                </a:solidFill>
                <a:latin typeface="Consolas"/>
              </a:rPr>
              <a:t>01</a:t>
            </a:r>
          </a:p>
          <a:p>
            <a:pPr>
              <a:lnSpc>
                <a:spcPct val="102000"/>
              </a:lnSpc>
              <a:spcBef>
                <a:spcPts val="0"/>
              </a:spcBef>
              <a:spcAft>
                <a:spcPts val="0"/>
              </a:spcAft>
            </a:pPr>
            <a:r>
              <a:rPr sz="1200">
                <a:solidFill>
                  <a:srgbClr val="C2D0DA"/>
                </a:solidFill>
                <a:latin typeface="Consolas"/>
              </a:rPr>
              <a:t>               /</a:t>
            </a:r>
            <a:r>
              <a:rPr sz="1200">
                <a:solidFill>
                  <a:srgbClr val="C9E08A"/>
                </a:solidFill>
                <a:latin typeface="Consolas"/>
              </a:rPr>
              <a:t>2026-02-26</a:t>
            </a:r>
            <a:r>
              <a:rPr sz="1200">
                <a:solidFill>
                  <a:srgbClr val="C2D0DA"/>
                </a:solidFill>
                <a:latin typeface="Consolas"/>
              </a:rPr>
              <a:t>T</a:t>
            </a:r>
            <a:r>
              <a:rPr sz="1200">
                <a:solidFill>
                  <a:srgbClr val="C9E08A"/>
                </a:solidFill>
                <a:latin typeface="Consolas"/>
              </a:rPr>
              <a:t>15</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r>
              <a:rPr sz="1200">
                <a:solidFill>
                  <a:srgbClr val="C9E08A"/>
                </a:solidFill>
                <a:latin typeface="Consolas"/>
              </a:rPr>
              <a:t>00</a:t>
            </a:r>
            <a:r>
              <a:rPr sz="1200">
                <a:solidFill>
                  <a:srgbClr val="C2D0DA"/>
                </a:solidFill>
                <a:latin typeface="Consolas"/>
              </a:rPr>
              <a:t>+</a:t>
            </a:r>
            <a:r>
              <a:rPr sz="1200">
                <a:solidFill>
                  <a:srgbClr val="C9E08A"/>
                </a:solidFill>
                <a:latin typeface="Consolas"/>
              </a:rPr>
              <a:t>01</a:t>
            </a:r>
          </a:p>
          <a:p>
            <a:pPr>
              <a:lnSpc>
                <a:spcPct val="102000"/>
              </a:lnSpc>
              <a:spcBef>
                <a:spcPts val="0"/>
              </a:spcBef>
              <a:spcAft>
                <a:spcPts val="0"/>
              </a:spcAft>
            </a:pPr>
            <a:r>
              <a:rPr sz="1200">
                <a:latin typeface="Consolas"/>
              </a:rPr>
              <a:t> </a:t>
            </a:r>
          </a:p>
          <a:p>
            <a:pPr>
              <a:lnSpc>
                <a:spcPct val="102000"/>
              </a:lnSpc>
              <a:spcBef>
                <a:spcPts val="0"/>
              </a:spcBef>
              <a:spcAft>
                <a:spcPts val="0"/>
              </a:spcAft>
            </a:pPr>
            <a:r>
              <a:rPr sz="1200">
                <a:solidFill>
                  <a:srgbClr val="7E94A6"/>
                </a:solidFill>
                <a:latin typeface="Consolas"/>
              </a:rPr>
              <a:t>// datetime is an RFC 3339 interval (start/end)</a:t>
            </a:r>
          </a:p>
          <a:p>
            <a:pPr>
              <a:lnSpc>
                <a:spcPct val="102000"/>
              </a:lnSpc>
              <a:spcBef>
                <a:spcPts val="0"/>
              </a:spcBef>
              <a:spcAft>
                <a:spcPts val="0"/>
              </a:spcAft>
            </a:pPr>
            <a:r>
              <a:rPr sz="1200">
                <a:solidFill>
                  <a:srgbClr val="7E94A6"/>
                </a:solidFill>
                <a:latin typeface="Consolas"/>
              </a:rPr>
              <a:t>// subtrajectory=true clips each trajectory to the</a:t>
            </a:r>
          </a:p>
          <a:p>
            <a:pPr>
              <a:lnSpc>
                <a:spcPct val="102000"/>
              </a:lnSpc>
              <a:spcBef>
                <a:spcPts val="0"/>
              </a:spcBef>
              <a:spcAft>
                <a:spcPts val="0"/>
              </a:spcAft>
            </a:pPr>
            <a:r>
              <a:rPr sz="1200">
                <a:solidFill>
                  <a:srgbClr val="7E94A6"/>
                </a:solidFill>
                <a:latin typeface="Consolas"/>
              </a:rPr>
              <a:t>// window with atTime, instead of filtering trips</a:t>
            </a:r>
          </a:p>
        </p:txBody>
      </p:sp>
      <p:sp>
        <p:nvSpPr>
          <p:cNvPr id="9" name="TextBox 8"/>
          <p:cNvSpPr txBox="1"/>
          <p:nvPr/>
        </p:nvSpPr>
        <p:spPr>
          <a:xfrm>
            <a:off x="566928" y="4114800"/>
            <a:ext cx="5486400" cy="1920240"/>
          </a:xfrm>
          <a:prstGeom prst="rect">
            <a:avLst/>
          </a:prstGeom>
          <a:noFill/>
        </p:spPr>
        <p:txBody>
          <a:bodyPr wrap="square" lIns="0" tIns="0" rIns="0" bIns="0">
            <a:noAutofit/>
          </a:bodyPr>
          <a:lstStyle/>
          <a:p>
            <a:pPr>
              <a:lnSpc>
                <a:spcPct val="106000"/>
              </a:lnSpc>
              <a:spcBef>
                <a:spcPts val="0"/>
              </a:spcBef>
              <a:spcAft>
                <a:spcPts val="1000"/>
              </a:spcAft>
            </a:pPr>
            <a:r>
              <a:rPr sz="1400" b="1">
                <a:solidFill>
                  <a:srgbClr val="156082"/>
                </a:solidFill>
                <a:latin typeface="Calibri"/>
              </a:rPr>
              <a:t>▸  </a:t>
            </a:r>
            <a:r>
              <a:rPr sz="1400" b="1">
                <a:solidFill>
                  <a:srgbClr val="0E2841"/>
                </a:solidFill>
                <a:latin typeface="Calibri"/>
              </a:rPr>
              <a:t>subtrajectory:  </a:t>
            </a:r>
            <a:r>
              <a:rPr sz="1400">
                <a:solidFill>
                  <a:srgbClr val="1E2B36"/>
                </a:solidFill>
                <a:latin typeface="Calibri"/>
              </a:rPr>
              <a:t>clips each trajectory to the datetime interval via atTime</a:t>
            </a:r>
          </a:p>
          <a:p>
            <a:pPr>
              <a:lnSpc>
                <a:spcPct val="106000"/>
              </a:lnSpc>
              <a:spcBef>
                <a:spcPts val="0"/>
              </a:spcBef>
              <a:spcAft>
                <a:spcPts val="1000"/>
              </a:spcAft>
            </a:pPr>
            <a:r>
              <a:rPr sz="1400" b="1">
                <a:solidFill>
                  <a:srgbClr val="156082"/>
                </a:solidFill>
                <a:latin typeface="Calibri"/>
              </a:rPr>
              <a:t>▸  </a:t>
            </a:r>
            <a:r>
              <a:rPr sz="1400" b="1">
                <a:solidFill>
                  <a:srgbClr val="0E2841"/>
                </a:solidFill>
                <a:latin typeface="Calibri"/>
              </a:rPr>
              <a:t>datetime:  </a:t>
            </a:r>
            <a:r>
              <a:rPr sz="1400">
                <a:solidFill>
                  <a:srgbClr val="1E2B36"/>
                </a:solidFill>
                <a:latin typeface="Calibri"/>
              </a:rPr>
              <a:t>RFC 3339 interval; a bare instant is also accepted</a:t>
            </a:r>
          </a:p>
          <a:p>
            <a:pPr>
              <a:lnSpc>
                <a:spcPct val="106000"/>
              </a:lnSpc>
              <a:spcBef>
                <a:spcPts val="0"/>
              </a:spcBef>
              <a:spcAft>
                <a:spcPts val="1000"/>
              </a:spcAft>
            </a:pPr>
            <a:r>
              <a:rPr sz="1400" b="1">
                <a:solidFill>
                  <a:srgbClr val="156082"/>
                </a:solidFill>
                <a:latin typeface="Calibri"/>
              </a:rPr>
              <a:t>▸  </a:t>
            </a:r>
            <a:r>
              <a:rPr sz="1400" b="1">
                <a:solidFill>
                  <a:srgbClr val="0E2841"/>
                </a:solidFill>
                <a:latin typeface="Calibri"/>
              </a:rPr>
              <a:t>Gap aware:  </a:t>
            </a:r>
            <a:r>
              <a:rPr sz="1400">
                <a:solidFill>
                  <a:srgbClr val="1E2B36"/>
                </a:solidFill>
                <a:latin typeface="Calibri"/>
              </a:rPr>
              <a:t>rows whose values fall entirely in a temporal gap are dropped</a:t>
            </a:r>
          </a:p>
          <a:p>
            <a:pPr>
              <a:lnSpc>
                <a:spcPct val="106000"/>
              </a:lnSpc>
              <a:spcBef>
                <a:spcPts val="0"/>
              </a:spcBef>
              <a:spcAft>
                <a:spcPts val="1000"/>
              </a:spcAft>
            </a:pPr>
            <a:r>
              <a:rPr sz="1400" b="1">
                <a:solidFill>
                  <a:srgbClr val="156082"/>
                </a:solidFill>
                <a:latin typeface="Calibri"/>
              </a:rPr>
              <a:t>▸  </a:t>
            </a:r>
            <a:r>
              <a:rPr sz="1400" b="1">
                <a:solidFill>
                  <a:srgbClr val="0E2841"/>
                </a:solidFill>
                <a:latin typeface="Calibri"/>
              </a:rPr>
              <a:t>Validation:  </a:t>
            </a:r>
            <a:r>
              <a:rPr sz="1400">
                <a:solidFill>
                  <a:srgbClr val="1E2B36"/>
                </a:solidFill>
                <a:latin typeface="Calibri"/>
              </a:rPr>
              <a:t>subtrajectory requires a bounded interval</a:t>
            </a:r>
          </a:p>
        </p:txBody>
      </p:sp>
      <p:pic>
        <p:nvPicPr>
          <p:cNvPr id="10" name="Picture 9" descr="fig_subtraj_real.png"/>
          <p:cNvPicPr>
            <a:picLocks noChangeAspect="1"/>
          </p:cNvPicPr>
          <p:nvPr/>
        </p:nvPicPr>
        <p:blipFill>
          <a:blip r:embed="rId2"/>
          <a:stretch>
            <a:fillRect/>
          </a:stretch>
        </p:blipFill>
        <p:spPr>
          <a:xfrm>
            <a:off x="7044135" y="1664208"/>
            <a:ext cx="4199728" cy="4206240"/>
          </a:xfrm>
          <a:prstGeom prst="rect">
            <a:avLst/>
          </a:prstGeom>
        </p:spPr>
      </p:pic>
      <p:sp>
        <p:nvSpPr>
          <p:cNvPr id="11" name="TextBox 10"/>
          <p:cNvSpPr txBox="1"/>
          <p:nvPr/>
        </p:nvSpPr>
        <p:spPr>
          <a:xfrm>
            <a:off x="6678375" y="5961888"/>
            <a:ext cx="4931248" cy="274320"/>
          </a:xfrm>
          <a:prstGeom prst="rect">
            <a:avLst/>
          </a:prstGeom>
          <a:noFill/>
        </p:spPr>
        <p:txBody>
          <a:bodyPr wrap="square" lIns="0" tIns="0" rIns="0" bIns="0" anchor="t">
            <a:noAutofit/>
          </a:bodyPr>
          <a:lstStyle/>
          <a:p>
            <a:pPr algn="ctr">
              <a:spcBef>
                <a:spcPts val="0"/>
              </a:spcBef>
              <a:spcAft>
                <a:spcPts val="200"/>
              </a:spcAft>
            </a:pPr>
            <a:r>
              <a:rPr sz="1200" b="0" i="1">
                <a:solidFill>
                  <a:srgbClr val="5B6B78"/>
                </a:solidFill>
                <a:latin typeface="Calibri"/>
              </a:rPr>
              <a:t>Subtrajectories within a one-hour window (green) over full trajectories (grey)</a:t>
            </a:r>
          </a:p>
        </p:txBody>
      </p:sp>
      <p:sp>
        <p:nvSpPr>
          <p:cNvPr id="12" name="Rectangle 11"/>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4" name="TextBox 13"/>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WRITES</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Create · Append · Delete</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554480"/>
            <a:ext cx="713232" cy="292608"/>
          </a:xfrm>
          <a:prstGeom prst="roundRect">
            <a:avLst>
              <a:gd name="adj" fmla="val 4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POST</a:t>
            </a:r>
          </a:p>
        </p:txBody>
      </p:sp>
      <p:sp>
        <p:nvSpPr>
          <p:cNvPr id="6" name="TextBox 5"/>
          <p:cNvSpPr txBox="1"/>
          <p:nvPr/>
        </p:nvSpPr>
        <p:spPr>
          <a:xfrm>
            <a:off x="1389888" y="1545336"/>
            <a:ext cx="4663440"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/collections/ships/items</a:t>
            </a:r>
          </a:p>
        </p:txBody>
      </p:sp>
      <p:sp>
        <p:nvSpPr>
          <p:cNvPr id="7" name="Rounded Rectangle 6"/>
          <p:cNvSpPr/>
          <p:nvPr/>
        </p:nvSpPr>
        <p:spPr>
          <a:xfrm>
            <a:off x="566928" y="1874519"/>
            <a:ext cx="5486400" cy="228600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DEPANEL"/>
          <p:cNvSpPr txBox="1"/>
          <p:nvPr/>
        </p:nvSpPr>
        <p:spPr>
          <a:xfrm>
            <a:off x="694944" y="1965960"/>
            <a:ext cx="5230368" cy="2103120"/>
          </a:xfrm>
          <a:prstGeom prst="rect">
            <a:avLst/>
          </a:prstGeom>
          <a:noFill/>
        </p:spPr>
        <p:txBody>
          <a:bodyPr wrap="square" lIns="0" tIns="0" rIns="0" bIns="0">
            <a:noAutofit/>
          </a:bodyPr>
          <a:lstStyle/>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"Feature"</a:t>
            </a:r>
            <a:r>
              <a:rPr sz="1200">
                <a:solidFill>
                  <a:srgbClr val="C2D0DA"/>
                </a:solidFill>
                <a:latin typeface="Consolas"/>
              </a:rPr>
              <a:t>,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"900001"</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"properties"</a:t>
            </a:r>
            <a:r>
              <a:rPr sz="1200">
                <a:solidFill>
                  <a:srgbClr val="C2D0DA"/>
                </a:solidFill>
                <a:latin typeface="Consolas"/>
              </a:rPr>
              <a:t>: {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"demo"</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"temporalGeometry"</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"MovingPoint"</a:t>
            </a:r>
            <a:r>
              <a:rPr sz="1200">
                <a:solidFill>
                  <a:srgbClr val="C2D0DA"/>
                </a:solidFill>
                <a:latin typeface="Consolas"/>
              </a:rPr>
              <a:t>, </a:t>
            </a:r>
            <a:r>
              <a:rPr sz="1200">
                <a:solidFill>
                  <a:srgbClr val="6FC3E0"/>
                </a:solidFill>
                <a:latin typeface="Consolas"/>
              </a:rPr>
              <a:t>"interpolation"</a:t>
            </a:r>
            <a:r>
              <a:rPr sz="1200">
                <a:solidFill>
                  <a:srgbClr val="C2D0DA"/>
                </a:solidFill>
                <a:latin typeface="Consolas"/>
              </a:rPr>
              <a:t>: </a:t>
            </a:r>
            <a:r>
              <a:rPr sz="1200">
                <a:solidFill>
                  <a:srgbClr val="E6A36A"/>
                </a:solidFill>
                <a:latin typeface="Consolas"/>
              </a:rPr>
              <a:t>"Linear"</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"datetimes"</a:t>
            </a:r>
            <a:r>
              <a:rPr sz="1200">
                <a:solidFill>
                  <a:srgbClr val="C2D0DA"/>
                </a:solidFill>
                <a:latin typeface="Consolas"/>
              </a:rPr>
              <a:t>: [</a:t>
            </a:r>
            <a:r>
              <a:rPr sz="1200">
                <a:solidFill>
                  <a:srgbClr val="E6A36A"/>
                </a:solidFill>
                <a:latin typeface="Consolas"/>
              </a:rPr>
              <a:t>"2026-02-26T10:00:00+01"</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"coordinates"</a:t>
            </a:r>
            <a:r>
              <a:rPr sz="1200">
                <a:solidFill>
                  <a:srgbClr val="C2D0DA"/>
                </a:solidFill>
                <a:latin typeface="Consolas"/>
              </a:rPr>
              <a:t>: [[</a:t>
            </a:r>
            <a:r>
              <a:rPr sz="1200">
                <a:solidFill>
                  <a:srgbClr val="C9E08A"/>
                </a:solidFill>
                <a:latin typeface="Consolas"/>
              </a:rPr>
              <a:t>600000</a:t>
            </a:r>
            <a:r>
              <a:rPr sz="1200">
                <a:solidFill>
                  <a:srgbClr val="C2D0DA"/>
                </a:solidFill>
                <a:latin typeface="Consolas"/>
              </a:rPr>
              <a:t>, </a:t>
            </a:r>
            <a:r>
              <a:rPr sz="1200">
                <a:solidFill>
                  <a:srgbClr val="C9E08A"/>
                </a:solidFill>
                <a:latin typeface="Consolas"/>
              </a:rPr>
              <a:t>6330000</a:t>
            </a:r>
            <a:r>
              <a:rPr sz="1200">
                <a:solidFill>
                  <a:srgbClr val="C2D0DA"/>
                </a:solidFill>
                <a:latin typeface="Consolas"/>
              </a:rPr>
              <a:t>], ...] } }</a:t>
            </a:r>
          </a:p>
          <a:p>
            <a:pPr>
              <a:lnSpc>
                <a:spcPct val="102000"/>
              </a:lnSpc>
              <a:spcBef>
                <a:spcPts val="0"/>
              </a:spcBef>
              <a:spcAft>
                <a:spcPts val="0"/>
              </a:spcAft>
            </a:pPr>
            <a:r>
              <a:rPr sz="1200">
                <a:latin typeface="Consolas"/>
              </a:rPr>
              <a:t> </a:t>
            </a:r>
          </a:p>
          <a:p>
            <a:pPr>
              <a:lnSpc>
                <a:spcPct val="102000"/>
              </a:lnSpc>
              <a:spcBef>
                <a:spcPts val="0"/>
              </a:spcBef>
              <a:spcAft>
                <a:spcPts val="0"/>
              </a:spcAft>
            </a:pPr>
            <a:r>
              <a:rPr sz="1200">
                <a:solidFill>
                  <a:srgbClr val="C9E08A"/>
                </a:solidFill>
                <a:latin typeface="Consolas"/>
              </a:rPr>
              <a:t>201</a:t>
            </a:r>
            <a:r>
              <a:rPr sz="1200">
                <a:solidFill>
                  <a:srgbClr val="C2D0DA"/>
                </a:solidFill>
                <a:latin typeface="Consolas"/>
              </a:rPr>
              <a:t>  { </a:t>
            </a:r>
            <a:r>
              <a:rPr sz="1200">
                <a:solidFill>
                  <a:srgbClr val="6FC3E0"/>
                </a:solidFill>
                <a:latin typeface="Consolas"/>
              </a:rPr>
              <a:t>"message"</a:t>
            </a:r>
            <a:r>
              <a:rPr sz="1200">
                <a:solidFill>
                  <a:srgbClr val="C2D0DA"/>
                </a:solidFill>
                <a:latin typeface="Consolas"/>
              </a:rPr>
              <a:t>: </a:t>
            </a:r>
            <a:r>
              <a:rPr sz="1200">
                <a:solidFill>
                  <a:srgbClr val="E6A36A"/>
                </a:solidFill>
                <a:latin typeface="Consolas"/>
              </a:rPr>
              <a:t>"created"</a:t>
            </a:r>
            <a:r>
              <a:rPr sz="1200">
                <a:solidFill>
                  <a:srgbClr val="C2D0DA"/>
                </a:solidFill>
                <a:latin typeface="Consolas"/>
              </a:rPr>
              <a:t>,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"900001"</a:t>
            </a:r>
            <a:r>
              <a:rPr sz="1200">
                <a:solidFill>
                  <a:srgbClr val="C2D0DA"/>
                </a:solidFill>
                <a:latin typeface="Consolas"/>
              </a:rPr>
              <a:t> }</a:t>
            </a:r>
          </a:p>
        </p:txBody>
      </p:sp>
      <p:sp>
        <p:nvSpPr>
          <p:cNvPr id="9" name="Rounded Rectangle 8"/>
          <p:cNvSpPr/>
          <p:nvPr/>
        </p:nvSpPr>
        <p:spPr>
          <a:xfrm>
            <a:off x="566928" y="4343400"/>
            <a:ext cx="713232" cy="292608"/>
          </a:xfrm>
          <a:prstGeom prst="roundRect">
            <a:avLst>
              <a:gd name="adj" fmla="val 4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POST</a:t>
            </a:r>
          </a:p>
        </p:txBody>
      </p:sp>
      <p:sp>
        <p:nvSpPr>
          <p:cNvPr id="10" name="TextBox 9"/>
          <p:cNvSpPr txBox="1"/>
          <p:nvPr/>
        </p:nvSpPr>
        <p:spPr>
          <a:xfrm>
            <a:off x="1389888" y="4334256"/>
            <a:ext cx="4663440"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/collections/ships/items/900001/tgsequence</a:t>
            </a:r>
          </a:p>
        </p:txBody>
      </p:sp>
      <p:sp>
        <p:nvSpPr>
          <p:cNvPr id="11" name="Rounded Rectangle 10"/>
          <p:cNvSpPr/>
          <p:nvPr/>
        </p:nvSpPr>
        <p:spPr>
          <a:xfrm>
            <a:off x="566928" y="4663440"/>
            <a:ext cx="5486400" cy="155448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ODEPANEL"/>
          <p:cNvSpPr txBox="1"/>
          <p:nvPr/>
        </p:nvSpPr>
        <p:spPr>
          <a:xfrm>
            <a:off x="694944" y="4754879"/>
            <a:ext cx="5230368" cy="1371600"/>
          </a:xfrm>
          <a:prstGeom prst="rect">
            <a:avLst/>
          </a:prstGeom>
          <a:noFill/>
        </p:spPr>
        <p:txBody>
          <a:bodyPr wrap="square" lIns="0" tIns="0" rIns="0" bIns="0">
            <a:noAutofit/>
          </a:bodyPr>
          <a:lstStyle/>
          <a:p>
            <a:pPr>
              <a:lnSpc>
                <a:spcPct val="102000"/>
              </a:lnSpc>
              <a:spcBef>
                <a:spcPts val="0"/>
              </a:spcBef>
              <a:spcAft>
                <a:spcPts val="0"/>
              </a:spcAft>
            </a:pPr>
            <a:r>
              <a:rPr sz="1200">
                <a:solidFill>
                  <a:srgbClr val="7E94A6"/>
                </a:solidFill>
                <a:latin typeface="Consolas"/>
              </a:rPr>
              <a:t>// append a temporally-disjoint sub-trajectory</a:t>
            </a:r>
          </a:p>
          <a:p>
            <a:pPr>
              <a:lnSpc>
                <a:spcPct val="102000"/>
              </a:lnSpc>
              <a:spcBef>
                <a:spcPts val="0"/>
              </a:spcBef>
              <a:spcAft>
                <a:spcPts val="0"/>
              </a:spcAft>
            </a:pPr>
            <a:r>
              <a:rPr sz="1200">
                <a:solidFill>
                  <a:srgbClr val="C9E08A"/>
                </a:solidFill>
                <a:latin typeface="Consolas"/>
              </a:rPr>
              <a:t>200</a:t>
            </a:r>
            <a:r>
              <a:rPr sz="1200">
                <a:solidFill>
                  <a:srgbClr val="C2D0DA"/>
                </a:solidFill>
                <a:latin typeface="Consolas"/>
              </a:rPr>
              <a:t>  { </a:t>
            </a:r>
            <a:r>
              <a:rPr sz="1200">
                <a:solidFill>
                  <a:srgbClr val="6FC3E0"/>
                </a:solidFill>
                <a:latin typeface="Consolas"/>
              </a:rPr>
              <a:t>"message"</a:t>
            </a:r>
            <a:r>
              <a:rPr sz="1200">
                <a:solidFill>
                  <a:srgbClr val="C2D0DA"/>
                </a:solidFill>
                <a:latin typeface="Consolas"/>
              </a:rPr>
              <a:t>: </a:t>
            </a:r>
            <a:r>
              <a:rPr sz="1200">
                <a:solidFill>
                  <a:srgbClr val="E6A36A"/>
                </a:solidFill>
                <a:latin typeface="Consolas"/>
              </a:rPr>
              <a:t>"appended"</a:t>
            </a:r>
            <a:r>
              <a:rPr sz="1200">
                <a:solidFill>
                  <a:srgbClr val="C2D0DA"/>
                </a:solidFill>
                <a:latin typeface="Consolas"/>
              </a:rPr>
              <a:t>,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"900001"</a:t>
            </a:r>
            <a:r>
              <a:rPr sz="1200">
                <a:solidFill>
                  <a:srgbClr val="C2D0DA"/>
                </a:solidFill>
                <a:latin typeface="Consolas"/>
              </a:rPr>
              <a:t> }</a:t>
            </a:r>
          </a:p>
          <a:p>
            <a:pPr>
              <a:lnSpc>
                <a:spcPct val="102000"/>
              </a:lnSpc>
              <a:spcBef>
                <a:spcPts val="0"/>
              </a:spcBef>
              <a:spcAft>
                <a:spcPts val="0"/>
              </a:spcAft>
            </a:pPr>
            <a:r>
              <a:rPr sz="1200">
                <a:latin typeface="Consolas"/>
              </a:rPr>
              <a:t> </a:t>
            </a:r>
          </a:p>
          <a:p>
            <a:pPr>
              <a:lnSpc>
                <a:spcPct val="102000"/>
              </a:lnSpc>
              <a:spcBef>
                <a:spcPts val="0"/>
              </a:spcBef>
              <a:spcAft>
                <a:spcPts val="0"/>
              </a:spcAft>
            </a:pPr>
            <a:r>
              <a:rPr sz="1200">
                <a:solidFill>
                  <a:srgbClr val="7E94A6"/>
                </a:solidFill>
                <a:latin typeface="Consolas"/>
              </a:rPr>
              <a:t>// overlapping the existing time span:</a:t>
            </a:r>
          </a:p>
          <a:p>
            <a:pPr>
              <a:lnSpc>
                <a:spcPct val="102000"/>
              </a:lnSpc>
              <a:spcBef>
                <a:spcPts val="0"/>
              </a:spcBef>
              <a:spcAft>
                <a:spcPts val="0"/>
              </a:spcAft>
            </a:pPr>
            <a:r>
              <a:rPr sz="1200">
                <a:solidFill>
                  <a:srgbClr val="C9E08A"/>
                </a:solidFill>
                <a:latin typeface="Consolas"/>
              </a:rPr>
              <a:t>409</a:t>
            </a:r>
            <a:r>
              <a:rPr sz="1200">
                <a:solidFill>
                  <a:srgbClr val="C2D0DA"/>
                </a:solidFill>
                <a:latin typeface="Consolas"/>
              </a:rPr>
              <a:t>  { </a:t>
            </a:r>
            <a:r>
              <a:rPr sz="1200">
                <a:solidFill>
                  <a:srgbClr val="6FC3E0"/>
                </a:solidFill>
                <a:latin typeface="Consolas"/>
              </a:rPr>
              <a:t>"code"</a:t>
            </a:r>
            <a:r>
              <a:rPr sz="1200">
                <a:solidFill>
                  <a:srgbClr val="C2D0DA"/>
                </a:solidFill>
                <a:latin typeface="Consolas"/>
              </a:rPr>
              <a:t>: </a:t>
            </a:r>
            <a:r>
              <a:rPr sz="1200">
                <a:solidFill>
                  <a:srgbClr val="E6A36A"/>
                </a:solidFill>
                <a:latin typeface="Consolas"/>
              </a:rPr>
              <a:t>"409"</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"description"</a:t>
            </a:r>
            <a:r>
              <a:rPr sz="1200">
                <a:solidFill>
                  <a:srgbClr val="C2D0DA"/>
                </a:solidFill>
                <a:latin typeface="Consolas"/>
              </a:rPr>
              <a:t>: "the sub-trajectory overlaps</a:t>
            </a:r>
          </a:p>
          <a:p>
            <a:pPr>
              <a:lnSpc>
                <a:spcPct val="102000"/>
              </a:lnSpc>
              <a:spcBef>
                <a:spcPts val="0"/>
              </a:spcBef>
              <a:spcAft>
                <a:spcPts val="0"/>
              </a:spcAft>
            </a:pPr>
            <a:r>
              <a:rPr sz="1200">
                <a:solidFill>
                  <a:srgbClr val="C2D0DA"/>
                </a:solidFill>
                <a:latin typeface="Consolas"/>
              </a:rPr>
              <a:t>        the existing temporal geometry in time" }</a:t>
            </a:r>
          </a:p>
        </p:txBody>
      </p:sp>
      <p:sp>
        <p:nvSpPr>
          <p:cNvPr id="13" name="Rounded Rectangle 12"/>
          <p:cNvSpPr/>
          <p:nvPr/>
        </p:nvSpPr>
        <p:spPr>
          <a:xfrm>
            <a:off x="6281928" y="1783080"/>
            <a:ext cx="932688" cy="292608"/>
          </a:xfrm>
          <a:prstGeom prst="roundRect">
            <a:avLst>
              <a:gd name="adj" fmla="val 4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DELETE</a:t>
            </a:r>
          </a:p>
        </p:txBody>
      </p:sp>
      <p:sp>
        <p:nvSpPr>
          <p:cNvPr id="14" name="TextBox 13"/>
          <p:cNvSpPr txBox="1"/>
          <p:nvPr/>
        </p:nvSpPr>
        <p:spPr>
          <a:xfrm>
            <a:off x="7324344" y="1773936"/>
            <a:ext cx="4300423"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/collections/ships/items/900001</a:t>
            </a:r>
          </a:p>
        </p:txBody>
      </p:sp>
      <p:sp>
        <p:nvSpPr>
          <p:cNvPr id="15" name="TextBox 14"/>
          <p:cNvSpPr txBox="1"/>
          <p:nvPr/>
        </p:nvSpPr>
        <p:spPr>
          <a:xfrm>
            <a:off x="6281928" y="2130552"/>
            <a:ext cx="5342839"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204 remove the feature</a:t>
            </a:r>
          </a:p>
        </p:txBody>
      </p:sp>
      <p:sp>
        <p:nvSpPr>
          <p:cNvPr id="16" name="TextBox 15"/>
          <p:cNvSpPr txBox="1"/>
          <p:nvPr/>
        </p:nvSpPr>
        <p:spPr>
          <a:xfrm>
            <a:off x="6281928" y="3291840"/>
            <a:ext cx="5342839" cy="2743200"/>
          </a:xfrm>
          <a:prstGeom prst="rect">
            <a:avLst/>
          </a:prstGeom>
          <a:noFill/>
        </p:spPr>
        <p:txBody>
          <a:bodyPr wrap="square" lIns="0" tIns="0" rIns="0" bIns="0">
            <a:noAutofit/>
          </a:bodyPr>
          <a:lstStyle/>
          <a:p>
            <a:pPr>
              <a:lnSpc>
                <a:spcPct val="106000"/>
              </a:lnSpc>
              <a:spcBef>
                <a:spcPts val="0"/>
              </a:spcBef>
              <a:spcAft>
                <a:spcPts val="1200"/>
              </a:spcAft>
            </a:pPr>
            <a:r>
              <a:rPr sz="1200" b="1">
                <a:solidFill>
                  <a:srgbClr val="196B24"/>
                </a:solidFill>
                <a:latin typeface="Calibri"/>
              </a:rPr>
              <a:t>▸  </a:t>
            </a:r>
            <a:r>
              <a:rPr sz="1200" b="1">
                <a:solidFill>
                  <a:srgbClr val="0E2841"/>
                </a:solidFill>
                <a:latin typeface="Calibri"/>
              </a:rPr>
              <a:t>merge:  </a:t>
            </a:r>
            <a:r>
              <a:rPr sz="1200">
                <a:solidFill>
                  <a:srgbClr val="1E2B36"/>
                </a:solidFill>
                <a:latin typeface="Calibri"/>
              </a:rPr>
              <a:t>append uses MobilityDB merge, which rejects time overlap; the tier maps that to 409</a:t>
            </a:r>
          </a:p>
          <a:p>
            <a:pPr>
              <a:lnSpc>
                <a:spcPct val="106000"/>
              </a:lnSpc>
              <a:spcBef>
                <a:spcPts val="0"/>
              </a:spcBef>
              <a:spcAft>
                <a:spcPts val="1200"/>
              </a:spcAft>
            </a:pPr>
            <a:r>
              <a:rPr sz="1200" b="1">
                <a:solidFill>
                  <a:srgbClr val="196B24"/>
                </a:solidFill>
                <a:latin typeface="Calibri"/>
              </a:rPr>
              <a:t>▸  </a:t>
            </a:r>
            <a:r>
              <a:rPr sz="1200" b="1">
                <a:solidFill>
                  <a:srgbClr val="0E2841"/>
                </a:solidFill>
                <a:latin typeface="Calibri"/>
              </a:rPr>
              <a:t>Derived measures:  </a:t>
            </a:r>
            <a:r>
              <a:rPr sz="1200">
                <a:solidFill>
                  <a:srgbClr val="1E2B36"/>
                </a:solidFill>
                <a:latin typeface="Calibri"/>
              </a:rPr>
              <a:t>velocity and distance are computed from the geometry and are read-only; change the geometry to change them</a:t>
            </a:r>
          </a:p>
          <a:p>
            <a:pPr>
              <a:lnSpc>
                <a:spcPct val="106000"/>
              </a:lnSpc>
              <a:spcBef>
                <a:spcPts val="0"/>
              </a:spcBef>
              <a:spcAft>
                <a:spcPts val="1200"/>
              </a:spcAft>
            </a:pPr>
            <a:r>
              <a:rPr sz="1200" b="1">
                <a:solidFill>
                  <a:srgbClr val="196B24"/>
                </a:solidFill>
                <a:latin typeface="Calibri"/>
              </a:rPr>
              <a:t>▸  </a:t>
            </a:r>
            <a:r>
              <a:rPr sz="1200" b="1">
                <a:solidFill>
                  <a:srgbClr val="0E2841"/>
                </a:solidFill>
                <a:latin typeface="Calibri"/>
              </a:rPr>
              <a:t>Member delete:  </a:t>
            </a:r>
            <a:r>
              <a:rPr sz="1200">
                <a:solidFill>
                  <a:srgbClr val="1E2B36"/>
                </a:solidFill>
                <a:latin typeface="Calibri"/>
              </a:rPr>
              <a:t>DELETE /…/tgsequence/{id} drops one geometry member by index via deleteTime; DELETE on the item removes the whole feature</a:t>
            </a:r>
          </a:p>
        </p:txBody>
      </p:sp>
      <p:sp>
        <p:nvSpPr>
          <p:cNvPr id="17" name="Rectangle 16"/>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9" name="TextBox 18"/>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TEMPORAL GEOMETRY</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The Temporal-Geometry Sequence</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55448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6" name="TextBox 5"/>
          <p:cNvSpPr txBox="1"/>
          <p:nvPr/>
        </p:nvSpPr>
        <p:spPr>
          <a:xfrm>
            <a:off x="1316736" y="1545336"/>
            <a:ext cx="4736592"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/collections/ships/items/1/tgsequence</a:t>
            </a:r>
          </a:p>
        </p:txBody>
      </p:sp>
      <p:sp>
        <p:nvSpPr>
          <p:cNvPr id="7" name="Rounded Rectangle 6"/>
          <p:cNvSpPr/>
          <p:nvPr/>
        </p:nvSpPr>
        <p:spPr>
          <a:xfrm>
            <a:off x="566928" y="1874519"/>
            <a:ext cx="5486400" cy="320040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DEPANEL"/>
          <p:cNvSpPr txBox="1"/>
          <p:nvPr/>
        </p:nvSpPr>
        <p:spPr>
          <a:xfrm>
            <a:off x="694944" y="1965960"/>
            <a:ext cx="5230368" cy="3017520"/>
          </a:xfrm>
          <a:prstGeom prst="rect">
            <a:avLst/>
          </a:prstGeom>
          <a:noFill/>
        </p:spPr>
        <p:txBody>
          <a:bodyPr wrap="square" lIns="0" tIns="0" rIns="0" bIns="0">
            <a:noAutofit/>
          </a:bodyPr>
          <a:lstStyle/>
          <a:p>
            <a:pPr>
              <a:lnSpc>
                <a:spcPct val="102000"/>
              </a:lnSpc>
              <a:spcBef>
                <a:spcPts val="0"/>
              </a:spcBef>
              <a:spcAft>
                <a:spcPts val="0"/>
              </a:spcAft>
            </a:pPr>
            <a:r>
              <a:rPr sz="1200">
                <a:solidFill>
                  <a:srgbClr val="C9E08A"/>
                </a:solidFill>
                <a:latin typeface="Consolas"/>
              </a:rPr>
              <a:t>200</a:t>
            </a:r>
            <a:r>
              <a:rPr sz="1200">
                <a:solidFill>
                  <a:srgbClr val="C2D0DA"/>
                </a:solidFill>
                <a:latin typeface="Consolas"/>
              </a:rPr>
              <a:t> OK</a:t>
            </a:r>
          </a:p>
          <a:p>
            <a:pPr>
              <a:lnSpc>
                <a:spcPct val="102000"/>
              </a:lnSpc>
              <a:spcBef>
                <a:spcPts val="0"/>
              </a:spcBef>
              <a:spcAft>
                <a:spcPts val="0"/>
              </a:spcAft>
            </a:pP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"TemporalGeometrySequence"</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"crs"</a:t>
            </a:r>
            <a:r>
              <a:rPr sz="1200">
                <a:solidFill>
                  <a:srgbClr val="C2D0DA"/>
                </a:solidFill>
                <a:latin typeface="Consolas"/>
              </a:rPr>
              <a:t>: {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"Name"</a:t>
            </a:r>
            <a:r>
              <a:rPr sz="1200">
                <a:solidFill>
                  <a:srgbClr val="C2D0DA"/>
                </a:solidFill>
                <a:latin typeface="Consolas"/>
              </a:rPr>
              <a:t>, </a:t>
            </a:r>
            <a:r>
              <a:rPr sz="1200">
                <a:solidFill>
                  <a:srgbClr val="6FC3E0"/>
                </a:solidFill>
                <a:latin typeface="Consolas"/>
              </a:rPr>
              <a:t>"properties"</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"urn:ogc:def:crs:EPSG::25832"</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"geometrySequence"</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"id": 1, "type": "MovingPoint", </a:t>
            </a:r>
            <a:r>
              <a:rPr sz="1200">
                <a:solidFill>
                  <a:srgbClr val="6FC3E0"/>
                </a:solidFill>
                <a:latin typeface="Consolas"/>
              </a:rPr>
              <a:t>"datetimes"</a:t>
            </a:r>
            <a:r>
              <a:rPr sz="1200">
                <a:solidFill>
                  <a:srgbClr val="C2D0DA"/>
                </a:solidFill>
                <a:latin typeface="Consolas"/>
              </a:rPr>
              <a:t>: [</a:t>
            </a:r>
            <a:r>
              <a:rPr sz="1200">
                <a:solidFill>
                  <a:srgbClr val="E6A36A"/>
                </a:solidFill>
                <a:latin typeface="Consolas"/>
              </a:rPr>
              <a:t>"2026-02-26T13:28:08+01"</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"coordinates"</a:t>
            </a:r>
            <a:r>
              <a:rPr sz="1200">
                <a:solidFill>
                  <a:srgbClr val="C2D0DA"/>
                </a:solidFill>
                <a:latin typeface="Consolas"/>
              </a:rPr>
              <a:t>: [[</a:t>
            </a:r>
            <a:r>
              <a:rPr sz="1200">
                <a:solidFill>
                  <a:srgbClr val="C9E08A"/>
                </a:solidFill>
                <a:latin typeface="Consolas"/>
              </a:rPr>
              <a:t>721000.4</a:t>
            </a:r>
            <a:r>
              <a:rPr sz="1200">
                <a:solidFill>
                  <a:srgbClr val="C2D0DA"/>
                </a:solidFill>
                <a:latin typeface="Consolas"/>
              </a:rPr>
              <a:t>, </a:t>
            </a:r>
            <a:r>
              <a:rPr sz="1200">
                <a:solidFill>
                  <a:srgbClr val="C9E08A"/>
                </a:solidFill>
                <a:latin typeface="Consolas"/>
              </a:rPr>
              <a:t>6178001.2</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"lower_inc"</a:t>
            </a:r>
            <a:r>
              <a:rPr sz="1200">
                <a:solidFill>
                  <a:srgbClr val="C2D0DA"/>
                </a:solidFill>
                <a:latin typeface="Consolas"/>
              </a:rPr>
              <a:t>: </a:t>
            </a:r>
            <a:r>
              <a:rPr sz="1200">
                <a:solidFill>
                  <a:srgbClr val="CBA0E8"/>
                </a:solidFill>
                <a:latin typeface="Consolas"/>
              </a:rPr>
              <a:t>true</a:t>
            </a:r>
            <a:r>
              <a:rPr sz="1200">
                <a:solidFill>
                  <a:srgbClr val="C2D0DA"/>
                </a:solidFill>
                <a:latin typeface="Consolas"/>
              </a:rPr>
              <a:t>, </a:t>
            </a:r>
            <a:r>
              <a:rPr sz="1200">
                <a:solidFill>
                  <a:srgbClr val="6FC3E0"/>
                </a:solidFill>
                <a:latin typeface="Consolas"/>
              </a:rPr>
              <a:t>"upper_inc"</a:t>
            </a:r>
            <a:r>
              <a:rPr sz="1200">
                <a:solidFill>
                  <a:srgbClr val="C2D0DA"/>
                </a:solidFill>
                <a:latin typeface="Consolas"/>
              </a:rPr>
              <a:t>: </a:t>
            </a:r>
            <a:r>
              <a:rPr sz="1200">
                <a:solidFill>
                  <a:srgbClr val="CBA0E8"/>
                </a:solidFill>
                <a:latin typeface="Consolas"/>
              </a:rPr>
              <a:t>true</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"interpolation"</a:t>
            </a:r>
            <a:r>
              <a:rPr sz="1200">
                <a:solidFill>
                  <a:srgbClr val="C2D0DA"/>
                </a:solidFill>
                <a:latin typeface="Consolas"/>
              </a:rPr>
              <a:t>: </a:t>
            </a:r>
            <a:r>
              <a:rPr sz="1200">
                <a:solidFill>
                  <a:srgbClr val="E6A36A"/>
                </a:solidFill>
                <a:latin typeface="Consolas"/>
              </a:rPr>
              <a:t>"Linear"</a:t>
            </a:r>
          </a:p>
          <a:p>
            <a:pPr>
              <a:lnSpc>
                <a:spcPct val="102000"/>
              </a:lnSpc>
              <a:spcBef>
                <a:spcPts val="0"/>
              </a:spcBef>
              <a:spcAft>
                <a:spcPts val="0"/>
              </a:spcAft>
            </a:pPr>
            <a:r>
              <a:rPr sz="1200">
                <a:solidFill>
                  <a:srgbClr val="C2D0DA"/>
                </a:solidFill>
                <a:latin typeface="Consolas"/>
              </a:rPr>
              <a:t>}</a:t>
            </a:r>
          </a:p>
        </p:txBody>
      </p:sp>
      <p:sp>
        <p:nvSpPr>
          <p:cNvPr id="9" name="TextBox 8"/>
          <p:cNvSpPr txBox="1"/>
          <p:nvPr/>
        </p:nvSpPr>
        <p:spPr>
          <a:xfrm>
            <a:off x="6281928" y="1627632"/>
            <a:ext cx="5342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0E2841"/>
                </a:solidFill>
                <a:latin typeface="Calibri"/>
              </a:rPr>
              <a:t>Selectors on this resource</a:t>
            </a:r>
          </a:p>
        </p:txBody>
      </p:sp>
      <p:sp>
        <p:nvSpPr>
          <p:cNvPr id="10" name="TextBox 9"/>
          <p:cNvSpPr txBox="1"/>
          <p:nvPr/>
        </p:nvSpPr>
        <p:spPr>
          <a:xfrm>
            <a:off x="6281928" y="2057400"/>
            <a:ext cx="5342839" cy="2011680"/>
          </a:xfrm>
          <a:prstGeom prst="rect">
            <a:avLst/>
          </a:prstGeom>
          <a:noFill/>
        </p:spPr>
        <p:txBody>
          <a:bodyPr wrap="square" lIns="0" tIns="0" rIns="0" bIns="0">
            <a:noAutofit/>
          </a:bodyPr>
          <a:lstStyle/>
          <a:p>
            <a:pPr>
              <a:lnSpc>
                <a:spcPct val="106000"/>
              </a:lnSpc>
              <a:spcBef>
                <a:spcPts val="0"/>
              </a:spcBef>
              <a:spcAft>
                <a:spcPts val="1200"/>
              </a:spcAft>
            </a:pPr>
            <a:r>
              <a:rPr sz="1200" b="1">
                <a:solidFill>
                  <a:srgbClr val="156082"/>
                </a:solidFill>
                <a:latin typeface="Calibri"/>
              </a:rPr>
              <a:t>▸  </a:t>
            </a:r>
            <a:r>
              <a:rPr sz="1200" b="1">
                <a:solidFill>
                  <a:srgbClr val="0E2841"/>
                </a:solidFill>
                <a:latin typeface="Calibri"/>
              </a:rPr>
              <a:t>datetime:  </a:t>
            </a:r>
            <a:r>
              <a:rPr sz="1200">
                <a:solidFill>
                  <a:srgbClr val="1E2B36"/>
                </a:solidFill>
                <a:latin typeface="Calibri"/>
              </a:rPr>
              <a:t>clip the sequence to an interval (atTime)</a:t>
            </a:r>
          </a:p>
          <a:p>
            <a:pPr>
              <a:lnSpc>
                <a:spcPct val="106000"/>
              </a:lnSpc>
              <a:spcBef>
                <a:spcPts val="0"/>
              </a:spcBef>
              <a:spcAft>
                <a:spcPts val="1200"/>
              </a:spcAft>
            </a:pPr>
            <a:r>
              <a:rPr sz="1200" b="1">
                <a:solidFill>
                  <a:srgbClr val="156082"/>
                </a:solidFill>
                <a:latin typeface="Calibri"/>
              </a:rPr>
              <a:t>▸  </a:t>
            </a:r>
            <a:r>
              <a:rPr sz="1200" b="1">
                <a:solidFill>
                  <a:srgbClr val="0E2841"/>
                </a:solidFill>
                <a:latin typeface="Calibri"/>
              </a:rPr>
              <a:t>leaf:  </a:t>
            </a:r>
            <a:r>
              <a:rPr sz="1200">
                <a:solidFill>
                  <a:srgbClr val="1E2B36"/>
                </a:solidFill>
                <a:latin typeface="Calibri"/>
              </a:rPr>
              <a:t>return the geometry at one or more instants</a:t>
            </a:r>
          </a:p>
          <a:p>
            <a:pPr>
              <a:lnSpc>
                <a:spcPct val="106000"/>
              </a:lnSpc>
              <a:spcBef>
                <a:spcPts val="0"/>
              </a:spcBef>
              <a:spcAft>
                <a:spcPts val="1200"/>
              </a:spcAft>
            </a:pPr>
            <a:r>
              <a:rPr sz="1200" b="1">
                <a:solidFill>
                  <a:srgbClr val="156082"/>
                </a:solidFill>
                <a:latin typeface="Calibri"/>
              </a:rPr>
              <a:t>▸  </a:t>
            </a:r>
            <a:r>
              <a:rPr sz="1200" b="1">
                <a:solidFill>
                  <a:srgbClr val="0E2841"/>
                </a:solidFill>
                <a:latin typeface="Calibri"/>
              </a:rPr>
              <a:t>POST:  </a:t>
            </a:r>
            <a:r>
              <a:rPr sz="1200">
                <a:solidFill>
                  <a:srgbClr val="1E2B36"/>
                </a:solidFill>
                <a:latin typeface="Calibri"/>
              </a:rPr>
              <a:t>append a temporally-disjoint sub-trajectory</a:t>
            </a:r>
          </a:p>
        </p:txBody>
      </p:sp>
      <p:sp>
        <p:nvSpPr>
          <p:cNvPr id="11" name="Rounded Rectangle 10"/>
          <p:cNvSpPr/>
          <p:nvPr/>
        </p:nvSpPr>
        <p:spPr>
          <a:xfrm>
            <a:off x="6281928" y="4160520"/>
            <a:ext cx="5342839" cy="969264"/>
          </a:xfrm>
          <a:prstGeom prst="roundRect">
            <a:avLst>
              <a:gd name="adj" fmla="val 4000"/>
            </a:avLst>
          </a:prstGeom>
          <a:solidFill>
            <a:srgbClr val="F1F5F8"/>
          </a:solidFill>
          <a:ln>
            <a:noFill/>
          </a:ln>
          <a:effectLst/>
        </p:spPr>
        <p:txBody>
          <a:bodyPr rtlCol="0" anchor="ctr"/>
          <a:lstStyle/>
          <a:p>
            <a:pPr algn="ctr"/>
            <a:endParaRPr/>
          </a:p>
        </p:txBody>
      </p:sp>
      <p:sp>
        <p:nvSpPr>
          <p:cNvPr id="12" name="TextBox 11"/>
          <p:cNvSpPr txBox="1"/>
          <p:nvPr/>
        </p:nvSpPr>
        <p:spPr>
          <a:xfrm>
            <a:off x="6537960" y="4251959"/>
            <a:ext cx="4830775"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Temporal geometry</a:t>
            </a:r>
          </a:p>
        </p:txBody>
      </p:sp>
      <p:sp>
        <p:nvSpPr>
          <p:cNvPr id="13" name="TextBox 12"/>
          <p:cNvSpPr txBox="1"/>
          <p:nvPr/>
        </p:nvSpPr>
        <p:spPr>
          <a:xfrm>
            <a:off x="6537960" y="4544568"/>
            <a:ext cx="4830775" cy="530352"/>
          </a:xfrm>
          <a:prstGeom prst="rect">
            <a:avLst/>
          </a:prstGeom>
          <a:noFill/>
        </p:spPr>
        <p:txBody>
          <a:bodyPr wrap="square" lIns="0" tIns="0" rIns="0" bIns="0">
            <a:noAutofit/>
          </a:bodyPr>
          <a:lstStyle/>
          <a:p>
            <a:pPr>
              <a:lnSpc>
                <a:spcPct val="106000"/>
              </a:lnSpc>
              <a:spcBef>
                <a:spcPts val="0"/>
              </a:spcBef>
              <a:spcAft>
                <a:spcPts val="300"/>
              </a:spcAft>
            </a:pPr>
            <a:r>
              <a:rPr sz="1200" b="1">
                <a:solidFill>
                  <a:srgbClr val="156082"/>
                </a:solidFill>
                <a:latin typeface="Calibri"/>
              </a:rPr>
              <a:t>▸  </a:t>
            </a:r>
            <a:r>
              <a:rPr sz="1200">
                <a:solidFill>
                  <a:srgbClr val="1E2B36"/>
                </a:solidFill>
                <a:latin typeface="Calibri"/>
              </a:rPr>
              <a:t>The temporal geometry is the trajectory itself</a:t>
            </a:r>
          </a:p>
          <a:p>
            <a:pPr>
              <a:lnSpc>
                <a:spcPct val="106000"/>
              </a:lnSpc>
              <a:spcBef>
                <a:spcPts val="0"/>
              </a:spcBef>
              <a:spcAft>
                <a:spcPts val="300"/>
              </a:spcAft>
            </a:pPr>
            <a:r>
              <a:rPr sz="1200" b="1">
                <a:solidFill>
                  <a:srgbClr val="156082"/>
                </a:solidFill>
                <a:latin typeface="Calibri"/>
              </a:rPr>
              <a:t>▸  </a:t>
            </a:r>
            <a:r>
              <a:rPr sz="1200">
                <a:solidFill>
                  <a:srgbClr val="1E2B36"/>
                </a:solidFill>
                <a:latin typeface="Calibri"/>
              </a:rPr>
              <a:t>Returned as MovingFeaturesJSON by asMFJSON</a:t>
            </a:r>
          </a:p>
        </p:txBody>
      </p:sp>
      <p:sp>
        <p:nvSpPr>
          <p:cNvPr id="14" name="Rectangle 13"/>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6" name="TextBox 15"/>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DERIVED MEASURES</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Distance · Velocity  ·  Acceleration</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55448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6" name="TextBox 5"/>
          <p:cNvSpPr txBox="1"/>
          <p:nvPr/>
        </p:nvSpPr>
        <p:spPr>
          <a:xfrm>
            <a:off x="1316736" y="1545336"/>
            <a:ext cx="4919472"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/collections/ships/items/1/tgsequence/1/velocity</a:t>
            </a:r>
          </a:p>
        </p:txBody>
      </p:sp>
      <p:sp>
        <p:nvSpPr>
          <p:cNvPr id="7" name="Rounded Rectangle 6"/>
          <p:cNvSpPr/>
          <p:nvPr/>
        </p:nvSpPr>
        <p:spPr>
          <a:xfrm>
            <a:off x="566928" y="1874519"/>
            <a:ext cx="5669280" cy="228600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DEPANEL"/>
          <p:cNvSpPr txBox="1"/>
          <p:nvPr/>
        </p:nvSpPr>
        <p:spPr>
          <a:xfrm>
            <a:off x="694944" y="1965960"/>
            <a:ext cx="5413248" cy="2103120"/>
          </a:xfrm>
          <a:prstGeom prst="rect">
            <a:avLst/>
          </a:prstGeom>
          <a:noFill/>
        </p:spPr>
        <p:txBody>
          <a:bodyPr wrap="square" lIns="0" tIns="0" rIns="0" bIns="0">
            <a:noAutofit/>
          </a:bodyPr>
          <a:lstStyle/>
          <a:p>
            <a:pPr>
              <a:lnSpc>
                <a:spcPct val="102000"/>
              </a:lnSpc>
              <a:spcBef>
                <a:spcPts val="0"/>
              </a:spcBef>
              <a:spcAft>
                <a:spcPts val="0"/>
              </a:spcAft>
            </a:pPr>
            <a:r>
              <a:rPr sz="1200">
                <a:solidFill>
                  <a:srgbClr val="C9E08A"/>
                </a:solidFill>
                <a:latin typeface="Consolas"/>
              </a:rPr>
              <a:t>200</a:t>
            </a:r>
            <a:r>
              <a:rPr sz="1200">
                <a:solidFill>
                  <a:srgbClr val="C2D0DA"/>
                </a:solidFill>
                <a:latin typeface="Consolas"/>
              </a:rPr>
              <a:t> OK</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"velocity"</a:t>
            </a: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"TReal"</a:t>
            </a:r>
            <a:r>
              <a:rPr sz="1200">
                <a:solidFill>
                  <a:srgbClr val="C2D0DA"/>
                </a:solidFill>
                <a:latin typeface="Consolas"/>
              </a:rPr>
              <a:t>, </a:t>
            </a:r>
            <a:r>
              <a:rPr sz="1200">
                <a:solidFill>
                  <a:srgbClr val="6FC3E0"/>
                </a:solidFill>
                <a:latin typeface="Consolas"/>
              </a:rPr>
              <a:t>"form"</a:t>
            </a:r>
            <a:r>
              <a:rPr sz="1200">
                <a:solidFill>
                  <a:srgbClr val="C2D0DA"/>
                </a:solidFill>
                <a:latin typeface="Consolas"/>
              </a:rPr>
              <a:t>: </a:t>
            </a:r>
            <a:r>
              <a:rPr sz="1200">
                <a:solidFill>
                  <a:srgbClr val="E6A36A"/>
                </a:solidFill>
                <a:latin typeface="Consolas"/>
              </a:rPr>
              <a:t>"m/s"</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"description"</a:t>
            </a:r>
            <a:r>
              <a:rPr sz="1200">
                <a:solidFill>
                  <a:srgbClr val="C2D0DA"/>
                </a:solidFill>
                <a:latin typeface="Consolas"/>
              </a:rPr>
              <a:t>: </a:t>
            </a:r>
            <a:r>
              <a:rPr sz="1200">
                <a:solidFill>
                  <a:srgbClr val="E6A36A"/>
                </a:solidFill>
                <a:latin typeface="Consolas"/>
              </a:rPr>
              <a:t>"Speed over ground ..."</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"valueSequence"</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"datetimes"</a:t>
            </a:r>
            <a:r>
              <a:rPr sz="1200">
                <a:solidFill>
                  <a:srgbClr val="C2D0DA"/>
                </a:solidFill>
                <a:latin typeface="Consolas"/>
              </a:rPr>
              <a:t>: [</a:t>
            </a:r>
            <a:r>
              <a:rPr sz="1200">
                <a:solidFill>
                  <a:srgbClr val="E6A36A"/>
                </a:solidFill>
                <a:latin typeface="Consolas"/>
              </a:rPr>
              <a:t>"2026-02-26T13:28:08+01"</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"values"</a:t>
            </a:r>
            <a:r>
              <a:rPr sz="1200">
                <a:solidFill>
                  <a:srgbClr val="C2D0DA"/>
                </a:solidFill>
                <a:latin typeface="Consolas"/>
              </a:rPr>
              <a:t>: [</a:t>
            </a:r>
            <a:r>
              <a:rPr sz="1200">
                <a:solidFill>
                  <a:srgbClr val="C9E08A"/>
                </a:solidFill>
                <a:latin typeface="Consolas"/>
              </a:rPr>
              <a:t>22.78</a:t>
            </a:r>
            <a:r>
              <a:rPr sz="1200">
                <a:solidFill>
                  <a:srgbClr val="C2D0DA"/>
                </a:solidFill>
                <a:latin typeface="Consolas"/>
              </a:rPr>
              <a:t>, </a:t>
            </a:r>
            <a:r>
              <a:rPr sz="1200">
                <a:solidFill>
                  <a:srgbClr val="C9E08A"/>
                </a:solidFill>
                <a:latin typeface="Consolas"/>
              </a:rPr>
              <a:t>11.03</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"interpolation"</a:t>
            </a:r>
            <a:r>
              <a:rPr sz="1200">
                <a:solidFill>
                  <a:srgbClr val="C2D0DA"/>
                </a:solidFill>
                <a:latin typeface="Consolas"/>
              </a:rPr>
              <a:t>: </a:t>
            </a:r>
            <a:r>
              <a:rPr sz="1200">
                <a:solidFill>
                  <a:srgbClr val="E6A36A"/>
                </a:solidFill>
                <a:latin typeface="Consolas"/>
              </a:rPr>
              <a:t>"Stepwise"</a:t>
            </a:r>
            <a:r>
              <a:rPr sz="1200">
                <a:solidFill>
                  <a:srgbClr val="C2D0DA"/>
                </a:solidFill>
                <a:latin typeface="Consolas"/>
              </a:rPr>
              <a:t> } ],</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"links"</a:t>
            </a:r>
            <a:r>
              <a:rPr sz="1200">
                <a:solidFill>
                  <a:srgbClr val="C2D0DA"/>
                </a:solidFill>
                <a:latin typeface="Consolas"/>
              </a:rPr>
              <a:t>: [ { </a:t>
            </a:r>
            <a:r>
              <a:rPr sz="1200">
                <a:solidFill>
                  <a:srgbClr val="6FC3E0"/>
                </a:solidFill>
                <a:latin typeface="Consolas"/>
              </a:rPr>
              <a:t>"rel"</a:t>
            </a:r>
            <a:r>
              <a:rPr sz="1200">
                <a:solidFill>
                  <a:srgbClr val="C2D0DA"/>
                </a:solidFill>
                <a:latin typeface="Consolas"/>
              </a:rPr>
              <a:t>: </a:t>
            </a:r>
            <a:r>
              <a:rPr sz="1200">
                <a:solidFill>
                  <a:srgbClr val="E6A36A"/>
                </a:solidFill>
                <a:latin typeface="Consolas"/>
              </a:rPr>
              <a:t>"self"</a:t>
            </a:r>
            <a:r>
              <a:rPr sz="1200">
                <a:solidFill>
                  <a:srgbClr val="C2D0DA"/>
                </a:solidFill>
                <a:latin typeface="Consolas"/>
              </a:rPr>
              <a:t>, ... } ] }</a:t>
            </a:r>
          </a:p>
        </p:txBody>
      </p:sp>
      <p:sp>
        <p:nvSpPr>
          <p:cNvPr id="9" name="Rounded Rectangle 8"/>
          <p:cNvSpPr/>
          <p:nvPr/>
        </p:nvSpPr>
        <p:spPr>
          <a:xfrm>
            <a:off x="566928" y="434340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10" name="TextBox 9"/>
          <p:cNvSpPr txBox="1"/>
          <p:nvPr/>
        </p:nvSpPr>
        <p:spPr>
          <a:xfrm>
            <a:off x="1316736" y="4334256"/>
            <a:ext cx="4919472"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/collections/ships/items/1/tgsequence/1/acceleration</a:t>
            </a:r>
          </a:p>
        </p:txBody>
      </p:sp>
      <p:sp>
        <p:nvSpPr>
          <p:cNvPr id="11" name="Rounded Rectangle 10"/>
          <p:cNvSpPr/>
          <p:nvPr/>
        </p:nvSpPr>
        <p:spPr>
          <a:xfrm>
            <a:off x="566928" y="4663440"/>
            <a:ext cx="5669280" cy="155448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ODEPANEL"/>
          <p:cNvSpPr txBox="1"/>
          <p:nvPr/>
        </p:nvSpPr>
        <p:spPr>
          <a:xfrm>
            <a:off x="694944" y="4754879"/>
            <a:ext cx="5413248" cy="1371600"/>
          </a:xfrm>
          <a:prstGeom prst="rect">
            <a:avLst/>
          </a:prstGeom>
          <a:noFill/>
        </p:spPr>
        <p:txBody>
          <a:bodyPr wrap="square" lIns="0" tIns="0" rIns="0" bIns="0">
            <a:noAutofit/>
          </a:bodyPr>
          <a:lstStyle/>
          <a:p>
            <a:pPr>
              <a:lnSpc>
                <a:spcPct val="102000"/>
              </a:lnSpc>
              <a:spcBef>
                <a:spcPts val="0"/>
              </a:spcBef>
              <a:spcAft>
                <a:spcPts val="0"/>
              </a:spcAft>
            </a:pPr>
            <a:r>
              <a:rPr sz="1200">
                <a:solidFill>
                  <a:srgbClr val="C9E08A"/>
                </a:solidFill>
                <a:latin typeface="Consolas"/>
              </a:rPr>
              <a:t>501</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"code"</a:t>
            </a:r>
            <a:r>
              <a:rPr sz="1200">
                <a:solidFill>
                  <a:srgbClr val="C2D0DA"/>
                </a:solidFill>
                <a:latin typeface="Consolas"/>
              </a:rPr>
              <a:t>: </a:t>
            </a:r>
            <a:r>
              <a:rPr sz="1200">
                <a:solidFill>
                  <a:srgbClr val="E6A36A"/>
                </a:solidFill>
                <a:latin typeface="Consolas"/>
              </a:rPr>
              <a:t>"501"</a:t>
            </a:r>
            <a:r>
              <a:rPr sz="1200">
                <a:solidFill>
                  <a:srgbClr val="C2D0DA"/>
                </a:solidFill>
                <a:latin typeface="Consolas"/>
              </a:rPr>
              <a:t>, </a:t>
            </a:r>
            <a:r>
              <a:rPr sz="1200">
                <a:solidFill>
                  <a:srgbClr val="6FC3E0"/>
                </a:solidFill>
                <a:latin typeface="Consolas"/>
              </a:rPr>
              <a:t>"description"</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"acceleration is not derivable: linearly</a:t>
            </a:r>
          </a:p>
          <a:p>
            <a:pPr>
              <a:lnSpc>
                <a:spcPct val="102000"/>
              </a:lnSpc>
              <a:spcBef>
                <a:spcPts val="0"/>
              </a:spcBef>
              <a:spcAft>
                <a:spcPts val="0"/>
              </a:spcAft>
            </a:pPr>
            <a:r>
              <a:rPr sz="1200">
                <a:solidFill>
                  <a:srgbClr val="C2D0DA"/>
                </a:solidFill>
                <a:latin typeface="Consolas"/>
              </a:rPr>
              <a:t>   interpolated position gives a piecewise-constant</a:t>
            </a:r>
          </a:p>
          <a:p>
            <a:pPr>
              <a:lnSpc>
                <a:spcPct val="102000"/>
              </a:lnSpc>
              <a:spcBef>
                <a:spcPts val="0"/>
              </a:spcBef>
              <a:spcAft>
                <a:spcPts val="0"/>
              </a:spcAft>
            </a:pPr>
            <a:r>
              <a:rPr sz="1200">
                <a:solidFill>
                  <a:srgbClr val="C2D0DA"/>
                </a:solidFill>
                <a:latin typeface="Consolas"/>
              </a:rPr>
              <a:t>   speed, whose derivative is zero within each</a:t>
            </a:r>
          </a:p>
          <a:p>
            <a:pPr>
              <a:lnSpc>
                <a:spcPct val="102000"/>
              </a:lnSpc>
              <a:spcBef>
                <a:spcPts val="0"/>
              </a:spcBef>
              <a:spcAft>
                <a:spcPts val="0"/>
              </a:spcAft>
            </a:pPr>
            <a:r>
              <a:rPr sz="1200">
                <a:solidFill>
                  <a:srgbClr val="C2D0DA"/>
                </a:solidFill>
                <a:latin typeface="Consolas"/>
              </a:rPr>
              <a:t>   segment and undefined at the vertices" }</a:t>
            </a:r>
          </a:p>
        </p:txBody>
      </p:sp>
      <p:sp>
        <p:nvSpPr>
          <p:cNvPr id="13" name="TextBox 12"/>
          <p:cNvSpPr txBox="1"/>
          <p:nvPr/>
        </p:nvSpPr>
        <p:spPr>
          <a:xfrm>
            <a:off x="6464808" y="1828800"/>
            <a:ext cx="5159959" cy="4206240"/>
          </a:xfrm>
          <a:prstGeom prst="rect">
            <a:avLst/>
          </a:prstGeom>
          <a:noFill/>
        </p:spPr>
        <p:txBody>
          <a:bodyPr wrap="square" lIns="0" tIns="0" rIns="0" bIns="0">
            <a:noAutofit/>
          </a:bodyPr>
          <a:lstStyle/>
          <a:p>
            <a:pPr>
              <a:lnSpc>
                <a:spcPct val="106000"/>
              </a:lnSpc>
              <a:spcBef>
                <a:spcPts val="0"/>
              </a:spcBef>
              <a:spcAft>
                <a:spcPts val="1200"/>
              </a:spcAft>
            </a:pPr>
            <a:r>
              <a:rPr sz="1200" b="1">
                <a:solidFill>
                  <a:srgbClr val="A02B93"/>
                </a:solidFill>
                <a:latin typeface="Calibri"/>
              </a:rPr>
              <a:t>▸  </a:t>
            </a:r>
            <a:r>
              <a:rPr sz="1200" b="1">
                <a:solidFill>
                  <a:srgbClr val="0E2841"/>
                </a:solidFill>
                <a:latin typeface="Calibri"/>
              </a:rPr>
              <a:t>velocity:  </a:t>
            </a:r>
            <a:r>
              <a:rPr sz="1200">
                <a:solidFill>
                  <a:srgbClr val="1E2B36"/>
                </a:solidFill>
                <a:latin typeface="Calibri"/>
              </a:rPr>
              <a:t>speed over ground from speed(trip), piecewise-constant (Stepwise)</a:t>
            </a:r>
          </a:p>
          <a:p>
            <a:pPr>
              <a:lnSpc>
                <a:spcPct val="106000"/>
              </a:lnSpc>
              <a:spcBef>
                <a:spcPts val="0"/>
              </a:spcBef>
              <a:spcAft>
                <a:spcPts val="1200"/>
              </a:spcAft>
            </a:pPr>
            <a:r>
              <a:rPr sz="1200" b="1">
                <a:solidFill>
                  <a:srgbClr val="A02B93"/>
                </a:solidFill>
                <a:latin typeface="Calibri"/>
              </a:rPr>
              <a:t>▸  </a:t>
            </a:r>
            <a:r>
              <a:rPr sz="1200" b="1">
                <a:solidFill>
                  <a:srgbClr val="0E2841"/>
                </a:solidFill>
                <a:latin typeface="Calibri"/>
              </a:rPr>
              <a:t>distance:  </a:t>
            </a:r>
            <a:r>
              <a:rPr sz="1200">
                <a:solidFill>
                  <a:srgbClr val="1E2B36"/>
                </a:solidFill>
                <a:latin typeface="Calibri"/>
              </a:rPr>
              <a:t>cumulative length from cumulativeLength(trip) (Linear)</a:t>
            </a:r>
          </a:p>
          <a:p>
            <a:pPr>
              <a:lnSpc>
                <a:spcPct val="106000"/>
              </a:lnSpc>
              <a:spcBef>
                <a:spcPts val="0"/>
              </a:spcBef>
              <a:spcAft>
                <a:spcPts val="1200"/>
              </a:spcAft>
            </a:pPr>
            <a:r>
              <a:rPr sz="1200" b="1">
                <a:solidFill>
                  <a:srgbClr val="A02B93"/>
                </a:solidFill>
                <a:latin typeface="Calibri"/>
              </a:rPr>
              <a:t>▸  </a:t>
            </a:r>
            <a:r>
              <a:rPr sz="1200" b="1">
                <a:solidFill>
                  <a:srgbClr val="0E2841"/>
                </a:solidFill>
                <a:latin typeface="Calibri"/>
              </a:rPr>
              <a:t>acceleration:  </a:t>
            </a:r>
            <a:r>
              <a:rPr sz="1200">
                <a:solidFill>
                  <a:srgbClr val="1E2B36"/>
                </a:solidFill>
                <a:latin typeface="Calibri"/>
              </a:rPr>
              <a:t>not fabricated, because with linear position the speed is a step function whose derivative is not a finite function</a:t>
            </a:r>
          </a:p>
          <a:p>
            <a:pPr>
              <a:lnSpc>
                <a:spcPct val="106000"/>
              </a:lnSpc>
              <a:spcBef>
                <a:spcPts val="0"/>
              </a:spcBef>
              <a:spcAft>
                <a:spcPts val="1200"/>
              </a:spcAft>
            </a:pPr>
            <a:r>
              <a:rPr sz="1200" b="1">
                <a:solidFill>
                  <a:srgbClr val="A02B93"/>
                </a:solidFill>
                <a:latin typeface="Calibri"/>
              </a:rPr>
              <a:t>▸  </a:t>
            </a:r>
            <a:r>
              <a:rPr sz="1200" b="1">
                <a:solidFill>
                  <a:srgbClr val="0E2841"/>
                </a:solidFill>
                <a:latin typeface="Calibri"/>
              </a:rPr>
              <a:t>Exact:  </a:t>
            </a:r>
            <a:r>
              <a:rPr sz="1200">
                <a:solidFill>
                  <a:srgbClr val="1E2B36"/>
                </a:solidFill>
                <a:latin typeface="Calibri"/>
              </a:rPr>
              <a:t>each measure is a MobilityDB function reshaped into an OGC temporalProperty (TReal)</a:t>
            </a:r>
          </a:p>
        </p:txBody>
      </p:sp>
      <p:sp>
        <p:nvSpPr>
          <p:cNvPr id="14" name="Rectangle 13"/>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6" name="TextBox 15"/>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TEMPORAL PROPERTIES</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Time-Varying Attributes per Feature</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55448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6" name="TextBox 5"/>
          <p:cNvSpPr txBox="1"/>
          <p:nvPr/>
        </p:nvSpPr>
        <p:spPr>
          <a:xfrm>
            <a:off x="1316736" y="1545336"/>
            <a:ext cx="4736592"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/collections/ships/items/1/tproperties</a:t>
            </a:r>
          </a:p>
        </p:txBody>
      </p:sp>
      <p:sp>
        <p:nvSpPr>
          <p:cNvPr id="7" name="Rounded Rectangle 6"/>
          <p:cNvSpPr/>
          <p:nvPr/>
        </p:nvSpPr>
        <p:spPr>
          <a:xfrm>
            <a:off x="566928" y="1874519"/>
            <a:ext cx="5486400" cy="233172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CODEPANEL"/>
          <p:cNvSpPr txBox="1"/>
          <p:nvPr/>
        </p:nvSpPr>
        <p:spPr>
          <a:xfrm>
            <a:off x="694944" y="1965960"/>
            <a:ext cx="5230368" cy="2148839"/>
          </a:xfrm>
          <a:prstGeom prst="rect">
            <a:avLst/>
          </a:prstGeom>
          <a:noFill/>
        </p:spPr>
        <p:txBody>
          <a:bodyPr wrap="square" lIns="0" tIns="0" rIns="0" bIns="0">
            <a:noAutofit/>
          </a:bodyPr>
          <a:lstStyle/>
          <a:p>
            <a:pPr>
              <a:lnSpc>
                <a:spcPct val="102000"/>
              </a:lnSpc>
              <a:spcBef>
                <a:spcPts val="0"/>
              </a:spcBef>
              <a:spcAft>
                <a:spcPts val="0"/>
              </a:spcAft>
            </a:pPr>
            <a:r>
              <a:rPr sz="1200" dirty="0">
                <a:solidFill>
                  <a:srgbClr val="C9E08A"/>
                </a:solidFill>
                <a:latin typeface="Consolas"/>
              </a:rPr>
              <a:t>200</a:t>
            </a:r>
            <a:r>
              <a:rPr sz="1200" dirty="0">
                <a:solidFill>
                  <a:srgbClr val="C2D0DA"/>
                </a:solidFill>
                <a:latin typeface="Consolas"/>
              </a:rPr>
              <a:t> OK</a:t>
            </a:r>
          </a:p>
          <a:p>
            <a:pPr>
              <a:lnSpc>
                <a:spcPct val="102000"/>
              </a:lnSpc>
              <a:spcBef>
                <a:spcPts val="0"/>
              </a:spcBef>
              <a:spcAft>
                <a:spcPts val="0"/>
              </a:spcAft>
            </a:pPr>
            <a:r>
              <a:rPr sz="1200" dirty="0">
                <a:solidFill>
                  <a:srgbClr val="C2D0DA"/>
                </a:solidFill>
                <a:latin typeface="Consolas"/>
              </a:rPr>
              <a:t>{</a:t>
            </a:r>
          </a:p>
          <a:p>
            <a:pPr>
              <a:lnSpc>
                <a:spcPct val="102000"/>
              </a:lnSpc>
              <a:spcBef>
                <a:spcPts val="0"/>
              </a:spcBef>
              <a:spcAft>
                <a:spcPts val="0"/>
              </a:spcAft>
            </a:pPr>
            <a:r>
              <a:rPr sz="1200" dirty="0">
                <a:solidFill>
                  <a:srgbClr val="C2D0DA"/>
                </a:solidFill>
                <a:latin typeface="Consolas"/>
              </a:rPr>
              <a:t>  </a:t>
            </a:r>
            <a:r>
              <a:rPr sz="1200" dirty="0">
                <a:solidFill>
                  <a:srgbClr val="6FC3E0"/>
                </a:solidFill>
                <a:latin typeface="Consolas"/>
              </a:rPr>
              <a:t>"</a:t>
            </a:r>
            <a:r>
              <a:rPr sz="1200" dirty="0" err="1">
                <a:solidFill>
                  <a:srgbClr val="6FC3E0"/>
                </a:solidFill>
                <a:latin typeface="Consolas"/>
              </a:rPr>
              <a:t>temporalProperties</a:t>
            </a:r>
            <a:r>
              <a:rPr sz="1200" dirty="0">
                <a:solidFill>
                  <a:srgbClr val="6FC3E0"/>
                </a:solidFill>
                <a:latin typeface="Consolas"/>
              </a:rPr>
              <a:t>"</a:t>
            </a:r>
            <a:r>
              <a:rPr sz="1200" dirty="0">
                <a:solidFill>
                  <a:srgbClr val="C2D0DA"/>
                </a:solidFill>
                <a:latin typeface="Consolas"/>
              </a:rPr>
              <a:t>: [</a:t>
            </a:r>
          </a:p>
          <a:p>
            <a:pPr>
              <a:lnSpc>
                <a:spcPct val="102000"/>
              </a:lnSpc>
              <a:spcBef>
                <a:spcPts val="0"/>
              </a:spcBef>
              <a:spcAft>
                <a:spcPts val="0"/>
              </a:spcAft>
            </a:pPr>
            <a:r>
              <a:rPr sz="1200" dirty="0">
                <a:solidFill>
                  <a:srgbClr val="C2D0DA"/>
                </a:solidFill>
                <a:latin typeface="Consolas"/>
              </a:rPr>
              <a:t>    { </a:t>
            </a:r>
            <a:r>
              <a:rPr sz="1200" dirty="0">
                <a:solidFill>
                  <a:srgbClr val="6FC3E0"/>
                </a:solidFill>
                <a:latin typeface="Consolas"/>
              </a:rPr>
              <a:t>"name"</a:t>
            </a:r>
            <a:r>
              <a:rPr sz="1200" dirty="0">
                <a:solidFill>
                  <a:srgbClr val="C2D0DA"/>
                </a:solidFill>
                <a:latin typeface="Consolas"/>
              </a:rPr>
              <a:t>: </a:t>
            </a:r>
            <a:r>
              <a:rPr sz="1200" dirty="0">
                <a:solidFill>
                  <a:srgbClr val="E6A36A"/>
                </a:solidFill>
                <a:latin typeface="Consolas"/>
              </a:rPr>
              <a:t>"fuel"</a:t>
            </a:r>
            <a:r>
              <a:rPr sz="1200" dirty="0">
                <a:solidFill>
                  <a:srgbClr val="C2D0DA"/>
                </a:solidFill>
                <a:latin typeface="Consolas"/>
              </a:rPr>
              <a:t>, </a:t>
            </a:r>
            <a:r>
              <a:rPr sz="1200" dirty="0">
                <a:solidFill>
                  <a:srgbClr val="6FC3E0"/>
                </a:solidFill>
                <a:latin typeface="Consolas"/>
              </a:rPr>
              <a:t>"type"</a:t>
            </a:r>
            <a:r>
              <a:rPr sz="1200" dirty="0">
                <a:solidFill>
                  <a:srgbClr val="C2D0DA"/>
                </a:solidFill>
                <a:latin typeface="Consolas"/>
              </a:rPr>
              <a:t>: </a:t>
            </a:r>
            <a:r>
              <a:rPr sz="1200" dirty="0">
                <a:solidFill>
                  <a:srgbClr val="E6A36A"/>
                </a:solidFill>
                <a:latin typeface="Consolas"/>
              </a:rPr>
              <a:t>"</a:t>
            </a:r>
            <a:r>
              <a:rPr sz="1200" dirty="0" err="1">
                <a:solidFill>
                  <a:srgbClr val="E6A36A"/>
                </a:solidFill>
                <a:latin typeface="Consolas"/>
              </a:rPr>
              <a:t>TReal</a:t>
            </a:r>
            <a:r>
              <a:rPr sz="1200" dirty="0">
                <a:solidFill>
                  <a:srgbClr val="E6A36A"/>
                </a:solidFill>
                <a:latin typeface="Consolas"/>
              </a:rPr>
              <a:t>"</a:t>
            </a:r>
            <a:r>
              <a:rPr sz="1200" dirty="0">
                <a:solidFill>
                  <a:srgbClr val="C2D0DA"/>
                </a:solidFill>
                <a:latin typeface="Consolas"/>
              </a:rPr>
              <a:t>, </a:t>
            </a:r>
            <a:r>
              <a:rPr sz="1200" dirty="0">
                <a:solidFill>
                  <a:srgbClr val="6FC3E0"/>
                </a:solidFill>
                <a:latin typeface="Consolas"/>
              </a:rPr>
              <a:t>"form"</a:t>
            </a:r>
            <a:r>
              <a:rPr sz="1200" dirty="0">
                <a:solidFill>
                  <a:srgbClr val="C2D0DA"/>
                </a:solidFill>
                <a:latin typeface="Consolas"/>
              </a:rPr>
              <a:t>: </a:t>
            </a:r>
            <a:r>
              <a:rPr sz="1200" dirty="0">
                <a:solidFill>
                  <a:srgbClr val="E6A36A"/>
                </a:solidFill>
                <a:latin typeface="Consolas"/>
              </a:rPr>
              <a:t>"L"</a:t>
            </a:r>
            <a:r>
              <a:rPr sz="1200" dirty="0">
                <a:solidFill>
                  <a:srgbClr val="C2D0DA"/>
                </a:solidFill>
                <a:latin typeface="Consolas"/>
              </a:rPr>
              <a:t> },</a:t>
            </a:r>
          </a:p>
          <a:p>
            <a:pPr>
              <a:lnSpc>
                <a:spcPct val="102000"/>
              </a:lnSpc>
              <a:spcBef>
                <a:spcPts val="0"/>
              </a:spcBef>
              <a:spcAft>
                <a:spcPts val="0"/>
              </a:spcAft>
            </a:pPr>
            <a:r>
              <a:rPr sz="1200" dirty="0">
                <a:solidFill>
                  <a:srgbClr val="C2D0DA"/>
                </a:solidFill>
                <a:latin typeface="Consolas"/>
              </a:rPr>
              <a:t>    { </a:t>
            </a:r>
            <a:r>
              <a:rPr sz="1200" dirty="0">
                <a:solidFill>
                  <a:srgbClr val="6FC3E0"/>
                </a:solidFill>
                <a:latin typeface="Consolas"/>
              </a:rPr>
              <a:t>"name"</a:t>
            </a:r>
            <a:r>
              <a:rPr sz="1200" dirty="0">
                <a:solidFill>
                  <a:srgbClr val="C2D0DA"/>
                </a:solidFill>
                <a:latin typeface="Consolas"/>
              </a:rPr>
              <a:t>: </a:t>
            </a:r>
            <a:r>
              <a:rPr sz="1200" dirty="0">
                <a:solidFill>
                  <a:srgbClr val="E6A36A"/>
                </a:solidFill>
                <a:latin typeface="Consolas"/>
              </a:rPr>
              <a:t>"cargo_temp"</a:t>
            </a:r>
            <a:r>
              <a:rPr sz="1200" dirty="0">
                <a:solidFill>
                  <a:srgbClr val="C2D0DA"/>
                </a:solidFill>
                <a:latin typeface="Consolas"/>
              </a:rPr>
              <a:t>, </a:t>
            </a:r>
            <a:r>
              <a:rPr sz="1200" dirty="0">
                <a:solidFill>
                  <a:srgbClr val="6FC3E0"/>
                </a:solidFill>
                <a:latin typeface="Consolas"/>
              </a:rPr>
              <a:t>"type"</a:t>
            </a:r>
            <a:r>
              <a:rPr sz="1200" dirty="0">
                <a:solidFill>
                  <a:srgbClr val="C2D0DA"/>
                </a:solidFill>
                <a:latin typeface="Consolas"/>
              </a:rPr>
              <a:t>: </a:t>
            </a:r>
            <a:r>
              <a:rPr sz="1200" dirty="0">
                <a:solidFill>
                  <a:srgbClr val="E6A36A"/>
                </a:solidFill>
                <a:latin typeface="Consolas"/>
              </a:rPr>
              <a:t>"</a:t>
            </a:r>
            <a:r>
              <a:rPr sz="1200" dirty="0" err="1">
                <a:solidFill>
                  <a:srgbClr val="E6A36A"/>
                </a:solidFill>
                <a:latin typeface="Consolas"/>
              </a:rPr>
              <a:t>TReal</a:t>
            </a:r>
            <a:r>
              <a:rPr sz="1200" dirty="0">
                <a:solidFill>
                  <a:srgbClr val="E6A36A"/>
                </a:solidFill>
                <a:latin typeface="Consolas"/>
              </a:rPr>
              <a:t>"</a:t>
            </a:r>
            <a:r>
              <a:rPr sz="1200" dirty="0">
                <a:solidFill>
                  <a:srgbClr val="C2D0DA"/>
                </a:solidFill>
                <a:latin typeface="Consolas"/>
              </a:rPr>
              <a:t>, </a:t>
            </a:r>
            <a:r>
              <a:rPr sz="1200" dirty="0">
                <a:solidFill>
                  <a:srgbClr val="6FC3E0"/>
                </a:solidFill>
                <a:latin typeface="Consolas"/>
              </a:rPr>
              <a:t>"form"</a:t>
            </a:r>
            <a:r>
              <a:rPr sz="1200" dirty="0">
                <a:solidFill>
                  <a:srgbClr val="C2D0DA"/>
                </a:solidFill>
                <a:latin typeface="Consolas"/>
              </a:rPr>
              <a:t>: </a:t>
            </a:r>
            <a:r>
              <a:rPr sz="1200" dirty="0">
                <a:solidFill>
                  <a:srgbClr val="E6A36A"/>
                </a:solidFill>
                <a:latin typeface="Consolas"/>
              </a:rPr>
              <a:t>"Cel"</a:t>
            </a:r>
            <a:r>
              <a:rPr sz="1200" dirty="0">
                <a:solidFill>
                  <a:srgbClr val="C2D0DA"/>
                </a:solidFill>
                <a:latin typeface="Consolas"/>
              </a:rPr>
              <a:t> },</a:t>
            </a:r>
          </a:p>
          <a:p>
            <a:pPr>
              <a:lnSpc>
                <a:spcPct val="102000"/>
              </a:lnSpc>
              <a:spcBef>
                <a:spcPts val="0"/>
              </a:spcBef>
              <a:spcAft>
                <a:spcPts val="0"/>
              </a:spcAft>
            </a:pPr>
            <a:r>
              <a:rPr sz="1200" dirty="0">
                <a:solidFill>
                  <a:srgbClr val="C2D0DA"/>
                </a:solidFill>
                <a:latin typeface="Consolas"/>
              </a:rPr>
              <a:t>    { </a:t>
            </a:r>
            <a:r>
              <a:rPr sz="1200" dirty="0">
                <a:solidFill>
                  <a:srgbClr val="6FC3E0"/>
                </a:solidFill>
                <a:latin typeface="Consolas"/>
              </a:rPr>
              <a:t>"name"</a:t>
            </a:r>
            <a:r>
              <a:rPr sz="1200" dirty="0">
                <a:solidFill>
                  <a:srgbClr val="C2D0DA"/>
                </a:solidFill>
                <a:latin typeface="Consolas"/>
              </a:rPr>
              <a:t>: </a:t>
            </a:r>
            <a:r>
              <a:rPr sz="1200" dirty="0">
                <a:solidFill>
                  <a:srgbClr val="E6A36A"/>
                </a:solidFill>
                <a:latin typeface="Consolas"/>
              </a:rPr>
              <a:t>"load"</a:t>
            </a:r>
            <a:r>
              <a:rPr sz="1200" dirty="0">
                <a:solidFill>
                  <a:srgbClr val="C2D0DA"/>
                </a:solidFill>
                <a:latin typeface="Consolas"/>
              </a:rPr>
              <a:t>,  </a:t>
            </a:r>
            <a:r>
              <a:rPr sz="1200" dirty="0">
                <a:solidFill>
                  <a:srgbClr val="6FC3E0"/>
                </a:solidFill>
                <a:latin typeface="Consolas"/>
              </a:rPr>
              <a:t>"type"</a:t>
            </a:r>
            <a:r>
              <a:rPr sz="1200" dirty="0">
                <a:solidFill>
                  <a:srgbClr val="C2D0DA"/>
                </a:solidFill>
                <a:latin typeface="Consolas"/>
              </a:rPr>
              <a:t>: </a:t>
            </a:r>
            <a:r>
              <a:rPr sz="1200" dirty="0">
                <a:solidFill>
                  <a:srgbClr val="E6A36A"/>
                </a:solidFill>
                <a:latin typeface="Consolas"/>
              </a:rPr>
              <a:t>"</a:t>
            </a:r>
            <a:r>
              <a:rPr sz="1200" dirty="0" err="1">
                <a:solidFill>
                  <a:srgbClr val="E6A36A"/>
                </a:solidFill>
                <a:latin typeface="Consolas"/>
              </a:rPr>
              <a:t>TReal</a:t>
            </a:r>
            <a:r>
              <a:rPr sz="1200" dirty="0">
                <a:solidFill>
                  <a:srgbClr val="E6A36A"/>
                </a:solidFill>
                <a:latin typeface="Consolas"/>
              </a:rPr>
              <a:t>"</a:t>
            </a:r>
            <a:r>
              <a:rPr sz="1200" dirty="0">
                <a:solidFill>
                  <a:srgbClr val="C2D0DA"/>
                </a:solidFill>
                <a:latin typeface="Consolas"/>
              </a:rPr>
              <a:t>, </a:t>
            </a:r>
            <a:r>
              <a:rPr sz="1200" dirty="0">
                <a:solidFill>
                  <a:srgbClr val="6FC3E0"/>
                </a:solidFill>
                <a:latin typeface="Consolas"/>
              </a:rPr>
              <a:t>"form"</a:t>
            </a:r>
            <a:r>
              <a:rPr sz="1200" dirty="0">
                <a:solidFill>
                  <a:srgbClr val="C2D0DA"/>
                </a:solidFill>
                <a:latin typeface="Consolas"/>
              </a:rPr>
              <a:t>: </a:t>
            </a:r>
            <a:r>
              <a:rPr sz="1200" dirty="0">
                <a:solidFill>
                  <a:srgbClr val="E6A36A"/>
                </a:solidFill>
                <a:latin typeface="Consolas"/>
              </a:rPr>
              <a:t>"t"</a:t>
            </a:r>
            <a:r>
              <a:rPr sz="1200" dirty="0">
                <a:solidFill>
                  <a:srgbClr val="C2D0DA"/>
                </a:solidFill>
                <a:latin typeface="Consolas"/>
              </a:rPr>
              <a:t> }</a:t>
            </a:r>
          </a:p>
          <a:p>
            <a:pPr>
              <a:lnSpc>
                <a:spcPct val="102000"/>
              </a:lnSpc>
              <a:spcBef>
                <a:spcPts val="0"/>
              </a:spcBef>
              <a:spcAft>
                <a:spcPts val="0"/>
              </a:spcAft>
            </a:pPr>
            <a:r>
              <a:rPr sz="1200" dirty="0">
                <a:solidFill>
                  <a:srgbClr val="C2D0DA"/>
                </a:solidFill>
                <a:latin typeface="Consolas"/>
              </a:rPr>
              <a:t>  ],</a:t>
            </a:r>
          </a:p>
          <a:p>
            <a:pPr>
              <a:lnSpc>
                <a:spcPct val="102000"/>
              </a:lnSpc>
              <a:spcBef>
                <a:spcPts val="0"/>
              </a:spcBef>
              <a:spcAft>
                <a:spcPts val="0"/>
              </a:spcAft>
            </a:pPr>
            <a:r>
              <a:rPr sz="1200" dirty="0">
                <a:solidFill>
                  <a:srgbClr val="C2D0DA"/>
                </a:solidFill>
                <a:latin typeface="Consolas"/>
              </a:rPr>
              <a:t>  </a:t>
            </a:r>
            <a:r>
              <a:rPr sz="1200" dirty="0">
                <a:solidFill>
                  <a:srgbClr val="6FC3E0"/>
                </a:solidFill>
                <a:latin typeface="Consolas"/>
              </a:rPr>
              <a:t>"</a:t>
            </a:r>
            <a:r>
              <a:rPr sz="1200" dirty="0" err="1">
                <a:solidFill>
                  <a:srgbClr val="6FC3E0"/>
                </a:solidFill>
                <a:latin typeface="Consolas"/>
              </a:rPr>
              <a:t>numberReturned</a:t>
            </a:r>
            <a:r>
              <a:rPr sz="1200" dirty="0">
                <a:solidFill>
                  <a:srgbClr val="6FC3E0"/>
                </a:solidFill>
                <a:latin typeface="Consolas"/>
              </a:rPr>
              <a:t>"</a:t>
            </a:r>
            <a:r>
              <a:rPr sz="1200" dirty="0">
                <a:solidFill>
                  <a:srgbClr val="C2D0DA"/>
                </a:solidFill>
                <a:latin typeface="Consolas"/>
              </a:rPr>
              <a:t>: </a:t>
            </a:r>
            <a:r>
              <a:rPr sz="1200" dirty="0">
                <a:solidFill>
                  <a:srgbClr val="C9E08A"/>
                </a:solidFill>
                <a:latin typeface="Consolas"/>
              </a:rPr>
              <a:t>3</a:t>
            </a:r>
            <a:r>
              <a:rPr sz="1200" dirty="0">
                <a:solidFill>
                  <a:srgbClr val="C2D0DA"/>
                </a:solidFill>
                <a:latin typeface="Consolas"/>
              </a:rPr>
              <a:t>,</a:t>
            </a:r>
          </a:p>
          <a:p>
            <a:pPr>
              <a:lnSpc>
                <a:spcPct val="102000"/>
              </a:lnSpc>
              <a:spcBef>
                <a:spcPts val="0"/>
              </a:spcBef>
              <a:spcAft>
                <a:spcPts val="0"/>
              </a:spcAft>
            </a:pPr>
            <a:r>
              <a:rPr sz="1200" dirty="0">
                <a:solidFill>
                  <a:srgbClr val="C2D0DA"/>
                </a:solidFill>
                <a:latin typeface="Consolas"/>
              </a:rPr>
              <a:t>  </a:t>
            </a:r>
            <a:r>
              <a:rPr sz="1200" dirty="0">
                <a:solidFill>
                  <a:srgbClr val="6FC3E0"/>
                </a:solidFill>
                <a:latin typeface="Consolas"/>
              </a:rPr>
              <a:t>"links"</a:t>
            </a:r>
            <a:r>
              <a:rPr sz="1200" dirty="0">
                <a:solidFill>
                  <a:srgbClr val="C2D0DA"/>
                </a:solidFill>
                <a:latin typeface="Consolas"/>
              </a:rPr>
              <a:t>: [ { </a:t>
            </a:r>
            <a:r>
              <a:rPr sz="1200" dirty="0">
                <a:solidFill>
                  <a:srgbClr val="6FC3E0"/>
                </a:solidFill>
                <a:latin typeface="Consolas"/>
              </a:rPr>
              <a:t>"</a:t>
            </a:r>
            <a:r>
              <a:rPr sz="1200" dirty="0" err="1">
                <a:solidFill>
                  <a:srgbClr val="6FC3E0"/>
                </a:solidFill>
                <a:latin typeface="Consolas"/>
              </a:rPr>
              <a:t>rel</a:t>
            </a:r>
            <a:r>
              <a:rPr sz="1200" dirty="0">
                <a:solidFill>
                  <a:srgbClr val="6FC3E0"/>
                </a:solidFill>
                <a:latin typeface="Consolas"/>
              </a:rPr>
              <a:t>"</a:t>
            </a:r>
            <a:r>
              <a:rPr sz="1200" dirty="0">
                <a:solidFill>
                  <a:srgbClr val="C2D0DA"/>
                </a:solidFill>
                <a:latin typeface="Consolas"/>
              </a:rPr>
              <a:t>: </a:t>
            </a:r>
            <a:r>
              <a:rPr sz="1200" dirty="0">
                <a:solidFill>
                  <a:srgbClr val="E6A36A"/>
                </a:solidFill>
                <a:latin typeface="Consolas"/>
              </a:rPr>
              <a:t>"self"</a:t>
            </a:r>
            <a:r>
              <a:rPr sz="1200" dirty="0">
                <a:solidFill>
                  <a:srgbClr val="C2D0DA"/>
                </a:solidFill>
                <a:latin typeface="Consolas"/>
              </a:rPr>
              <a:t>, ... } ]</a:t>
            </a:r>
          </a:p>
          <a:p>
            <a:pPr>
              <a:lnSpc>
                <a:spcPct val="102000"/>
              </a:lnSpc>
              <a:spcBef>
                <a:spcPts val="0"/>
              </a:spcBef>
              <a:spcAft>
                <a:spcPts val="0"/>
              </a:spcAft>
            </a:pPr>
            <a:r>
              <a:rPr sz="1200" dirty="0">
                <a:solidFill>
                  <a:srgbClr val="C2D0DA"/>
                </a:solidFill>
                <a:latin typeface="Consolas"/>
              </a:rPr>
              <a:t>}</a:t>
            </a:r>
          </a:p>
        </p:txBody>
      </p:sp>
      <p:sp>
        <p:nvSpPr>
          <p:cNvPr id="9" name="Rounded Rectangle 8"/>
          <p:cNvSpPr/>
          <p:nvPr/>
        </p:nvSpPr>
        <p:spPr>
          <a:xfrm>
            <a:off x="566928" y="4389120"/>
            <a:ext cx="640080" cy="292608"/>
          </a:xfrm>
          <a:prstGeom prst="roundRect">
            <a:avLst>
              <a:gd name="adj" fmla="val 40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GET</a:t>
            </a:r>
          </a:p>
        </p:txBody>
      </p:sp>
      <p:sp>
        <p:nvSpPr>
          <p:cNvPr id="10" name="TextBox 9"/>
          <p:cNvSpPr txBox="1"/>
          <p:nvPr/>
        </p:nvSpPr>
        <p:spPr>
          <a:xfrm>
            <a:off x="1316736" y="4379976"/>
            <a:ext cx="4736592"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/collections/ships/items/1/tproperties/fuel?leaf=...</a:t>
            </a:r>
          </a:p>
        </p:txBody>
      </p:sp>
      <p:sp>
        <p:nvSpPr>
          <p:cNvPr id="11" name="Rounded Rectangle 10"/>
          <p:cNvSpPr/>
          <p:nvPr/>
        </p:nvSpPr>
        <p:spPr>
          <a:xfrm>
            <a:off x="566928" y="4709160"/>
            <a:ext cx="5486400" cy="146304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CODEPANEL"/>
          <p:cNvSpPr txBox="1"/>
          <p:nvPr/>
        </p:nvSpPr>
        <p:spPr>
          <a:xfrm>
            <a:off x="694944" y="4800600"/>
            <a:ext cx="5230368" cy="1280160"/>
          </a:xfrm>
          <a:prstGeom prst="rect">
            <a:avLst/>
          </a:prstGeom>
          <a:noFill/>
        </p:spPr>
        <p:txBody>
          <a:bodyPr wrap="square" lIns="0" tIns="0" rIns="0" bIns="0">
            <a:noAutofit/>
          </a:bodyPr>
          <a:lstStyle/>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"name"</a:t>
            </a:r>
            <a:r>
              <a:rPr sz="1200">
                <a:solidFill>
                  <a:srgbClr val="C2D0DA"/>
                </a:solidFill>
                <a:latin typeface="Consolas"/>
              </a:rPr>
              <a:t>: </a:t>
            </a:r>
            <a:r>
              <a:rPr sz="1200">
                <a:solidFill>
                  <a:srgbClr val="E6A36A"/>
                </a:solidFill>
                <a:latin typeface="Consolas"/>
              </a:rPr>
              <a:t>"fuel"</a:t>
            </a:r>
            <a:r>
              <a:rPr sz="1200">
                <a:solidFill>
                  <a:srgbClr val="C2D0DA"/>
                </a:solidFill>
                <a:latin typeface="Consolas"/>
              </a:rPr>
              <a:t>, </a:t>
            </a:r>
            <a:r>
              <a:rPr sz="1200">
                <a:solidFill>
                  <a:srgbClr val="6FC3E0"/>
                </a:solidFill>
                <a:latin typeface="Consolas"/>
              </a:rPr>
              <a:t>"type"</a:t>
            </a:r>
            <a:r>
              <a:rPr sz="1200">
                <a:solidFill>
                  <a:srgbClr val="C2D0DA"/>
                </a:solidFill>
                <a:latin typeface="Consolas"/>
              </a:rPr>
              <a:t>: </a:t>
            </a:r>
            <a:r>
              <a:rPr sz="1200">
                <a:solidFill>
                  <a:srgbClr val="E6A36A"/>
                </a:solidFill>
                <a:latin typeface="Consolas"/>
              </a:rPr>
              <a:t>"TReal"</a:t>
            </a:r>
            <a:r>
              <a:rPr sz="1200">
                <a:solidFill>
                  <a:srgbClr val="C2D0DA"/>
                </a:solidFill>
                <a:latin typeface="Consolas"/>
              </a:rPr>
              <a:t>, </a:t>
            </a:r>
            <a:r>
              <a:rPr sz="1200">
                <a:solidFill>
                  <a:srgbClr val="6FC3E0"/>
                </a:solidFill>
                <a:latin typeface="Consolas"/>
              </a:rPr>
              <a:t>"form"</a:t>
            </a:r>
            <a:r>
              <a:rPr sz="1200">
                <a:solidFill>
                  <a:srgbClr val="C2D0DA"/>
                </a:solidFill>
                <a:latin typeface="Consolas"/>
              </a:rPr>
              <a:t>: </a:t>
            </a:r>
            <a:r>
              <a:rPr sz="1200">
                <a:solidFill>
                  <a:srgbClr val="E6A36A"/>
                </a:solidFill>
                <a:latin typeface="Consolas"/>
              </a:rPr>
              <a:t>"L"</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"valueSequence"</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"datetimes"</a:t>
            </a:r>
            <a:r>
              <a:rPr sz="1200">
                <a:solidFill>
                  <a:srgbClr val="C2D0DA"/>
                </a:solidFill>
                <a:latin typeface="Consolas"/>
              </a:rPr>
              <a:t>: [</a:t>
            </a:r>
            <a:r>
              <a:rPr sz="1200">
                <a:solidFill>
                  <a:srgbClr val="E6A36A"/>
                </a:solidFill>
                <a:latin typeface="Consolas"/>
              </a:rPr>
              <a:t>"2026-02-26T13:28:08+01"</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"values"</a:t>
            </a:r>
            <a:r>
              <a:rPr sz="1200">
                <a:solidFill>
                  <a:srgbClr val="C2D0DA"/>
                </a:solidFill>
                <a:latin typeface="Consolas"/>
              </a:rPr>
              <a:t>: [</a:t>
            </a:r>
            <a:r>
              <a:rPr sz="1200">
                <a:solidFill>
                  <a:srgbClr val="C9E08A"/>
                </a:solidFill>
                <a:latin typeface="Consolas"/>
              </a:rPr>
              <a:t>22.78</a:t>
            </a:r>
            <a:r>
              <a:rPr sz="1200">
                <a:solidFill>
                  <a:srgbClr val="C2D0DA"/>
                </a:solidFill>
                <a:latin typeface="Consolas"/>
              </a:rPr>
              <a:t>],</a:t>
            </a:r>
          </a:p>
          <a:p>
            <a:pPr>
              <a:lnSpc>
                <a:spcPct val="102000"/>
              </a:lnSpc>
              <a:spcBef>
                <a:spcPts val="0"/>
              </a:spcBef>
              <a:spcAft>
                <a:spcPts val="0"/>
              </a:spcAft>
            </a:pPr>
            <a:r>
              <a:rPr sz="1200">
                <a:solidFill>
                  <a:srgbClr val="C2D0DA"/>
                </a:solidFill>
                <a:latin typeface="Consolas"/>
              </a:rPr>
              <a:t>      </a:t>
            </a:r>
            <a:r>
              <a:rPr sz="1200">
                <a:solidFill>
                  <a:srgbClr val="6FC3E0"/>
                </a:solidFill>
                <a:latin typeface="Consolas"/>
              </a:rPr>
              <a:t>"interpolation"</a:t>
            </a:r>
            <a:r>
              <a:rPr sz="1200">
                <a:solidFill>
                  <a:srgbClr val="C2D0DA"/>
                </a:solidFill>
                <a:latin typeface="Consolas"/>
              </a:rPr>
              <a:t>: </a:t>
            </a:r>
            <a:r>
              <a:rPr sz="1200">
                <a:solidFill>
                  <a:srgbClr val="E6A36A"/>
                </a:solidFill>
                <a:latin typeface="Consolas"/>
              </a:rPr>
              <a:t>"Discrete"</a:t>
            </a:r>
            <a:r>
              <a:rPr sz="1200">
                <a:solidFill>
                  <a:srgbClr val="C2D0DA"/>
                </a:solidFill>
                <a:latin typeface="Consolas"/>
              </a:rPr>
              <a:t> } ] }</a:t>
            </a:r>
          </a:p>
        </p:txBody>
      </p:sp>
      <p:sp>
        <p:nvSpPr>
          <p:cNvPr id="13" name="TextBox 12"/>
          <p:cNvSpPr txBox="1"/>
          <p:nvPr/>
        </p:nvSpPr>
        <p:spPr>
          <a:xfrm>
            <a:off x="6281928" y="1627632"/>
            <a:ext cx="5342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0E2841"/>
                </a:solidFill>
                <a:latin typeface="Calibri"/>
              </a:rPr>
              <a:t>Property type</a:t>
            </a:r>
          </a:p>
        </p:txBody>
      </p:sp>
      <p:sp>
        <p:nvSpPr>
          <p:cNvPr id="14" name="TextBox 13"/>
          <p:cNvSpPr txBox="1"/>
          <p:nvPr/>
        </p:nvSpPr>
        <p:spPr>
          <a:xfrm>
            <a:off x="6281928" y="1938528"/>
            <a:ext cx="5342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E97132"/>
                </a:solidFill>
                <a:latin typeface="Calibri"/>
              </a:rPr>
              <a:t>TBoolean · TText · TInteger · TReal</a:t>
            </a:r>
          </a:p>
        </p:txBody>
      </p:sp>
      <p:sp>
        <p:nvSpPr>
          <p:cNvPr id="15" name="TextBox 14"/>
          <p:cNvSpPr txBox="1"/>
          <p:nvPr/>
        </p:nvSpPr>
        <p:spPr>
          <a:xfrm>
            <a:off x="6281928" y="2377440"/>
            <a:ext cx="5342839" cy="3474720"/>
          </a:xfrm>
          <a:prstGeom prst="rect">
            <a:avLst/>
          </a:prstGeom>
          <a:noFill/>
        </p:spPr>
        <p:txBody>
          <a:bodyPr wrap="square" lIns="0" tIns="0" rIns="0" bIns="0">
            <a:noAutofit/>
          </a:bodyPr>
          <a:lstStyle/>
          <a:p>
            <a:pPr>
              <a:lnSpc>
                <a:spcPct val="106000"/>
              </a:lnSpc>
              <a:spcBef>
                <a:spcPts val="0"/>
              </a:spcBef>
              <a:spcAft>
                <a:spcPts val="1100"/>
              </a:spcAft>
            </a:pPr>
            <a:r>
              <a:rPr sz="1200" b="1">
                <a:solidFill>
                  <a:srgbClr val="E97132"/>
                </a:solidFill>
                <a:latin typeface="Calibri"/>
              </a:rPr>
              <a:t>▸  </a:t>
            </a:r>
            <a:r>
              <a:rPr sz="1200" b="1">
                <a:solidFill>
                  <a:srgbClr val="0E2841"/>
                </a:solidFill>
                <a:latin typeface="Calibri"/>
              </a:rPr>
              <a:t>Stored:  </a:t>
            </a:r>
            <a:r>
              <a:rPr sz="1200">
                <a:solidFill>
                  <a:srgbClr val="1E2B36"/>
                </a:solidFill>
                <a:latin typeface="Calibri"/>
              </a:rPr>
              <a:t>user-supplied attributes — fuel, cargo temperature, load — held as native MobilityDB temporal values</a:t>
            </a:r>
          </a:p>
          <a:p>
            <a:pPr>
              <a:lnSpc>
                <a:spcPct val="106000"/>
              </a:lnSpc>
              <a:spcBef>
                <a:spcPts val="0"/>
              </a:spcBef>
              <a:spcAft>
                <a:spcPts val="1100"/>
              </a:spcAft>
            </a:pPr>
            <a:r>
              <a:rPr sz="1200" b="1">
                <a:solidFill>
                  <a:srgbClr val="E97132"/>
                </a:solidFill>
                <a:latin typeface="Calibri"/>
              </a:rPr>
              <a:t>▸  </a:t>
            </a:r>
            <a:r>
              <a:rPr sz="1200" b="1">
                <a:solidFill>
                  <a:srgbClr val="0E2841"/>
                </a:solidFill>
                <a:latin typeface="Calibri"/>
              </a:rPr>
              <a:t>Writable:  </a:t>
            </a:r>
            <a:r>
              <a:rPr sz="1200">
                <a:solidFill>
                  <a:srgbClr val="1E2B36"/>
                </a:solidFill>
                <a:latin typeface="Calibri"/>
              </a:rPr>
              <a:t>POST creates a property, POST appends values via merge, DELETE removes it</a:t>
            </a:r>
          </a:p>
          <a:p>
            <a:pPr>
              <a:lnSpc>
                <a:spcPct val="106000"/>
              </a:lnSpc>
              <a:spcBef>
                <a:spcPts val="0"/>
              </a:spcBef>
              <a:spcAft>
                <a:spcPts val="1100"/>
              </a:spcAft>
            </a:pPr>
            <a:r>
              <a:rPr sz="1200" b="1">
                <a:solidFill>
                  <a:srgbClr val="E97132"/>
                </a:solidFill>
                <a:latin typeface="Calibri"/>
              </a:rPr>
              <a:t>▸  </a:t>
            </a:r>
            <a:r>
              <a:rPr sz="1200" b="1">
                <a:solidFill>
                  <a:srgbClr val="0E2841"/>
                </a:solidFill>
                <a:latin typeface="Calibri"/>
              </a:rPr>
              <a:t>valueSequence:  </a:t>
            </a:r>
            <a:r>
              <a:rPr sz="1200">
                <a:solidFill>
                  <a:srgbClr val="1E2B36"/>
                </a:solidFill>
                <a:latin typeface="Calibri"/>
              </a:rPr>
              <a:t>datetimes and values with each segment's true interpolation</a:t>
            </a:r>
          </a:p>
          <a:p>
            <a:pPr>
              <a:lnSpc>
                <a:spcPct val="106000"/>
              </a:lnSpc>
              <a:spcBef>
                <a:spcPts val="0"/>
              </a:spcBef>
              <a:spcAft>
                <a:spcPts val="1100"/>
              </a:spcAft>
            </a:pPr>
            <a:r>
              <a:rPr sz="1200" b="1">
                <a:solidFill>
                  <a:srgbClr val="E97132"/>
                </a:solidFill>
                <a:latin typeface="Calibri"/>
              </a:rPr>
              <a:t>▸  </a:t>
            </a:r>
            <a:r>
              <a:rPr sz="1200" b="1">
                <a:solidFill>
                  <a:srgbClr val="0E2841"/>
                </a:solidFill>
                <a:latin typeface="Calibri"/>
              </a:rPr>
              <a:t>leaf / datetime:  </a:t>
            </a:r>
            <a:r>
              <a:rPr sz="1200">
                <a:solidFill>
                  <a:srgbClr val="1E2B36"/>
                </a:solidFill>
                <a:latin typeface="Calibri"/>
              </a:rPr>
              <a:t>leaf selects values at given instants (Discrete); datetime clips to an interval</a:t>
            </a:r>
          </a:p>
        </p:txBody>
      </p:sp>
      <p:sp>
        <p:nvSpPr>
          <p:cNvPr id="16" name="Rectangle 15"/>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8" name="TextBox 17"/>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CONFORMANCE</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Declared Classes, API Definition, Errors</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645920"/>
            <a:ext cx="3503066" cy="416052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566928" y="1645920"/>
            <a:ext cx="3503066" cy="457200"/>
          </a:xfrm>
          <a:prstGeom prst="roundRect">
            <a:avLst>
              <a:gd name="adj" fmla="val 6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5528" y="1700784"/>
            <a:ext cx="3137306" cy="320040"/>
          </a:xfrm>
          <a:prstGeom prst="rect">
            <a:avLst/>
          </a:prstGeom>
          <a:noFill/>
        </p:spPr>
        <p:txBody>
          <a:bodyPr wrap="square" lIns="0" tIns="0" rIns="0" bIns="0" anchor="ctr">
            <a:noAutofit/>
          </a:bodyPr>
          <a:lstStyle/>
          <a:p>
            <a:pPr algn="l">
              <a:spcBef>
                <a:spcPts val="0"/>
              </a:spcBef>
              <a:spcAft>
                <a:spcPts val="200"/>
              </a:spcAft>
            </a:pPr>
            <a:r>
              <a:rPr sz="1400" b="1" i="0">
                <a:solidFill>
                  <a:srgbClr val="FFFFFF"/>
                </a:solidFill>
                <a:latin typeface="Calibri"/>
              </a:rPr>
              <a:t>Conformance classes</a:t>
            </a:r>
          </a:p>
        </p:txBody>
      </p:sp>
      <p:sp>
        <p:nvSpPr>
          <p:cNvPr id="8" name="TextBox 7"/>
          <p:cNvSpPr txBox="1"/>
          <p:nvPr/>
        </p:nvSpPr>
        <p:spPr>
          <a:xfrm>
            <a:off x="795528" y="2286000"/>
            <a:ext cx="3045866" cy="3383280"/>
          </a:xfrm>
          <a:prstGeom prst="rect">
            <a:avLst/>
          </a:prstGeom>
          <a:noFill/>
        </p:spPr>
        <p:txBody>
          <a:bodyPr wrap="square" lIns="0" tIns="0" rIns="0" bIns="0">
            <a:noAutofit/>
          </a:bodyPr>
          <a:lstStyle/>
          <a:p>
            <a:pPr>
              <a:lnSpc>
                <a:spcPct val="106000"/>
              </a:lnSpc>
              <a:spcBef>
                <a:spcPts val="0"/>
              </a:spcBef>
              <a:spcAft>
                <a:spcPts val="900"/>
              </a:spcAft>
            </a:pPr>
            <a:r>
              <a:rPr sz="1200" b="1">
                <a:solidFill>
                  <a:srgbClr val="156082"/>
                </a:solidFill>
                <a:latin typeface="Calibri"/>
              </a:rPr>
              <a:t>▸  </a:t>
            </a:r>
            <a:r>
              <a:rPr sz="1200">
                <a:solidFill>
                  <a:srgbClr val="1E2B36"/>
                </a:solidFill>
                <a:latin typeface="Calibri"/>
              </a:rPr>
              <a:t>movingfeatures / conf / common</a:t>
            </a:r>
          </a:p>
          <a:p>
            <a:pPr>
              <a:lnSpc>
                <a:spcPct val="106000"/>
              </a:lnSpc>
              <a:spcBef>
                <a:spcPts val="0"/>
              </a:spcBef>
              <a:spcAft>
                <a:spcPts val="900"/>
              </a:spcAft>
            </a:pPr>
            <a:r>
              <a:rPr sz="1200" b="1">
                <a:solidFill>
                  <a:srgbClr val="156082"/>
                </a:solidFill>
                <a:latin typeface="Calibri"/>
              </a:rPr>
              <a:t>▸  </a:t>
            </a:r>
            <a:r>
              <a:rPr sz="1200">
                <a:solidFill>
                  <a:srgbClr val="1E2B36"/>
                </a:solidFill>
                <a:latin typeface="Calibri"/>
              </a:rPr>
              <a:t>/ conf / mf-collection</a:t>
            </a:r>
          </a:p>
          <a:p>
            <a:pPr>
              <a:lnSpc>
                <a:spcPct val="106000"/>
              </a:lnSpc>
              <a:spcBef>
                <a:spcPts val="0"/>
              </a:spcBef>
              <a:spcAft>
                <a:spcPts val="900"/>
              </a:spcAft>
            </a:pPr>
            <a:r>
              <a:rPr sz="1200" b="1">
                <a:solidFill>
                  <a:srgbClr val="156082"/>
                </a:solidFill>
                <a:latin typeface="Calibri"/>
              </a:rPr>
              <a:t>▸  </a:t>
            </a:r>
            <a:r>
              <a:rPr sz="1200">
                <a:solidFill>
                  <a:srgbClr val="1E2B36"/>
                </a:solidFill>
                <a:latin typeface="Calibri"/>
              </a:rPr>
              <a:t>/ conf / movingfeatures</a:t>
            </a:r>
          </a:p>
          <a:p>
            <a:pPr>
              <a:lnSpc>
                <a:spcPct val="106000"/>
              </a:lnSpc>
              <a:spcBef>
                <a:spcPts val="0"/>
              </a:spcBef>
              <a:spcAft>
                <a:spcPts val="900"/>
              </a:spcAft>
            </a:pPr>
            <a:r>
              <a:rPr sz="1200" b="1">
                <a:solidFill>
                  <a:srgbClr val="156082"/>
                </a:solidFill>
                <a:latin typeface="Calibri"/>
              </a:rPr>
              <a:t>▸  </a:t>
            </a:r>
            <a:r>
              <a:rPr sz="1200">
                <a:solidFill>
                  <a:srgbClr val="1E2B36"/>
                </a:solidFill>
                <a:latin typeface="Calibri"/>
              </a:rPr>
              <a:t>ogcapi-common-1 / conf / core</a:t>
            </a:r>
          </a:p>
          <a:p>
            <a:pPr>
              <a:lnSpc>
                <a:spcPct val="106000"/>
              </a:lnSpc>
              <a:spcBef>
                <a:spcPts val="0"/>
              </a:spcBef>
              <a:spcAft>
                <a:spcPts val="900"/>
              </a:spcAft>
            </a:pPr>
            <a:r>
              <a:rPr sz="1200" b="1">
                <a:solidFill>
                  <a:srgbClr val="156082"/>
                </a:solidFill>
                <a:latin typeface="Calibri"/>
              </a:rPr>
              <a:t>▸  </a:t>
            </a:r>
            <a:r>
              <a:rPr sz="1200">
                <a:solidFill>
                  <a:srgbClr val="1E2B36"/>
                </a:solidFill>
                <a:latin typeface="Calibri"/>
              </a:rPr>
              <a:t>ogcapi-common-2 / conf / collections</a:t>
            </a:r>
          </a:p>
        </p:txBody>
      </p:sp>
      <p:sp>
        <p:nvSpPr>
          <p:cNvPr id="9" name="Rounded Rectangle 8"/>
          <p:cNvSpPr/>
          <p:nvPr/>
        </p:nvSpPr>
        <p:spPr>
          <a:xfrm>
            <a:off x="4344314" y="1645920"/>
            <a:ext cx="3503066" cy="416052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344314" y="1645920"/>
            <a:ext cx="3503066" cy="457200"/>
          </a:xfrm>
          <a:prstGeom prst="roundRect">
            <a:avLst>
              <a:gd name="adj" fmla="val 6000"/>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72914" y="1700784"/>
            <a:ext cx="3137306" cy="320040"/>
          </a:xfrm>
          <a:prstGeom prst="rect">
            <a:avLst/>
          </a:prstGeom>
          <a:noFill/>
        </p:spPr>
        <p:txBody>
          <a:bodyPr wrap="square" lIns="0" tIns="0" rIns="0" bIns="0" anchor="ctr">
            <a:noAutofit/>
          </a:bodyPr>
          <a:lstStyle/>
          <a:p>
            <a:pPr algn="l">
              <a:spcBef>
                <a:spcPts val="0"/>
              </a:spcBef>
              <a:spcAft>
                <a:spcPts val="200"/>
              </a:spcAft>
            </a:pPr>
            <a:r>
              <a:rPr sz="1400" b="1" i="0">
                <a:solidFill>
                  <a:srgbClr val="FFFFFF"/>
                </a:solidFill>
                <a:latin typeface="Calibri"/>
              </a:rPr>
              <a:t>API definition</a:t>
            </a:r>
          </a:p>
        </p:txBody>
      </p:sp>
      <p:sp>
        <p:nvSpPr>
          <p:cNvPr id="12" name="TextBox 11"/>
          <p:cNvSpPr txBox="1"/>
          <p:nvPr/>
        </p:nvSpPr>
        <p:spPr>
          <a:xfrm>
            <a:off x="4572914" y="2286000"/>
            <a:ext cx="3045866" cy="3383280"/>
          </a:xfrm>
          <a:prstGeom prst="rect">
            <a:avLst/>
          </a:prstGeom>
          <a:noFill/>
        </p:spPr>
        <p:txBody>
          <a:bodyPr wrap="square" lIns="0" tIns="0" rIns="0" bIns="0">
            <a:noAutofit/>
          </a:bodyPr>
          <a:lstStyle/>
          <a:p>
            <a:pPr>
              <a:lnSpc>
                <a:spcPct val="106000"/>
              </a:lnSpc>
              <a:spcBef>
                <a:spcPts val="0"/>
              </a:spcBef>
              <a:spcAft>
                <a:spcPts val="900"/>
              </a:spcAft>
            </a:pPr>
            <a:r>
              <a:rPr sz="1200" b="1">
                <a:solidFill>
                  <a:srgbClr val="A02B93"/>
                </a:solidFill>
                <a:latin typeface="Calibri"/>
              </a:rPr>
              <a:t>▸  </a:t>
            </a:r>
            <a:r>
              <a:rPr sz="1200" b="1">
                <a:solidFill>
                  <a:srgbClr val="0E2841"/>
                </a:solidFill>
                <a:latin typeface="Calibri"/>
              </a:rPr>
              <a:t>/api:  </a:t>
            </a:r>
            <a:r>
              <a:rPr sz="1200">
                <a:solidFill>
                  <a:srgbClr val="1E2B36"/>
                </a:solidFill>
                <a:latin typeface="Calibri"/>
              </a:rPr>
              <a:t>an OpenAPI 3.0 definition</a:t>
            </a:r>
          </a:p>
          <a:p>
            <a:pPr>
              <a:lnSpc>
                <a:spcPct val="106000"/>
              </a:lnSpc>
              <a:spcBef>
                <a:spcPts val="0"/>
              </a:spcBef>
              <a:spcAft>
                <a:spcPts val="900"/>
              </a:spcAft>
            </a:pPr>
            <a:r>
              <a:rPr sz="1200" b="1">
                <a:solidFill>
                  <a:srgbClr val="A02B93"/>
                </a:solidFill>
                <a:latin typeface="Calibri"/>
              </a:rPr>
              <a:t>▸  </a:t>
            </a:r>
            <a:r>
              <a:rPr sz="1200" b="1">
                <a:solidFill>
                  <a:srgbClr val="0E2841"/>
                </a:solidFill>
                <a:latin typeface="Calibri"/>
              </a:rPr>
              <a:t>service-desc:  </a:t>
            </a:r>
            <a:r>
              <a:rPr sz="1200">
                <a:solidFill>
                  <a:srgbClr val="1E2B36"/>
                </a:solidFill>
                <a:latin typeface="Calibri"/>
              </a:rPr>
              <a:t>linked from the landing page</a:t>
            </a:r>
          </a:p>
          <a:p>
            <a:pPr>
              <a:lnSpc>
                <a:spcPct val="106000"/>
              </a:lnSpc>
              <a:spcBef>
                <a:spcPts val="0"/>
              </a:spcBef>
              <a:spcAft>
                <a:spcPts val="900"/>
              </a:spcAft>
            </a:pPr>
            <a:r>
              <a:rPr sz="1200" b="1">
                <a:solidFill>
                  <a:srgbClr val="A02B93"/>
                </a:solidFill>
                <a:latin typeface="Calibri"/>
              </a:rPr>
              <a:t>▸  </a:t>
            </a:r>
            <a:r>
              <a:rPr sz="1200" b="1">
                <a:solidFill>
                  <a:srgbClr val="0E2841"/>
                </a:solidFill>
                <a:latin typeface="Calibri"/>
              </a:rPr>
              <a:t>Landing:  </a:t>
            </a:r>
            <a:r>
              <a:rPr sz="1200">
                <a:solidFill>
                  <a:srgbClr val="1E2B36"/>
                </a:solidFill>
                <a:latin typeface="Calibri"/>
              </a:rPr>
              <a:t>self, service-desc, conformance, data</a:t>
            </a:r>
          </a:p>
          <a:p>
            <a:pPr>
              <a:lnSpc>
                <a:spcPct val="106000"/>
              </a:lnSpc>
              <a:spcBef>
                <a:spcPts val="0"/>
              </a:spcBef>
              <a:spcAft>
                <a:spcPts val="900"/>
              </a:spcAft>
            </a:pPr>
            <a:r>
              <a:rPr sz="1200" b="1">
                <a:solidFill>
                  <a:srgbClr val="A02B93"/>
                </a:solidFill>
                <a:latin typeface="Calibri"/>
              </a:rPr>
              <a:t>▸  </a:t>
            </a:r>
            <a:r>
              <a:rPr sz="1200">
                <a:solidFill>
                  <a:srgbClr val="1E2B36"/>
                </a:solidFill>
                <a:latin typeface="Calibri"/>
              </a:rPr>
              <a:t>Clients discover the surface at runtime</a:t>
            </a:r>
          </a:p>
        </p:txBody>
      </p:sp>
      <p:sp>
        <p:nvSpPr>
          <p:cNvPr id="13" name="Rounded Rectangle 12"/>
          <p:cNvSpPr/>
          <p:nvPr/>
        </p:nvSpPr>
        <p:spPr>
          <a:xfrm>
            <a:off x="8121700" y="1645920"/>
            <a:ext cx="3503066" cy="416052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121700" y="1645920"/>
            <a:ext cx="3503066" cy="457200"/>
          </a:xfrm>
          <a:prstGeom prst="roundRect">
            <a:avLst>
              <a:gd name="adj" fmla="val 6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50300" y="1700784"/>
            <a:ext cx="3137306" cy="320040"/>
          </a:xfrm>
          <a:prstGeom prst="rect">
            <a:avLst/>
          </a:prstGeom>
          <a:noFill/>
        </p:spPr>
        <p:txBody>
          <a:bodyPr wrap="square" lIns="0" tIns="0" rIns="0" bIns="0" anchor="ctr">
            <a:noAutofit/>
          </a:bodyPr>
          <a:lstStyle/>
          <a:p>
            <a:pPr algn="l">
              <a:spcBef>
                <a:spcPts val="0"/>
              </a:spcBef>
              <a:spcAft>
                <a:spcPts val="200"/>
              </a:spcAft>
            </a:pPr>
            <a:r>
              <a:rPr sz="1400" b="1" i="0">
                <a:solidFill>
                  <a:srgbClr val="FFFFFF"/>
                </a:solidFill>
                <a:latin typeface="Calibri"/>
              </a:rPr>
              <a:t>OGC error responses</a:t>
            </a:r>
          </a:p>
        </p:txBody>
      </p:sp>
      <p:sp>
        <p:nvSpPr>
          <p:cNvPr id="16" name="TextBox 15"/>
          <p:cNvSpPr txBox="1"/>
          <p:nvPr/>
        </p:nvSpPr>
        <p:spPr>
          <a:xfrm>
            <a:off x="8350300" y="2286000"/>
            <a:ext cx="3045866" cy="3383280"/>
          </a:xfrm>
          <a:prstGeom prst="rect">
            <a:avLst/>
          </a:prstGeom>
          <a:noFill/>
        </p:spPr>
        <p:txBody>
          <a:bodyPr wrap="square" lIns="0" tIns="0" rIns="0" bIns="0">
            <a:noAutofit/>
          </a:bodyPr>
          <a:lstStyle/>
          <a:p>
            <a:pPr>
              <a:lnSpc>
                <a:spcPct val="106000"/>
              </a:lnSpc>
              <a:spcBef>
                <a:spcPts val="0"/>
              </a:spcBef>
              <a:spcAft>
                <a:spcPts val="900"/>
              </a:spcAft>
            </a:pPr>
            <a:r>
              <a:rPr sz="1200" b="1">
                <a:solidFill>
                  <a:srgbClr val="C0392B"/>
                </a:solidFill>
                <a:latin typeface="Calibri"/>
              </a:rPr>
              <a:t>▸  </a:t>
            </a:r>
            <a:r>
              <a:rPr sz="1200" b="1">
                <a:solidFill>
                  <a:srgbClr val="0E2841"/>
                </a:solidFill>
                <a:latin typeface="Calibri"/>
              </a:rPr>
              <a:t>400:  </a:t>
            </a:r>
            <a:r>
              <a:rPr sz="1200">
                <a:solidFill>
                  <a:srgbClr val="1E2B36"/>
                </a:solidFill>
                <a:latin typeface="Calibri"/>
              </a:rPr>
              <a:t>invalid parameters or body</a:t>
            </a:r>
          </a:p>
          <a:p>
            <a:pPr>
              <a:lnSpc>
                <a:spcPct val="106000"/>
              </a:lnSpc>
              <a:spcBef>
                <a:spcPts val="0"/>
              </a:spcBef>
              <a:spcAft>
                <a:spcPts val="900"/>
              </a:spcAft>
            </a:pPr>
            <a:r>
              <a:rPr sz="1200" b="1">
                <a:solidFill>
                  <a:srgbClr val="C0392B"/>
                </a:solidFill>
                <a:latin typeface="Calibri"/>
              </a:rPr>
              <a:t>▸  </a:t>
            </a:r>
            <a:r>
              <a:rPr sz="1200" b="1">
                <a:solidFill>
                  <a:srgbClr val="0E2841"/>
                </a:solidFill>
                <a:latin typeface="Calibri"/>
              </a:rPr>
              <a:t>404:  </a:t>
            </a:r>
            <a:r>
              <a:rPr sz="1200">
                <a:solidFill>
                  <a:srgbClr val="1E2B36"/>
                </a:solidFill>
                <a:latin typeface="Calibri"/>
              </a:rPr>
              <a:t>collection / feature not found</a:t>
            </a:r>
          </a:p>
          <a:p>
            <a:pPr>
              <a:lnSpc>
                <a:spcPct val="106000"/>
              </a:lnSpc>
              <a:spcBef>
                <a:spcPts val="0"/>
              </a:spcBef>
              <a:spcAft>
                <a:spcPts val="900"/>
              </a:spcAft>
            </a:pPr>
            <a:r>
              <a:rPr sz="1200" b="1">
                <a:solidFill>
                  <a:srgbClr val="C0392B"/>
                </a:solidFill>
                <a:latin typeface="Calibri"/>
              </a:rPr>
              <a:t>▸  </a:t>
            </a:r>
            <a:r>
              <a:rPr sz="1200" b="1">
                <a:solidFill>
                  <a:srgbClr val="0E2841"/>
                </a:solidFill>
                <a:latin typeface="Calibri"/>
              </a:rPr>
              <a:t>409:  </a:t>
            </a:r>
            <a:r>
              <a:rPr sz="1200">
                <a:solidFill>
                  <a:srgbClr val="1E2B36"/>
                </a:solidFill>
                <a:latin typeface="Calibri"/>
              </a:rPr>
              <a:t>sub-trajectory overlaps in time</a:t>
            </a:r>
          </a:p>
          <a:p>
            <a:pPr>
              <a:lnSpc>
                <a:spcPct val="106000"/>
              </a:lnSpc>
              <a:spcBef>
                <a:spcPts val="0"/>
              </a:spcBef>
              <a:spcAft>
                <a:spcPts val="900"/>
              </a:spcAft>
            </a:pPr>
            <a:r>
              <a:rPr sz="1200" b="1">
                <a:solidFill>
                  <a:srgbClr val="C0392B"/>
                </a:solidFill>
                <a:latin typeface="Calibri"/>
              </a:rPr>
              <a:t>▸  </a:t>
            </a:r>
            <a:r>
              <a:rPr sz="1200" b="1">
                <a:solidFill>
                  <a:srgbClr val="0E2841"/>
                </a:solidFill>
                <a:latin typeface="Calibri"/>
              </a:rPr>
              <a:t>501:  </a:t>
            </a:r>
            <a:r>
              <a:rPr sz="1200">
                <a:solidFill>
                  <a:srgbClr val="1E2B36"/>
                </a:solidFill>
                <a:latin typeface="Calibri"/>
              </a:rPr>
              <a:t>measure not derivable / derived write</a:t>
            </a:r>
          </a:p>
          <a:p>
            <a:pPr>
              <a:lnSpc>
                <a:spcPct val="106000"/>
              </a:lnSpc>
              <a:spcBef>
                <a:spcPts val="0"/>
              </a:spcBef>
              <a:spcAft>
                <a:spcPts val="900"/>
              </a:spcAft>
            </a:pPr>
            <a:r>
              <a:rPr sz="1200" b="1">
                <a:solidFill>
                  <a:srgbClr val="C0392B"/>
                </a:solidFill>
                <a:latin typeface="Calibri"/>
              </a:rPr>
              <a:t>▸  </a:t>
            </a:r>
            <a:r>
              <a:rPr sz="1200">
                <a:solidFill>
                  <a:srgbClr val="1E2B36"/>
                </a:solidFill>
                <a:latin typeface="Calibri"/>
              </a:rPr>
              <a:t>Body: { "code", "description" }</a:t>
            </a:r>
          </a:p>
        </p:txBody>
      </p:sp>
      <p:sp>
        <p:nvSpPr>
          <p:cNvPr id="17" name="Rectangle 16"/>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9" name="TextBox 18"/>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SCALE</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Streaming Keeps Memory Bounded</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828800"/>
            <a:ext cx="3566160" cy="228600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41247" y="2011680"/>
            <a:ext cx="3108960" cy="640080"/>
          </a:xfrm>
          <a:prstGeom prst="rect">
            <a:avLst/>
          </a:prstGeom>
          <a:noFill/>
        </p:spPr>
        <p:txBody>
          <a:bodyPr wrap="square" lIns="0" tIns="0" rIns="0" bIns="0" anchor="t">
            <a:noAutofit/>
          </a:bodyPr>
          <a:lstStyle/>
          <a:p>
            <a:pPr algn="l">
              <a:spcBef>
                <a:spcPts val="0"/>
              </a:spcBef>
              <a:spcAft>
                <a:spcPts val="200"/>
              </a:spcAft>
            </a:pPr>
            <a:r>
              <a:rPr sz="4000" b="1" i="0">
                <a:solidFill>
                  <a:srgbClr val="196B24"/>
                </a:solidFill>
                <a:latin typeface="Calibri Light"/>
              </a:rPr>
              <a:t>393 MB</a:t>
            </a:r>
          </a:p>
        </p:txBody>
      </p:sp>
      <p:sp>
        <p:nvSpPr>
          <p:cNvPr id="7" name="TextBox 6"/>
          <p:cNvSpPr txBox="1"/>
          <p:nvPr/>
        </p:nvSpPr>
        <p:spPr>
          <a:xfrm>
            <a:off x="841247" y="2706624"/>
            <a:ext cx="310896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in one streamed response</a:t>
            </a:r>
          </a:p>
        </p:txBody>
      </p:sp>
      <p:sp>
        <p:nvSpPr>
          <p:cNvPr id="8" name="TextBox 7"/>
          <p:cNvSpPr txBox="1"/>
          <p:nvPr/>
        </p:nvSpPr>
        <p:spPr>
          <a:xfrm>
            <a:off x="841247" y="3035808"/>
            <a:ext cx="3108960" cy="548640"/>
          </a:xfrm>
          <a:prstGeom prst="rect">
            <a:avLst/>
          </a:prstGeom>
          <a:noFill/>
        </p:spPr>
        <p:txBody>
          <a:bodyPr wrap="square" lIns="0" tIns="0" rIns="0" bIns="0" anchor="t">
            <a:noAutofit/>
          </a:bodyPr>
          <a:lstStyle/>
          <a:p>
            <a:pPr algn="l">
              <a:spcBef>
                <a:spcPts val="0"/>
              </a:spcBef>
              <a:spcAft>
                <a:spcPts val="200"/>
              </a:spcAft>
            </a:pPr>
            <a:r>
              <a:rPr sz="3200" b="1" i="0">
                <a:solidFill>
                  <a:srgbClr val="156082"/>
                </a:solidFill>
                <a:latin typeface="Calibri Light"/>
              </a:rPr>
              <a:t>≈18 MB</a:t>
            </a:r>
          </a:p>
        </p:txBody>
      </p:sp>
      <p:sp>
        <p:nvSpPr>
          <p:cNvPr id="9" name="TextBox 8"/>
          <p:cNvSpPr txBox="1"/>
          <p:nvPr/>
        </p:nvSpPr>
        <p:spPr>
          <a:xfrm>
            <a:off x="841247" y="3675887"/>
            <a:ext cx="3108960" cy="36576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resident, bounded by the stream not the result size</a:t>
            </a:r>
          </a:p>
        </p:txBody>
      </p:sp>
      <p:sp>
        <p:nvSpPr>
          <p:cNvPr id="10" name="TextBox 9"/>
          <p:cNvSpPr txBox="1"/>
          <p:nvPr/>
        </p:nvSpPr>
        <p:spPr>
          <a:xfrm>
            <a:off x="4453128" y="1783080"/>
            <a:ext cx="71716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STANDARD ITEMS RESOURCE</a:t>
            </a:r>
          </a:p>
        </p:txBody>
      </p:sp>
      <p:sp>
        <p:nvSpPr>
          <p:cNvPr id="11" name="TextBox 10"/>
          <p:cNvSpPr txBox="1"/>
          <p:nvPr/>
        </p:nvSpPr>
        <p:spPr>
          <a:xfrm>
            <a:off x="4453128" y="2084831"/>
            <a:ext cx="7171639" cy="1554480"/>
          </a:xfrm>
          <a:prstGeom prst="rect">
            <a:avLst/>
          </a:prstGeom>
          <a:noFill/>
        </p:spPr>
        <p:txBody>
          <a:bodyPr wrap="square" lIns="0" tIns="0" rIns="0" bIns="0">
            <a:noAutofit/>
          </a:bodyPr>
          <a:lstStyle/>
          <a:p>
            <a:pPr>
              <a:lnSpc>
                <a:spcPct val="106000"/>
              </a:lnSpc>
              <a:spcBef>
                <a:spcPts val="0"/>
              </a:spcBef>
              <a:spcAft>
                <a:spcPts val="600"/>
              </a:spcAft>
            </a:pPr>
            <a:r>
              <a:rPr sz="1200" b="1">
                <a:solidFill>
                  <a:srgbClr val="156082"/>
                </a:solidFill>
                <a:latin typeface="Calibri"/>
              </a:rPr>
              <a:t>▸  </a:t>
            </a:r>
            <a:r>
              <a:rPr sz="1200" b="1">
                <a:solidFill>
                  <a:srgbClr val="0E2841"/>
                </a:solidFill>
                <a:latin typeface="Calibri"/>
              </a:rPr>
              <a:t>Streaming:  </a:t>
            </a:r>
            <a:r>
              <a:rPr sz="1200">
                <a:solidFill>
                  <a:srgbClr val="1E2B36"/>
                </a:solidFill>
                <a:latin typeface="Calibri"/>
              </a:rPr>
              <a:t>the FeatureCollection is written row by row from a cursor, so memory is bounded for any size</a:t>
            </a:r>
          </a:p>
          <a:p>
            <a:pPr>
              <a:lnSpc>
                <a:spcPct val="106000"/>
              </a:lnSpc>
              <a:spcBef>
                <a:spcPts val="0"/>
              </a:spcBef>
              <a:spcAft>
                <a:spcPts val="600"/>
              </a:spcAft>
            </a:pPr>
            <a:r>
              <a:rPr sz="1200" b="1">
                <a:solidFill>
                  <a:srgbClr val="156082"/>
                </a:solidFill>
                <a:latin typeface="Calibri"/>
              </a:rPr>
              <a:t>▸  </a:t>
            </a:r>
            <a:r>
              <a:rPr sz="1200" b="1">
                <a:solidFill>
                  <a:srgbClr val="0E2841"/>
                </a:solidFill>
                <a:latin typeface="Calibri"/>
              </a:rPr>
              <a:t>Keyset pagination:  </a:t>
            </a:r>
            <a:r>
              <a:rPr sz="1200">
                <a:solidFill>
                  <a:srgbClr val="1E2B36"/>
                </a:solidFill>
                <a:latin typeface="Calibri"/>
              </a:rPr>
              <a:t>next links advance by id with no OFFSET, constant cost through large collections</a:t>
            </a:r>
          </a:p>
          <a:p>
            <a:pPr>
              <a:lnSpc>
                <a:spcPct val="106000"/>
              </a:lnSpc>
              <a:spcBef>
                <a:spcPts val="0"/>
              </a:spcBef>
              <a:spcAft>
                <a:spcPts val="600"/>
              </a:spcAft>
            </a:pPr>
            <a:r>
              <a:rPr sz="1200" b="1">
                <a:solidFill>
                  <a:srgbClr val="156082"/>
                </a:solidFill>
                <a:latin typeface="Calibri"/>
              </a:rPr>
              <a:t>▸  </a:t>
            </a:r>
            <a:r>
              <a:rPr sz="1200" b="1">
                <a:solidFill>
                  <a:srgbClr val="0E2841"/>
                </a:solidFill>
                <a:latin typeface="Calibri"/>
              </a:rPr>
              <a:t>Index-using filters:  </a:t>
            </a:r>
            <a:r>
              <a:rPr sz="1200">
                <a:solidFill>
                  <a:srgbClr val="1E2B36"/>
                </a:solidFill>
                <a:latin typeface="Calibri"/>
              </a:rPr>
              <a:t>bbox and datetime push to the MobilityDB GiST index; subtrajectory clips with atTime</a:t>
            </a:r>
          </a:p>
        </p:txBody>
      </p:sp>
      <p:sp>
        <p:nvSpPr>
          <p:cNvPr id="20" name="Rectangle 19"/>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22" name="TextBox 21"/>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22</a:t>
            </a:r>
          </a:p>
        </p:txBody>
      </p:sp>
      <p:sp>
        <p:nvSpPr>
          <p:cNvPr id="23" name="Rounded Rectangle 22"/>
          <p:cNvSpPr/>
          <p:nvPr/>
        </p:nvSpPr>
        <p:spPr>
          <a:xfrm>
            <a:off x="566928" y="4663440"/>
            <a:ext cx="11055096" cy="96012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41248" y="4818888"/>
            <a:ext cx="10515600" cy="274320"/>
          </a:xfrm>
          <a:prstGeom prst="rect">
            <a:avLst/>
          </a:prstGeom>
          <a:noFill/>
        </p:spPr>
        <p:txBody>
          <a:bodyPr wrap="square" lIns="0" tIns="0" rIns="0" bIns="0" anchor="t">
            <a:noAutofit/>
          </a:bodyPr>
          <a:lstStyle/>
          <a:p>
            <a:pPr algn="l">
              <a:spcBef>
                <a:spcPts val="0"/>
              </a:spcBef>
              <a:spcAft>
                <a:spcPts val="200"/>
              </a:spcAft>
            </a:pPr>
            <a:r>
              <a:rPr sz="1400" b="1" i="0">
                <a:solidFill>
                  <a:srgbClr val="156082"/>
                </a:solidFill>
                <a:latin typeface="Calibri"/>
              </a:rPr>
              <a:t>Why it scales</a:t>
            </a:r>
          </a:p>
        </p:txBody>
      </p:sp>
      <p:sp>
        <p:nvSpPr>
          <p:cNvPr id="25" name="TextBox 24"/>
          <p:cNvSpPr txBox="1"/>
          <p:nvPr/>
        </p:nvSpPr>
        <p:spPr>
          <a:xfrm>
            <a:off x="841248" y="5138928"/>
            <a:ext cx="10515600" cy="457200"/>
          </a:xfrm>
          <a:prstGeom prst="rect">
            <a:avLst/>
          </a:prstGeom>
          <a:noFill/>
        </p:spPr>
        <p:txBody>
          <a:bodyPr wrap="square" lIns="0" tIns="0" rIns="0" bIns="0" anchor="t">
            <a:noAutofit/>
          </a:bodyPr>
          <a:lstStyle/>
          <a:p>
            <a:pPr algn="l">
              <a:spcBef>
                <a:spcPts val="0"/>
              </a:spcBef>
              <a:spcAft>
                <a:spcPts val="200"/>
              </a:spcAft>
            </a:pPr>
            <a:r>
              <a:rPr sz="1300" b="0" i="0">
                <a:solidFill>
                  <a:srgbClr val="1E2B36"/>
                </a:solidFill>
                <a:latin typeface="Calibri"/>
              </a:rPr>
              <a:t>Streaming and keyset pagination keep memory bounded for any collection size, a property of the standard items resource and not of the result size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E97132"/>
                </a:solidFill>
                <a:latin typeface="Calibri"/>
              </a:rPr>
              <a:t>EXTENSIONS · NOT IN conformsTo</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Opt-in Capabilities Beyond the Standard</a:t>
            </a:r>
          </a:p>
        </p:txBody>
      </p:sp>
      <p:sp>
        <p:nvSpPr>
          <p:cNvPr id="4" name="Rectangle 3"/>
          <p:cNvSpPr/>
          <p:nvPr/>
        </p:nvSpPr>
        <p:spPr>
          <a:xfrm>
            <a:off x="566928" y="1389888"/>
            <a:ext cx="1554480" cy="4572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66928" y="2011680"/>
            <a:ext cx="11057839" cy="4023360"/>
          </a:xfrm>
          <a:prstGeom prst="rect">
            <a:avLst/>
          </a:prstGeom>
          <a:noFill/>
        </p:spPr>
        <p:txBody>
          <a:bodyPr wrap="square" lIns="0" tIns="0" rIns="0" bIns="0">
            <a:noAutofit/>
          </a:bodyPr>
          <a:lstStyle/>
          <a:p>
            <a:pPr>
              <a:lnSpc>
                <a:spcPct val="106000"/>
              </a:lnSpc>
              <a:spcBef>
                <a:spcPts val="0"/>
              </a:spcBef>
              <a:spcAft>
                <a:spcPts val="1600"/>
              </a:spcAft>
            </a:pPr>
            <a:r>
              <a:rPr sz="1600" b="1" dirty="0">
                <a:solidFill>
                  <a:srgbClr val="156082"/>
                </a:solidFill>
                <a:latin typeface="Calibri"/>
              </a:rPr>
              <a:t>▸  </a:t>
            </a:r>
            <a:r>
              <a:rPr sz="1600" b="1" dirty="0">
                <a:solidFill>
                  <a:srgbClr val="0E2841"/>
                </a:solidFill>
                <a:latin typeface="Calibri"/>
              </a:rPr>
              <a:t>POST  /…/bulk  </a:t>
            </a:r>
            <a:r>
              <a:rPr sz="1600" dirty="0">
                <a:solidFill>
                  <a:srgbClr val="1E2B36"/>
                </a:solidFill>
                <a:latin typeface="Calibri"/>
              </a:rPr>
              <a:t>bulk-insert a batch of (</a:t>
            </a:r>
            <a:r>
              <a:rPr sz="1600" dirty="0" err="1">
                <a:solidFill>
                  <a:srgbClr val="1E2B36"/>
                </a:solidFill>
                <a:latin typeface="Calibri"/>
              </a:rPr>
              <a:t>vehicleId</a:t>
            </a:r>
            <a:r>
              <a:rPr sz="1600" dirty="0">
                <a:solidFill>
                  <a:srgbClr val="1E2B36"/>
                </a:solidFill>
                <a:latin typeface="Calibri"/>
              </a:rPr>
              <a:t>, position, time</a:t>
            </a:r>
            <a:r>
              <a:rPr lang="fr-BE" sz="1600" dirty="0">
                <a:solidFill>
                  <a:srgbClr val="1E2B36"/>
                </a:solidFill>
                <a:latin typeface="Calibri"/>
              </a:rPr>
              <a:t>, …</a:t>
            </a:r>
            <a:r>
              <a:rPr sz="1600" dirty="0">
                <a:solidFill>
                  <a:srgbClr val="1E2B36"/>
                </a:solidFill>
                <a:latin typeface="Calibri"/>
              </a:rPr>
              <a:t>) observations in one request</a:t>
            </a:r>
          </a:p>
          <a:p>
            <a:pPr>
              <a:lnSpc>
                <a:spcPct val="106000"/>
              </a:lnSpc>
              <a:spcBef>
                <a:spcPts val="0"/>
              </a:spcBef>
              <a:spcAft>
                <a:spcPts val="1600"/>
              </a:spcAft>
            </a:pPr>
            <a:r>
              <a:rPr sz="1600" b="1" dirty="0">
                <a:solidFill>
                  <a:srgbClr val="156082"/>
                </a:solidFill>
                <a:latin typeface="Calibri"/>
              </a:rPr>
              <a:t>▸  </a:t>
            </a:r>
            <a:r>
              <a:rPr sz="1600" b="1" dirty="0">
                <a:solidFill>
                  <a:srgbClr val="0E2841"/>
                </a:solidFill>
                <a:latin typeface="Calibri"/>
              </a:rPr>
              <a:t>GET  /…/export  </a:t>
            </a:r>
            <a:r>
              <a:rPr sz="1600" dirty="0" err="1">
                <a:solidFill>
                  <a:srgbClr val="1E2B36"/>
                </a:solidFill>
                <a:latin typeface="Calibri"/>
              </a:rPr>
              <a:t>lakehouse</a:t>
            </a:r>
            <a:r>
              <a:rPr sz="1600" dirty="0">
                <a:solidFill>
                  <a:srgbClr val="1E2B36"/>
                </a:solidFill>
                <a:latin typeface="Calibri"/>
              </a:rPr>
              <a:t> feed: NDJSON or </a:t>
            </a:r>
            <a:r>
              <a:rPr sz="1600" dirty="0" err="1">
                <a:solidFill>
                  <a:srgbClr val="1E2B36"/>
                </a:solidFill>
                <a:latin typeface="Calibri"/>
              </a:rPr>
              <a:t>GeoParquet</a:t>
            </a:r>
            <a:r>
              <a:rPr sz="1600" dirty="0">
                <a:solidFill>
                  <a:srgbClr val="1E2B36"/>
                </a:solidFill>
                <a:latin typeface="Calibri"/>
              </a:rPr>
              <a:t> with trajectory WKB and a </a:t>
            </a:r>
            <a:r>
              <a:rPr sz="1600" dirty="0" err="1">
                <a:solidFill>
                  <a:srgbClr val="1E2B36"/>
                </a:solidFill>
                <a:latin typeface="Calibri"/>
              </a:rPr>
              <a:t>bbox</a:t>
            </a:r>
            <a:r>
              <a:rPr sz="1600" dirty="0">
                <a:solidFill>
                  <a:srgbClr val="1E2B36"/>
                </a:solidFill>
                <a:latin typeface="Calibri"/>
              </a:rPr>
              <a:t>/time sidecar</a:t>
            </a:r>
          </a:p>
          <a:p>
            <a:pPr>
              <a:lnSpc>
                <a:spcPct val="106000"/>
              </a:lnSpc>
              <a:spcBef>
                <a:spcPts val="0"/>
              </a:spcBef>
              <a:spcAft>
                <a:spcPts val="1600"/>
              </a:spcAft>
            </a:pPr>
            <a:r>
              <a:rPr sz="1600" b="1" dirty="0">
                <a:solidFill>
                  <a:srgbClr val="156082"/>
                </a:solidFill>
                <a:latin typeface="Calibri"/>
              </a:rPr>
              <a:t>▸  </a:t>
            </a:r>
            <a:r>
              <a:rPr sz="1600" b="1" dirty="0">
                <a:solidFill>
                  <a:srgbClr val="0E2841"/>
                </a:solidFill>
                <a:latin typeface="Calibri"/>
              </a:rPr>
              <a:t>PUT  /…/items/{id}  </a:t>
            </a:r>
            <a:r>
              <a:rPr sz="1600" dirty="0">
                <a:solidFill>
                  <a:srgbClr val="1E2B36"/>
                </a:solidFill>
                <a:latin typeface="Calibri"/>
              </a:rPr>
              <a:t>in-place replace of a feature</a:t>
            </a:r>
          </a:p>
          <a:p>
            <a:pPr>
              <a:lnSpc>
                <a:spcPct val="106000"/>
              </a:lnSpc>
              <a:spcBef>
                <a:spcPts val="0"/>
              </a:spcBef>
              <a:spcAft>
                <a:spcPts val="1600"/>
              </a:spcAft>
            </a:pPr>
            <a:r>
              <a:rPr sz="1600" b="1" dirty="0">
                <a:solidFill>
                  <a:srgbClr val="156082"/>
                </a:solidFill>
                <a:latin typeface="Calibri"/>
              </a:rPr>
              <a:t>▸  </a:t>
            </a:r>
            <a:r>
              <a:rPr sz="1600" b="1" dirty="0" err="1">
                <a:solidFill>
                  <a:srgbClr val="0E2841"/>
                </a:solidFill>
                <a:latin typeface="Calibri"/>
              </a:rPr>
              <a:t>GeoJSON</a:t>
            </a:r>
            <a:r>
              <a:rPr sz="1600" b="1" dirty="0">
                <a:solidFill>
                  <a:srgbClr val="0E2841"/>
                </a:solidFill>
                <a:latin typeface="Calibri"/>
              </a:rPr>
              <a:t> and </a:t>
            </a:r>
            <a:r>
              <a:rPr sz="1600" b="1" dirty="0" err="1">
                <a:solidFill>
                  <a:srgbClr val="0E2841"/>
                </a:solidFill>
                <a:latin typeface="Calibri"/>
              </a:rPr>
              <a:t>GeoParquet</a:t>
            </a:r>
            <a:r>
              <a:rPr sz="1600" b="1" dirty="0">
                <a:solidFill>
                  <a:srgbClr val="0E2841"/>
                </a:solidFill>
                <a:latin typeface="Calibri"/>
              </a:rPr>
              <a:t>  </a:t>
            </a:r>
            <a:r>
              <a:rPr sz="1600" dirty="0">
                <a:solidFill>
                  <a:srgbClr val="1E2B36"/>
                </a:solidFill>
                <a:latin typeface="Calibri"/>
              </a:rPr>
              <a:t>accepted in and out, alongside the MF-JSON default</a:t>
            </a:r>
          </a:p>
          <a:p>
            <a:pPr>
              <a:lnSpc>
                <a:spcPct val="106000"/>
              </a:lnSpc>
              <a:spcBef>
                <a:spcPts val="0"/>
              </a:spcBef>
              <a:spcAft>
                <a:spcPts val="1600"/>
              </a:spcAft>
            </a:pPr>
            <a:r>
              <a:rPr sz="1600" b="1" dirty="0">
                <a:solidFill>
                  <a:srgbClr val="156082"/>
                </a:solidFill>
                <a:latin typeface="Calibri"/>
              </a:rPr>
              <a:t>▸  </a:t>
            </a:r>
            <a:r>
              <a:rPr sz="1600" b="1" dirty="0" err="1">
                <a:solidFill>
                  <a:srgbClr val="0E2841"/>
                </a:solidFill>
                <a:latin typeface="Calibri"/>
              </a:rPr>
              <a:t>gzip</a:t>
            </a:r>
            <a:r>
              <a:rPr sz="1600" b="1" dirty="0">
                <a:solidFill>
                  <a:srgbClr val="0E2841"/>
                </a:solidFill>
                <a:latin typeface="Calibri"/>
              </a:rPr>
              <a:t> / deflate / </a:t>
            </a:r>
            <a:r>
              <a:rPr sz="1600" b="1" dirty="0" err="1">
                <a:solidFill>
                  <a:srgbClr val="0E2841"/>
                </a:solidFill>
                <a:latin typeface="Calibri"/>
              </a:rPr>
              <a:t>br</a:t>
            </a:r>
            <a:r>
              <a:rPr sz="1600" b="1" dirty="0">
                <a:solidFill>
                  <a:srgbClr val="0E2841"/>
                </a:solidFill>
                <a:latin typeface="Calibri"/>
              </a:rPr>
              <a:t> / </a:t>
            </a:r>
            <a:r>
              <a:rPr sz="1600" b="1" dirty="0" err="1">
                <a:solidFill>
                  <a:srgbClr val="0E2841"/>
                </a:solidFill>
                <a:latin typeface="Calibri"/>
              </a:rPr>
              <a:t>zstd</a:t>
            </a:r>
            <a:r>
              <a:rPr sz="1600" b="1" dirty="0">
                <a:solidFill>
                  <a:srgbClr val="0E2841"/>
                </a:solidFill>
                <a:latin typeface="Calibri"/>
              </a:rPr>
              <a:t>  </a:t>
            </a:r>
            <a:r>
              <a:rPr sz="1600" dirty="0">
                <a:solidFill>
                  <a:srgbClr val="1E2B36"/>
                </a:solidFill>
                <a:latin typeface="Calibri"/>
              </a:rPr>
              <a:t>compressed request and response bodies</a:t>
            </a:r>
          </a:p>
          <a:p>
            <a:pPr>
              <a:lnSpc>
                <a:spcPct val="106000"/>
              </a:lnSpc>
              <a:spcBef>
                <a:spcPts val="0"/>
              </a:spcBef>
              <a:spcAft>
                <a:spcPts val="1600"/>
              </a:spcAft>
            </a:pPr>
            <a:r>
              <a:rPr sz="1600" b="1" dirty="0">
                <a:solidFill>
                  <a:srgbClr val="156082"/>
                </a:solidFill>
                <a:latin typeface="Calibri"/>
              </a:rPr>
              <a:t>▸  </a:t>
            </a:r>
            <a:r>
              <a:rPr sz="1600" b="1" dirty="0" err="1">
                <a:solidFill>
                  <a:srgbClr val="0E2841"/>
                </a:solidFill>
                <a:latin typeface="Calibri"/>
              </a:rPr>
              <a:t>POST / PUT / DELETE  /collections  </a:t>
            </a:r>
            <a:r>
              <a:rPr sz="1600" b="0" dirty="0">
                <a:solidFill>
                  <a:srgbClr val="1E2B36"/>
                </a:solidFill>
                <a:latin typeface="Calibri"/>
              </a:rPr>
              <a:t>create, update and drop a collection and its feature table</a:t>
            </a:r>
          </a:p>
          <a:p>
            <a:pPr>
              <a:lnSpc>
                <a:spcPct val="106000"/>
              </a:lnSpc>
              <a:spcBef>
                <a:spcPts val="0"/>
              </a:spcBef>
              <a:spcAft>
                <a:spcPts val="1600"/>
              </a:spcAft>
            </a:pPr>
            <a:r>
              <a:rPr sz="1600" b="1" dirty="0">
                <a:solidFill>
                  <a:srgbClr val="156082"/>
                </a:solidFill>
                <a:latin typeface="Calibri"/>
              </a:rPr>
              <a:t>▸  </a:t>
            </a:r>
            <a:r>
              <a:rPr sz="1600" b="1" dirty="0" err="1">
                <a:solidFill>
                  <a:srgbClr val="0E2841"/>
                </a:solidFill>
                <a:latin typeface="Calibri"/>
              </a:rPr>
              <a:t>POST / DELETE  /…/tproperties  </a:t>
            </a:r>
            <a:r>
              <a:rPr sz="1600" b="0" dirty="0">
                <a:solidFill>
                  <a:srgbClr val="1E2B36"/>
                </a:solidFill>
                <a:latin typeface="Calibri"/>
              </a:rPr>
              <a:t>store and remove user-supplied TReal / TInt / TText / TBool attributes</a:t>
            </a:r>
          </a:p>
        </p:txBody>
      </p:sp>
      <p:sp>
        <p:nvSpPr>
          <p:cNvPr id="6" name="Rectangle 5"/>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8" name="TextBox 7"/>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E97132"/>
                </a:solidFill>
                <a:latin typeface="Calibri"/>
              </a:rPr>
              <a:t>EXTENSIONS · NOT IN conformsTo</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Bulk Ingest</a:t>
            </a:r>
          </a:p>
        </p:txBody>
      </p:sp>
      <p:sp>
        <p:nvSpPr>
          <p:cNvPr id="4" name="Rectangle 3"/>
          <p:cNvSpPr/>
          <p:nvPr/>
        </p:nvSpPr>
        <p:spPr>
          <a:xfrm>
            <a:off x="566928" y="1389888"/>
            <a:ext cx="1554480" cy="4572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517904"/>
            <a:ext cx="713232" cy="292608"/>
          </a:xfrm>
          <a:prstGeom prst="roundRect">
            <a:avLst>
              <a:gd name="adj" fmla="val 40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200" b="1">
                <a:solidFill>
                  <a:srgbClr val="FFFFFF"/>
                </a:solidFill>
                <a:latin typeface="Calibri"/>
              </a:rPr>
              <a:t>POST</a:t>
            </a:r>
          </a:p>
        </p:txBody>
      </p:sp>
      <p:sp>
        <p:nvSpPr>
          <p:cNvPr id="6" name="TextBox 5"/>
          <p:cNvSpPr txBox="1"/>
          <p:nvPr/>
        </p:nvSpPr>
        <p:spPr>
          <a:xfrm>
            <a:off x="1389888" y="1508760"/>
            <a:ext cx="10234879" cy="274320"/>
          </a:xfrm>
          <a:prstGeom prst="rect">
            <a:avLst/>
          </a:prstGeom>
          <a:noFill/>
        </p:spPr>
        <p:txBody>
          <a:bodyPr wrap="square" lIns="0" tIns="0" rIns="0" bIns="0" anchor="ctr">
            <a:noAutofit/>
          </a:bodyPr>
          <a:lstStyle/>
          <a:p>
            <a:pPr algn="l">
              <a:spcBef>
                <a:spcPts val="0"/>
              </a:spcBef>
              <a:spcAft>
                <a:spcPts val="200"/>
              </a:spcAft>
            </a:pPr>
            <a:r>
              <a:rPr sz="1200" b="1" i="0">
                <a:solidFill>
                  <a:srgbClr val="0E2841"/>
                </a:solidFill>
                <a:latin typeface="Consolas"/>
              </a:rPr>
              <a:t>/collections/buses/bulk</a:t>
            </a:r>
          </a:p>
        </p:txBody>
      </p:sp>
      <p:sp>
        <p:nvSpPr>
          <p:cNvPr id="7" name="TextBox 6"/>
          <p:cNvSpPr txBox="1"/>
          <p:nvPr/>
        </p:nvSpPr>
        <p:spPr>
          <a:xfrm>
            <a:off x="566928" y="1847088"/>
            <a:ext cx="10972800" cy="292608"/>
          </a:xfrm>
          <a:prstGeom prst="rect">
            <a:avLst/>
          </a:prstGeom>
          <a:noFill/>
        </p:spPr>
        <p:txBody>
          <a:bodyPr wrap="square" lIns="0" tIns="0" rIns="0" bIns="0" anchor="t">
            <a:noAutofit/>
          </a:bodyPr>
          <a:lstStyle/>
          <a:p>
            <a:pPr algn="l">
              <a:spcBef>
                <a:spcPts val="0"/>
              </a:spcBef>
              <a:spcAft>
                <a:spcPts val="200"/>
              </a:spcAft>
            </a:pPr>
            <a:r>
              <a:rPr sz="1200" b="0" i="1">
                <a:solidFill>
                  <a:srgbClr val="5B6B78"/>
                </a:solidFill>
                <a:latin typeface="Calibri"/>
              </a:rPr>
              <a:t>Every minute a city posts each bus's position as a point and timestamp; one request appends them all.</a:t>
            </a:r>
          </a:p>
        </p:txBody>
      </p:sp>
      <p:sp>
        <p:nvSpPr>
          <p:cNvPr id="8" name="Rounded Rectangle 7"/>
          <p:cNvSpPr/>
          <p:nvPr/>
        </p:nvSpPr>
        <p:spPr>
          <a:xfrm>
            <a:off x="566928" y="2194560"/>
            <a:ext cx="6400800" cy="2468880"/>
          </a:xfrm>
          <a:prstGeom prst="roundRect">
            <a:avLst>
              <a:gd name="adj" fmla="val 3500"/>
            </a:avLst>
          </a:prstGeom>
          <a:solidFill>
            <a:srgbClr val="0D22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ODEPANEL"/>
          <p:cNvSpPr txBox="1"/>
          <p:nvPr/>
        </p:nvSpPr>
        <p:spPr>
          <a:xfrm>
            <a:off x="694944" y="2286000"/>
            <a:ext cx="6144768" cy="2286000"/>
          </a:xfrm>
          <a:prstGeom prst="rect">
            <a:avLst/>
          </a:prstGeom>
          <a:noFill/>
        </p:spPr>
        <p:txBody>
          <a:bodyPr wrap="square" lIns="0" tIns="0" rIns="0" bIns="0">
            <a:noAutofit/>
          </a:bodyPr>
          <a:lstStyle/>
          <a:p>
            <a:pPr>
              <a:lnSpc>
                <a:spcPct val="102000"/>
              </a:lnSpc>
              <a:spcBef>
                <a:spcPts val="0"/>
              </a:spcBef>
              <a:spcAft>
                <a:spcPts val="0"/>
              </a:spcAft>
            </a:pPr>
            <a:r>
              <a:rPr sz="1200">
                <a:solidFill>
                  <a:srgbClr val="C2D0DA"/>
                </a:solidFill>
                <a:latin typeface="Consolas"/>
              </a:rPr>
              <a:t>POST /collections/buses/bulk         </a:t>
            </a:r>
            <a:r>
              <a:rPr sz="1200">
                <a:solidFill>
                  <a:srgbClr val="7E94A6"/>
                </a:solidFill>
                <a:latin typeface="Consolas"/>
              </a:rPr>
              <a:t>// every bus, one minute</a:t>
            </a:r>
          </a:p>
          <a:p>
            <a:pPr>
              <a:lnSpc>
                <a:spcPct val="102000"/>
              </a:lnSpc>
              <a:spcBef>
                <a:spcPts val="0"/>
              </a:spcBef>
              <a:spcAft>
                <a:spcPts val="0"/>
              </a:spcAft>
            </a:pPr>
            <a:r>
              <a:rPr sz="1200">
                <a:solidFill>
                  <a:srgbClr val="C2D0DA"/>
                </a:solidFill>
                <a:latin typeface="Consolas"/>
              </a:rPr>
              <a:t>Content-Encoding: gzip</a:t>
            </a:r>
          </a:p>
          <a:p>
            <a:pPr>
              <a:lnSpc>
                <a:spcPct val="102000"/>
              </a:lnSpc>
              <a:spcBef>
                <a:spcPts val="0"/>
              </a:spcBef>
              <a:spcAft>
                <a:spcPts val="0"/>
              </a:spcAft>
            </a:pPr>
            <a:r>
              <a:rPr sz="1200">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"bus_42"</a:t>
            </a:r>
            <a:r>
              <a:rPr sz="1200">
                <a:solidFill>
                  <a:srgbClr val="C2D0DA"/>
                </a:solidFill>
                <a:latin typeface="Consolas"/>
              </a:rPr>
              <a:t>, </a:t>
            </a:r>
            <a:r>
              <a:rPr sz="1200">
                <a:solidFill>
                  <a:srgbClr val="6FC3E0"/>
                </a:solidFill>
                <a:latin typeface="Consolas"/>
              </a:rPr>
              <a:t>"point"</a:t>
            </a:r>
            <a:r>
              <a:rPr sz="1200">
                <a:solidFill>
                  <a:srgbClr val="C2D0DA"/>
                </a:solidFill>
                <a:latin typeface="Consolas"/>
              </a:rPr>
              <a:t>: [</a:t>
            </a:r>
            <a:r>
              <a:rPr sz="1200">
                <a:solidFill>
                  <a:srgbClr val="C9E08A"/>
                </a:solidFill>
                <a:latin typeface="Consolas"/>
              </a:rPr>
              <a:t>4.3517</a:t>
            </a:r>
            <a:r>
              <a:rPr sz="1200">
                <a:solidFill>
                  <a:srgbClr val="C2D0DA"/>
                </a:solidFill>
                <a:latin typeface="Consolas"/>
              </a:rPr>
              <a:t>, </a:t>
            </a:r>
            <a:r>
              <a:rPr sz="1200">
                <a:solidFill>
                  <a:srgbClr val="C9E08A"/>
                </a:solidFill>
                <a:latin typeface="Consolas"/>
              </a:rPr>
              <a:t>50.8466</a:t>
            </a:r>
            <a:r>
              <a:rPr sz="1200">
                <a:solidFill>
                  <a:srgbClr val="C2D0DA"/>
                </a:solidFill>
                <a:latin typeface="Consolas"/>
              </a:rPr>
              <a:t>], </a:t>
            </a:r>
            <a:r>
              <a:rPr sz="1200">
                <a:solidFill>
                  <a:srgbClr val="6FC3E0"/>
                </a:solidFill>
                <a:latin typeface="Consolas"/>
              </a:rPr>
              <a:t>"t"</a:t>
            </a:r>
            <a:r>
              <a:rPr sz="1200">
                <a:solidFill>
                  <a:srgbClr val="C2D0DA"/>
                </a:solidFill>
                <a:latin typeface="Consolas"/>
              </a:rPr>
              <a:t>: </a:t>
            </a:r>
            <a:r>
              <a:rPr sz="1200">
                <a:solidFill>
                  <a:srgbClr val="E6A36A"/>
                </a:solidFill>
                <a:latin typeface="Consolas"/>
              </a:rPr>
              <a:t>"...T10:00:00Z"</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6FC3E0"/>
                </a:solidFill>
                <a:latin typeface="Consolas"/>
              </a:rPr>
              <a:t>"id"</a:t>
            </a:r>
            <a:r>
              <a:rPr sz="1200">
                <a:solidFill>
                  <a:srgbClr val="C2D0DA"/>
                </a:solidFill>
                <a:latin typeface="Consolas"/>
              </a:rPr>
              <a:t>: </a:t>
            </a:r>
            <a:r>
              <a:rPr sz="1200">
                <a:solidFill>
                  <a:srgbClr val="E6A36A"/>
                </a:solidFill>
                <a:latin typeface="Consolas"/>
              </a:rPr>
              <a:t>"bus_57"</a:t>
            </a:r>
            <a:r>
              <a:rPr sz="1200">
                <a:solidFill>
                  <a:srgbClr val="C2D0DA"/>
                </a:solidFill>
                <a:latin typeface="Consolas"/>
              </a:rPr>
              <a:t>, </a:t>
            </a:r>
            <a:r>
              <a:rPr sz="1200">
                <a:solidFill>
                  <a:srgbClr val="6FC3E0"/>
                </a:solidFill>
                <a:latin typeface="Consolas"/>
              </a:rPr>
              <a:t>"point"</a:t>
            </a:r>
            <a:r>
              <a:rPr sz="1200">
                <a:solidFill>
                  <a:srgbClr val="C2D0DA"/>
                </a:solidFill>
                <a:latin typeface="Consolas"/>
              </a:rPr>
              <a:t>: [</a:t>
            </a:r>
            <a:r>
              <a:rPr sz="1200">
                <a:solidFill>
                  <a:srgbClr val="C9E08A"/>
                </a:solidFill>
                <a:latin typeface="Consolas"/>
              </a:rPr>
              <a:t>4.3490</a:t>
            </a:r>
            <a:r>
              <a:rPr sz="1200">
                <a:solidFill>
                  <a:srgbClr val="C2D0DA"/>
                </a:solidFill>
                <a:latin typeface="Consolas"/>
              </a:rPr>
              <a:t>, </a:t>
            </a:r>
            <a:r>
              <a:rPr sz="1200">
                <a:solidFill>
                  <a:srgbClr val="C9E08A"/>
                </a:solidFill>
                <a:latin typeface="Consolas"/>
              </a:rPr>
              <a:t>50.8501</a:t>
            </a:r>
            <a:r>
              <a:rPr sz="1200">
                <a:solidFill>
                  <a:srgbClr val="C2D0DA"/>
                </a:solidFill>
                <a:latin typeface="Consolas"/>
              </a:rPr>
              <a:t>], </a:t>
            </a:r>
            <a:r>
              <a:rPr sz="1200">
                <a:solidFill>
                  <a:srgbClr val="6FC3E0"/>
                </a:solidFill>
                <a:latin typeface="Consolas"/>
              </a:rPr>
              <a:t>"t"</a:t>
            </a:r>
            <a:r>
              <a:rPr sz="1200">
                <a:solidFill>
                  <a:srgbClr val="C2D0DA"/>
                </a:solidFill>
                <a:latin typeface="Consolas"/>
              </a:rPr>
              <a:t>: </a:t>
            </a:r>
            <a:r>
              <a:rPr sz="1200">
                <a:solidFill>
                  <a:srgbClr val="E6A36A"/>
                </a:solidFill>
                <a:latin typeface="Consolas"/>
              </a:rPr>
              <a:t>"...T10:00:00Z"</a:t>
            </a:r>
            <a:r>
              <a:rPr sz="1200">
                <a:solidFill>
                  <a:srgbClr val="C2D0DA"/>
                </a:solidFill>
                <a:latin typeface="Consolas"/>
              </a:rPr>
              <a:t> },</a:t>
            </a:r>
          </a:p>
          <a:p>
            <a:pPr>
              <a:lnSpc>
                <a:spcPct val="102000"/>
              </a:lnSpc>
              <a:spcBef>
                <a:spcPts val="0"/>
              </a:spcBef>
              <a:spcAft>
                <a:spcPts val="0"/>
              </a:spcAft>
            </a:pPr>
            <a:r>
              <a:rPr sz="1200">
                <a:solidFill>
                  <a:srgbClr val="C2D0DA"/>
                </a:solidFill>
                <a:latin typeface="Consolas"/>
              </a:rPr>
              <a:t>  ... </a:t>
            </a:r>
            <a:r>
              <a:rPr sz="1200">
                <a:solidFill>
                  <a:srgbClr val="C9E08A"/>
                </a:solidFill>
                <a:latin typeface="Consolas"/>
              </a:rPr>
              <a:t>812</a:t>
            </a:r>
            <a:r>
              <a:rPr sz="1200">
                <a:solidFill>
                  <a:srgbClr val="C2D0DA"/>
                </a:solidFill>
                <a:latin typeface="Consolas"/>
              </a:rPr>
              <a:t> vehicles ... ]</a:t>
            </a:r>
          </a:p>
          <a:p>
            <a:pPr>
              <a:lnSpc>
                <a:spcPct val="102000"/>
              </a:lnSpc>
              <a:spcBef>
                <a:spcPts val="0"/>
              </a:spcBef>
              <a:spcAft>
                <a:spcPts val="0"/>
              </a:spcAft>
            </a:pPr>
            <a:r>
              <a:rPr sz="1200">
                <a:latin typeface="Consolas"/>
              </a:rPr>
              <a:t> </a:t>
            </a:r>
          </a:p>
          <a:p>
            <a:pPr>
              <a:lnSpc>
                <a:spcPct val="102000"/>
              </a:lnSpc>
              <a:spcBef>
                <a:spcPts val="0"/>
              </a:spcBef>
              <a:spcAft>
                <a:spcPts val="0"/>
              </a:spcAft>
            </a:pPr>
            <a:r>
              <a:rPr sz="1200">
                <a:solidFill>
                  <a:srgbClr val="C9E08A"/>
                </a:solidFill>
                <a:latin typeface="Consolas"/>
              </a:rPr>
              <a:t>201</a:t>
            </a:r>
            <a:r>
              <a:rPr sz="1200">
                <a:solidFill>
                  <a:srgbClr val="C2D0DA"/>
                </a:solidFill>
                <a:latin typeface="Consolas"/>
              </a:rPr>
              <a:t>  { </a:t>
            </a:r>
            <a:r>
              <a:rPr sz="1200">
                <a:solidFill>
                  <a:srgbClr val="6FC3E0"/>
                </a:solidFill>
                <a:latin typeface="Consolas"/>
              </a:rPr>
              <a:t>"observations"</a:t>
            </a:r>
            <a:r>
              <a:rPr sz="1200">
                <a:solidFill>
                  <a:srgbClr val="C2D0DA"/>
                </a:solidFill>
                <a:latin typeface="Consolas"/>
              </a:rPr>
              <a:t>: </a:t>
            </a:r>
            <a:r>
              <a:rPr sz="1200">
                <a:solidFill>
                  <a:srgbClr val="C9E08A"/>
                </a:solidFill>
                <a:latin typeface="Consolas"/>
              </a:rPr>
              <a:t>812</a:t>
            </a:r>
            <a:r>
              <a:rPr sz="1200">
                <a:solidFill>
                  <a:srgbClr val="C2D0DA"/>
                </a:solidFill>
                <a:latin typeface="Consolas"/>
              </a:rPr>
              <a:t>, </a:t>
            </a:r>
            <a:r>
              <a:rPr sz="1200">
                <a:solidFill>
                  <a:srgbClr val="6FC3E0"/>
                </a:solidFill>
                <a:latin typeface="Consolas"/>
              </a:rPr>
              <a:t>"featuresCreated"</a:t>
            </a:r>
            <a:r>
              <a:rPr sz="1200">
                <a:solidFill>
                  <a:srgbClr val="C2D0DA"/>
                </a:solidFill>
                <a:latin typeface="Consolas"/>
              </a:rPr>
              <a:t>: </a:t>
            </a:r>
            <a:r>
              <a:rPr sz="1200">
                <a:solidFill>
                  <a:srgbClr val="C9E08A"/>
                </a:solidFill>
                <a:latin typeface="Consolas"/>
              </a:rPr>
              <a:t>12</a:t>
            </a:r>
            <a:r>
              <a:rPr sz="1200">
                <a:solidFill>
                  <a:srgbClr val="C2D0DA"/>
                </a:solidFill>
                <a:latin typeface="Consolas"/>
              </a:rPr>
              <a:t>, </a:t>
            </a:r>
            <a:r>
              <a:rPr sz="1200">
                <a:solidFill>
                  <a:srgbClr val="6FC3E0"/>
                </a:solidFill>
                <a:latin typeface="Consolas"/>
              </a:rPr>
              <a:t>"featuresExtended"</a:t>
            </a:r>
            <a:r>
              <a:rPr sz="1200">
                <a:solidFill>
                  <a:srgbClr val="C2D0DA"/>
                </a:solidFill>
                <a:latin typeface="Consolas"/>
              </a:rPr>
              <a:t>: </a:t>
            </a:r>
            <a:r>
              <a:rPr sz="1200">
                <a:solidFill>
                  <a:srgbClr val="C9E08A"/>
                </a:solidFill>
                <a:latin typeface="Consolas"/>
              </a:rPr>
              <a:t>800</a:t>
            </a:r>
            <a:r>
              <a:rPr sz="1200">
                <a:solidFill>
                  <a:srgbClr val="C2D0DA"/>
                </a:solidFill>
                <a:latin typeface="Consolas"/>
              </a:rPr>
              <a:t> }</a:t>
            </a:r>
          </a:p>
        </p:txBody>
      </p:sp>
      <p:sp>
        <p:nvSpPr>
          <p:cNvPr id="10" name="TextBox 9"/>
          <p:cNvSpPr txBox="1"/>
          <p:nvPr/>
        </p:nvSpPr>
        <p:spPr>
          <a:xfrm>
            <a:off x="7680960" y="2240280"/>
            <a:ext cx="3931920"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ENCODING</a:t>
            </a:r>
          </a:p>
        </p:txBody>
      </p:sp>
      <p:sp>
        <p:nvSpPr>
          <p:cNvPr id="11" name="TextBox 10"/>
          <p:cNvSpPr txBox="1"/>
          <p:nvPr/>
        </p:nvSpPr>
        <p:spPr>
          <a:xfrm>
            <a:off x="7680960" y="2606040"/>
            <a:ext cx="3931920" cy="3108960"/>
          </a:xfrm>
          <a:prstGeom prst="rect">
            <a:avLst/>
          </a:prstGeom>
          <a:noFill/>
        </p:spPr>
        <p:txBody>
          <a:bodyPr wrap="square" lIns="0" tIns="0" rIns="0" bIns="0">
            <a:noAutofit/>
          </a:bodyPr>
          <a:lstStyle/>
          <a:p>
            <a:pPr>
              <a:lnSpc>
                <a:spcPct val="106000"/>
              </a:lnSpc>
              <a:spcBef>
                <a:spcPts val="0"/>
              </a:spcBef>
              <a:spcAft>
                <a:spcPts val="1200"/>
              </a:spcAft>
            </a:pPr>
            <a:r>
              <a:rPr sz="1200" b="1">
                <a:solidFill>
                  <a:srgbClr val="156082"/>
                </a:solidFill>
                <a:latin typeface="Calibri"/>
              </a:rPr>
              <a:t>▸  </a:t>
            </a:r>
            <a:r>
              <a:rPr sz="1200" b="1">
                <a:solidFill>
                  <a:srgbClr val="0E2841"/>
                </a:solidFill>
                <a:latin typeface="Calibri"/>
              </a:rPr>
              <a:t>Formats  </a:t>
            </a:r>
            <a:r>
              <a:rPr sz="1200">
                <a:solidFill>
                  <a:srgbClr val="1E2B36"/>
                </a:solidFill>
                <a:latin typeface="Calibri"/>
              </a:rPr>
              <a:t>the body is GeoJSON or GeoParquet (MF-JSON default), the same records either way</a:t>
            </a:r>
          </a:p>
          <a:p>
            <a:pPr>
              <a:lnSpc>
                <a:spcPct val="106000"/>
              </a:lnSpc>
              <a:spcBef>
                <a:spcPts val="0"/>
              </a:spcBef>
              <a:spcAft>
                <a:spcPts val="1200"/>
              </a:spcAft>
            </a:pPr>
            <a:r>
              <a:rPr sz="1200" b="1">
                <a:solidFill>
                  <a:srgbClr val="156082"/>
                </a:solidFill>
                <a:latin typeface="Calibri"/>
              </a:rPr>
              <a:t>▸  </a:t>
            </a:r>
            <a:r>
              <a:rPr sz="1200" b="1">
                <a:solidFill>
                  <a:srgbClr val="0E2841"/>
                </a:solidFill>
                <a:latin typeface="Calibri"/>
              </a:rPr>
              <a:t>Compression  </a:t>
            </a:r>
            <a:r>
              <a:rPr sz="1200">
                <a:solidFill>
                  <a:srgbClr val="1E2B36"/>
                </a:solidFill>
                <a:latin typeface="Calibri"/>
              </a:rPr>
              <a:t>gzip / deflate / br / zstd, decoded before parsing</a:t>
            </a:r>
          </a:p>
          <a:p>
            <a:pPr>
              <a:lnSpc>
                <a:spcPct val="106000"/>
              </a:lnSpc>
              <a:spcBef>
                <a:spcPts val="0"/>
              </a:spcBef>
              <a:spcAft>
                <a:spcPts val="1200"/>
              </a:spcAft>
            </a:pPr>
            <a:r>
              <a:rPr sz="1200" b="1">
                <a:solidFill>
                  <a:srgbClr val="156082"/>
                </a:solidFill>
                <a:latin typeface="Calibri"/>
              </a:rPr>
              <a:t>▸  </a:t>
            </a:r>
            <a:r>
              <a:rPr sz="1200" b="1">
                <a:solidFill>
                  <a:srgbClr val="0E2841"/>
                </a:solidFill>
                <a:latin typeface="Calibri"/>
              </a:rPr>
              <a:t>Append  </a:t>
            </a:r>
            <a:r>
              <a:rPr sz="1200">
                <a:solidFill>
                  <a:srgbClr val="1E2B36"/>
                </a:solidFill>
                <a:latin typeface="Calibri"/>
              </a:rPr>
              <a:t>each record becomes one instant via appendInstant; the batch is atomic</a:t>
            </a:r>
          </a:p>
        </p:txBody>
      </p:sp>
      <p:sp>
        <p:nvSpPr>
          <p:cNvPr id="12" name="TextBox 11"/>
          <p:cNvSpPr txBox="1"/>
          <p:nvPr/>
        </p:nvSpPr>
        <p:spPr>
          <a:xfrm>
            <a:off x="566928" y="4800600"/>
            <a:ext cx="11057839" cy="914400"/>
          </a:xfrm>
          <a:prstGeom prst="rect">
            <a:avLst/>
          </a:prstGeom>
          <a:noFill/>
        </p:spPr>
        <p:txBody>
          <a:bodyPr wrap="square" lIns="0" tIns="0" rIns="0" bIns="0">
            <a:noAutofit/>
          </a:bodyPr>
          <a:lstStyle/>
          <a:p>
            <a:pPr>
              <a:lnSpc>
                <a:spcPct val="106000"/>
              </a:lnSpc>
              <a:spcBef>
                <a:spcPts val="0"/>
              </a:spcBef>
              <a:spcAft>
                <a:spcPts val="800"/>
              </a:spcAft>
            </a:pPr>
            <a:r>
              <a:rPr sz="1200" b="1">
                <a:solidFill>
                  <a:srgbClr val="156082"/>
                </a:solidFill>
                <a:latin typeface="Calibri"/>
              </a:rPr>
              <a:t>▸  </a:t>
            </a:r>
            <a:r>
              <a:rPr sz="1200">
                <a:solidFill>
                  <a:srgbClr val="1E2B36"/>
                </a:solidFill>
                <a:latin typeface="Calibri"/>
              </a:rPr>
              <a:t>Unknown ids create a moving feature; out-of-order overlaps return 409</a:t>
            </a:r>
          </a:p>
          <a:p>
            <a:pPr>
              <a:lnSpc>
                <a:spcPct val="106000"/>
              </a:lnSpc>
              <a:spcBef>
                <a:spcPts val="0"/>
              </a:spcBef>
              <a:spcAft>
                <a:spcPts val="800"/>
              </a:spcAft>
            </a:pPr>
            <a:r>
              <a:rPr sz="1200" b="1">
                <a:solidFill>
                  <a:srgbClr val="156082"/>
                </a:solidFill>
                <a:latin typeface="Calibri"/>
              </a:rPr>
              <a:t>▸  </a:t>
            </a:r>
            <a:r>
              <a:rPr sz="1200">
                <a:solidFill>
                  <a:srgbClr val="1E2B36"/>
                </a:solidFill>
                <a:latin typeface="Calibri"/>
              </a:rPr>
              <a:t>GeoParquet ingest mirrors GET /export, so one file can backfill a whole collection</a:t>
            </a:r>
          </a:p>
        </p:txBody>
      </p:sp>
      <p:sp>
        <p:nvSpPr>
          <p:cNvPr id="13" name="Rectangle 12"/>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5" name="TextBox 14"/>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MULTI-ENGINE</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One Tier, Many MEOS Engines</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645920"/>
            <a:ext cx="11057839" cy="868680"/>
          </a:xfrm>
          <a:prstGeom prst="roundRect">
            <a:avLst>
              <a:gd name="adj" fmla="val 6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1755648"/>
            <a:ext cx="10472623" cy="320040"/>
          </a:xfrm>
          <a:prstGeom prst="rect">
            <a:avLst/>
          </a:prstGeom>
          <a:noFill/>
        </p:spPr>
        <p:txBody>
          <a:bodyPr wrap="square" lIns="0" tIns="0" rIns="0" bIns="0" anchor="t">
            <a:noAutofit/>
          </a:bodyPr>
          <a:lstStyle/>
          <a:p>
            <a:pPr algn="l">
              <a:spcBef>
                <a:spcPts val="0"/>
              </a:spcBef>
              <a:spcAft>
                <a:spcPts val="200"/>
              </a:spcAft>
            </a:pPr>
            <a:r>
              <a:rPr sz="1600" b="1" i="0">
                <a:solidFill>
                  <a:srgbClr val="FFFFFF"/>
                </a:solidFill>
                <a:latin typeface="Calibri"/>
              </a:rPr>
              <a:t>Thin OGC API – Moving Features tier</a:t>
            </a:r>
          </a:p>
        </p:txBody>
      </p:sp>
      <p:sp>
        <p:nvSpPr>
          <p:cNvPr id="7" name="TextBox 6"/>
          <p:cNvSpPr txBox="1"/>
          <p:nvPr/>
        </p:nvSpPr>
        <p:spPr>
          <a:xfrm>
            <a:off x="859536" y="2139696"/>
            <a:ext cx="10472623" cy="274320"/>
          </a:xfrm>
          <a:prstGeom prst="rect">
            <a:avLst/>
          </a:prstGeom>
          <a:noFill/>
        </p:spPr>
        <p:txBody>
          <a:bodyPr wrap="square" lIns="0" tIns="0" rIns="0" bIns="0" anchor="t">
            <a:noAutofit/>
          </a:bodyPr>
          <a:lstStyle/>
          <a:p>
            <a:pPr algn="l">
              <a:spcBef>
                <a:spcPts val="0"/>
              </a:spcBef>
              <a:spcAft>
                <a:spcPts val="200"/>
              </a:spcAft>
            </a:pPr>
            <a:r>
              <a:rPr sz="1200" b="0" i="0">
                <a:solidFill>
                  <a:srgbClr val="CFE2EC"/>
                </a:solidFill>
                <a:latin typeface="Calibri"/>
              </a:rPr>
              <a:t>MF-JSON / WKB wire format  ·  streaming  ·  keyset paging  ·  index pushdown  ·  no MEOS in the tier</a:t>
            </a:r>
          </a:p>
        </p:txBody>
      </p:sp>
      <p:sp>
        <p:nvSpPr>
          <p:cNvPr id="8" name="TextBox 7"/>
          <p:cNvSpPr txBox="1"/>
          <p:nvPr/>
        </p:nvSpPr>
        <p:spPr>
          <a:xfrm>
            <a:off x="566928" y="2633472"/>
            <a:ext cx="11057839" cy="274320"/>
          </a:xfrm>
          <a:prstGeom prst="rect">
            <a:avLst/>
          </a:prstGeom>
          <a:noFill/>
        </p:spPr>
        <p:txBody>
          <a:bodyPr wrap="square" lIns="0" tIns="0" rIns="0" bIns="0" anchor="t">
            <a:noAutofit/>
          </a:bodyPr>
          <a:lstStyle/>
          <a:p>
            <a:pPr algn="ctr">
              <a:spcBef>
                <a:spcPts val="0"/>
              </a:spcBef>
              <a:spcAft>
                <a:spcPts val="200"/>
              </a:spcAft>
            </a:pPr>
            <a:r>
              <a:rPr sz="1200" b="0" i="0">
                <a:solidFill>
                  <a:srgbClr val="5B6B78"/>
                </a:solidFill>
                <a:latin typeface="Calibri"/>
              </a:rPr>
              <a:t>▼   serves any MEOS-backed engine; the engine becomes a configuration choice</a:t>
            </a:r>
          </a:p>
        </p:txBody>
      </p:sp>
      <p:sp>
        <p:nvSpPr>
          <p:cNvPr id="9" name="Rounded Rectangle 8"/>
          <p:cNvSpPr/>
          <p:nvPr/>
        </p:nvSpPr>
        <p:spPr>
          <a:xfrm>
            <a:off x="566928" y="3108960"/>
            <a:ext cx="2558719" cy="233172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66928" y="3108960"/>
            <a:ext cx="2558719" cy="475488"/>
          </a:xfrm>
          <a:prstGeom prst="roundRect">
            <a:avLst>
              <a:gd name="adj" fmla="val 8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163824"/>
            <a:ext cx="2284399" cy="365760"/>
          </a:xfrm>
          <a:prstGeom prst="rect">
            <a:avLst/>
          </a:prstGeom>
          <a:noFill/>
        </p:spPr>
        <p:txBody>
          <a:bodyPr wrap="square" lIns="0" tIns="0" rIns="0" bIns="0" anchor="ctr">
            <a:noAutofit/>
          </a:bodyPr>
          <a:lstStyle/>
          <a:p>
            <a:pPr algn="l">
              <a:spcBef>
                <a:spcPts val="0"/>
              </a:spcBef>
              <a:spcAft>
                <a:spcPts val="200"/>
              </a:spcAft>
            </a:pPr>
            <a:r>
              <a:rPr sz="1400" b="1" i="0">
                <a:solidFill>
                  <a:srgbClr val="FFFFFF"/>
                </a:solidFill>
                <a:latin typeface="Calibri"/>
              </a:rPr>
              <a:t>MobilityDB</a:t>
            </a:r>
          </a:p>
        </p:txBody>
      </p:sp>
      <p:sp>
        <p:nvSpPr>
          <p:cNvPr id="12" name="TextBox 11"/>
          <p:cNvSpPr txBox="1"/>
          <p:nvPr/>
        </p:nvSpPr>
        <p:spPr>
          <a:xfrm>
            <a:off x="731520" y="37033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onsolas"/>
              </a:rPr>
              <a:t>PostgreSQL</a:t>
            </a:r>
          </a:p>
        </p:txBody>
      </p:sp>
      <p:sp>
        <p:nvSpPr>
          <p:cNvPr id="13" name="TextBox 12"/>
          <p:cNvSpPr txBox="1"/>
          <p:nvPr/>
        </p:nvSpPr>
        <p:spPr>
          <a:xfrm>
            <a:off x="731520" y="4041648"/>
            <a:ext cx="2229535" cy="914400"/>
          </a:xfrm>
          <a:prstGeom prst="rect">
            <a:avLst/>
          </a:prstGeom>
          <a:noFill/>
        </p:spPr>
        <p:txBody>
          <a:bodyPr wrap="square" lIns="0" tIns="0" rIns="0" bIns="0" anchor="t">
            <a:noAutofit/>
          </a:bodyPr>
          <a:lstStyle/>
          <a:p>
            <a:pPr algn="l">
              <a:spcBef>
                <a:spcPts val="0"/>
              </a:spcBef>
              <a:spcAft>
                <a:spcPts val="200"/>
              </a:spcAft>
            </a:pPr>
            <a:r>
              <a:rPr sz="1200" b="0" i="0">
                <a:solidFill>
                  <a:srgbClr val="1E2B36"/>
                </a:solidFill>
                <a:latin typeface="Calibri"/>
              </a:rPr>
              <a:t>Transactional serving over a live database</a:t>
            </a:r>
          </a:p>
        </p:txBody>
      </p:sp>
      <p:sp>
        <p:nvSpPr>
          <p:cNvPr id="14" name="TextBox 13"/>
          <p:cNvSpPr txBox="1"/>
          <p:nvPr/>
        </p:nvSpPr>
        <p:spPr>
          <a:xfrm>
            <a:off x="731520" y="50749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196B24"/>
                </a:solidFill>
                <a:latin typeface="Calibri"/>
              </a:rPr>
              <a:t>Operational</a:t>
            </a:r>
          </a:p>
        </p:txBody>
      </p:sp>
      <p:sp>
        <p:nvSpPr>
          <p:cNvPr id="15" name="Rounded Rectangle 14"/>
          <p:cNvSpPr/>
          <p:nvPr/>
        </p:nvSpPr>
        <p:spPr>
          <a:xfrm>
            <a:off x="3399967" y="3108960"/>
            <a:ext cx="2558719" cy="233172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399967" y="3108960"/>
            <a:ext cx="2558719" cy="475488"/>
          </a:xfrm>
          <a:prstGeom prst="roundRect">
            <a:avLst>
              <a:gd name="adj" fmla="val 8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64559" y="3163824"/>
            <a:ext cx="2284399" cy="365760"/>
          </a:xfrm>
          <a:prstGeom prst="rect">
            <a:avLst/>
          </a:prstGeom>
          <a:noFill/>
        </p:spPr>
        <p:txBody>
          <a:bodyPr wrap="square" lIns="0" tIns="0" rIns="0" bIns="0" anchor="ctr">
            <a:noAutofit/>
          </a:bodyPr>
          <a:lstStyle/>
          <a:p>
            <a:pPr algn="l">
              <a:spcBef>
                <a:spcPts val="0"/>
              </a:spcBef>
              <a:spcAft>
                <a:spcPts val="200"/>
              </a:spcAft>
            </a:pPr>
            <a:r>
              <a:rPr sz="1400" b="1" i="0">
                <a:solidFill>
                  <a:srgbClr val="FFFFFF"/>
                </a:solidFill>
                <a:latin typeface="Calibri"/>
              </a:rPr>
              <a:t>MobilityDuck</a:t>
            </a:r>
          </a:p>
        </p:txBody>
      </p:sp>
      <p:sp>
        <p:nvSpPr>
          <p:cNvPr id="18" name="TextBox 17"/>
          <p:cNvSpPr txBox="1"/>
          <p:nvPr/>
        </p:nvSpPr>
        <p:spPr>
          <a:xfrm>
            <a:off x="3564559" y="37033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196B24"/>
                </a:solidFill>
                <a:latin typeface="Consolas"/>
              </a:rPr>
              <a:t>DuckDB</a:t>
            </a:r>
          </a:p>
        </p:txBody>
      </p:sp>
      <p:sp>
        <p:nvSpPr>
          <p:cNvPr id="19" name="TextBox 18"/>
          <p:cNvSpPr txBox="1"/>
          <p:nvPr/>
        </p:nvSpPr>
        <p:spPr>
          <a:xfrm>
            <a:off x="3564559" y="4041648"/>
            <a:ext cx="2229535" cy="914400"/>
          </a:xfrm>
          <a:prstGeom prst="rect">
            <a:avLst/>
          </a:prstGeom>
          <a:noFill/>
        </p:spPr>
        <p:txBody>
          <a:bodyPr wrap="square" lIns="0" tIns="0" rIns="0" bIns="0" anchor="t">
            <a:noAutofit/>
          </a:bodyPr>
          <a:lstStyle/>
          <a:p>
            <a:pPr algn="l">
              <a:spcBef>
                <a:spcPts val="0"/>
              </a:spcBef>
              <a:spcAft>
                <a:spcPts val="200"/>
              </a:spcAft>
            </a:pPr>
            <a:r>
              <a:rPr sz="1200" b="0" i="0">
                <a:solidFill>
                  <a:srgbClr val="1E2B36"/>
                </a:solidFill>
                <a:latin typeface="Calibri"/>
              </a:rPr>
              <a:t>Embedded, Parquet-native lakehouse queries</a:t>
            </a:r>
          </a:p>
        </p:txBody>
      </p:sp>
      <p:sp>
        <p:nvSpPr>
          <p:cNvPr id="20" name="TextBox 19"/>
          <p:cNvSpPr txBox="1"/>
          <p:nvPr/>
        </p:nvSpPr>
        <p:spPr>
          <a:xfrm>
            <a:off x="3564559" y="50749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196B24"/>
                </a:solidFill>
                <a:latin typeface="Calibri"/>
              </a:rPr>
              <a:t>Operational</a:t>
            </a:r>
          </a:p>
        </p:txBody>
      </p:sp>
      <p:sp>
        <p:nvSpPr>
          <p:cNvPr id="21" name="Rounded Rectangle 20"/>
          <p:cNvSpPr/>
          <p:nvPr/>
        </p:nvSpPr>
        <p:spPr>
          <a:xfrm>
            <a:off x="6233007" y="3108960"/>
            <a:ext cx="2558719" cy="233172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233007" y="3108960"/>
            <a:ext cx="2558719" cy="475488"/>
          </a:xfrm>
          <a:prstGeom prst="roundRect">
            <a:avLst>
              <a:gd name="adj" fmla="val 8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97599" y="3163824"/>
            <a:ext cx="2284399" cy="365760"/>
          </a:xfrm>
          <a:prstGeom prst="rect">
            <a:avLst/>
          </a:prstGeom>
          <a:noFill/>
        </p:spPr>
        <p:txBody>
          <a:bodyPr wrap="square" lIns="0" tIns="0" rIns="0" bIns="0" anchor="ctr">
            <a:noAutofit/>
          </a:bodyPr>
          <a:lstStyle/>
          <a:p>
            <a:pPr algn="l">
              <a:spcBef>
                <a:spcPts val="0"/>
              </a:spcBef>
              <a:spcAft>
                <a:spcPts val="200"/>
              </a:spcAft>
            </a:pPr>
            <a:r>
              <a:rPr sz="1400" b="1" i="0">
                <a:solidFill>
                  <a:srgbClr val="FFFFFF"/>
                </a:solidFill>
                <a:latin typeface="Calibri"/>
              </a:rPr>
              <a:t>MobilitySpark</a:t>
            </a:r>
          </a:p>
        </p:txBody>
      </p:sp>
      <p:sp>
        <p:nvSpPr>
          <p:cNvPr id="24" name="TextBox 23"/>
          <p:cNvSpPr txBox="1"/>
          <p:nvPr/>
        </p:nvSpPr>
        <p:spPr>
          <a:xfrm>
            <a:off x="6397599" y="37033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E97132"/>
                </a:solidFill>
                <a:latin typeface="Consolas"/>
              </a:rPr>
              <a:t>Apache Spark</a:t>
            </a:r>
          </a:p>
        </p:txBody>
      </p:sp>
      <p:sp>
        <p:nvSpPr>
          <p:cNvPr id="25" name="TextBox 24"/>
          <p:cNvSpPr txBox="1"/>
          <p:nvPr/>
        </p:nvSpPr>
        <p:spPr>
          <a:xfrm>
            <a:off x="6397599" y="4041648"/>
            <a:ext cx="2229535" cy="914400"/>
          </a:xfrm>
          <a:prstGeom prst="rect">
            <a:avLst/>
          </a:prstGeom>
          <a:noFill/>
        </p:spPr>
        <p:txBody>
          <a:bodyPr wrap="square" lIns="0" tIns="0" rIns="0" bIns="0" anchor="t">
            <a:noAutofit/>
          </a:bodyPr>
          <a:lstStyle/>
          <a:p>
            <a:pPr algn="l">
              <a:spcBef>
                <a:spcPts val="0"/>
              </a:spcBef>
              <a:spcAft>
                <a:spcPts val="200"/>
              </a:spcAft>
            </a:pPr>
            <a:r>
              <a:rPr sz="1200" b="0" i="0">
                <a:solidFill>
                  <a:srgbClr val="1E2B36"/>
                </a:solidFill>
                <a:latin typeface="Calibri"/>
              </a:rPr>
              <a:t>Distributed batch over very large histories</a:t>
            </a:r>
          </a:p>
        </p:txBody>
      </p:sp>
      <p:sp>
        <p:nvSpPr>
          <p:cNvPr id="26" name="TextBox 25"/>
          <p:cNvSpPr txBox="1"/>
          <p:nvPr/>
        </p:nvSpPr>
        <p:spPr>
          <a:xfrm>
            <a:off x="6397599" y="50749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196B24"/>
                </a:solidFill>
                <a:latin typeface="Calibri"/>
              </a:rPr>
              <a:t>Operational</a:t>
            </a:r>
          </a:p>
        </p:txBody>
      </p:sp>
      <p:sp>
        <p:nvSpPr>
          <p:cNvPr id="27" name="Rounded Rectangle 26"/>
          <p:cNvSpPr/>
          <p:nvPr/>
        </p:nvSpPr>
        <p:spPr>
          <a:xfrm>
            <a:off x="9066047" y="3108960"/>
            <a:ext cx="2558719" cy="233172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9066047" y="3108960"/>
            <a:ext cx="2558719" cy="475488"/>
          </a:xfrm>
          <a:prstGeom prst="roundRect">
            <a:avLst>
              <a:gd name="adj" fmla="val 8000"/>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30639" y="3163824"/>
            <a:ext cx="2284399" cy="365760"/>
          </a:xfrm>
          <a:prstGeom prst="rect">
            <a:avLst/>
          </a:prstGeom>
          <a:noFill/>
        </p:spPr>
        <p:txBody>
          <a:bodyPr wrap="square" lIns="0" tIns="0" rIns="0" bIns="0" anchor="ctr">
            <a:noAutofit/>
          </a:bodyPr>
          <a:lstStyle/>
          <a:p>
            <a:pPr algn="l">
              <a:spcBef>
                <a:spcPts val="0"/>
              </a:spcBef>
              <a:spcAft>
                <a:spcPts val="200"/>
              </a:spcAft>
            </a:pPr>
            <a:r>
              <a:rPr sz="1400" b="1" i="0">
                <a:solidFill>
                  <a:srgbClr val="FFFFFF"/>
                </a:solidFill>
                <a:latin typeface="Calibri"/>
              </a:rPr>
              <a:t>MobilityFlink</a:t>
            </a:r>
          </a:p>
        </p:txBody>
      </p:sp>
      <p:sp>
        <p:nvSpPr>
          <p:cNvPr id="30" name="TextBox 29"/>
          <p:cNvSpPr txBox="1"/>
          <p:nvPr/>
        </p:nvSpPr>
        <p:spPr>
          <a:xfrm>
            <a:off x="9230639" y="37033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A02B93"/>
                </a:solidFill>
                <a:latin typeface="Consolas"/>
              </a:rPr>
              <a:t>Apache Flink</a:t>
            </a:r>
          </a:p>
        </p:txBody>
      </p:sp>
      <p:sp>
        <p:nvSpPr>
          <p:cNvPr id="31" name="TextBox 30"/>
          <p:cNvSpPr txBox="1"/>
          <p:nvPr/>
        </p:nvSpPr>
        <p:spPr>
          <a:xfrm>
            <a:off x="9230639" y="4041648"/>
            <a:ext cx="2229535" cy="914400"/>
          </a:xfrm>
          <a:prstGeom prst="rect">
            <a:avLst/>
          </a:prstGeom>
          <a:noFill/>
        </p:spPr>
        <p:txBody>
          <a:bodyPr wrap="square" lIns="0" tIns="0" rIns="0" bIns="0" anchor="t">
            <a:noAutofit/>
          </a:bodyPr>
          <a:lstStyle/>
          <a:p>
            <a:pPr algn="l">
              <a:spcBef>
                <a:spcPts val="0"/>
              </a:spcBef>
              <a:spcAft>
                <a:spcPts val="200"/>
              </a:spcAft>
            </a:pPr>
            <a:r>
              <a:rPr sz="1200" b="0" i="0">
                <a:solidFill>
                  <a:srgbClr val="1E2B36"/>
                </a:solidFill>
                <a:latin typeface="Calibri"/>
              </a:rPr>
              <a:t>Streaming, real-time moving features</a:t>
            </a:r>
          </a:p>
        </p:txBody>
      </p:sp>
      <p:sp>
        <p:nvSpPr>
          <p:cNvPr id="32" name="TextBox 31"/>
          <p:cNvSpPr txBox="1"/>
          <p:nvPr/>
        </p:nvSpPr>
        <p:spPr>
          <a:xfrm>
            <a:off x="9230639" y="50749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5B6B78"/>
                </a:solidFill>
                <a:latin typeface="Calibri"/>
              </a:rPr>
              <a:t>Planned</a:t>
            </a:r>
          </a:p>
        </p:txBody>
      </p:sp>
      <p:sp>
        <p:nvSpPr>
          <p:cNvPr id="33" name="TextBox 32"/>
          <p:cNvSpPr txBox="1"/>
          <p:nvPr/>
        </p:nvSpPr>
        <p:spPr>
          <a:xfrm>
            <a:off x="566928" y="5669280"/>
            <a:ext cx="11057839" cy="640080"/>
          </a:xfrm>
          <a:prstGeom prst="rect">
            <a:avLst/>
          </a:prstGeom>
          <a:noFill/>
        </p:spPr>
        <p:txBody>
          <a:bodyPr wrap="square" lIns="0" tIns="0" rIns="0" bIns="0" anchor="t">
            <a:noAutofit/>
          </a:bodyPr>
          <a:lstStyle/>
          <a:p>
            <a:pPr algn="ctr">
              <a:spcBef>
                <a:spcPts val="0"/>
              </a:spcBef>
              <a:spcAft>
                <a:spcPts val="200"/>
              </a:spcAft>
            </a:pPr>
            <a:r>
              <a:rPr sz="1200" b="0" i="0">
                <a:solidFill>
                  <a:srgbClr val="5B6B78"/>
                </a:solidFill>
                <a:latin typeface="Calibri"/>
              </a:rPr>
              <a:t>shared MEOS types, the MF-JSON / WKB wire format, and a canonical named-function SQL dialect; the same tier fronts transactional databases, streaming engines, and lakehouses</a:t>
            </a:r>
          </a:p>
        </p:txBody>
      </p:sp>
      <p:sp>
        <p:nvSpPr>
          <p:cNvPr id="34" name="Rectangle 33"/>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36" name="TextBox 35"/>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27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ENGINE PROFILE</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MobilityDB  ·  PostgreSQL</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645920"/>
            <a:ext cx="11057839" cy="868680"/>
          </a:xfrm>
          <a:prstGeom prst="roundRect">
            <a:avLst>
              <a:gd name="adj" fmla="val 6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1755648"/>
            <a:ext cx="10472623" cy="320040"/>
          </a:xfrm>
          <a:prstGeom prst="rect">
            <a:avLst/>
          </a:prstGeom>
          <a:noFill/>
        </p:spPr>
        <p:txBody>
          <a:bodyPr wrap="square" lIns="0" tIns="0" rIns="0" bIns="0" anchor="t">
            <a:noAutofit/>
          </a:bodyPr>
          <a:lstStyle/>
          <a:p>
            <a:pPr algn="l">
              <a:spcBef>
                <a:spcPts val="0"/>
              </a:spcBef>
              <a:spcAft>
                <a:spcPts val="200"/>
              </a:spcAft>
            </a:pPr>
            <a:r>
              <a:rPr sz="1600" b="1" i="0">
                <a:solidFill>
                  <a:srgbClr val="FFFFFF"/>
                </a:solidFill>
                <a:latin typeface="Calibri"/>
              </a:rPr>
              <a:t>Transactional serving over a live MobilityDB database</a:t>
            </a:r>
          </a:p>
        </p:txBody>
      </p:sp>
      <p:sp>
        <p:nvSpPr>
          <p:cNvPr id="7" name="TextBox 6"/>
          <p:cNvSpPr txBox="1"/>
          <p:nvPr/>
        </p:nvSpPr>
        <p:spPr>
          <a:xfrm>
            <a:off x="859536" y="2139696"/>
            <a:ext cx="10472623" cy="274320"/>
          </a:xfrm>
          <a:prstGeom prst="rect">
            <a:avLst/>
          </a:prstGeom>
          <a:noFill/>
        </p:spPr>
        <p:txBody>
          <a:bodyPr wrap="square" lIns="0" tIns="0" rIns="0" bIns="0" anchor="t">
            <a:noAutofit/>
          </a:bodyPr>
          <a:lstStyle/>
          <a:p>
            <a:pPr algn="l">
              <a:spcBef>
                <a:spcPts val="0"/>
              </a:spcBef>
              <a:spcAft>
                <a:spcPts val="200"/>
              </a:spcAft>
            </a:pPr>
            <a:r>
              <a:rPr sz="1200" b="0" i="0">
                <a:solidFill>
                  <a:srgbClr val="CFE2EC"/>
                </a:solidFill>
                <a:latin typeface="Calibri"/>
              </a:rPr>
              <a:t>The reference OGC output every other engine is matched against</a:t>
            </a:r>
          </a:p>
        </p:txBody>
      </p:sp>
      <p:sp>
        <p:nvSpPr>
          <p:cNvPr id="8" name="TextBox 7"/>
          <p:cNvSpPr txBox="1"/>
          <p:nvPr/>
        </p:nvSpPr>
        <p:spPr>
          <a:xfrm>
            <a:off x="566928" y="2633472"/>
            <a:ext cx="11057839" cy="274320"/>
          </a:xfrm>
          <a:prstGeom prst="rect">
            <a:avLst/>
          </a:prstGeom>
          <a:noFill/>
        </p:spPr>
        <p:txBody>
          <a:bodyPr wrap="square" lIns="0" tIns="0" rIns="0" bIns="0" anchor="t">
            <a:noAutofit/>
          </a:bodyPr>
          <a:lstStyle/>
          <a:p>
            <a:pPr algn="ctr">
              <a:spcBef>
                <a:spcPts val="0"/>
              </a:spcBef>
              <a:spcAft>
                <a:spcPts val="200"/>
              </a:spcAft>
            </a:pPr>
            <a:r>
              <a:rPr sz="1200" b="0" i="0">
                <a:solidFill>
                  <a:srgbClr val="5B6B78"/>
                </a:solidFill>
                <a:latin typeface="Calibri"/>
              </a:rPr>
              <a:t>▼   the engine is a configuration choice — a DSN scheme and a build tag select it</a:t>
            </a:r>
          </a:p>
        </p:txBody>
      </p:sp>
      <p:sp>
        <p:nvSpPr>
          <p:cNvPr id="9" name="Rounded Rectangle 8"/>
          <p:cNvSpPr/>
          <p:nvPr/>
        </p:nvSpPr>
        <p:spPr>
          <a:xfrm>
            <a:off x="566928" y="3108960"/>
            <a:ext cx="2558719" cy="233172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66928" y="3108960"/>
            <a:ext cx="2558719" cy="475488"/>
          </a:xfrm>
          <a:prstGeom prst="roundRect">
            <a:avLst>
              <a:gd name="adj" fmla="val 8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163824"/>
            <a:ext cx="2284399" cy="365760"/>
          </a:xfrm>
          <a:prstGeom prst="rect">
            <a:avLst/>
          </a:prstGeom>
          <a:noFill/>
        </p:spPr>
        <p:txBody>
          <a:bodyPr wrap="square" lIns="0" tIns="0" rIns="0" bIns="0" anchor="ctr">
            <a:noAutofit/>
          </a:bodyPr>
          <a:lstStyle/>
          <a:p>
            <a:pPr algn="l">
              <a:spcBef>
                <a:spcPts val="0"/>
              </a:spcBef>
              <a:spcAft>
                <a:spcPts val="200"/>
              </a:spcAft>
            </a:pPr>
            <a:r>
              <a:rPr sz="1400" b="1" i="0">
                <a:solidFill>
                  <a:srgbClr val="FFFFFF"/>
                </a:solidFill>
                <a:latin typeface="Calibri"/>
              </a:rPr>
              <a:t>Connector</a:t>
            </a:r>
          </a:p>
        </p:txBody>
      </p:sp>
      <p:sp>
        <p:nvSpPr>
          <p:cNvPr id="12" name="TextBox 11"/>
          <p:cNvSpPr txBox="1"/>
          <p:nvPr/>
        </p:nvSpPr>
        <p:spPr>
          <a:xfrm>
            <a:off x="731520" y="37033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onsolas"/>
              </a:rPr>
              <a:t>pgx pool</a:t>
            </a:r>
          </a:p>
        </p:txBody>
      </p:sp>
      <p:sp>
        <p:nvSpPr>
          <p:cNvPr id="13" name="TextBox 12"/>
          <p:cNvSpPr txBox="1"/>
          <p:nvPr/>
        </p:nvSpPr>
        <p:spPr>
          <a:xfrm>
            <a:off x="731520" y="4041648"/>
            <a:ext cx="2229535" cy="914400"/>
          </a:xfrm>
          <a:prstGeom prst="rect">
            <a:avLst/>
          </a:prstGeom>
          <a:noFill/>
        </p:spPr>
        <p:txBody>
          <a:bodyPr wrap="square" lIns="0" tIns="0" rIns="0" bIns="0" anchor="t">
            <a:noAutofit/>
          </a:bodyPr>
          <a:lstStyle/>
          <a:p>
            <a:pPr algn="l">
              <a:spcBef>
                <a:spcPts val="0"/>
              </a:spcBef>
              <a:spcAft>
                <a:spcPts val="200"/>
              </a:spcAft>
            </a:pPr>
            <a:r>
              <a:rPr sz="1200" b="0" i="0">
                <a:solidFill>
                  <a:srgbClr val="1E2B36"/>
                </a:solidFill>
                <a:latin typeface="Calibri"/>
              </a:rPr>
              <a:t>Live server connection; pgx.ErrNoRows maps onto the tier's ErrNoRows.</a:t>
            </a:r>
          </a:p>
        </p:txBody>
      </p:sp>
      <p:sp>
        <p:nvSpPr>
          <p:cNvPr id="14" name="TextBox 13"/>
          <p:cNvSpPr txBox="1"/>
          <p:nvPr/>
        </p:nvSpPr>
        <p:spPr>
          <a:xfrm>
            <a:off x="731520" y="50749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5B6B78"/>
                </a:solidFill>
                <a:latin typeface="Calibri"/>
              </a:rPr>
              <a:t>server</a:t>
            </a:r>
          </a:p>
        </p:txBody>
      </p:sp>
      <p:sp>
        <p:nvSpPr>
          <p:cNvPr id="15" name="Rounded Rectangle 14"/>
          <p:cNvSpPr/>
          <p:nvPr/>
        </p:nvSpPr>
        <p:spPr>
          <a:xfrm>
            <a:off x="3399967" y="3108960"/>
            <a:ext cx="2558719" cy="233172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399967" y="3108960"/>
            <a:ext cx="2558719" cy="475488"/>
          </a:xfrm>
          <a:prstGeom prst="roundRect">
            <a:avLst>
              <a:gd name="adj" fmla="val 8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64559" y="3163824"/>
            <a:ext cx="2284399" cy="365760"/>
          </a:xfrm>
          <a:prstGeom prst="rect">
            <a:avLst/>
          </a:prstGeom>
          <a:noFill/>
        </p:spPr>
        <p:txBody>
          <a:bodyPr wrap="square" lIns="0" tIns="0" rIns="0" bIns="0" anchor="ctr">
            <a:noAutofit/>
          </a:bodyPr>
          <a:lstStyle/>
          <a:p>
            <a:pPr algn="l">
              <a:spcBef>
                <a:spcPts val="0"/>
              </a:spcBef>
              <a:spcAft>
                <a:spcPts val="200"/>
              </a:spcAft>
            </a:pPr>
            <a:r>
              <a:rPr sz="1400" b="1" i="0">
                <a:solidFill>
                  <a:srgbClr val="FFFFFF"/>
                </a:solidFill>
                <a:latin typeface="Calibri"/>
              </a:rPr>
              <a:t>Build &amp; deploy</a:t>
            </a:r>
          </a:p>
        </p:txBody>
      </p:sp>
      <p:sp>
        <p:nvSpPr>
          <p:cNvPr id="18" name="TextBox 17"/>
          <p:cNvSpPr txBox="1"/>
          <p:nvPr/>
        </p:nvSpPr>
        <p:spPr>
          <a:xfrm>
            <a:off x="3564559" y="37033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196B24"/>
                </a:solidFill>
                <a:latin typeface="Consolas"/>
              </a:rPr>
              <a:t>static binary</a:t>
            </a:r>
          </a:p>
        </p:txBody>
      </p:sp>
      <p:sp>
        <p:nvSpPr>
          <p:cNvPr id="19" name="TextBox 18"/>
          <p:cNvSpPr txBox="1"/>
          <p:nvPr/>
        </p:nvSpPr>
        <p:spPr>
          <a:xfrm>
            <a:off x="3564559" y="4041648"/>
            <a:ext cx="2229535" cy="914400"/>
          </a:xfrm>
          <a:prstGeom prst="rect">
            <a:avLst/>
          </a:prstGeom>
          <a:noFill/>
        </p:spPr>
        <p:txBody>
          <a:bodyPr wrap="square" lIns="0" tIns="0" rIns="0" bIns="0" anchor="t">
            <a:noAutofit/>
          </a:bodyPr>
          <a:lstStyle/>
          <a:p>
            <a:pPr algn="l">
              <a:spcBef>
                <a:spcPts val="0"/>
              </a:spcBef>
              <a:spcAft>
                <a:spcPts val="200"/>
              </a:spcAft>
            </a:pPr>
            <a:r>
              <a:rPr sz="1200" b="0" i="0">
                <a:solidFill>
                  <a:srgbClr val="1E2B36"/>
                </a:solidFill>
                <a:latin typeface="Calibri"/>
              </a:rPr>
              <a:t>Default build — static and cgo-free; no engine libraries linked.</a:t>
            </a:r>
          </a:p>
        </p:txBody>
      </p:sp>
      <p:sp>
        <p:nvSpPr>
          <p:cNvPr id="20" name="TextBox 19"/>
          <p:cNvSpPr txBox="1"/>
          <p:nvPr/>
        </p:nvSpPr>
        <p:spPr>
          <a:xfrm>
            <a:off x="3564559" y="50749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5B6B78"/>
                </a:solidFill>
                <a:latin typeface="Calibri"/>
              </a:rPr>
              <a:t>default</a:t>
            </a:r>
          </a:p>
        </p:txBody>
      </p:sp>
      <p:sp>
        <p:nvSpPr>
          <p:cNvPr id="21" name="Rounded Rectangle 20"/>
          <p:cNvSpPr/>
          <p:nvPr/>
        </p:nvSpPr>
        <p:spPr>
          <a:xfrm>
            <a:off x="6233007" y="3108960"/>
            <a:ext cx="2558719" cy="233172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233007" y="3108960"/>
            <a:ext cx="2558719" cy="475488"/>
          </a:xfrm>
          <a:prstGeom prst="roundRect">
            <a:avLst>
              <a:gd name="adj" fmla="val 8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97599" y="3163824"/>
            <a:ext cx="2284399" cy="365760"/>
          </a:xfrm>
          <a:prstGeom prst="rect">
            <a:avLst/>
          </a:prstGeom>
          <a:noFill/>
        </p:spPr>
        <p:txBody>
          <a:bodyPr wrap="square" lIns="0" tIns="0" rIns="0" bIns="0" anchor="ctr">
            <a:noAutofit/>
          </a:bodyPr>
          <a:lstStyle/>
          <a:p>
            <a:pPr algn="l">
              <a:spcBef>
                <a:spcPts val="0"/>
              </a:spcBef>
              <a:spcAft>
                <a:spcPts val="200"/>
              </a:spcAft>
            </a:pPr>
            <a:r>
              <a:rPr sz="1400" b="1" i="0">
                <a:solidFill>
                  <a:srgbClr val="FFFFFF"/>
                </a:solidFill>
                <a:latin typeface="Calibri"/>
              </a:rPr>
              <a:t>SQL dialect</a:t>
            </a:r>
          </a:p>
        </p:txBody>
      </p:sp>
      <p:sp>
        <p:nvSpPr>
          <p:cNvPr id="24" name="TextBox 23"/>
          <p:cNvSpPr txBox="1"/>
          <p:nvPr/>
        </p:nvSpPr>
        <p:spPr>
          <a:xfrm>
            <a:off x="6397599" y="37033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E97132"/>
                </a:solidFill>
                <a:latin typeface="Consolas"/>
              </a:rPr>
              <a:t>identity</a:t>
            </a:r>
          </a:p>
        </p:txBody>
      </p:sp>
      <p:sp>
        <p:nvSpPr>
          <p:cNvPr id="25" name="TextBox 24"/>
          <p:cNvSpPr txBox="1"/>
          <p:nvPr/>
        </p:nvSpPr>
        <p:spPr>
          <a:xfrm>
            <a:off x="6397599" y="4041648"/>
            <a:ext cx="2229535" cy="914400"/>
          </a:xfrm>
          <a:prstGeom prst="rect">
            <a:avLst/>
          </a:prstGeom>
          <a:noFill/>
        </p:spPr>
        <p:txBody>
          <a:bodyPr wrap="square" lIns="0" tIns="0" rIns="0" bIns="0" anchor="t">
            <a:noAutofit/>
          </a:bodyPr>
          <a:lstStyle/>
          <a:p>
            <a:pPr algn="l">
              <a:spcBef>
                <a:spcPts val="0"/>
              </a:spcBef>
              <a:spcAft>
                <a:spcPts val="200"/>
              </a:spcAft>
            </a:pPr>
            <a:r>
              <a:rPr sz="1200" b="0" i="0">
                <a:solidFill>
                  <a:srgbClr val="1E2B36"/>
                </a:solidFill>
                <a:latin typeface="Calibri"/>
              </a:rPr>
              <a:t>Canonical named-function SQL runs as-is; no name or type translation.</a:t>
            </a:r>
          </a:p>
        </p:txBody>
      </p:sp>
      <p:sp>
        <p:nvSpPr>
          <p:cNvPr id="26" name="TextBox 25"/>
          <p:cNvSpPr txBox="1"/>
          <p:nvPr/>
        </p:nvSpPr>
        <p:spPr>
          <a:xfrm>
            <a:off x="6397599" y="50749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5B6B78"/>
                </a:solidFill>
                <a:latin typeface="Calibri"/>
              </a:rPr>
              <a:t>as-is</a:t>
            </a:r>
          </a:p>
        </p:txBody>
      </p:sp>
      <p:sp>
        <p:nvSpPr>
          <p:cNvPr id="27" name="Rounded Rectangle 26"/>
          <p:cNvSpPr/>
          <p:nvPr/>
        </p:nvSpPr>
        <p:spPr>
          <a:xfrm>
            <a:off x="9066047" y="3108960"/>
            <a:ext cx="2558719" cy="233172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9066047" y="3108960"/>
            <a:ext cx="2558719" cy="475488"/>
          </a:xfrm>
          <a:prstGeom prst="roundRect">
            <a:avLst>
              <a:gd name="adj" fmla="val 8000"/>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30639" y="3163824"/>
            <a:ext cx="2284399" cy="365760"/>
          </a:xfrm>
          <a:prstGeom prst="rect">
            <a:avLst/>
          </a:prstGeom>
          <a:noFill/>
        </p:spPr>
        <p:txBody>
          <a:bodyPr wrap="square" lIns="0" tIns="0" rIns="0" bIns="0" anchor="ctr">
            <a:noAutofit/>
          </a:bodyPr>
          <a:lstStyle/>
          <a:p>
            <a:pPr algn="l">
              <a:spcBef>
                <a:spcPts val="0"/>
              </a:spcBef>
              <a:spcAft>
                <a:spcPts val="200"/>
              </a:spcAft>
            </a:pPr>
            <a:r>
              <a:rPr sz="1400" b="1" i="0">
                <a:solidFill>
                  <a:srgbClr val="FFFFFF"/>
                </a:solidFill>
                <a:latin typeface="Calibri"/>
              </a:rPr>
              <a:t>Sweet spot</a:t>
            </a:r>
          </a:p>
        </p:txBody>
      </p:sp>
      <p:sp>
        <p:nvSpPr>
          <p:cNvPr id="30" name="TextBox 29"/>
          <p:cNvSpPr txBox="1"/>
          <p:nvPr/>
        </p:nvSpPr>
        <p:spPr>
          <a:xfrm>
            <a:off x="9230639" y="37033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A02B93"/>
                </a:solidFill>
                <a:latin typeface="Consolas"/>
              </a:rPr>
              <a:t>OLTP + index</a:t>
            </a:r>
          </a:p>
        </p:txBody>
      </p:sp>
      <p:sp>
        <p:nvSpPr>
          <p:cNvPr id="31" name="TextBox 30"/>
          <p:cNvSpPr txBox="1"/>
          <p:nvPr/>
        </p:nvSpPr>
        <p:spPr>
          <a:xfrm>
            <a:off x="9230639" y="4041648"/>
            <a:ext cx="2229535" cy="914400"/>
          </a:xfrm>
          <a:prstGeom prst="rect">
            <a:avLst/>
          </a:prstGeom>
          <a:noFill/>
        </p:spPr>
        <p:txBody>
          <a:bodyPr wrap="square" lIns="0" tIns="0" rIns="0" bIns="0" anchor="t">
            <a:noAutofit/>
          </a:bodyPr>
          <a:lstStyle/>
          <a:p>
            <a:pPr algn="l">
              <a:spcBef>
                <a:spcPts val="0"/>
              </a:spcBef>
              <a:spcAft>
                <a:spcPts val="200"/>
              </a:spcAft>
            </a:pPr>
            <a:r>
              <a:rPr sz="1200" b="0" i="0">
                <a:solidFill>
                  <a:srgbClr val="1E2B36"/>
                </a:solidFill>
                <a:latin typeface="Calibri"/>
              </a:rPr>
              <a:t>Live transactional reads and writes; GiST / SP-GiST index pushdown.</a:t>
            </a:r>
          </a:p>
        </p:txBody>
      </p:sp>
      <p:sp>
        <p:nvSpPr>
          <p:cNvPr id="32" name="TextBox 31"/>
          <p:cNvSpPr txBox="1"/>
          <p:nvPr/>
        </p:nvSpPr>
        <p:spPr>
          <a:xfrm>
            <a:off x="9230639" y="50749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5B6B78"/>
                </a:solidFill>
                <a:latin typeface="Calibri"/>
              </a:rPr>
              <a:t>live</a:t>
            </a:r>
          </a:p>
        </p:txBody>
      </p:sp>
      <p:sp>
        <p:nvSpPr>
          <p:cNvPr id="33" name="TextBox 32"/>
          <p:cNvSpPr txBox="1"/>
          <p:nvPr/>
        </p:nvSpPr>
        <p:spPr>
          <a:xfrm>
            <a:off x="566928" y="5669280"/>
            <a:ext cx="11057839" cy="640080"/>
          </a:xfrm>
          <a:prstGeom prst="rect">
            <a:avLst/>
          </a:prstGeom>
          <a:noFill/>
        </p:spPr>
        <p:txBody>
          <a:bodyPr wrap="square" lIns="0" tIns="0" rIns="0" bIns="0" anchor="t">
            <a:noAutofit/>
          </a:bodyPr>
          <a:lstStyle/>
          <a:p>
            <a:pPr algn="ctr">
              <a:spcBef>
                <a:spcPts val="0"/>
              </a:spcBef>
              <a:spcAft>
                <a:spcPts val="200"/>
              </a:spcAft>
            </a:pPr>
            <a:r>
              <a:rPr sz="1200" b="0" i="0">
                <a:solidFill>
                  <a:srgbClr val="5B6B78"/>
                </a:solidFill>
                <a:latin typeface="Calibri"/>
              </a:rPr>
              <a:t>The reference engine: the canonical MEOS named-function SQL served verbatim — MobilityDuck and MobilitySpark return this exact OGC output.</a:t>
            </a:r>
          </a:p>
        </p:txBody>
      </p:sp>
      <p:sp>
        <p:nvSpPr>
          <p:cNvPr id="34" name="Rectangle 33"/>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36" name="TextBox 35"/>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28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ENGINE PROFILE</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MobilityDuck  ·  DuckDB</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645920"/>
            <a:ext cx="11057839" cy="868680"/>
          </a:xfrm>
          <a:prstGeom prst="roundRect">
            <a:avLst>
              <a:gd name="adj" fmla="val 6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1755648"/>
            <a:ext cx="10472623" cy="320040"/>
          </a:xfrm>
          <a:prstGeom prst="rect">
            <a:avLst/>
          </a:prstGeom>
          <a:noFill/>
        </p:spPr>
        <p:txBody>
          <a:bodyPr wrap="square" lIns="0" tIns="0" rIns="0" bIns="0" anchor="t">
            <a:noAutofit/>
          </a:bodyPr>
          <a:lstStyle/>
          <a:p>
            <a:pPr algn="l">
              <a:spcBef>
                <a:spcPts val="0"/>
              </a:spcBef>
              <a:spcAft>
                <a:spcPts val="200"/>
              </a:spcAft>
            </a:pPr>
            <a:r>
              <a:rPr sz="1600" b="1" i="0">
                <a:solidFill>
                  <a:srgbClr val="FFFFFF"/>
                </a:solidFill>
                <a:latin typeface="Calibri"/>
              </a:rPr>
              <a:t>Embedded, Parquet-native analytics with no server</a:t>
            </a:r>
          </a:p>
        </p:txBody>
      </p:sp>
      <p:sp>
        <p:nvSpPr>
          <p:cNvPr id="7" name="TextBox 6"/>
          <p:cNvSpPr txBox="1"/>
          <p:nvPr/>
        </p:nvSpPr>
        <p:spPr>
          <a:xfrm>
            <a:off x="859536" y="2139696"/>
            <a:ext cx="10472623" cy="274320"/>
          </a:xfrm>
          <a:prstGeom prst="rect">
            <a:avLst/>
          </a:prstGeom>
          <a:noFill/>
        </p:spPr>
        <p:txBody>
          <a:bodyPr wrap="square" lIns="0" tIns="0" rIns="0" bIns="0" anchor="t">
            <a:noAutofit/>
          </a:bodyPr>
          <a:lstStyle/>
          <a:p>
            <a:pPr algn="l">
              <a:spcBef>
                <a:spcPts val="0"/>
              </a:spcBef>
              <a:spcAft>
                <a:spcPts val="200"/>
              </a:spcAft>
            </a:pPr>
            <a:r>
              <a:rPr sz="1200" b="0" i="0">
                <a:solidFill>
                  <a:srgbClr val="CFE2EC"/>
                </a:solidFill>
                <a:latin typeface="Calibri"/>
              </a:rPr>
              <a:t>Identical OGC output to PostgreSQL over the same canonical SQL</a:t>
            </a:r>
          </a:p>
        </p:txBody>
      </p:sp>
      <p:sp>
        <p:nvSpPr>
          <p:cNvPr id="8" name="TextBox 7"/>
          <p:cNvSpPr txBox="1"/>
          <p:nvPr/>
        </p:nvSpPr>
        <p:spPr>
          <a:xfrm>
            <a:off x="566928" y="2633472"/>
            <a:ext cx="11057839" cy="274320"/>
          </a:xfrm>
          <a:prstGeom prst="rect">
            <a:avLst/>
          </a:prstGeom>
          <a:noFill/>
        </p:spPr>
        <p:txBody>
          <a:bodyPr wrap="square" lIns="0" tIns="0" rIns="0" bIns="0" anchor="t">
            <a:noAutofit/>
          </a:bodyPr>
          <a:lstStyle/>
          <a:p>
            <a:pPr algn="ctr">
              <a:spcBef>
                <a:spcPts val="0"/>
              </a:spcBef>
              <a:spcAft>
                <a:spcPts val="200"/>
              </a:spcAft>
            </a:pPr>
            <a:r>
              <a:rPr sz="1200" b="0" i="0">
                <a:solidFill>
                  <a:srgbClr val="5B6B78"/>
                </a:solidFill>
                <a:latin typeface="Calibri"/>
              </a:rPr>
              <a:t>▼   the engine is a configuration choice — a DSN scheme and a build tag select it</a:t>
            </a:r>
          </a:p>
        </p:txBody>
      </p:sp>
      <p:sp>
        <p:nvSpPr>
          <p:cNvPr id="9" name="Rounded Rectangle 8"/>
          <p:cNvSpPr/>
          <p:nvPr/>
        </p:nvSpPr>
        <p:spPr>
          <a:xfrm>
            <a:off x="566928" y="3108960"/>
            <a:ext cx="2558719" cy="233172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66928" y="3108960"/>
            <a:ext cx="2558719" cy="475488"/>
          </a:xfrm>
          <a:prstGeom prst="roundRect">
            <a:avLst>
              <a:gd name="adj" fmla="val 8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163824"/>
            <a:ext cx="2284399" cy="365760"/>
          </a:xfrm>
          <a:prstGeom prst="rect">
            <a:avLst/>
          </a:prstGeom>
          <a:noFill/>
        </p:spPr>
        <p:txBody>
          <a:bodyPr wrap="square" lIns="0" tIns="0" rIns="0" bIns="0" anchor="ctr">
            <a:noAutofit/>
          </a:bodyPr>
          <a:lstStyle/>
          <a:p>
            <a:pPr algn="l">
              <a:spcBef>
                <a:spcPts val="0"/>
              </a:spcBef>
              <a:spcAft>
                <a:spcPts val="200"/>
              </a:spcAft>
            </a:pPr>
            <a:r>
              <a:rPr sz="1400" b="1" i="0">
                <a:solidFill>
                  <a:srgbClr val="FFFFFF"/>
                </a:solidFill>
                <a:latin typeface="Calibri"/>
              </a:rPr>
              <a:t>Connector</a:t>
            </a:r>
          </a:p>
        </p:txBody>
      </p:sp>
      <p:sp>
        <p:nvSpPr>
          <p:cNvPr id="12" name="TextBox 11"/>
          <p:cNvSpPr txBox="1"/>
          <p:nvPr/>
        </p:nvSpPr>
        <p:spPr>
          <a:xfrm>
            <a:off x="731520" y="37033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onsolas"/>
              </a:rPr>
              <a:t>go-duckdb</a:t>
            </a:r>
          </a:p>
        </p:txBody>
      </p:sp>
      <p:sp>
        <p:nvSpPr>
          <p:cNvPr id="13" name="TextBox 12"/>
          <p:cNvSpPr txBox="1"/>
          <p:nvPr/>
        </p:nvSpPr>
        <p:spPr>
          <a:xfrm>
            <a:off x="731520" y="4041648"/>
            <a:ext cx="2229535" cy="914400"/>
          </a:xfrm>
          <a:prstGeom prst="rect">
            <a:avLst/>
          </a:prstGeom>
          <a:noFill/>
        </p:spPr>
        <p:txBody>
          <a:bodyPr wrap="square" lIns="0" tIns="0" rIns="0" bIns="0" anchor="t">
            <a:noAutofit/>
          </a:bodyPr>
          <a:lstStyle/>
          <a:p>
            <a:pPr algn="l">
              <a:spcBef>
                <a:spcPts val="0"/>
              </a:spcBef>
              <a:spcAft>
                <a:spcPts val="200"/>
              </a:spcAft>
            </a:pPr>
            <a:r>
              <a:rPr sz="1200" b="0" i="0">
                <a:solidFill>
                  <a:srgbClr val="1E2B36"/>
                </a:solidFill>
                <a:latin typeface="Calibri"/>
              </a:rPr>
              <a:t>Embedded and in-process via database/sql; selected by a duckdb:// DSN.</a:t>
            </a:r>
          </a:p>
        </p:txBody>
      </p:sp>
      <p:sp>
        <p:nvSpPr>
          <p:cNvPr id="14" name="TextBox 13"/>
          <p:cNvSpPr txBox="1"/>
          <p:nvPr/>
        </p:nvSpPr>
        <p:spPr>
          <a:xfrm>
            <a:off x="731520" y="50749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5B6B78"/>
                </a:solidFill>
                <a:latin typeface="Calibri"/>
              </a:rPr>
              <a:t>embedded</a:t>
            </a:r>
          </a:p>
        </p:txBody>
      </p:sp>
      <p:sp>
        <p:nvSpPr>
          <p:cNvPr id="15" name="Rounded Rectangle 14"/>
          <p:cNvSpPr/>
          <p:nvPr/>
        </p:nvSpPr>
        <p:spPr>
          <a:xfrm>
            <a:off x="3399967" y="3108960"/>
            <a:ext cx="2558719" cy="233172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399967" y="3108960"/>
            <a:ext cx="2558719" cy="475488"/>
          </a:xfrm>
          <a:prstGeom prst="roundRect">
            <a:avLst>
              <a:gd name="adj" fmla="val 8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64559" y="3163824"/>
            <a:ext cx="2284399" cy="365760"/>
          </a:xfrm>
          <a:prstGeom prst="rect">
            <a:avLst/>
          </a:prstGeom>
          <a:noFill/>
        </p:spPr>
        <p:txBody>
          <a:bodyPr wrap="square" lIns="0" tIns="0" rIns="0" bIns="0" anchor="ctr">
            <a:noAutofit/>
          </a:bodyPr>
          <a:lstStyle/>
          <a:p>
            <a:pPr algn="l">
              <a:spcBef>
                <a:spcPts val="0"/>
              </a:spcBef>
              <a:spcAft>
                <a:spcPts val="200"/>
              </a:spcAft>
            </a:pPr>
            <a:r>
              <a:rPr sz="1400" b="1" i="0">
                <a:solidFill>
                  <a:srgbClr val="FFFFFF"/>
                </a:solidFill>
                <a:latin typeface="Calibri"/>
              </a:rPr>
              <a:t>Build &amp; deploy</a:t>
            </a:r>
          </a:p>
        </p:txBody>
      </p:sp>
      <p:sp>
        <p:nvSpPr>
          <p:cNvPr id="18" name="TextBox 17"/>
          <p:cNvSpPr txBox="1"/>
          <p:nvPr/>
        </p:nvSpPr>
        <p:spPr>
          <a:xfrm>
            <a:off x="3564559" y="37033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196B24"/>
                </a:solidFill>
                <a:latin typeface="Consolas"/>
              </a:rPr>
              <a:t>-tags duckdb</a:t>
            </a:r>
          </a:p>
        </p:txBody>
      </p:sp>
      <p:sp>
        <p:nvSpPr>
          <p:cNvPr id="19" name="TextBox 18"/>
          <p:cNvSpPr txBox="1"/>
          <p:nvPr/>
        </p:nvSpPr>
        <p:spPr>
          <a:xfrm>
            <a:off x="3564559" y="4041648"/>
            <a:ext cx="2229535" cy="914400"/>
          </a:xfrm>
          <a:prstGeom prst="rect">
            <a:avLst/>
          </a:prstGeom>
          <a:noFill/>
        </p:spPr>
        <p:txBody>
          <a:bodyPr wrap="square" lIns="0" tIns="0" rIns="0" bIns="0" anchor="t">
            <a:noAutofit/>
          </a:bodyPr>
          <a:lstStyle/>
          <a:p>
            <a:pPr algn="l">
              <a:spcBef>
                <a:spcPts val="0"/>
              </a:spcBef>
              <a:spcAft>
                <a:spcPts val="200"/>
              </a:spcAft>
            </a:pPr>
            <a:r>
              <a:rPr sz="1200" b="0" i="0">
                <a:solidFill>
                  <a:srgbClr val="1E2B36"/>
                </a:solidFill>
                <a:latin typeface="Calibri"/>
              </a:rPr>
              <a:t>MobilityDuck and spatial extensions LOADed per connection.</a:t>
            </a:r>
          </a:p>
        </p:txBody>
      </p:sp>
      <p:sp>
        <p:nvSpPr>
          <p:cNvPr id="20" name="TextBox 19"/>
          <p:cNvSpPr txBox="1"/>
          <p:nvPr/>
        </p:nvSpPr>
        <p:spPr>
          <a:xfrm>
            <a:off x="3564559" y="50749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5B6B78"/>
                </a:solidFill>
                <a:latin typeface="Calibri"/>
              </a:rPr>
              <a:t>LOAD</a:t>
            </a:r>
          </a:p>
        </p:txBody>
      </p:sp>
      <p:sp>
        <p:nvSpPr>
          <p:cNvPr id="21" name="Rounded Rectangle 20"/>
          <p:cNvSpPr/>
          <p:nvPr/>
        </p:nvSpPr>
        <p:spPr>
          <a:xfrm>
            <a:off x="6233007" y="3108960"/>
            <a:ext cx="2558719" cy="233172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233007" y="3108960"/>
            <a:ext cx="2558719" cy="475488"/>
          </a:xfrm>
          <a:prstGeom prst="roundRect">
            <a:avLst>
              <a:gd name="adj" fmla="val 8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97599" y="3163824"/>
            <a:ext cx="2284399" cy="365760"/>
          </a:xfrm>
          <a:prstGeom prst="rect">
            <a:avLst/>
          </a:prstGeom>
          <a:noFill/>
        </p:spPr>
        <p:txBody>
          <a:bodyPr wrap="square" lIns="0" tIns="0" rIns="0" bIns="0" anchor="ctr">
            <a:noAutofit/>
          </a:bodyPr>
          <a:lstStyle/>
          <a:p>
            <a:pPr algn="l">
              <a:spcBef>
                <a:spcPts val="0"/>
              </a:spcBef>
              <a:spcAft>
                <a:spcPts val="200"/>
              </a:spcAft>
            </a:pPr>
            <a:r>
              <a:rPr sz="1400" b="1" i="0">
                <a:solidFill>
                  <a:srgbClr val="FFFFFF"/>
                </a:solidFill>
                <a:latin typeface="Calibri"/>
              </a:rPr>
              <a:t>SQL dialect</a:t>
            </a:r>
          </a:p>
        </p:txBody>
      </p:sp>
      <p:sp>
        <p:nvSpPr>
          <p:cNvPr id="24" name="TextBox 23"/>
          <p:cNvSpPr txBox="1"/>
          <p:nvPr/>
        </p:nvSpPr>
        <p:spPr>
          <a:xfrm>
            <a:off x="6397599" y="37033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E97132"/>
                </a:solidFill>
                <a:latin typeface="Consolas"/>
              </a:rPr>
              <a:t>identity</a:t>
            </a:r>
          </a:p>
        </p:txBody>
      </p:sp>
      <p:sp>
        <p:nvSpPr>
          <p:cNvPr id="25" name="TextBox 24"/>
          <p:cNvSpPr txBox="1"/>
          <p:nvPr/>
        </p:nvSpPr>
        <p:spPr>
          <a:xfrm>
            <a:off x="6397599" y="4041648"/>
            <a:ext cx="2229535" cy="914400"/>
          </a:xfrm>
          <a:prstGeom prst="rect">
            <a:avLst/>
          </a:prstGeom>
          <a:noFill/>
        </p:spPr>
        <p:txBody>
          <a:bodyPr wrap="square" lIns="0" tIns="0" rIns="0" bIns="0" anchor="t">
            <a:noAutofit/>
          </a:bodyPr>
          <a:lstStyle/>
          <a:p>
            <a:pPr algn="l">
              <a:spcBef>
                <a:spcPts val="0"/>
              </a:spcBef>
              <a:spcAft>
                <a:spcPts val="200"/>
              </a:spcAft>
            </a:pPr>
            <a:r>
              <a:rPr sz="1200" b="0" i="0">
                <a:solidFill>
                  <a:srgbClr val="1E2B36"/>
                </a:solidFill>
                <a:latin typeface="Calibri"/>
              </a:rPr>
              <a:t>Same canonical SQL as PostgreSQL; trajectory GeoJSON cast to text for a uniform scan.</a:t>
            </a:r>
          </a:p>
        </p:txBody>
      </p:sp>
      <p:sp>
        <p:nvSpPr>
          <p:cNvPr id="26" name="TextBox 25"/>
          <p:cNvSpPr txBox="1"/>
          <p:nvPr/>
        </p:nvSpPr>
        <p:spPr>
          <a:xfrm>
            <a:off x="6397599" y="50749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5B6B78"/>
                </a:solidFill>
                <a:latin typeface="Calibri"/>
              </a:rPr>
              <a:t>as-is</a:t>
            </a:r>
          </a:p>
        </p:txBody>
      </p:sp>
      <p:sp>
        <p:nvSpPr>
          <p:cNvPr id="27" name="Rounded Rectangle 26"/>
          <p:cNvSpPr/>
          <p:nvPr/>
        </p:nvSpPr>
        <p:spPr>
          <a:xfrm>
            <a:off x="9066047" y="3108960"/>
            <a:ext cx="2558719" cy="233172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9066047" y="3108960"/>
            <a:ext cx="2558719" cy="475488"/>
          </a:xfrm>
          <a:prstGeom prst="roundRect">
            <a:avLst>
              <a:gd name="adj" fmla="val 8000"/>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30639" y="3163824"/>
            <a:ext cx="2284399" cy="365760"/>
          </a:xfrm>
          <a:prstGeom prst="rect">
            <a:avLst/>
          </a:prstGeom>
          <a:noFill/>
        </p:spPr>
        <p:txBody>
          <a:bodyPr wrap="square" lIns="0" tIns="0" rIns="0" bIns="0" anchor="ctr">
            <a:noAutofit/>
          </a:bodyPr>
          <a:lstStyle/>
          <a:p>
            <a:pPr algn="l">
              <a:spcBef>
                <a:spcPts val="0"/>
              </a:spcBef>
              <a:spcAft>
                <a:spcPts val="200"/>
              </a:spcAft>
            </a:pPr>
            <a:r>
              <a:rPr sz="1400" b="1" i="0">
                <a:solidFill>
                  <a:srgbClr val="FFFFFF"/>
                </a:solidFill>
                <a:latin typeface="Calibri"/>
              </a:rPr>
              <a:t>Sweet spot</a:t>
            </a:r>
          </a:p>
        </p:txBody>
      </p:sp>
      <p:sp>
        <p:nvSpPr>
          <p:cNvPr id="30" name="TextBox 29"/>
          <p:cNvSpPr txBox="1"/>
          <p:nvPr/>
        </p:nvSpPr>
        <p:spPr>
          <a:xfrm>
            <a:off x="9230639" y="37033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A02B93"/>
                </a:solidFill>
                <a:latin typeface="Consolas"/>
              </a:rPr>
              <a:t>lakehouse</a:t>
            </a:r>
          </a:p>
        </p:txBody>
      </p:sp>
      <p:sp>
        <p:nvSpPr>
          <p:cNvPr id="31" name="TextBox 30"/>
          <p:cNvSpPr txBox="1"/>
          <p:nvPr/>
        </p:nvSpPr>
        <p:spPr>
          <a:xfrm>
            <a:off x="9230639" y="4041648"/>
            <a:ext cx="2229535" cy="914400"/>
          </a:xfrm>
          <a:prstGeom prst="rect">
            <a:avLst/>
          </a:prstGeom>
          <a:noFill/>
        </p:spPr>
        <p:txBody>
          <a:bodyPr wrap="square" lIns="0" tIns="0" rIns="0" bIns="0" anchor="t">
            <a:noAutofit/>
          </a:bodyPr>
          <a:lstStyle/>
          <a:p>
            <a:pPr algn="l">
              <a:spcBef>
                <a:spcPts val="0"/>
              </a:spcBef>
              <a:spcAft>
                <a:spcPts val="200"/>
              </a:spcAft>
            </a:pPr>
            <a:r>
              <a:rPr sz="1200" b="0" i="0">
                <a:solidFill>
                  <a:srgbClr val="1E2B36"/>
                </a:solidFill>
                <a:latin typeface="Calibri"/>
              </a:rPr>
              <a:t>Parquet-native analytical queries over local files; no database server.</a:t>
            </a:r>
          </a:p>
        </p:txBody>
      </p:sp>
      <p:sp>
        <p:nvSpPr>
          <p:cNvPr id="32" name="TextBox 31"/>
          <p:cNvSpPr txBox="1"/>
          <p:nvPr/>
        </p:nvSpPr>
        <p:spPr>
          <a:xfrm>
            <a:off x="9230639" y="50749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5B6B78"/>
                </a:solidFill>
                <a:latin typeface="Calibri"/>
              </a:rPr>
              <a:t>Parquet</a:t>
            </a:r>
          </a:p>
        </p:txBody>
      </p:sp>
      <p:sp>
        <p:nvSpPr>
          <p:cNvPr id="33" name="TextBox 32"/>
          <p:cNvSpPr txBox="1"/>
          <p:nvPr/>
        </p:nvSpPr>
        <p:spPr>
          <a:xfrm>
            <a:off x="566928" y="5669280"/>
            <a:ext cx="11057839" cy="640080"/>
          </a:xfrm>
          <a:prstGeom prst="rect">
            <a:avLst/>
          </a:prstGeom>
          <a:noFill/>
        </p:spPr>
        <p:txBody>
          <a:bodyPr wrap="square" lIns="0" tIns="0" rIns="0" bIns="0" anchor="t">
            <a:noAutofit/>
          </a:bodyPr>
          <a:lstStyle/>
          <a:p>
            <a:pPr algn="ctr">
              <a:spcBef>
                <a:spcPts val="0"/>
              </a:spcBef>
              <a:spcAft>
                <a:spcPts val="200"/>
              </a:spcAft>
            </a:pPr>
            <a:r>
              <a:rPr sz="1200" b="0" i="0">
                <a:solidFill>
                  <a:srgbClr val="5B6B78"/>
                </a:solidFill>
                <a:latin typeface="Calibri"/>
              </a:rPr>
              <a:t>Same thin tier, same canonical SQL, same Go response assembly — only the connector changes; identical OGC output to PostgreSQL.</a:t>
            </a:r>
          </a:p>
        </p:txBody>
      </p:sp>
      <p:sp>
        <p:nvSpPr>
          <p:cNvPr id="34" name="Rectangle 33"/>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36" name="TextBox 35"/>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29</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ENGINE PROFILE</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MobilitySpark  ·  Apache Spark</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645920"/>
            <a:ext cx="11057839" cy="868680"/>
          </a:xfrm>
          <a:prstGeom prst="roundRect">
            <a:avLst>
              <a:gd name="adj" fmla="val 6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9536" y="1755648"/>
            <a:ext cx="10472623" cy="320040"/>
          </a:xfrm>
          <a:prstGeom prst="rect">
            <a:avLst/>
          </a:prstGeom>
          <a:noFill/>
        </p:spPr>
        <p:txBody>
          <a:bodyPr wrap="square" lIns="0" tIns="0" rIns="0" bIns="0" anchor="t">
            <a:noAutofit/>
          </a:bodyPr>
          <a:lstStyle/>
          <a:p>
            <a:pPr algn="l">
              <a:spcBef>
                <a:spcPts val="0"/>
              </a:spcBef>
              <a:spcAft>
                <a:spcPts val="200"/>
              </a:spcAft>
            </a:pPr>
            <a:r>
              <a:rPr sz="1600" b="1" i="0">
                <a:solidFill>
                  <a:srgbClr val="FFFFFF"/>
                </a:solidFill>
                <a:latin typeface="Calibri"/>
              </a:rPr>
              <a:t>Distributed batch over very large movement histories</a:t>
            </a:r>
          </a:p>
        </p:txBody>
      </p:sp>
      <p:sp>
        <p:nvSpPr>
          <p:cNvPr id="7" name="TextBox 6"/>
          <p:cNvSpPr txBox="1"/>
          <p:nvPr/>
        </p:nvSpPr>
        <p:spPr>
          <a:xfrm>
            <a:off x="859536" y="2139696"/>
            <a:ext cx="10472623" cy="274320"/>
          </a:xfrm>
          <a:prstGeom prst="rect">
            <a:avLst/>
          </a:prstGeom>
          <a:noFill/>
        </p:spPr>
        <p:txBody>
          <a:bodyPr wrap="square" lIns="0" tIns="0" rIns="0" bIns="0" anchor="t">
            <a:noAutofit/>
          </a:bodyPr>
          <a:lstStyle/>
          <a:p>
            <a:pPr algn="l">
              <a:spcBef>
                <a:spcPts val="0"/>
              </a:spcBef>
              <a:spcAft>
                <a:spcPts val="200"/>
              </a:spcAft>
            </a:pPr>
            <a:r>
              <a:rPr sz="1200" b="0" i="0">
                <a:solidFill>
                  <a:srgbClr val="CFE2EC"/>
                </a:solidFill>
                <a:latin typeface="Calibri"/>
              </a:rPr>
              <a:t>The same canonical SQL as PostgreSQL and DuckDB, over Spark Connect</a:t>
            </a:r>
          </a:p>
        </p:txBody>
      </p:sp>
      <p:sp>
        <p:nvSpPr>
          <p:cNvPr id="8" name="TextBox 7"/>
          <p:cNvSpPr txBox="1"/>
          <p:nvPr/>
        </p:nvSpPr>
        <p:spPr>
          <a:xfrm>
            <a:off x="566928" y="2633472"/>
            <a:ext cx="11057839" cy="274320"/>
          </a:xfrm>
          <a:prstGeom prst="rect">
            <a:avLst/>
          </a:prstGeom>
          <a:noFill/>
        </p:spPr>
        <p:txBody>
          <a:bodyPr wrap="square" lIns="0" tIns="0" rIns="0" bIns="0" anchor="t">
            <a:noAutofit/>
          </a:bodyPr>
          <a:lstStyle/>
          <a:p>
            <a:pPr algn="ctr">
              <a:spcBef>
                <a:spcPts val="0"/>
              </a:spcBef>
              <a:spcAft>
                <a:spcPts val="200"/>
              </a:spcAft>
            </a:pPr>
            <a:r>
              <a:rPr sz="1200" b="0" i="0">
                <a:solidFill>
                  <a:srgbClr val="5B6B78"/>
                </a:solidFill>
                <a:latin typeface="Calibri"/>
              </a:rPr>
              <a:t>▼   the engine is a configuration choice — a DSN scheme and a build tag select it</a:t>
            </a:r>
          </a:p>
        </p:txBody>
      </p:sp>
      <p:sp>
        <p:nvSpPr>
          <p:cNvPr id="9" name="Rounded Rectangle 8"/>
          <p:cNvSpPr/>
          <p:nvPr/>
        </p:nvSpPr>
        <p:spPr>
          <a:xfrm>
            <a:off x="566928" y="3108960"/>
            <a:ext cx="2558719" cy="233172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66928" y="3108960"/>
            <a:ext cx="2558719" cy="475488"/>
          </a:xfrm>
          <a:prstGeom prst="roundRect">
            <a:avLst>
              <a:gd name="adj" fmla="val 8000"/>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3163824"/>
            <a:ext cx="2284399" cy="365760"/>
          </a:xfrm>
          <a:prstGeom prst="rect">
            <a:avLst/>
          </a:prstGeom>
          <a:noFill/>
        </p:spPr>
        <p:txBody>
          <a:bodyPr wrap="square" lIns="0" tIns="0" rIns="0" bIns="0" anchor="ctr">
            <a:noAutofit/>
          </a:bodyPr>
          <a:lstStyle/>
          <a:p>
            <a:pPr algn="l">
              <a:spcBef>
                <a:spcPts val="0"/>
              </a:spcBef>
              <a:spcAft>
                <a:spcPts val="200"/>
              </a:spcAft>
            </a:pPr>
            <a:r>
              <a:rPr sz="1400" b="1" i="0">
                <a:solidFill>
                  <a:srgbClr val="FFFFFF"/>
                </a:solidFill>
                <a:latin typeface="Calibri"/>
              </a:rPr>
              <a:t>Connector</a:t>
            </a:r>
          </a:p>
        </p:txBody>
      </p:sp>
      <p:sp>
        <p:nvSpPr>
          <p:cNvPr id="12" name="TextBox 11"/>
          <p:cNvSpPr txBox="1"/>
          <p:nvPr/>
        </p:nvSpPr>
        <p:spPr>
          <a:xfrm>
            <a:off x="731520" y="37033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onsolas"/>
              </a:rPr>
              <a:t>Spark Connect</a:t>
            </a:r>
          </a:p>
        </p:txBody>
      </p:sp>
      <p:sp>
        <p:nvSpPr>
          <p:cNvPr id="13" name="TextBox 12"/>
          <p:cNvSpPr txBox="1"/>
          <p:nvPr/>
        </p:nvSpPr>
        <p:spPr>
          <a:xfrm>
            <a:off x="731520" y="4041648"/>
            <a:ext cx="2229535" cy="914400"/>
          </a:xfrm>
          <a:prstGeom prst="rect">
            <a:avLst/>
          </a:prstGeom>
          <a:noFill/>
        </p:spPr>
        <p:txBody>
          <a:bodyPr wrap="square" lIns="0" tIns="0" rIns="0" bIns="0" anchor="t">
            <a:noAutofit/>
          </a:bodyPr>
          <a:lstStyle/>
          <a:p>
            <a:pPr algn="l">
              <a:spcBef>
                <a:spcPts val="0"/>
              </a:spcBef>
              <a:spcAft>
                <a:spcPts val="200"/>
              </a:spcAft>
            </a:pPr>
            <a:r>
              <a:rPr sz="1200" b="0" i="0">
                <a:solidFill>
                  <a:srgbClr val="1E2B36"/>
                </a:solidFill>
                <a:latin typeface="Calibri"/>
              </a:rPr>
              <a:t>Selected by a spark:// DSN; compiles against spark-connect-go.</a:t>
            </a:r>
          </a:p>
        </p:txBody>
      </p:sp>
      <p:sp>
        <p:nvSpPr>
          <p:cNvPr id="14" name="TextBox 13"/>
          <p:cNvSpPr txBox="1"/>
          <p:nvPr/>
        </p:nvSpPr>
        <p:spPr>
          <a:xfrm>
            <a:off x="731520" y="50749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5B6B78"/>
                </a:solidFill>
                <a:latin typeface="Calibri"/>
              </a:rPr>
              <a:t>Connect</a:t>
            </a:r>
          </a:p>
        </p:txBody>
      </p:sp>
      <p:sp>
        <p:nvSpPr>
          <p:cNvPr id="15" name="Rounded Rectangle 14"/>
          <p:cNvSpPr/>
          <p:nvPr/>
        </p:nvSpPr>
        <p:spPr>
          <a:xfrm>
            <a:off x="3399967" y="3108960"/>
            <a:ext cx="2558719" cy="233172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3399967" y="3108960"/>
            <a:ext cx="2558719" cy="475488"/>
          </a:xfrm>
          <a:prstGeom prst="roundRect">
            <a:avLst>
              <a:gd name="adj" fmla="val 8000"/>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564559" y="3163824"/>
            <a:ext cx="2284399" cy="365760"/>
          </a:xfrm>
          <a:prstGeom prst="rect">
            <a:avLst/>
          </a:prstGeom>
          <a:noFill/>
        </p:spPr>
        <p:txBody>
          <a:bodyPr wrap="square" lIns="0" tIns="0" rIns="0" bIns="0" anchor="ctr">
            <a:noAutofit/>
          </a:bodyPr>
          <a:lstStyle/>
          <a:p>
            <a:pPr algn="l">
              <a:spcBef>
                <a:spcPts val="0"/>
              </a:spcBef>
              <a:spcAft>
                <a:spcPts val="200"/>
              </a:spcAft>
            </a:pPr>
            <a:r>
              <a:rPr sz="1400" b="1" i="0">
                <a:solidFill>
                  <a:srgbClr val="FFFFFF"/>
                </a:solidFill>
                <a:latin typeface="Calibri"/>
              </a:rPr>
              <a:t>Build &amp; deploy</a:t>
            </a:r>
          </a:p>
        </p:txBody>
      </p:sp>
      <p:sp>
        <p:nvSpPr>
          <p:cNvPr id="18" name="TextBox 17"/>
          <p:cNvSpPr txBox="1"/>
          <p:nvPr/>
        </p:nvSpPr>
        <p:spPr>
          <a:xfrm>
            <a:off x="3564559" y="37033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196B24"/>
                </a:solidFill>
                <a:latin typeface="Consolas"/>
              </a:rPr>
              <a:t>-tags spark</a:t>
            </a:r>
          </a:p>
        </p:txBody>
      </p:sp>
      <p:sp>
        <p:nvSpPr>
          <p:cNvPr id="19" name="TextBox 18"/>
          <p:cNvSpPr txBox="1"/>
          <p:nvPr/>
        </p:nvSpPr>
        <p:spPr>
          <a:xfrm>
            <a:off x="3564559" y="4041648"/>
            <a:ext cx="2229535" cy="914400"/>
          </a:xfrm>
          <a:prstGeom prst="rect">
            <a:avLst/>
          </a:prstGeom>
          <a:noFill/>
        </p:spPr>
        <p:txBody>
          <a:bodyPr wrap="square" lIns="0" tIns="0" rIns="0" bIns="0" anchor="t">
            <a:noAutofit/>
          </a:bodyPr>
          <a:lstStyle/>
          <a:p>
            <a:pPr algn="l">
              <a:spcBef>
                <a:spcPts val="0"/>
              </a:spcBef>
              <a:spcAft>
                <a:spcPts val="200"/>
              </a:spcAft>
            </a:pPr>
            <a:r>
              <a:rPr sz="1200" b="0" i="0">
                <a:solidFill>
                  <a:srgbClr val="1E2B36"/>
                </a:solidFill>
                <a:latin typeface="Calibri"/>
              </a:rPr>
              <a:t>Placeholders inlined — Spark Connect's Sql takes no bind parameters.</a:t>
            </a:r>
          </a:p>
        </p:txBody>
      </p:sp>
      <p:sp>
        <p:nvSpPr>
          <p:cNvPr id="20" name="TextBox 19"/>
          <p:cNvSpPr txBox="1"/>
          <p:nvPr/>
        </p:nvSpPr>
        <p:spPr>
          <a:xfrm>
            <a:off x="3564559" y="50749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5B6B78"/>
                </a:solidFill>
                <a:latin typeface="Calibri"/>
              </a:rPr>
              <a:t>no params</a:t>
            </a:r>
          </a:p>
        </p:txBody>
      </p:sp>
      <p:sp>
        <p:nvSpPr>
          <p:cNvPr id="21" name="Rounded Rectangle 20"/>
          <p:cNvSpPr/>
          <p:nvPr/>
        </p:nvSpPr>
        <p:spPr>
          <a:xfrm>
            <a:off x="6233007" y="3108960"/>
            <a:ext cx="2558719" cy="233172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233007" y="3108960"/>
            <a:ext cx="2558719" cy="475488"/>
          </a:xfrm>
          <a:prstGeom prst="roundRect">
            <a:avLst>
              <a:gd name="adj" fmla="val 8000"/>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397599" y="3163824"/>
            <a:ext cx="2284399" cy="365760"/>
          </a:xfrm>
          <a:prstGeom prst="rect">
            <a:avLst/>
          </a:prstGeom>
          <a:noFill/>
        </p:spPr>
        <p:txBody>
          <a:bodyPr wrap="square" lIns="0" tIns="0" rIns="0" bIns="0" anchor="ctr">
            <a:noAutofit/>
          </a:bodyPr>
          <a:lstStyle/>
          <a:p>
            <a:pPr algn="l">
              <a:spcBef>
                <a:spcPts val="0"/>
              </a:spcBef>
              <a:spcAft>
                <a:spcPts val="200"/>
              </a:spcAft>
            </a:pPr>
            <a:r>
              <a:rPr sz="1400" b="1" i="0">
                <a:solidFill>
                  <a:srgbClr val="FFFFFF"/>
                </a:solidFill>
                <a:latin typeface="Calibri"/>
              </a:rPr>
              <a:t>SQL dialect</a:t>
            </a:r>
          </a:p>
        </p:txBody>
      </p:sp>
      <p:sp>
        <p:nvSpPr>
          <p:cNvPr id="24" name="TextBox 23"/>
          <p:cNvSpPr txBox="1"/>
          <p:nvPr/>
        </p:nvSpPr>
        <p:spPr>
          <a:xfrm>
            <a:off x="6397599" y="37033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E97132"/>
                </a:solidFill>
                <a:latin typeface="Consolas"/>
              </a:rPr>
              <a:t>identity</a:t>
            </a:r>
          </a:p>
        </p:txBody>
      </p:sp>
      <p:sp>
        <p:nvSpPr>
          <p:cNvPr id="25" name="TextBox 24"/>
          <p:cNvSpPr txBox="1"/>
          <p:nvPr/>
        </p:nvSpPr>
        <p:spPr>
          <a:xfrm>
            <a:off x="6397599" y="4041648"/>
            <a:ext cx="2229535" cy="914400"/>
          </a:xfrm>
          <a:prstGeom prst="rect">
            <a:avLst/>
          </a:prstGeom>
          <a:noFill/>
        </p:spPr>
        <p:txBody>
          <a:bodyPr wrap="square" lIns="0" tIns="0" rIns="0" bIns="0" anchor="t">
            <a:noAutofit/>
          </a:bodyPr>
          <a:lstStyle/>
          <a:p>
            <a:pPr algn="l">
              <a:spcBef>
                <a:spcPts val="0"/>
              </a:spcBef>
              <a:spcAft>
                <a:spcPts val="200"/>
              </a:spcAft>
            </a:pPr>
            <a:r>
              <a:rPr sz="1200" b="0" i="0">
                <a:solidFill>
                  <a:srgbClr val="1E2B36"/>
                </a:solidFill>
                <a:latin typeface="Calibri"/>
              </a:rPr>
              <a:t>The canonical SQL names verbatim, like PostgreSQL and DuckDB; box accessors dispatch stbox vs tbox in one UDF via the WKB type tag.</a:t>
            </a:r>
          </a:p>
        </p:txBody>
      </p:sp>
      <p:sp>
        <p:nvSpPr>
          <p:cNvPr id="26" name="TextBox 25"/>
          <p:cNvSpPr txBox="1"/>
          <p:nvPr/>
        </p:nvSpPr>
        <p:spPr>
          <a:xfrm>
            <a:off x="6397599" y="50749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5B6B78"/>
                </a:solidFill>
                <a:latin typeface="Calibri"/>
              </a:rPr>
              <a:t>as-is</a:t>
            </a:r>
          </a:p>
        </p:txBody>
      </p:sp>
      <p:sp>
        <p:nvSpPr>
          <p:cNvPr id="27" name="Rounded Rectangle 26"/>
          <p:cNvSpPr/>
          <p:nvPr/>
        </p:nvSpPr>
        <p:spPr>
          <a:xfrm>
            <a:off x="9066047" y="3108960"/>
            <a:ext cx="2558719" cy="2331720"/>
          </a:xfrm>
          <a:prstGeom prst="roundRect">
            <a:avLst>
              <a:gd name="adj" fmla="val 5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9066047" y="3108960"/>
            <a:ext cx="2558719" cy="475488"/>
          </a:xfrm>
          <a:prstGeom prst="roundRect">
            <a:avLst>
              <a:gd name="adj" fmla="val 8000"/>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230639" y="3163824"/>
            <a:ext cx="2284399" cy="365760"/>
          </a:xfrm>
          <a:prstGeom prst="rect">
            <a:avLst/>
          </a:prstGeom>
          <a:noFill/>
        </p:spPr>
        <p:txBody>
          <a:bodyPr wrap="square" lIns="0" tIns="0" rIns="0" bIns="0" anchor="ctr">
            <a:noAutofit/>
          </a:bodyPr>
          <a:lstStyle/>
          <a:p>
            <a:pPr algn="l">
              <a:spcBef>
                <a:spcPts val="0"/>
              </a:spcBef>
              <a:spcAft>
                <a:spcPts val="200"/>
              </a:spcAft>
            </a:pPr>
            <a:r>
              <a:rPr sz="1400" b="1" i="0">
                <a:solidFill>
                  <a:srgbClr val="FFFFFF"/>
                </a:solidFill>
                <a:latin typeface="Calibri"/>
              </a:rPr>
              <a:t>Sweet spot</a:t>
            </a:r>
          </a:p>
        </p:txBody>
      </p:sp>
      <p:sp>
        <p:nvSpPr>
          <p:cNvPr id="30" name="TextBox 29"/>
          <p:cNvSpPr txBox="1"/>
          <p:nvPr/>
        </p:nvSpPr>
        <p:spPr>
          <a:xfrm>
            <a:off x="9230639" y="37033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A02B93"/>
                </a:solidFill>
                <a:latin typeface="Consolas"/>
              </a:rPr>
              <a:t>distributed</a:t>
            </a:r>
          </a:p>
        </p:txBody>
      </p:sp>
      <p:sp>
        <p:nvSpPr>
          <p:cNvPr id="31" name="TextBox 30"/>
          <p:cNvSpPr txBox="1"/>
          <p:nvPr/>
        </p:nvSpPr>
        <p:spPr>
          <a:xfrm>
            <a:off x="9230639" y="4041648"/>
            <a:ext cx="2229535" cy="914400"/>
          </a:xfrm>
          <a:prstGeom prst="rect">
            <a:avLst/>
          </a:prstGeom>
          <a:noFill/>
        </p:spPr>
        <p:txBody>
          <a:bodyPr wrap="square" lIns="0" tIns="0" rIns="0" bIns="0" anchor="t">
            <a:noAutofit/>
          </a:bodyPr>
          <a:lstStyle/>
          <a:p>
            <a:pPr algn="l">
              <a:spcBef>
                <a:spcPts val="0"/>
              </a:spcBef>
              <a:spcAft>
                <a:spcPts val="200"/>
              </a:spcAft>
            </a:pPr>
            <a:r>
              <a:rPr sz="1200" b="0" i="0">
                <a:solidFill>
                  <a:srgbClr val="1E2B36"/>
                </a:solidFill>
                <a:latin typeface="Calibri"/>
              </a:rPr>
              <a:t>Batch analytics over very large histories; th3index per-engine spatial indexing.</a:t>
            </a:r>
          </a:p>
        </p:txBody>
      </p:sp>
      <p:sp>
        <p:nvSpPr>
          <p:cNvPr id="32" name="TextBox 31"/>
          <p:cNvSpPr txBox="1"/>
          <p:nvPr/>
        </p:nvSpPr>
        <p:spPr>
          <a:xfrm>
            <a:off x="9230639" y="5074920"/>
            <a:ext cx="2284399" cy="274320"/>
          </a:xfrm>
          <a:prstGeom prst="rect">
            <a:avLst/>
          </a:prstGeom>
          <a:noFill/>
        </p:spPr>
        <p:txBody>
          <a:bodyPr wrap="square" lIns="0" tIns="0" rIns="0" bIns="0" anchor="t">
            <a:noAutofit/>
          </a:bodyPr>
          <a:lstStyle/>
          <a:p>
            <a:pPr algn="l">
              <a:spcBef>
                <a:spcPts val="0"/>
              </a:spcBef>
              <a:spcAft>
                <a:spcPts val="200"/>
              </a:spcAft>
            </a:pPr>
            <a:r>
              <a:rPr sz="1200" b="1" i="0">
                <a:solidFill>
                  <a:srgbClr val="5B6B78"/>
                </a:solidFill>
                <a:latin typeface="Calibri"/>
              </a:rPr>
              <a:t>th3index</a:t>
            </a:r>
          </a:p>
        </p:txBody>
      </p:sp>
      <p:sp>
        <p:nvSpPr>
          <p:cNvPr id="33" name="TextBox 32"/>
          <p:cNvSpPr txBox="1"/>
          <p:nvPr/>
        </p:nvSpPr>
        <p:spPr>
          <a:xfrm>
            <a:off x="566928" y="5669280"/>
            <a:ext cx="11057839" cy="640080"/>
          </a:xfrm>
          <a:prstGeom prst="rect">
            <a:avLst/>
          </a:prstGeom>
          <a:noFill/>
        </p:spPr>
        <p:txBody>
          <a:bodyPr wrap="square" lIns="0" tIns="0" rIns="0" bIns="0" anchor="t">
            <a:noAutofit/>
          </a:bodyPr>
          <a:lstStyle/>
          <a:p>
            <a:pPr algn="ctr">
              <a:spcBef>
                <a:spcPts val="0"/>
              </a:spcBef>
              <a:spcAft>
                <a:spcPts val="200"/>
              </a:spcAft>
            </a:pPr>
            <a:r>
              <a:rPr sz="1200" b="0" i="0">
                <a:solidFill>
                  <a:srgbClr val="5B6B78"/>
                </a:solidFill>
                <a:latin typeface="Calibri"/>
              </a:rPr>
              <a:t>Same thin tier and Go assembly; MobilitySpark registers the canonical SQL names verbatim, so the only per-engine step is inlining the placeholders Spark Connect does not bind.</a:t>
            </a:r>
          </a:p>
        </p:txBody>
      </p:sp>
      <p:sp>
        <p:nvSpPr>
          <p:cNvPr id="34" name="Rectangle 33"/>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36" name="TextBox 35"/>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30</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RECAP</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The Standard Surface, Recapped</a:t>
            </a:r>
          </a:p>
        </p:txBody>
      </p:sp>
      <p:sp>
        <p:nvSpPr>
          <p:cNvPr id="4" name="Rectangle 3"/>
          <p:cNvSpPr/>
          <p:nvPr/>
        </p:nvSpPr>
        <p:spPr>
          <a:xfrm>
            <a:off x="566928" y="138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66928" y="1645920"/>
            <a:ext cx="3503066" cy="205740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66928" y="1645920"/>
            <a:ext cx="82296" cy="20574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1792224"/>
            <a:ext cx="3137306"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COLLECTIONS</a:t>
            </a:r>
          </a:p>
        </p:txBody>
      </p:sp>
      <p:sp>
        <p:nvSpPr>
          <p:cNvPr id="8" name="TextBox 7"/>
          <p:cNvSpPr txBox="1"/>
          <p:nvPr/>
        </p:nvSpPr>
        <p:spPr>
          <a:xfrm>
            <a:off x="822960" y="2148840"/>
            <a:ext cx="3045866" cy="1463040"/>
          </a:xfrm>
          <a:prstGeom prst="rect">
            <a:avLst/>
          </a:prstGeom>
          <a:noFill/>
        </p:spPr>
        <p:txBody>
          <a:bodyPr wrap="square" lIns="0" tIns="0" rIns="0" bIns="0">
            <a:noAutofit/>
          </a:bodyPr>
          <a:lstStyle/>
          <a:p>
            <a:pPr>
              <a:lnSpc>
                <a:spcPct val="100000"/>
              </a:lnSpc>
              <a:spcAft>
                <a:spcPts val="300"/>
              </a:spcAft>
            </a:pPr>
            <a:r>
              <a:rPr sz="1200" b="1">
                <a:solidFill>
                  <a:srgbClr val="156082"/>
                </a:solidFill>
                <a:latin typeface="Calibri"/>
              </a:rPr>
              <a:t>✓ </a:t>
            </a:r>
            <a:r>
              <a:rPr sz="1200">
                <a:solidFill>
                  <a:srgbClr val="1E2B36"/>
                </a:solidFill>
                <a:latin typeface="Calibri"/>
              </a:rPr>
              <a:t>list (GET)</a:t>
            </a:r>
          </a:p>
          <a:p>
            <a:pPr>
              <a:lnSpc>
                <a:spcPct val="100000"/>
              </a:lnSpc>
              <a:spcAft>
                <a:spcPts val="300"/>
              </a:spcAft>
            </a:pPr>
            <a:r>
              <a:rPr sz="1200" b="1">
                <a:solidFill>
                  <a:srgbClr val="156082"/>
                </a:solidFill>
                <a:latin typeface="Calibri"/>
              </a:rPr>
              <a:t>✓ </a:t>
            </a:r>
            <a:r>
              <a:rPr sz="1200">
                <a:solidFill>
                  <a:srgbClr val="1E2B36"/>
                </a:solidFill>
                <a:latin typeface="Calibri"/>
              </a:rPr>
              <a:t>retrieve (GET)</a:t>
            </a:r>
          </a:p>
          <a:p>
            <a:pPr>
              <a:lnSpc>
                <a:spcPct val="100000"/>
              </a:lnSpc>
              <a:spcAft>
                <a:spcPts val="300"/>
              </a:spcAft>
            </a:pPr>
            <a:r>
              <a:rPr sz="1200" b="1">
                <a:solidFill>
                  <a:srgbClr val="156082"/>
                </a:solidFill>
                <a:latin typeface="Calibri"/>
              </a:rPr>
              <a:t>✓ </a:t>
            </a:r>
            <a:r>
              <a:rPr sz="1200">
                <a:solidFill>
                  <a:srgbClr val="1E2B36"/>
                </a:solidFill>
                <a:latin typeface="Calibri"/>
              </a:rPr>
              <a:t>registry-backed</a:t>
            </a:r>
          </a:p>
        </p:txBody>
      </p:sp>
      <p:sp>
        <p:nvSpPr>
          <p:cNvPr id="9" name="Rounded Rectangle 8"/>
          <p:cNvSpPr/>
          <p:nvPr/>
        </p:nvSpPr>
        <p:spPr>
          <a:xfrm>
            <a:off x="4344314" y="1645920"/>
            <a:ext cx="3503066" cy="205740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44314" y="1645920"/>
            <a:ext cx="82296" cy="20574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00346" y="1792224"/>
            <a:ext cx="3137306" cy="274320"/>
          </a:xfrm>
          <a:prstGeom prst="rect">
            <a:avLst/>
          </a:prstGeom>
          <a:noFill/>
        </p:spPr>
        <p:txBody>
          <a:bodyPr wrap="square" lIns="0" tIns="0" rIns="0" bIns="0" anchor="t">
            <a:noAutofit/>
          </a:bodyPr>
          <a:lstStyle/>
          <a:p>
            <a:pPr algn="l">
              <a:spcBef>
                <a:spcPts val="0"/>
              </a:spcBef>
              <a:spcAft>
                <a:spcPts val="200"/>
              </a:spcAft>
            </a:pPr>
            <a:r>
              <a:rPr sz="1200" b="1" i="0">
                <a:solidFill>
                  <a:srgbClr val="E97132"/>
                </a:solidFill>
                <a:latin typeface="Calibri"/>
              </a:rPr>
              <a:t>MOVING FEATURES</a:t>
            </a:r>
          </a:p>
        </p:txBody>
      </p:sp>
      <p:sp>
        <p:nvSpPr>
          <p:cNvPr id="12" name="TextBox 11"/>
          <p:cNvSpPr txBox="1"/>
          <p:nvPr/>
        </p:nvSpPr>
        <p:spPr>
          <a:xfrm>
            <a:off x="4600346" y="2148840"/>
            <a:ext cx="3045866" cy="1463040"/>
          </a:xfrm>
          <a:prstGeom prst="rect">
            <a:avLst/>
          </a:prstGeom>
          <a:noFill/>
        </p:spPr>
        <p:txBody>
          <a:bodyPr wrap="square" lIns="0" tIns="0" rIns="0" bIns="0">
            <a:noAutofit/>
          </a:bodyPr>
          <a:lstStyle/>
          <a:p>
            <a:pPr>
              <a:lnSpc>
                <a:spcPct val="100000"/>
              </a:lnSpc>
              <a:spcAft>
                <a:spcPts val="300"/>
              </a:spcAft>
            </a:pPr>
            <a:r>
              <a:rPr sz="1200" b="1">
                <a:solidFill>
                  <a:srgbClr val="E97132"/>
                </a:solidFill>
                <a:latin typeface="Calibri"/>
              </a:rPr>
              <a:t>✓ </a:t>
            </a:r>
            <a:r>
              <a:rPr sz="1200">
                <a:solidFill>
                  <a:srgbClr val="1E2B36"/>
                </a:solidFill>
                <a:latin typeface="Calibri"/>
              </a:rPr>
              <a:t>insert (POST)</a:t>
            </a:r>
          </a:p>
          <a:p>
            <a:pPr>
              <a:lnSpc>
                <a:spcPct val="100000"/>
              </a:lnSpc>
              <a:spcAft>
                <a:spcPts val="300"/>
              </a:spcAft>
            </a:pPr>
            <a:r>
              <a:rPr sz="1200" b="1">
                <a:solidFill>
                  <a:srgbClr val="E97132"/>
                </a:solidFill>
                <a:latin typeface="Calibri"/>
              </a:rPr>
              <a:t>✓ </a:t>
            </a:r>
            <a:r>
              <a:rPr sz="1200">
                <a:solidFill>
                  <a:srgbClr val="1E2B36"/>
                </a:solidFill>
                <a:latin typeface="Calibri"/>
              </a:rPr>
              <a:t>retrieve / stream</a:t>
            </a:r>
          </a:p>
          <a:p>
            <a:pPr>
              <a:lnSpc>
                <a:spcPct val="100000"/>
              </a:lnSpc>
              <a:spcAft>
                <a:spcPts val="300"/>
              </a:spcAft>
            </a:pPr>
            <a:r>
              <a:rPr sz="1200" b="1">
                <a:solidFill>
                  <a:srgbClr val="E97132"/>
                </a:solidFill>
                <a:latin typeface="Calibri"/>
              </a:rPr>
              <a:t>✓ </a:t>
            </a:r>
            <a:r>
              <a:rPr sz="1200">
                <a:solidFill>
                  <a:srgbClr val="1E2B36"/>
                </a:solidFill>
                <a:latin typeface="Calibri"/>
              </a:rPr>
              <a:t>delete (DELETE)</a:t>
            </a:r>
          </a:p>
          <a:p>
            <a:pPr>
              <a:lnSpc>
                <a:spcPct val="100000"/>
              </a:lnSpc>
              <a:spcAft>
                <a:spcPts val="300"/>
              </a:spcAft>
            </a:pPr>
            <a:r>
              <a:rPr sz="1200" b="1">
                <a:solidFill>
                  <a:srgbClr val="E97132"/>
                </a:solidFill>
                <a:latin typeface="Calibri"/>
              </a:rPr>
              <a:t>✓ </a:t>
            </a:r>
            <a:r>
              <a:rPr sz="1200">
                <a:solidFill>
                  <a:srgbClr val="1E2B36"/>
                </a:solidFill>
                <a:latin typeface="Calibri"/>
              </a:rPr>
              <a:t>keyset paging</a:t>
            </a:r>
          </a:p>
        </p:txBody>
      </p:sp>
      <p:sp>
        <p:nvSpPr>
          <p:cNvPr id="13" name="Rounded Rectangle 12"/>
          <p:cNvSpPr/>
          <p:nvPr/>
        </p:nvSpPr>
        <p:spPr>
          <a:xfrm>
            <a:off x="8121700" y="1645920"/>
            <a:ext cx="3503066" cy="205740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121700" y="1645920"/>
            <a:ext cx="82296" cy="2057400"/>
          </a:xfrm>
          <a:prstGeom prst="rect">
            <a:avLst/>
          </a:prstGeom>
          <a:solidFill>
            <a:srgbClr val="196B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377732" y="1792224"/>
            <a:ext cx="3137306" cy="274320"/>
          </a:xfrm>
          <a:prstGeom prst="rect">
            <a:avLst/>
          </a:prstGeom>
          <a:noFill/>
        </p:spPr>
        <p:txBody>
          <a:bodyPr wrap="square" lIns="0" tIns="0" rIns="0" bIns="0" anchor="t">
            <a:noAutofit/>
          </a:bodyPr>
          <a:lstStyle/>
          <a:p>
            <a:pPr algn="l">
              <a:spcBef>
                <a:spcPts val="0"/>
              </a:spcBef>
              <a:spcAft>
                <a:spcPts val="200"/>
              </a:spcAft>
            </a:pPr>
            <a:r>
              <a:rPr sz="1200" b="1" i="0">
                <a:solidFill>
                  <a:srgbClr val="196B24"/>
                </a:solidFill>
                <a:latin typeface="Calibri"/>
              </a:rPr>
              <a:t>QUERYING</a:t>
            </a:r>
          </a:p>
        </p:txBody>
      </p:sp>
      <p:sp>
        <p:nvSpPr>
          <p:cNvPr id="16" name="TextBox 15"/>
          <p:cNvSpPr txBox="1"/>
          <p:nvPr/>
        </p:nvSpPr>
        <p:spPr>
          <a:xfrm>
            <a:off x="8377732" y="2148840"/>
            <a:ext cx="3045866" cy="1463040"/>
          </a:xfrm>
          <a:prstGeom prst="rect">
            <a:avLst/>
          </a:prstGeom>
          <a:noFill/>
        </p:spPr>
        <p:txBody>
          <a:bodyPr wrap="square" lIns="0" tIns="0" rIns="0" bIns="0">
            <a:noAutofit/>
          </a:bodyPr>
          <a:lstStyle/>
          <a:p>
            <a:pPr>
              <a:lnSpc>
                <a:spcPct val="100000"/>
              </a:lnSpc>
              <a:spcAft>
                <a:spcPts val="300"/>
              </a:spcAft>
            </a:pPr>
            <a:r>
              <a:rPr sz="1200" b="1">
                <a:solidFill>
                  <a:srgbClr val="196B24"/>
                </a:solidFill>
                <a:latin typeface="Calibri"/>
              </a:rPr>
              <a:t>✓ </a:t>
            </a:r>
            <a:r>
              <a:rPr sz="1200">
                <a:solidFill>
                  <a:srgbClr val="1E2B36"/>
                </a:solidFill>
                <a:latin typeface="Calibri"/>
              </a:rPr>
              <a:t>bbox spatial filter</a:t>
            </a:r>
          </a:p>
          <a:p>
            <a:pPr>
              <a:lnSpc>
                <a:spcPct val="100000"/>
              </a:lnSpc>
              <a:spcAft>
                <a:spcPts val="300"/>
              </a:spcAft>
            </a:pPr>
            <a:r>
              <a:rPr sz="1200" b="1">
                <a:solidFill>
                  <a:srgbClr val="196B24"/>
                </a:solidFill>
                <a:latin typeface="Calibri"/>
              </a:rPr>
              <a:t>✓ </a:t>
            </a:r>
            <a:r>
              <a:rPr sz="1200">
                <a:solidFill>
                  <a:srgbClr val="1E2B36"/>
                </a:solidFill>
                <a:latin typeface="Calibri"/>
              </a:rPr>
              <a:t>datetime interval / instant</a:t>
            </a:r>
          </a:p>
          <a:p>
            <a:pPr>
              <a:lnSpc>
                <a:spcPct val="100000"/>
              </a:lnSpc>
              <a:spcAft>
                <a:spcPts val="300"/>
              </a:spcAft>
            </a:pPr>
            <a:r>
              <a:rPr sz="1200" b="1">
                <a:solidFill>
                  <a:srgbClr val="196B24"/>
                </a:solidFill>
                <a:latin typeface="Calibri"/>
              </a:rPr>
              <a:t>✓ </a:t>
            </a:r>
            <a:r>
              <a:rPr sz="1200">
                <a:solidFill>
                  <a:srgbClr val="1E2B36"/>
                </a:solidFill>
                <a:latin typeface="Calibri"/>
              </a:rPr>
              <a:t>subtrajectory clipping</a:t>
            </a:r>
          </a:p>
          <a:p>
            <a:pPr>
              <a:lnSpc>
                <a:spcPct val="100000"/>
              </a:lnSpc>
              <a:spcAft>
                <a:spcPts val="300"/>
              </a:spcAft>
            </a:pPr>
            <a:r>
              <a:rPr sz="1200" b="1">
                <a:solidFill>
                  <a:srgbClr val="196B24"/>
                </a:solidFill>
                <a:latin typeface="Calibri"/>
              </a:rPr>
              <a:t>✓ </a:t>
            </a:r>
            <a:r>
              <a:rPr sz="1200">
                <a:solidFill>
                  <a:srgbClr val="1E2B36"/>
                </a:solidFill>
                <a:latin typeface="Calibri"/>
              </a:rPr>
              <a:t>leaf selector</a:t>
            </a:r>
          </a:p>
        </p:txBody>
      </p:sp>
      <p:sp>
        <p:nvSpPr>
          <p:cNvPr id="17" name="Rounded Rectangle 16"/>
          <p:cNvSpPr/>
          <p:nvPr/>
        </p:nvSpPr>
        <p:spPr>
          <a:xfrm>
            <a:off x="566928" y="3886200"/>
            <a:ext cx="3503066" cy="205740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66928" y="3886200"/>
            <a:ext cx="82296" cy="2057400"/>
          </a:xfrm>
          <a:prstGeom prst="rect">
            <a:avLst/>
          </a:prstGeom>
          <a:solidFill>
            <a:srgbClr val="A02B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22960" y="4032504"/>
            <a:ext cx="3137306" cy="274320"/>
          </a:xfrm>
          <a:prstGeom prst="rect">
            <a:avLst/>
          </a:prstGeom>
          <a:noFill/>
        </p:spPr>
        <p:txBody>
          <a:bodyPr wrap="square" lIns="0" tIns="0" rIns="0" bIns="0" anchor="t">
            <a:noAutofit/>
          </a:bodyPr>
          <a:lstStyle/>
          <a:p>
            <a:pPr algn="l">
              <a:spcBef>
                <a:spcPts val="0"/>
              </a:spcBef>
              <a:spcAft>
                <a:spcPts val="200"/>
              </a:spcAft>
            </a:pPr>
            <a:r>
              <a:rPr sz="1200" b="1" i="0">
                <a:solidFill>
                  <a:srgbClr val="A02B93"/>
                </a:solidFill>
                <a:latin typeface="Calibri"/>
              </a:rPr>
              <a:t>TEMPORAL GEOMETRY</a:t>
            </a:r>
          </a:p>
        </p:txBody>
      </p:sp>
      <p:sp>
        <p:nvSpPr>
          <p:cNvPr id="20" name="TextBox 19"/>
          <p:cNvSpPr txBox="1"/>
          <p:nvPr/>
        </p:nvSpPr>
        <p:spPr>
          <a:xfrm>
            <a:off x="822960" y="4389120"/>
            <a:ext cx="3045866" cy="1463040"/>
          </a:xfrm>
          <a:prstGeom prst="rect">
            <a:avLst/>
          </a:prstGeom>
          <a:noFill/>
        </p:spPr>
        <p:txBody>
          <a:bodyPr wrap="square" lIns="0" tIns="0" rIns="0" bIns="0">
            <a:noAutofit/>
          </a:bodyPr>
          <a:lstStyle/>
          <a:p>
            <a:pPr>
              <a:lnSpc>
                <a:spcPct val="100000"/>
              </a:lnSpc>
              <a:spcAft>
                <a:spcPts val="300"/>
              </a:spcAft>
            </a:pPr>
            <a:r>
              <a:rPr sz="1200" b="1">
                <a:solidFill>
                  <a:srgbClr val="A02B93"/>
                </a:solidFill>
                <a:latin typeface="Calibri"/>
              </a:rPr>
              <a:t>✓ </a:t>
            </a:r>
            <a:r>
              <a:rPr sz="1200">
                <a:solidFill>
                  <a:srgbClr val="1E2B36"/>
                </a:solidFill>
                <a:latin typeface="Calibri"/>
              </a:rPr>
              <a:t>get sequence (GET)</a:t>
            </a:r>
          </a:p>
          <a:p>
            <a:pPr>
              <a:lnSpc>
                <a:spcPct val="100000"/>
              </a:lnSpc>
              <a:spcAft>
                <a:spcPts val="300"/>
              </a:spcAft>
            </a:pPr>
            <a:r>
              <a:rPr sz="1200" b="1">
                <a:solidFill>
                  <a:srgbClr val="A02B93"/>
                </a:solidFill>
                <a:latin typeface="Calibri"/>
              </a:rPr>
              <a:t>✓ </a:t>
            </a:r>
            <a:r>
              <a:rPr sz="1200">
                <a:solidFill>
                  <a:srgbClr val="1E2B36"/>
                </a:solidFill>
                <a:latin typeface="Calibri"/>
              </a:rPr>
              <a:t>append sub-trajectory (POST)</a:t>
            </a:r>
          </a:p>
          <a:p>
            <a:pPr>
              <a:lnSpc>
                <a:spcPct val="100000"/>
              </a:lnSpc>
              <a:spcAft>
                <a:spcPts val="300"/>
              </a:spcAft>
            </a:pPr>
            <a:r>
              <a:rPr sz="1200" b="1">
                <a:solidFill>
                  <a:srgbClr val="A02B93"/>
                </a:solidFill>
                <a:latin typeface="Calibri"/>
              </a:rPr>
              <a:t>✓ </a:t>
            </a:r>
            <a:r>
              <a:rPr sz="1200">
                <a:solidFill>
                  <a:srgbClr val="1E2B36"/>
                </a:solidFill>
                <a:latin typeface="Calibri"/>
              </a:rPr>
              <a:t>datetime / leaf clip</a:t>
            </a:r>
          </a:p>
          <a:p>
            <a:pPr>
              <a:lnSpc>
                <a:spcPct val="100000"/>
              </a:lnSpc>
              <a:spcAft>
                <a:spcPts val="300"/>
              </a:spcAft>
            </a:pPr>
            <a:r>
              <a:rPr sz="1200" b="1">
                <a:solidFill>
                  <a:srgbClr val="A02B93"/>
                </a:solidFill>
                <a:latin typeface="Calibri"/>
              </a:rPr>
              <a:t>✓ </a:t>
            </a:r>
            <a:r>
              <a:rPr sz="1200">
                <a:solidFill>
                  <a:srgbClr val="1E2B36"/>
                </a:solidFill>
                <a:latin typeface="Calibri"/>
              </a:rPr>
              <a:t>member delete (DELETE)</a:t>
            </a:r>
          </a:p>
        </p:txBody>
      </p:sp>
      <p:sp>
        <p:nvSpPr>
          <p:cNvPr id="21" name="Rounded Rectangle 20"/>
          <p:cNvSpPr/>
          <p:nvPr/>
        </p:nvSpPr>
        <p:spPr>
          <a:xfrm>
            <a:off x="4344314" y="3886200"/>
            <a:ext cx="3503066" cy="205740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344314" y="3886200"/>
            <a:ext cx="82296" cy="205740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600346" y="4032504"/>
            <a:ext cx="3137306"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DERIVED MEASURES</a:t>
            </a:r>
          </a:p>
        </p:txBody>
      </p:sp>
      <p:sp>
        <p:nvSpPr>
          <p:cNvPr id="24" name="TextBox 23"/>
          <p:cNvSpPr txBox="1"/>
          <p:nvPr/>
        </p:nvSpPr>
        <p:spPr>
          <a:xfrm>
            <a:off x="4600346" y="4389120"/>
            <a:ext cx="3045866" cy="1463040"/>
          </a:xfrm>
          <a:prstGeom prst="rect">
            <a:avLst/>
          </a:prstGeom>
          <a:noFill/>
        </p:spPr>
        <p:txBody>
          <a:bodyPr wrap="square" lIns="0" tIns="0" rIns="0" bIns="0">
            <a:noAutofit/>
          </a:bodyPr>
          <a:lstStyle/>
          <a:p>
            <a:pPr>
              <a:lnSpc>
                <a:spcPct val="100000"/>
              </a:lnSpc>
              <a:spcAft>
                <a:spcPts val="300"/>
              </a:spcAft>
            </a:pPr>
            <a:r>
              <a:rPr sz="1200" b="1">
                <a:solidFill>
                  <a:srgbClr val="156082"/>
                </a:solidFill>
                <a:latin typeface="Calibri"/>
              </a:rPr>
              <a:t>✓ </a:t>
            </a:r>
            <a:r>
              <a:rPr sz="1200">
                <a:solidFill>
                  <a:srgbClr val="1E2B36"/>
                </a:solidFill>
                <a:latin typeface="Calibri"/>
              </a:rPr>
              <a:t>distance</a:t>
            </a:r>
          </a:p>
          <a:p>
            <a:pPr>
              <a:lnSpc>
                <a:spcPct val="100000"/>
              </a:lnSpc>
              <a:spcAft>
                <a:spcPts val="300"/>
              </a:spcAft>
            </a:pPr>
            <a:r>
              <a:rPr sz="1200" b="1">
                <a:solidFill>
                  <a:srgbClr val="156082"/>
                </a:solidFill>
                <a:latin typeface="Calibri"/>
              </a:rPr>
              <a:t>✓ </a:t>
            </a:r>
            <a:r>
              <a:rPr sz="1200">
                <a:solidFill>
                  <a:srgbClr val="1E2B36"/>
                </a:solidFill>
                <a:latin typeface="Calibri"/>
              </a:rPr>
              <a:t>velocity</a:t>
            </a:r>
          </a:p>
          <a:p>
            <a:pPr>
              <a:lnSpc>
                <a:spcPct val="100000"/>
              </a:lnSpc>
              <a:spcAft>
                <a:spcPts val="300"/>
              </a:spcAft>
            </a:pPr>
            <a:r>
              <a:rPr sz="1200" b="1">
                <a:solidFill>
                  <a:srgbClr val="156082"/>
                </a:solidFill>
                <a:latin typeface="Calibri"/>
              </a:rPr>
              <a:t>✓ </a:t>
            </a:r>
            <a:r>
              <a:rPr sz="1200">
                <a:solidFill>
                  <a:srgbClr val="1E2B36"/>
                </a:solidFill>
                <a:latin typeface="Calibri"/>
              </a:rPr>
              <a:t>acceleration → 501 (not derivable)</a:t>
            </a:r>
          </a:p>
          <a:p>
            <a:pPr>
              <a:lnSpc>
                <a:spcPct val="100000"/>
              </a:lnSpc>
              <a:spcAft>
                <a:spcPts val="300"/>
              </a:spcAft>
            </a:pPr>
            <a:r>
              <a:rPr sz="1200" b="1">
                <a:solidFill>
                  <a:srgbClr val="156082"/>
                </a:solidFill>
                <a:latin typeface="Calibri"/>
              </a:rPr>
              <a:t>✓ </a:t>
            </a:r>
            <a:r>
              <a:rPr sz="1200">
                <a:solidFill>
                  <a:srgbClr val="1E2B36"/>
                </a:solidFill>
                <a:latin typeface="Calibri"/>
              </a:rPr>
              <a:t>exact, as TReal</a:t>
            </a:r>
          </a:p>
        </p:txBody>
      </p:sp>
      <p:sp>
        <p:nvSpPr>
          <p:cNvPr id="25" name="Rounded Rectangle 24"/>
          <p:cNvSpPr/>
          <p:nvPr/>
        </p:nvSpPr>
        <p:spPr>
          <a:xfrm>
            <a:off x="8121700" y="3886200"/>
            <a:ext cx="3503066" cy="2057400"/>
          </a:xfrm>
          <a:prstGeom prst="roundRect">
            <a:avLst>
              <a:gd name="adj" fmla="val 4000"/>
            </a:avLst>
          </a:prstGeom>
          <a:solidFill>
            <a:srgbClr val="F1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121700" y="3886200"/>
            <a:ext cx="82296" cy="2057400"/>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77732" y="4032504"/>
            <a:ext cx="3137306" cy="274320"/>
          </a:xfrm>
          <a:prstGeom prst="rect">
            <a:avLst/>
          </a:prstGeom>
          <a:noFill/>
        </p:spPr>
        <p:txBody>
          <a:bodyPr wrap="square" lIns="0" tIns="0" rIns="0" bIns="0" anchor="t">
            <a:noAutofit/>
          </a:bodyPr>
          <a:lstStyle/>
          <a:p>
            <a:pPr algn="l">
              <a:spcBef>
                <a:spcPts val="0"/>
              </a:spcBef>
              <a:spcAft>
                <a:spcPts val="200"/>
              </a:spcAft>
            </a:pPr>
            <a:r>
              <a:rPr sz="1200" b="1" i="0">
                <a:solidFill>
                  <a:srgbClr val="E97132"/>
                </a:solidFill>
                <a:latin typeface="Calibri"/>
              </a:rPr>
              <a:t>CONFORMANCE &amp; SCALE</a:t>
            </a:r>
          </a:p>
        </p:txBody>
      </p:sp>
      <p:sp>
        <p:nvSpPr>
          <p:cNvPr id="28" name="TextBox 27"/>
          <p:cNvSpPr txBox="1"/>
          <p:nvPr/>
        </p:nvSpPr>
        <p:spPr>
          <a:xfrm>
            <a:off x="8377732" y="4389120"/>
            <a:ext cx="3045866" cy="1463040"/>
          </a:xfrm>
          <a:prstGeom prst="rect">
            <a:avLst/>
          </a:prstGeom>
          <a:noFill/>
        </p:spPr>
        <p:txBody>
          <a:bodyPr wrap="square" lIns="0" tIns="0" rIns="0" bIns="0">
            <a:noAutofit/>
          </a:bodyPr>
          <a:lstStyle/>
          <a:p>
            <a:pPr>
              <a:lnSpc>
                <a:spcPct val="100000"/>
              </a:lnSpc>
              <a:spcAft>
                <a:spcPts val="300"/>
              </a:spcAft>
            </a:pPr>
            <a:r>
              <a:rPr sz="1200" b="1">
                <a:solidFill>
                  <a:srgbClr val="E97132"/>
                </a:solidFill>
                <a:latin typeface="Calibri"/>
              </a:rPr>
              <a:t>✓ </a:t>
            </a:r>
            <a:r>
              <a:rPr sz="1200">
                <a:solidFill>
                  <a:srgbClr val="1E2B36"/>
                </a:solidFill>
                <a:latin typeface="Calibri"/>
              </a:rPr>
              <a:t>5 conformance classes</a:t>
            </a:r>
          </a:p>
          <a:p>
            <a:pPr>
              <a:lnSpc>
                <a:spcPct val="100000"/>
              </a:lnSpc>
              <a:spcAft>
                <a:spcPts val="300"/>
              </a:spcAft>
            </a:pPr>
            <a:r>
              <a:rPr sz="1200" b="1">
                <a:solidFill>
                  <a:srgbClr val="E97132"/>
                </a:solidFill>
                <a:latin typeface="Calibri"/>
              </a:rPr>
              <a:t>✓ </a:t>
            </a:r>
            <a:r>
              <a:rPr sz="1200">
                <a:solidFill>
                  <a:srgbClr val="1E2B36"/>
                </a:solidFill>
                <a:latin typeface="Calibri"/>
              </a:rPr>
              <a:t>OpenAPI at /api</a:t>
            </a:r>
          </a:p>
          <a:p>
            <a:pPr>
              <a:lnSpc>
                <a:spcPct val="100000"/>
              </a:lnSpc>
              <a:spcAft>
                <a:spcPts val="300"/>
              </a:spcAft>
            </a:pPr>
            <a:r>
              <a:rPr sz="1200" b="1">
                <a:solidFill>
                  <a:srgbClr val="E97132"/>
                </a:solidFill>
                <a:latin typeface="Calibri"/>
              </a:rPr>
              <a:t>✓ </a:t>
            </a:r>
            <a:r>
              <a:rPr sz="1200">
                <a:solidFill>
                  <a:srgbClr val="1E2B36"/>
                </a:solidFill>
                <a:latin typeface="Calibri"/>
              </a:rPr>
              <a:t>streaming + keyset</a:t>
            </a:r>
          </a:p>
          <a:p>
            <a:pPr>
              <a:lnSpc>
                <a:spcPct val="100000"/>
              </a:lnSpc>
              <a:spcAft>
                <a:spcPts val="300"/>
              </a:spcAft>
            </a:pPr>
            <a:r>
              <a:rPr sz="1200" b="1">
                <a:solidFill>
                  <a:srgbClr val="E97132"/>
                </a:solidFill>
                <a:latin typeface="Calibri"/>
              </a:rPr>
              <a:t>✓ </a:t>
            </a:r>
            <a:r>
              <a:rPr sz="1200">
                <a:solidFill>
                  <a:srgbClr val="1E2B36"/>
                </a:solidFill>
                <a:latin typeface="Calibri"/>
              </a:rPr>
              <a:t>index-using filters</a:t>
            </a:r>
          </a:p>
        </p:txBody>
      </p:sp>
      <p:sp>
        <p:nvSpPr>
          <p:cNvPr id="29" name="Rectangle 28"/>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31" name="TextBox 30"/>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31</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E2841"/>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46304"/>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6711696"/>
            <a:ext cx="12191695" cy="146304"/>
          </a:xfrm>
          <a:prstGeom prst="rect">
            <a:avLst/>
          </a:prstGeom>
          <a:solidFill>
            <a:srgbClr val="E9713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66928" y="2468880"/>
            <a:ext cx="10058400" cy="914400"/>
          </a:xfrm>
          <a:prstGeom prst="rect">
            <a:avLst/>
          </a:prstGeom>
          <a:noFill/>
        </p:spPr>
        <p:txBody>
          <a:bodyPr wrap="square" lIns="0" tIns="0" rIns="0" bIns="0" anchor="t">
            <a:noAutofit/>
          </a:bodyPr>
          <a:lstStyle/>
          <a:p>
            <a:pPr algn="l">
              <a:spcBef>
                <a:spcPts val="0"/>
              </a:spcBef>
              <a:spcAft>
                <a:spcPts val="200"/>
              </a:spcAft>
            </a:pPr>
            <a:r>
              <a:rPr sz="4400" b="1" i="0">
                <a:solidFill>
                  <a:srgbClr val="FFFFFF"/>
                </a:solidFill>
                <a:latin typeface="Calibri Light"/>
              </a:rPr>
              <a:t>Thanks for Listening</a:t>
            </a:r>
          </a:p>
        </p:txBody>
      </p:sp>
      <p:sp>
        <p:nvSpPr>
          <p:cNvPr id="5" name="TextBox 4"/>
          <p:cNvSpPr txBox="1"/>
          <p:nvPr/>
        </p:nvSpPr>
        <p:spPr>
          <a:xfrm>
            <a:off x="566928" y="3566160"/>
            <a:ext cx="10058400" cy="548640"/>
          </a:xfrm>
          <a:prstGeom prst="rect">
            <a:avLst/>
          </a:prstGeom>
          <a:noFill/>
        </p:spPr>
        <p:txBody>
          <a:bodyPr wrap="square" lIns="0" tIns="0" rIns="0" bIns="0" anchor="t">
            <a:noAutofit/>
          </a:bodyPr>
          <a:lstStyle/>
          <a:p>
            <a:pPr algn="l">
              <a:spcBef>
                <a:spcPts val="0"/>
              </a:spcBef>
              <a:spcAft>
                <a:spcPts val="200"/>
              </a:spcAft>
            </a:pPr>
            <a:r>
              <a:rPr sz="2400" b="1" i="0">
                <a:solidFill>
                  <a:srgbClr val="E97132"/>
                </a:solidFill>
                <a:latin typeface="Calibri"/>
              </a:rPr>
              <a:t>Questions?</a:t>
            </a:r>
          </a:p>
        </p:txBody>
      </p:sp>
      <p:pic>
        <p:nvPicPr>
          <p:cNvPr id="6" name="Picture 5" descr="mobilitydb-logo.png"/>
          <p:cNvPicPr>
            <a:picLocks noChangeAspect="1"/>
          </p:cNvPicPr>
          <p:nvPr/>
        </p:nvPicPr>
        <p:blipFill>
          <a:blip r:embed="rId3"/>
          <a:stretch>
            <a:fillRect/>
          </a:stretch>
        </p:blipFill>
        <p:spPr>
          <a:xfrm>
            <a:off x="10070970" y="4297680"/>
            <a:ext cx="1633349" cy="1737360"/>
          </a:xfrm>
          <a:prstGeom prst="rect">
            <a:avLst/>
          </a:prstGeom>
        </p:spPr>
      </p:pic>
      <p:sp>
        <p:nvSpPr>
          <p:cNvPr id="7" name="TextBox 6"/>
          <p:cNvSpPr txBox="1"/>
          <p:nvPr/>
        </p:nvSpPr>
        <p:spPr>
          <a:xfrm>
            <a:off x="10908792" y="6510528"/>
            <a:ext cx="731520" cy="274320"/>
          </a:xfrm>
          <a:prstGeom prst="rect">
            <a:avLst/>
          </a:prstGeom>
          <a:noFill/>
        </p:spPr>
        <p:txBody>
          <a:bodyPr wrap="none">
            <a:spAutoFit/>
          </a:bodyPr>
          <a:lstStyle/>
          <a:p>
            <a:pPr algn="r"/>
            <a:r>
              <a:rPr sz="1200">
                <a:solidFill>
                  <a:srgbClr val="5B6B78"/>
                </a:solidFill>
              </a:rPr>
              <a:t>32</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66928" y="365760"/>
            <a:ext cx="11057839" cy="274320"/>
          </a:xfrm>
          <a:prstGeom prst="rect">
            <a:avLst/>
          </a:prstGeom>
          <a:noFill/>
        </p:spPr>
        <p:txBody>
          <a:bodyPr wrap="square" lIns="0" tIns="0" rIns="0" bIns="0" anchor="t">
            <a:noAutofit/>
          </a:bodyPr>
          <a:lstStyle/>
          <a:p>
            <a:pPr algn="l">
              <a:spcBef>
                <a:spcPts val="0"/>
              </a:spcBef>
              <a:spcAft>
                <a:spcPts val="200"/>
              </a:spcAft>
            </a:pPr>
            <a:r>
              <a:rPr sz="1200" b="1" i="0">
                <a:solidFill>
                  <a:srgbClr val="156082"/>
                </a:solidFill>
                <a:latin typeface="Calibri"/>
              </a:rPr>
              <a:t>REFERENCES</a:t>
            </a:r>
          </a:p>
        </p:txBody>
      </p:sp>
      <p:sp>
        <p:nvSpPr>
          <p:cNvPr id="3" name="TextBox 2"/>
          <p:cNvSpPr txBox="1"/>
          <p:nvPr/>
        </p:nvSpPr>
        <p:spPr>
          <a:xfrm>
            <a:off x="566928" y="603504"/>
            <a:ext cx="11057839" cy="777240"/>
          </a:xfrm>
          <a:prstGeom prst="rect">
            <a:avLst/>
          </a:prstGeom>
          <a:noFill/>
        </p:spPr>
        <p:txBody>
          <a:bodyPr wrap="square" lIns="0" tIns="0" rIns="0" bIns="0" anchor="t">
            <a:noAutofit/>
          </a:bodyPr>
          <a:lstStyle/>
          <a:p>
            <a:pPr algn="l">
              <a:spcBef>
                <a:spcPts val="0"/>
              </a:spcBef>
              <a:spcAft>
                <a:spcPts val="200"/>
              </a:spcAft>
            </a:pPr>
            <a:r>
              <a:rPr sz="3200" b="1" i="0">
                <a:solidFill>
                  <a:srgbClr val="0E2841"/>
                </a:solidFill>
                <a:latin typeface="Calibri Light"/>
              </a:rPr>
              <a:t>Find Out More</a:t>
            </a:r>
          </a:p>
        </p:txBody>
      </p:sp>
      <p:sp>
        <p:nvSpPr>
          <p:cNvPr id="4" name="Rectangle 3"/>
          <p:cNvSpPr/>
          <p:nvPr/>
        </p:nvSpPr>
        <p:spPr>
          <a:xfrm>
            <a:off x="566928" y="1159888"/>
            <a:ext cx="1554480" cy="45720"/>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1554480"/>
            <a:ext cx="164592" cy="16459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566928" y="5833872"/>
            <a:ext cx="164592" cy="16459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32688" y="1481328"/>
            <a:ext cx="8686800" cy="320040"/>
          </a:xfrm>
          <a:prstGeom prst="rect">
            <a:avLst/>
          </a:prstGeom>
          <a:noFill/>
        </p:spPr>
        <p:txBody>
          <a:bodyPr wrap="square" lIns="0" tIns="0" rIns="0" bIns="0" anchor="t">
            <a:noAutofit/>
          </a:bodyPr>
          <a:lstStyle/>
          <a:p>
            <a:pPr algn="l">
              <a:spcBef>
                <a:spcPts val="0"/>
              </a:spcBef>
              <a:spcAft>
                <a:spcPts val="200"/>
              </a:spcAft>
            </a:pPr>
            <a:r>
              <a:rPr sz="1400" b="1" i="0">
                <a:solidFill>
                  <a:srgbClr val="0E2841"/>
                </a:solidFill>
                <a:latin typeface="Calibri"/>
              </a:rPr>
              <a:t>OGC API – Moving Features – Part 1: Core</a:t>
            </a:r>
          </a:p>
        </p:txBody>
      </p:sp>
      <p:sp>
        <p:nvSpPr>
          <p:cNvPr id="7" name="TextBox 6"/>
          <p:cNvSpPr txBox="1"/>
          <p:nvPr/>
        </p:nvSpPr>
        <p:spPr>
          <a:xfrm>
            <a:off x="932688" y="1792224"/>
            <a:ext cx="10515600" cy="292608"/>
          </a:xfrm>
          <a:prstGeom prst="rect">
            <a:avLst/>
          </a:prstGeom>
          <a:noFill/>
        </p:spPr>
        <p:txBody>
          <a:bodyPr wrap="none" lIns="0" tIns="0" rIns="0" bIns="0">
            <a:noAutofit/>
          </a:bodyPr>
          <a:lstStyle/>
          <a:p>
            <a:pPr algn="l"/>
            <a:r>
              <a:rPr sz="1200" u="none">
                <a:solidFill>
                  <a:srgbClr val="156082"/>
                </a:solidFill>
                <a:latin typeface="Consolas"/>
                <a:hlinkClick r:id="rId2"/>
              </a:rPr>
              <a:t>https://docs.ogc.org/is/22-003r3/22-003r3.html</a:t>
            </a:r>
          </a:p>
        </p:txBody>
      </p:sp>
      <p:sp>
        <p:nvSpPr>
          <p:cNvPr id="8" name="Rectangle 7"/>
          <p:cNvSpPr/>
          <p:nvPr/>
        </p:nvSpPr>
        <p:spPr>
          <a:xfrm>
            <a:off x="566928" y="2267712"/>
            <a:ext cx="164592" cy="16459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32688" y="2194560"/>
            <a:ext cx="8686800" cy="320040"/>
          </a:xfrm>
          <a:prstGeom prst="rect">
            <a:avLst/>
          </a:prstGeom>
          <a:noFill/>
        </p:spPr>
        <p:txBody>
          <a:bodyPr wrap="square" lIns="0" tIns="0" rIns="0" bIns="0" anchor="t">
            <a:noAutofit/>
          </a:bodyPr>
          <a:lstStyle/>
          <a:p>
            <a:pPr algn="l">
              <a:spcBef>
                <a:spcPts val="0"/>
              </a:spcBef>
              <a:spcAft>
                <a:spcPts val="200"/>
              </a:spcAft>
            </a:pPr>
            <a:r>
              <a:rPr sz="1400" b="1" i="0">
                <a:solidFill>
                  <a:srgbClr val="0E2841"/>
                </a:solidFill>
                <a:latin typeface="Calibri"/>
              </a:rPr>
              <a:t>MobilityDB</a:t>
            </a:r>
          </a:p>
        </p:txBody>
      </p:sp>
      <p:sp>
        <p:nvSpPr>
          <p:cNvPr id="10" name="TextBox 9"/>
          <p:cNvSpPr txBox="1"/>
          <p:nvPr/>
        </p:nvSpPr>
        <p:spPr>
          <a:xfrm>
            <a:off x="932688" y="2505456"/>
            <a:ext cx="10515600" cy="292608"/>
          </a:xfrm>
          <a:prstGeom prst="rect">
            <a:avLst/>
          </a:prstGeom>
          <a:noFill/>
        </p:spPr>
        <p:txBody>
          <a:bodyPr wrap="none" lIns="0" tIns="0" rIns="0" bIns="0">
            <a:noAutofit/>
          </a:bodyPr>
          <a:lstStyle/>
          <a:p>
            <a:pPr algn="l"/>
            <a:r>
              <a:rPr sz="1200" u="none">
                <a:solidFill>
                  <a:srgbClr val="156082"/>
                </a:solidFill>
                <a:latin typeface="Consolas"/>
                <a:hlinkClick r:id="rId3"/>
              </a:rPr>
              <a:t>https://github.com/MobilityDB/MobilityDB</a:t>
            </a:r>
            <a:r>
              <a:rPr sz="1200">
                <a:solidFill>
                  <a:srgbClr val="5B6B78"/>
                </a:solidFill>
                <a:latin typeface="Consolas"/>
              </a:rPr>
              <a:t>    ·    </a:t>
            </a:r>
            <a:r>
              <a:rPr sz="1200" u="none">
                <a:solidFill>
                  <a:srgbClr val="156082"/>
                </a:solidFill>
                <a:latin typeface="Consolas"/>
                <a:hlinkClick r:id="rId4"/>
              </a:rPr>
              <a:t>https://mobilitydb.com</a:t>
            </a:r>
          </a:p>
        </p:txBody>
      </p:sp>
      <p:sp>
        <p:nvSpPr>
          <p:cNvPr id="11" name="Rectangle 10"/>
          <p:cNvSpPr/>
          <p:nvPr/>
        </p:nvSpPr>
        <p:spPr>
          <a:xfrm>
            <a:off x="566928" y="2980944"/>
            <a:ext cx="164592" cy="16459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32688" y="2907792"/>
            <a:ext cx="8686800" cy="320040"/>
          </a:xfrm>
          <a:prstGeom prst="rect">
            <a:avLst/>
          </a:prstGeom>
          <a:noFill/>
        </p:spPr>
        <p:txBody>
          <a:bodyPr wrap="square" lIns="0" tIns="0" rIns="0" bIns="0" anchor="t">
            <a:noAutofit/>
          </a:bodyPr>
          <a:lstStyle/>
          <a:p>
            <a:pPr algn="l">
              <a:spcBef>
                <a:spcPts val="0"/>
              </a:spcBef>
              <a:spcAft>
                <a:spcPts val="200"/>
              </a:spcAft>
            </a:pPr>
            <a:r>
              <a:rPr sz="1400" b="1" i="0">
                <a:solidFill>
                  <a:srgbClr val="0E2841"/>
                </a:solidFill>
                <a:latin typeface="Calibri"/>
              </a:rPr>
              <a:t>MEOS / ecosystem overview</a:t>
            </a:r>
          </a:p>
        </p:txBody>
      </p:sp>
      <p:sp>
        <p:nvSpPr>
          <p:cNvPr id="13" name="TextBox 12"/>
          <p:cNvSpPr txBox="1"/>
          <p:nvPr/>
        </p:nvSpPr>
        <p:spPr>
          <a:xfrm>
            <a:off x="932688" y="3218688"/>
            <a:ext cx="10515600" cy="292608"/>
          </a:xfrm>
          <a:prstGeom prst="rect">
            <a:avLst/>
          </a:prstGeom>
          <a:noFill/>
        </p:spPr>
        <p:txBody>
          <a:bodyPr wrap="none" lIns="0" tIns="0" rIns="0" bIns="0">
            <a:noAutofit/>
          </a:bodyPr>
          <a:lstStyle/>
          <a:p>
            <a:pPr algn="l"/>
            <a:r>
              <a:rPr sz="1200" u="none">
                <a:solidFill>
                  <a:srgbClr val="156082"/>
                </a:solidFill>
                <a:latin typeface="Consolas"/>
                <a:hlinkClick r:id="rId5"/>
              </a:rPr>
              <a:t>https://libmeos.org</a:t>
            </a:r>
          </a:p>
        </p:txBody>
      </p:sp>
      <p:sp>
        <p:nvSpPr>
          <p:cNvPr id="14" name="Rectangle 13"/>
          <p:cNvSpPr/>
          <p:nvPr/>
        </p:nvSpPr>
        <p:spPr>
          <a:xfrm>
            <a:off x="566928" y="3694176"/>
            <a:ext cx="164592" cy="16459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32688" y="3621024"/>
            <a:ext cx="8686800" cy="320040"/>
          </a:xfrm>
          <a:prstGeom prst="rect">
            <a:avLst/>
          </a:prstGeom>
          <a:noFill/>
        </p:spPr>
        <p:txBody>
          <a:bodyPr wrap="square" lIns="0" tIns="0" rIns="0" bIns="0" anchor="t">
            <a:noAutofit/>
          </a:bodyPr>
          <a:lstStyle/>
          <a:p>
            <a:pPr algn="l">
              <a:spcBef>
                <a:spcPts val="0"/>
              </a:spcBef>
              <a:spcAft>
                <a:spcPts val="200"/>
              </a:spcAft>
            </a:pPr>
            <a:r>
              <a:rPr sz="1400" b="1" i="0">
                <a:solidFill>
                  <a:srgbClr val="0E2841"/>
                </a:solidFill>
                <a:latin typeface="Calibri"/>
              </a:rPr>
              <a:t>AIS data — Danish Maritime Authority</a:t>
            </a:r>
          </a:p>
        </p:txBody>
      </p:sp>
      <p:sp>
        <p:nvSpPr>
          <p:cNvPr id="16" name="TextBox 15"/>
          <p:cNvSpPr txBox="1"/>
          <p:nvPr/>
        </p:nvSpPr>
        <p:spPr>
          <a:xfrm>
            <a:off x="932688" y="3931920"/>
            <a:ext cx="10515600" cy="292608"/>
          </a:xfrm>
          <a:prstGeom prst="rect">
            <a:avLst/>
          </a:prstGeom>
          <a:noFill/>
        </p:spPr>
        <p:txBody>
          <a:bodyPr wrap="none" lIns="0" tIns="0" rIns="0" bIns="0">
            <a:noAutofit/>
          </a:bodyPr>
          <a:lstStyle/>
          <a:p>
            <a:pPr algn="l"/>
            <a:r>
              <a:rPr sz="1200" u="none">
                <a:solidFill>
                  <a:srgbClr val="156082"/>
                </a:solidFill>
                <a:latin typeface="Consolas"/>
                <a:hlinkClick r:id="rId6"/>
              </a:rPr>
              <a:t>http://aisdata.ais.dk</a:t>
            </a:r>
          </a:p>
        </p:txBody>
      </p:sp>
      <p:sp>
        <p:nvSpPr>
          <p:cNvPr id="17" name="Rectangle 16"/>
          <p:cNvSpPr/>
          <p:nvPr/>
        </p:nvSpPr>
        <p:spPr>
          <a:xfrm>
            <a:off x="566928" y="6455664"/>
            <a:ext cx="11057839" cy="10972"/>
          </a:xfrm>
          <a:prstGeom prst="rect">
            <a:avLst/>
          </a:prstGeom>
          <a:solidFill>
            <a:srgbClr val="D3D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66928" y="6510528"/>
            <a:ext cx="7315200" cy="274320"/>
          </a:xfrm>
          <a:prstGeom prst="rect">
            <a:avLst/>
          </a:prstGeom>
          <a:noFill/>
        </p:spPr>
        <p:txBody>
          <a:bodyPr wrap="square" lIns="0" tIns="0" rIns="0" bIns="0" anchor="t">
            <a:noAutofit/>
          </a:bodyPr>
          <a:lstStyle/>
          <a:p>
            <a:pPr algn="l">
              <a:spcBef>
                <a:spcPts val="0"/>
              </a:spcBef>
              <a:spcAft>
                <a:spcPts val="200"/>
              </a:spcAft>
            </a:pPr>
            <a:r>
              <a:rPr sz="1200" b="0" i="0">
                <a:solidFill>
                  <a:srgbClr val="5B6B78"/>
                </a:solidFill>
                <a:latin typeface="Calibri"/>
              </a:rPr>
              <a:t>MobilityAPI  ·  OGC API – Moving Features</a:t>
            </a:r>
          </a:p>
        </p:txBody>
      </p:sp>
      <p:sp>
        <p:nvSpPr>
          <p:cNvPr id="19" name="TextBox 18"/>
          <p:cNvSpPr txBox="1"/>
          <p:nvPr/>
        </p:nvSpPr>
        <p:spPr>
          <a:xfrm>
            <a:off x="10911535" y="6510528"/>
            <a:ext cx="731520" cy="274320"/>
          </a:xfrm>
          <a:prstGeom prst="rect">
            <a:avLst/>
          </a:prstGeom>
          <a:noFill/>
        </p:spPr>
        <p:txBody>
          <a:bodyPr wrap="square" lIns="0" tIns="0" rIns="0" bIns="0" anchor="t">
            <a:noAutofit/>
          </a:bodyPr>
          <a:lstStyle/>
          <a:p>
            <a:pPr algn="r">
              <a:spcBef>
                <a:spcPts val="0"/>
              </a:spcBef>
              <a:spcAft>
                <a:spcPts val="200"/>
              </a:spcAft>
            </a:pPr>
            <a:r>
              <a:rPr sz="1200" b="0" i="0">
                <a:solidFill>
                  <a:srgbClr val="5B6B78"/>
                </a:solidFill>
                <a:latin typeface="Calibri"/>
              </a:rPr>
              <a:t>33</a:t>
            </a:r>
          </a:p>
        </p:txBody>
      </p:sp>
      <p:sp>
        <p:nvSpPr>
          <p:cNvPr id="20" name="Rectangle 19"/>
          <p:cNvSpPr/>
          <p:nvPr/>
        </p:nvSpPr>
        <p:spPr>
          <a:xfrm>
            <a:off x="566928" y="4407408"/>
            <a:ext cx="164592" cy="16459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32688" y="4334256"/>
            <a:ext cx="8686800" cy="320040"/>
          </a:xfrm>
          <a:prstGeom prst="rect">
            <a:avLst/>
          </a:prstGeom>
          <a:noFill/>
        </p:spPr>
        <p:txBody>
          <a:bodyPr wrap="square" lIns="0" tIns="0" rIns="0" bIns="0" anchor="t">
            <a:noAutofit/>
          </a:bodyPr>
          <a:lstStyle/>
          <a:p>
            <a:pPr algn="l">
              <a:spcBef>
                <a:spcPts val="0"/>
              </a:spcBef>
              <a:spcAft>
                <a:spcPts val="200"/>
              </a:spcAft>
            </a:pPr>
            <a:r>
              <a:rPr sz="1400" b="1" i="0">
                <a:solidFill>
                  <a:srgbClr val="0E2841"/>
                </a:solidFill>
                <a:latin typeface="Calibri"/>
              </a:rPr>
              <a:t>MobilityAPI tutorial notebook</a:t>
            </a:r>
          </a:p>
        </p:txBody>
      </p:sp>
      <p:sp>
        <p:nvSpPr>
          <p:cNvPr id="22" name="TextBox 21"/>
          <p:cNvSpPr txBox="1"/>
          <p:nvPr/>
        </p:nvSpPr>
        <p:spPr>
          <a:xfrm>
            <a:off x="932688" y="4645152"/>
            <a:ext cx="10515600" cy="292608"/>
          </a:xfrm>
          <a:prstGeom prst="rect">
            <a:avLst/>
          </a:prstGeom>
          <a:noFill/>
        </p:spPr>
        <p:txBody>
          <a:bodyPr wrap="none" lIns="0" tIns="0" rIns="0" bIns="0">
            <a:noAutofit/>
          </a:bodyPr>
          <a:lstStyle/>
          <a:p>
            <a:pPr algn="l"/>
            <a:r>
              <a:rPr sz="1200" u="none">
                <a:solidFill>
                  <a:srgbClr val="156082"/>
                </a:solidFill>
                <a:latin typeface="Consolas"/>
                <a:hlinkClick r:id="rId7"/>
              </a:rPr>
              <a:t>https://github.com/MobilityDB/MobilityAPI/blob/master/tutorial/tutorial.ipynb</a:t>
            </a:r>
          </a:p>
        </p:txBody>
      </p:sp>
      <p:sp>
        <p:nvSpPr>
          <p:cNvPr id="20" name="Rectangle 19"/>
          <p:cNvSpPr/>
          <p:nvPr/>
        </p:nvSpPr>
        <p:spPr>
          <a:xfrm>
            <a:off x="566928" y="5120640"/>
            <a:ext cx="164592" cy="164592"/>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932688" y="5047488"/>
            <a:ext cx="8686800" cy="320040"/>
          </a:xfrm>
          <a:prstGeom prst="rect">
            <a:avLst/>
          </a:prstGeom>
          <a:noFill/>
        </p:spPr>
        <p:txBody>
          <a:bodyPr wrap="square" lIns="0" tIns="0" rIns="0" bIns="0" anchor="t">
            <a:noAutofit/>
          </a:bodyPr>
          <a:lstStyle/>
          <a:p>
            <a:pPr algn="l">
              <a:spcBef>
                <a:spcPts val="0"/>
              </a:spcBef>
              <a:spcAft>
                <a:spcPts val="200"/>
              </a:spcAft>
            </a:pPr>
            <a:r>
              <a:rPr sz="1400" b="1" i="0">
                <a:solidFill>
                  <a:srgbClr val="0E2841"/>
                </a:solidFill>
                <a:latin typeface="Calibri"/>
              </a:rPr>
              <a:t>MobilityAPI — Python implementation (PyMEOS)</a:t>
            </a:r>
          </a:p>
        </p:txBody>
      </p:sp>
      <p:sp>
        <p:nvSpPr>
          <p:cNvPr id="21" name="TextBox 20"/>
          <p:cNvSpPr txBox="1"/>
          <p:nvPr/>
        </p:nvSpPr>
        <p:spPr>
          <a:xfrm>
            <a:off x="932688" y="5760720"/>
            <a:ext cx="8686800" cy="320040"/>
          </a:xfrm>
          <a:prstGeom prst="rect">
            <a:avLst/>
          </a:prstGeom>
          <a:noFill/>
        </p:spPr>
        <p:txBody>
          <a:bodyPr wrap="square" lIns="0" tIns="0" rIns="0" bIns="0" anchor="t">
            <a:noAutofit/>
          </a:bodyPr>
          <a:lstStyle/>
          <a:p>
            <a:pPr algn="l">
              <a:spcBef>
                <a:spcPts val="0"/>
              </a:spcBef>
              <a:spcAft>
                <a:spcPts val="200"/>
              </a:spcAft>
            </a:pPr>
            <a:r>
              <a:rPr sz="1400" b="1" i="0">
                <a:solidFill>
                  <a:srgbClr val="0E2841"/>
                </a:solidFill>
                <a:latin typeface="Calibri"/>
              </a:rPr>
              <a:t>OGC MF API reference implementation — aistairc/mf-api</a:t>
            </a:r>
          </a:p>
        </p:txBody>
      </p:sp>
      <p:sp>
        <p:nvSpPr>
          <p:cNvPr id="22" name="TextBox 21"/>
          <p:cNvSpPr txBox="1"/>
          <p:nvPr/>
        </p:nvSpPr>
        <p:spPr>
          <a:xfrm>
            <a:off x="932688" y="5358384"/>
            <a:ext cx="10515600" cy="292608"/>
          </a:xfrm>
          <a:prstGeom prst="rect">
            <a:avLst/>
          </a:prstGeom>
          <a:noFill/>
        </p:spPr>
        <p:txBody>
          <a:bodyPr wrap="none" lIns="0" tIns="0" rIns="0" bIns="0">
            <a:noAutofit/>
          </a:bodyPr>
          <a:lstStyle/>
          <a:p>
            <a:pPr algn="l"/>
            <a:r>
              <a:rPr sz="1200" u="none">
                <a:solidFill>
                  <a:srgbClr val="156082"/>
                </a:solidFill>
                <a:latin typeface="Consolas"/>
                <a:hlinkClick r:id="rId7"/>
              </a:rPr>
              <a:t>https://github.com/MobilityDB/MobilityAPI-Python</a:t>
            </a:r>
          </a:p>
        </p:txBody>
      </p:sp>
      <p:sp>
        <p:nvSpPr>
          <p:cNvPr id="22" name="TextBox 21"/>
          <p:cNvSpPr txBox="1"/>
          <p:nvPr/>
        </p:nvSpPr>
        <p:spPr>
          <a:xfrm>
            <a:off x="932688" y="6071616"/>
            <a:ext cx="10515600" cy="292608"/>
          </a:xfrm>
          <a:prstGeom prst="rect">
            <a:avLst/>
          </a:prstGeom>
          <a:noFill/>
        </p:spPr>
        <p:txBody>
          <a:bodyPr wrap="none" lIns="0" tIns="0" rIns="0" bIns="0">
            <a:noAutofit/>
          </a:bodyPr>
          <a:lstStyle/>
          <a:p>
            <a:pPr algn="l"/>
            <a:r>
              <a:rPr sz="1200" u="none">
                <a:solidFill>
                  <a:srgbClr val="156082"/>
                </a:solidFill>
                <a:latin typeface="Consolas"/>
                <a:hlinkClick r:id="rId7"/>
              </a:rPr>
              <a:t>https://github.com/aistairc/mf-api</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5096" cy="274320"/>
          </a:xfrm>
          <a:prstGeom prst="rect">
            <a:avLst/>
          </a:prstGeom>
          <a:noFill/>
        </p:spPr>
        <p:txBody>
          <a:bodyPr wrap="square" lIns="0" rIns="0" tIns="0" bIns="0">
            <a:spAutoFit/>
          </a:bodyPr>
          <a:lstStyle/>
          <a:p>
            <a:r>
              <a:rPr sz="1200" b="1">
                <a:solidFill>
                  <a:srgbClr val="156082"/>
                </a:solidFill>
                <a:latin typeface="Calibri"/>
              </a:rPr>
              <a:t>STREAMING  ·  OGC API – MOVING FEATURES – PART 4</a:t>
            </a:r>
          </a:p>
        </p:txBody>
      </p:sp>
      <p:sp>
        <p:nvSpPr>
          <p:cNvPr id="3" name="TextBox 2"/>
          <p:cNvSpPr txBox="1"/>
          <p:nvPr/>
        </p:nvSpPr>
        <p:spPr>
          <a:xfrm>
            <a:off x="566928" y="603504"/>
            <a:ext cx="11055096" cy="777240"/>
          </a:xfrm>
          <a:prstGeom prst="rect">
            <a:avLst/>
          </a:prstGeom>
          <a:noFill/>
        </p:spPr>
        <p:txBody>
          <a:bodyPr wrap="square" lIns="0" rIns="0" tIns="0" bIns="0">
            <a:spAutoFit/>
          </a:bodyPr>
          <a:lstStyle/>
          <a:p>
            <a:r>
              <a:rPr sz="3200" b="1">
                <a:solidFill>
                  <a:srgbClr val="0E2841"/>
                </a:solidFill>
                <a:latin typeface="Calibri Light"/>
              </a:rPr>
              <a:t>Continuous Queries over Moving Features</a:t>
            </a:r>
          </a:p>
        </p:txBody>
      </p:sp>
      <p:sp>
        <p:nvSpPr>
          <p:cNvPr id="4" name="Rectangle 3"/>
          <p:cNvSpPr/>
          <p:nvPr/>
        </p:nvSpPr>
        <p:spPr>
          <a:xfrm>
            <a:off x="566928" y="1389888"/>
            <a:ext cx="1554480" cy="41148"/>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691640"/>
            <a:ext cx="10881360" cy="4480560"/>
          </a:xfrm>
          <a:prstGeom prst="rect">
            <a:avLst/>
          </a:prstGeom>
          <a:noFill/>
        </p:spPr>
        <p:txBody>
          <a:bodyPr wrap="square" lIns="0" rIns="0" tIns="0" bIns="0">
            <a:spAutoFit/>
          </a:bodyPr>
          <a:lstStyle/>
          <a:p>
            <a:pPr>
              <a:spcAft>
                <a:spcPts val="1200"/>
              </a:spcAft>
            </a:pPr>
            <a:r>
              <a:rPr sz="1400" b="1">
                <a:solidFill>
                  <a:srgbClr val="156082"/>
                </a:solidFill>
                <a:latin typeface="Calibri"/>
              </a:rPr>
              <a:t>▸  </a:t>
            </a:r>
            <a:r>
              <a:rPr sz="1400" b="1">
                <a:solidFill>
                  <a:srgbClr val="0E2841"/>
                </a:solidFill>
                <a:latin typeface="Calibri"/>
              </a:rPr>
              <a:t>Stream Extension:  </a:t>
            </a:r>
            <a:r>
              <a:rPr sz="1400" b="0">
                <a:solidFill>
                  <a:srgbClr val="1E2B36"/>
                </a:solidFill>
                <a:latin typeface="Calibri"/>
              </a:rPr>
              <a:t>a continuous query subscribes to a moving feature’s temporal property or position</a:t>
            </a:r>
          </a:p>
          <a:p>
            <a:pPr>
              <a:spcAft>
                <a:spcPts val="1200"/>
              </a:spcAft>
            </a:pPr>
            <a:r>
              <a:rPr sz="1400" b="1">
                <a:solidFill>
                  <a:srgbClr val="156082"/>
                </a:solidFill>
                <a:latin typeface="Calibri"/>
              </a:rPr>
              <a:t>▸  </a:t>
            </a:r>
            <a:r>
              <a:rPr sz="1400" b="1">
                <a:solidFill>
                  <a:srgbClr val="0E2841"/>
                </a:solidFill>
                <a:latin typeface="Calibri"/>
              </a:rPr>
              <a:t>Register → stream:  </a:t>
            </a:r>
            <a:r>
              <a:rPr sz="1400" b="0">
                <a:solidFill>
                  <a:srgbClr val="1E2B36"/>
                </a:solidFill>
                <a:latin typeface="Calibri"/>
              </a:rPr>
              <a:t>the query returns a cquery link; results arrive as Server-Sent Events, one instant at a time</a:t>
            </a:r>
          </a:p>
          <a:p>
            <a:pPr>
              <a:spcAft>
                <a:spcPts val="1200"/>
              </a:spcAft>
            </a:pPr>
            <a:r>
              <a:rPr sz="1400" b="1">
                <a:solidFill>
                  <a:srgbClr val="156082"/>
                </a:solidFill>
                <a:latin typeface="Calibri"/>
              </a:rPr>
              <a:t>▸  </a:t>
            </a:r>
            <a:r>
              <a:rPr sz="1400" b="1">
                <a:solidFill>
                  <a:srgbClr val="0E2841"/>
                </a:solidFill>
                <a:latin typeface="Calibri"/>
              </a:rPr>
              <a:t>Transform:  </a:t>
            </a:r>
            <a:r>
              <a:rPr sz="1400" b="0">
                <a:solidFill>
                  <a:srgbClr val="1E2B36"/>
                </a:solidFill>
                <a:latin typeface="Calibri"/>
              </a:rPr>
              <a:t>a lifted scalar operation (ln, exp, ×, +) applied to a streaming tfloat — pointwise and exact</a:t>
            </a:r>
          </a:p>
          <a:p>
            <a:pPr>
              <a:spcAft>
                <a:spcPts val="1200"/>
              </a:spcAft>
            </a:pPr>
            <a:r>
              <a:rPr sz="1400" b="1">
                <a:solidFill>
                  <a:srgbClr val="156082"/>
                </a:solidFill>
                <a:latin typeface="Calibri"/>
              </a:rPr>
              <a:t>▸  </a:t>
            </a:r>
            <a:r>
              <a:rPr sz="1400" b="1">
                <a:solidFill>
                  <a:srgbClr val="0E2841"/>
                </a:solidFill>
                <a:latin typeface="Calibri"/>
              </a:rPr>
              <a:t>Windowed aggregate:  </a:t>
            </a:r>
            <a:r>
              <a:rPr sz="1400" b="0">
                <a:solidFill>
                  <a:srgbClr val="1E2B36"/>
                </a:solidFill>
                <a:latin typeface="Calibri"/>
              </a:rPr>
              <a:t>AVG · SUM · MIN · MAX · COUNT over COUNT, TUMBLING or HOPPING windows</a:t>
            </a:r>
          </a:p>
          <a:p>
            <a:pPr>
              <a:spcAft>
                <a:spcPts val="1200"/>
              </a:spcAft>
            </a:pPr>
            <a:r>
              <a:rPr sz="1400" b="1">
                <a:solidFill>
                  <a:srgbClr val="156082"/>
                </a:solidFill>
                <a:latin typeface="Calibri"/>
              </a:rPr>
              <a:t>▸  </a:t>
            </a:r>
            <a:r>
              <a:rPr sz="1400" b="1">
                <a:solidFill>
                  <a:srgbClr val="0E2841"/>
                </a:solidFill>
                <a:latin typeface="Calibri"/>
              </a:rPr>
              <a:t>StreamEngine seam:  </a:t>
            </a:r>
            <a:r>
              <a:rPr sz="1400" b="0">
                <a:solidFill>
                  <a:srgbClr val="1E2B36"/>
                </a:solidFill>
                <a:latin typeface="Calibri"/>
              </a:rPr>
              <a:t>in-process MEOS (cgo), Apache Flink or Kafka — the same cquery link, SSE stream and lifecycle</a:t>
            </a:r>
          </a:p>
        </p:txBody>
      </p:sp>
      <p:sp>
        <p:nvSpPr>
          <p:cNvPr id="6" name="Rectangle 5"/>
          <p:cNvSpPr/>
          <p:nvPr/>
        </p:nvSpPr>
        <p:spPr>
          <a:xfrm>
            <a:off x="566928" y="6455664"/>
            <a:ext cx="11055096" cy="10972"/>
          </a:xfrm>
          <a:prstGeom prst="rect">
            <a:avLst/>
          </a:prstGeom>
          <a:solidFill>
            <a:srgbClr val="D7D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510528"/>
            <a:ext cx="7315200" cy="274320"/>
          </a:xfrm>
          <a:prstGeom prst="rect">
            <a:avLst/>
          </a:prstGeom>
          <a:noFill/>
        </p:spPr>
        <p:txBody>
          <a:bodyPr wrap="square" lIns="0" rIns="0" tIns="0" bIns="0">
            <a:spAutoFit/>
          </a:bodyPr>
          <a:lstStyle/>
          <a:p>
            <a:r>
              <a:rPr sz="1200" b="0">
                <a:solidFill>
                  <a:srgbClr val="5B6B78"/>
                </a:solidFill>
                <a:latin typeface="Calibri"/>
              </a:rPr>
              <a:t>MobilityAPI  ·  OGC API – Moving Features</a:t>
            </a:r>
          </a:p>
        </p:txBody>
      </p:sp>
      <p:sp>
        <p:nvSpPr>
          <p:cNvPr id="8" name="TextBox 7"/>
          <p:cNvSpPr txBox="1"/>
          <p:nvPr/>
        </p:nvSpPr>
        <p:spPr>
          <a:xfrm>
            <a:off x="10908792" y="6510528"/>
            <a:ext cx="731520" cy="274320"/>
          </a:xfrm>
          <a:prstGeom prst="rect">
            <a:avLst/>
          </a:prstGeom>
          <a:noFill/>
        </p:spPr>
        <p:txBody>
          <a:bodyPr wrap="square" lIns="0" rIns="0" tIns="0" bIns="0">
            <a:spAutoFit/>
          </a:bodyPr>
          <a:lstStyle/>
          <a:p>
            <a:pPr algn="r"/>
            <a:r>
              <a:rPr sz="1200" b="0">
                <a:solidFill>
                  <a:srgbClr val="5B6B78"/>
                </a:solidFill>
                <a:latin typeface="Calibri"/>
              </a:rPr>
              <a:t>25</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365760"/>
            <a:ext cx="11055096" cy="274320"/>
          </a:xfrm>
          <a:prstGeom prst="rect">
            <a:avLst/>
          </a:prstGeom>
          <a:noFill/>
        </p:spPr>
        <p:txBody>
          <a:bodyPr wrap="square" lIns="0" rIns="0" tIns="0" bIns="0">
            <a:spAutoFit/>
          </a:bodyPr>
          <a:lstStyle/>
          <a:p>
            <a:r>
              <a:rPr sz="1200" b="1">
                <a:solidFill>
                  <a:srgbClr val="156082"/>
                </a:solidFill>
                <a:latin typeface="Calibri"/>
              </a:rPr>
              <a:t>STREAMING  ·  ANIMATED TUTORIAL</a:t>
            </a:r>
          </a:p>
        </p:txBody>
      </p:sp>
      <p:sp>
        <p:nvSpPr>
          <p:cNvPr id="3" name="TextBox 2"/>
          <p:cNvSpPr txBox="1"/>
          <p:nvPr/>
        </p:nvSpPr>
        <p:spPr>
          <a:xfrm>
            <a:off x="566928" y="603504"/>
            <a:ext cx="11055096" cy="777240"/>
          </a:xfrm>
          <a:prstGeom prst="rect">
            <a:avLst/>
          </a:prstGeom>
          <a:noFill/>
        </p:spPr>
        <p:txBody>
          <a:bodyPr wrap="square" lIns="0" rIns="0" tIns="0" bIns="0">
            <a:spAutoFit/>
          </a:bodyPr>
          <a:lstStyle/>
          <a:p>
            <a:r>
              <a:rPr sz="3200" b="1">
                <a:solidFill>
                  <a:srgbClr val="0E2841"/>
                </a:solidFill>
                <a:latin typeface="Calibri Light"/>
              </a:rPr>
              <a:t>Animated Fleet over Live AIS</a:t>
            </a:r>
          </a:p>
        </p:txBody>
      </p:sp>
      <p:sp>
        <p:nvSpPr>
          <p:cNvPr id="4" name="Rectangle 3"/>
          <p:cNvSpPr/>
          <p:nvPr/>
        </p:nvSpPr>
        <p:spPr>
          <a:xfrm>
            <a:off x="566928" y="1389888"/>
            <a:ext cx="1554480" cy="41148"/>
          </a:xfrm>
          <a:prstGeom prst="rect">
            <a:avLst/>
          </a:prstGeom>
          <a:solidFill>
            <a:srgbClr val="1560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691640"/>
            <a:ext cx="10881360" cy="4480560"/>
          </a:xfrm>
          <a:prstGeom prst="rect">
            <a:avLst/>
          </a:prstGeom>
          <a:noFill/>
        </p:spPr>
        <p:txBody>
          <a:bodyPr wrap="square" lIns="0" rIns="0" tIns="0" bIns="0">
            <a:spAutoFit/>
          </a:bodyPr>
          <a:lstStyle/>
          <a:p>
            <a:pPr>
              <a:spcAft>
                <a:spcPts val="1200"/>
              </a:spcAft>
            </a:pPr>
            <a:r>
              <a:rPr sz="1400" b="1">
                <a:solidFill>
                  <a:srgbClr val="156082"/>
                </a:solidFill>
                <a:latin typeface="Calibri"/>
              </a:rPr>
              <a:t>▸  </a:t>
            </a:r>
            <a:r>
              <a:rPr sz="1400" b="1">
                <a:solidFill>
                  <a:srgbClr val="0E2841"/>
                </a:solidFill>
                <a:latin typeface="Calibri"/>
              </a:rPr>
              <a:t>Shared data:  </a:t>
            </a:r>
            <a:r>
              <a:rPr sz="1400" b="0">
                <a:solidFill>
                  <a:srgbClr val="1E2B36"/>
                </a:solidFill>
                <a:latin typeface="Calibri"/>
              </a:rPr>
              <a:t>the same one day of Danish AIS as the static tutorial, loaded once as the ships collection</a:t>
            </a:r>
          </a:p>
          <a:p>
            <a:pPr>
              <a:spcAft>
                <a:spcPts val="1200"/>
              </a:spcAft>
            </a:pPr>
            <a:r>
              <a:rPr sz="1400" b="1">
                <a:solidFill>
                  <a:srgbClr val="156082"/>
                </a:solidFill>
                <a:latin typeface="Calibri"/>
              </a:rPr>
              <a:t>▸  </a:t>
            </a:r>
            <a:r>
              <a:rPr sz="1400" b="1">
                <a:solidFill>
                  <a:srgbClr val="0E2841"/>
                </a:solidFill>
                <a:latin typeface="Calibri"/>
              </a:rPr>
              <a:t>Streamed positions:  </a:t>
            </a:r>
            <a:r>
              <a:rPr sz="1400" b="0">
                <a:solidFill>
                  <a:srgbClr val="1E2B36"/>
                </a:solidFill>
                <a:latin typeface="Calibri"/>
              </a:rPr>
              <a:t>each vessel’s WGS84 track is delivered as SSE; MEOS.js (WebAssembly) interpolates it in the browser</a:t>
            </a:r>
          </a:p>
          <a:p>
            <a:pPr>
              <a:spcAft>
                <a:spcPts val="1200"/>
              </a:spcAft>
            </a:pPr>
            <a:r>
              <a:rPr sz="1400" b="1">
                <a:solidFill>
                  <a:srgbClr val="156082"/>
                </a:solidFill>
                <a:latin typeface="Calibri"/>
              </a:rPr>
              <a:t>▸  </a:t>
            </a:r>
            <a:r>
              <a:rPr sz="1400" b="1">
                <a:solidFill>
                  <a:srgbClr val="0E2841"/>
                </a:solidFill>
                <a:latin typeface="Calibri"/>
              </a:rPr>
              <a:t>Live speed:  </a:t>
            </a:r>
            <a:r>
              <a:rPr sz="1400" b="0">
                <a:solidFill>
                  <a:srgbClr val="1E2B36"/>
                </a:solidFill>
                <a:latin typeface="Calibri"/>
              </a:rPr>
              <a:t>every dot is coloured by its windowed-average speed over ground (AIS SOG), accumulating as it streams</a:t>
            </a:r>
          </a:p>
          <a:p>
            <a:pPr>
              <a:spcAft>
                <a:spcPts val="1200"/>
              </a:spcAft>
            </a:pPr>
            <a:r>
              <a:rPr sz="1400" b="1">
                <a:solidFill>
                  <a:srgbClr val="156082"/>
                </a:solidFill>
                <a:latin typeface="Calibri"/>
              </a:rPr>
              <a:t>▸  </a:t>
            </a:r>
            <a:r>
              <a:rPr sz="1400" b="1">
                <a:solidFill>
                  <a:srgbClr val="0E2841"/>
                </a:solidFill>
                <a:latin typeface="Calibri"/>
              </a:rPr>
              <a:t>Growing chart:  </a:t>
            </a:r>
            <a:r>
              <a:rPr sz="1400" b="0">
                <a:solidFill>
                  <a:srgbClr val="1E2B36"/>
                </a:solidFill>
                <a:latin typeface="Calibri"/>
              </a:rPr>
              <a:t>a per-vessel speed chart grows with each observation — the colours of the MEOS.js example, live</a:t>
            </a:r>
          </a:p>
          <a:p>
            <a:pPr>
              <a:spcAft>
                <a:spcPts val="1200"/>
              </a:spcAft>
            </a:pPr>
            <a:r>
              <a:rPr sz="1400" b="1">
                <a:solidFill>
                  <a:srgbClr val="156082"/>
                </a:solidFill>
                <a:latin typeface="Calibri"/>
              </a:rPr>
              <a:t>▸  </a:t>
            </a:r>
            <a:r>
              <a:rPr sz="1400" b="1">
                <a:solidFill>
                  <a:srgbClr val="0E2841"/>
                </a:solidFill>
                <a:latin typeface="Calibri"/>
              </a:rPr>
              <a:t>Thin tier:  </a:t>
            </a:r>
            <a:r>
              <a:rPr sz="1400" b="0">
                <a:solidFill>
                  <a:srgbClr val="1E2B36"/>
                </a:solidFill>
                <a:latin typeface="Calibri"/>
              </a:rPr>
              <a:t>DeckGL and MapLibre render the fleet; the tier streams only stored positions, the browser does the temporal work</a:t>
            </a:r>
          </a:p>
        </p:txBody>
      </p:sp>
      <p:sp>
        <p:nvSpPr>
          <p:cNvPr id="6" name="Rectangle 5"/>
          <p:cNvSpPr/>
          <p:nvPr/>
        </p:nvSpPr>
        <p:spPr>
          <a:xfrm>
            <a:off x="566928" y="6455664"/>
            <a:ext cx="11055096" cy="10972"/>
          </a:xfrm>
          <a:prstGeom prst="rect">
            <a:avLst/>
          </a:prstGeom>
          <a:solidFill>
            <a:srgbClr val="D7DE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6510528"/>
            <a:ext cx="7315200" cy="274320"/>
          </a:xfrm>
          <a:prstGeom prst="rect">
            <a:avLst/>
          </a:prstGeom>
          <a:noFill/>
        </p:spPr>
        <p:txBody>
          <a:bodyPr wrap="square" lIns="0" rIns="0" tIns="0" bIns="0">
            <a:spAutoFit/>
          </a:bodyPr>
          <a:lstStyle/>
          <a:p>
            <a:r>
              <a:rPr sz="1200" b="0">
                <a:solidFill>
                  <a:srgbClr val="5B6B78"/>
                </a:solidFill>
                <a:latin typeface="Calibri"/>
              </a:rPr>
              <a:t>MobilityAPI  ·  OGC API – Moving Features</a:t>
            </a:r>
          </a:p>
        </p:txBody>
      </p:sp>
      <p:sp>
        <p:nvSpPr>
          <p:cNvPr id="8" name="TextBox 7"/>
          <p:cNvSpPr txBox="1"/>
          <p:nvPr/>
        </p:nvSpPr>
        <p:spPr>
          <a:xfrm>
            <a:off x="10908792" y="6510528"/>
            <a:ext cx="731520" cy="274320"/>
          </a:xfrm>
          <a:prstGeom prst="rect">
            <a:avLst/>
          </a:prstGeom>
          <a:noFill/>
        </p:spPr>
        <p:txBody>
          <a:bodyPr wrap="square" lIns="0" rIns="0" tIns="0" bIns="0">
            <a:spAutoFit/>
          </a:bodyPr>
          <a:lstStyle/>
          <a:p>
            <a:pPr algn="r"/>
            <a:r>
              <a:rPr sz="1200" b="0">
                <a:solidFill>
                  <a:srgbClr val="5B6B78"/>
                </a:solidFill>
                <a:latin typeface="Calibri"/>
              </a:rPr>
              <a:t>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4618</Words>
  <Application>Microsoft Office PowerPoint</Application>
  <PresentationFormat>Widescreen</PresentationFormat>
  <Paragraphs>571</Paragraphs>
  <Slides>28</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Calibri Light</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User</dc:creator>
  <cp:keywords/>
  <dc:description>generated using python-pptx</dc:description>
  <cp:lastModifiedBy>ZIMANYI Esteban</cp:lastModifiedBy>
  <cp:revision>2</cp:revision>
  <dcterms:created xsi:type="dcterms:W3CDTF">2013-01-27T09:14:16Z</dcterms:created>
  <dcterms:modified xsi:type="dcterms:W3CDTF">2026-05-30T21:19:36Z</dcterms:modified>
  <cp:category/>
</cp:coreProperties>
</file>