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2" r:id="rId24"/>
    <p:sldId id="283" r:id="rId25"/>
    <p:sldId id="278" r:id="rId26"/>
    <p:sldId id="284" r:id="rId35"/>
    <p:sldId id="285" r:id="rId36"/>
    <p:sldId id="286" r:id="rId37"/>
    <p:sldId id="279" r:id="rId27"/>
    <p:sldId id="280" r:id="rId28"/>
    <p:sldId id="281"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3526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OGC data model maps one to one onto MobilityAPI's REST resources.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Zoomed view of the OGC API – Moving Features class diagram for class-level detail.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the live walkthrough against the ships collection.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bbox query is a spatial pre-filter executed by MobilityDB's GiST index over the inline STBOX.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 Id="rId7" Type="http://schemas.openxmlformats.org/officeDocument/2006/relationships/hyperlink" Target="https://github.com/MobilityDB/MobilityAPI/blob/master/tutorial/tutorial.ipynb"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965960"/>
            <a:ext cx="8686800" cy="1097280"/>
          </a:xfrm>
          <a:prstGeom prst="rect">
            <a:avLst/>
          </a:prstGeom>
          <a:noFill/>
        </p:spPr>
        <p:txBody>
          <a:bodyPr wrap="square" lIns="0" tIns="0" rIns="0" bIns="0" anchor="t">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lIns="0" tIns="0" rIns="0" bIns="0" anchor="t">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4096512"/>
            <a:ext cx="9326880" cy="457200"/>
          </a:xfrm>
          <a:prstGeom prst="rect">
            <a:avLst/>
          </a:prstGeom>
          <a:noFill/>
        </p:spPr>
        <p:txBody>
          <a:bodyPr wrap="square" lIns="0" tIns="0" rIns="0" bIns="0" anchor="t">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3"/>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4"/>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lIns="0" tIns="0" rIns="0" bIns="0" anchor="t">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
        <p:nvSpPr>
          <p:cNvPr id="11" name="TextBox 10"/>
          <p:cNvSpPr txBox="1"/>
          <p:nvPr/>
        </p:nvSpPr>
        <p:spPr>
          <a:xfrm>
            <a:off x="10908792" y="6510528"/>
            <a:ext cx="731520" cy="274320"/>
          </a:xfrm>
          <a:prstGeom prst="rect">
            <a:avLst/>
          </a:prstGeom>
          <a:noFill/>
        </p:spPr>
        <p:txBody>
          <a:bodyPr wrap="none">
            <a:spAutoFit/>
          </a:bodyPr>
          <a:lstStyle/>
          <a:p>
            <a:pPr algn="r"/>
            <a:r>
              <a:rPr sz="1200">
                <a:solidFill>
                  <a:srgbClr val="5B6B78"/>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45920"/>
            <a:ext cx="6400800" cy="4206240"/>
          </a:xfrm>
          <a:prstGeom prst="rect">
            <a:avLst/>
          </a:prstGeom>
          <a:noFill/>
        </p:spPr>
        <p:txBody>
          <a:bodyPr wrap="square" lIns="0" tIns="0" r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3566160"/>
          </a:xfrm>
          <a:prstGeom prst="roundRect">
            <a:avLst>
              <a:gd name="adj" fmla="val 4000"/>
            </a:avLst>
          </a:prstGeom>
          <a:solidFill>
            <a:srgbClr val="F1F5F8"/>
          </a:solidFill>
          <a:ln>
            <a:noFill/>
          </a:ln>
          <a:effectLst/>
        </p:spPr>
        <p:txBody>
          <a:bodyPr rtlCol="0" anchor="ctr"/>
          <a:lstStyle/>
          <a:p>
            <a:pPr algn="ctr"/>
            <a:endParaRPr/>
          </a:p>
        </p:txBody>
      </p:sp>
      <p:sp>
        <p:nvSpPr>
          <p:cNvPr id="7" name="TextBox 6"/>
          <p:cNvSpPr txBox="1"/>
          <p:nvPr/>
        </p:nvSpPr>
        <p:spPr>
          <a:xfrm>
            <a:off x="7863840" y="1773936"/>
            <a:ext cx="35204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9" name="TextBox 8"/>
          <p:cNvSpPr txBox="1"/>
          <p:nvPr/>
        </p:nvSpPr>
        <p:spPr>
          <a:xfrm>
            <a:off x="7909560"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1" name="TextBox 10"/>
          <p:cNvSpPr txBox="1"/>
          <p:nvPr/>
        </p:nvSpPr>
        <p:spPr>
          <a:xfrm>
            <a:off x="9095232"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3" name="TextBox 12"/>
          <p:cNvSpPr txBox="1"/>
          <p:nvPr/>
        </p:nvSpPr>
        <p:spPr>
          <a:xfrm>
            <a:off x="10280903" y="2231136"/>
            <a:ext cx="1057655" cy="274320"/>
          </a:xfrm>
          <a:prstGeom prst="rect">
            <a:avLst/>
          </a:prstGeom>
          <a:noFill/>
        </p:spPr>
        <p:txBody>
          <a:bodyPr wrap="square" lIns="0" tIns="0" rIns="0" bIns="0" anchor="t">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17" name="TextBox 16"/>
          <p:cNvSpPr txBox="1"/>
          <p:nvPr/>
        </p:nvSpPr>
        <p:spPr>
          <a:xfrm>
            <a:off x="8092440" y="3191256"/>
            <a:ext cx="306324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lIns="0" tIns="0" rIns="0" bIns="0" anchor="t">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endParaRPr/>
          </a:p>
        </p:txBody>
      </p:sp>
      <p:sp>
        <p:nvSpPr>
          <p:cNvPr id="22" name="TextBox 21"/>
          <p:cNvSpPr txBox="1"/>
          <p:nvPr/>
        </p:nvSpPr>
        <p:spPr>
          <a:xfrm>
            <a:off x="8092440" y="4334256"/>
            <a:ext cx="3063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tIns="0" r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4681728"/>
            <a:ext cx="5486400" cy="32004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tIns="0" r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ODEPANEL"/>
          <p:cNvSpPr txBox="1"/>
          <p:nvPr/>
        </p:nvSpPr>
        <p:spPr>
          <a:xfrm>
            <a:off x="694944" y="2011680"/>
            <a:ext cx="5090007"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2026-02-26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ODEPANEL"/>
          <p:cNvSpPr txBox="1"/>
          <p:nvPr/>
        </p:nvSpPr>
        <p:spPr>
          <a:xfrm>
            <a:off x="6406743" y="2011680"/>
            <a:ext cx="5090007" cy="33375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Rectangle 1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3" name="TextBox 12"/>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moving-features-class-diagram.png"/>
          <p:cNvPicPr>
            <a:picLocks noChangeAspect="1"/>
          </p:cNvPicPr>
          <p:nvPr/>
        </p:nvPicPr>
        <p:blipFill>
          <a:blip r:embed="rId3"/>
          <a:stretch>
            <a:fillRect/>
          </a:stretch>
        </p:blipFill>
        <p:spPr>
          <a:xfrm>
            <a:off x="2471471"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388352"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top.png"/>
          <p:cNvPicPr>
            <a:picLocks noChangeAspect="1"/>
          </p:cNvPicPr>
          <p:nvPr/>
        </p:nvPicPr>
        <p:blipFill>
          <a:blip r:embed="rId3"/>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82296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lIns="0" tIns="0" rIns="0" bIns="0" anchor="t">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gc_bot.png"/>
          <p:cNvPicPr>
            <a:picLocks noChangeAspect="1"/>
          </p:cNvPicPr>
          <p:nvPr/>
        </p:nvPicPr>
        <p:blipFill>
          <a:blip r:embed="rId3"/>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44752"/>
            <a:ext cx="420624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55648"/>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968496"/>
            <a:ext cx="3931920" cy="402336"/>
          </a:xfrm>
          <a:prstGeom prst="rect">
            <a:avLst/>
          </a:prstGeom>
          <a:noFill/>
        </p:spPr>
        <p:txBody>
          <a:bodyPr wrap="square" lIns="0" tIns="0" rIns="0" bIns="0" anchor="ctr">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tIns="0" r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lIns="0" tIns="0" rIns="0" bIns="0" anchor="t">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tIns="0" r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Rounded Rectangle 19"/>
          <p:cNvSpPr/>
          <p:nvPr/>
        </p:nvSpPr>
        <p:spPr>
          <a:xfrm>
            <a:off x="5138928" y="5376672"/>
            <a:ext cx="6485839" cy="969264"/>
          </a:xfrm>
          <a:prstGeom prst="roundRect">
            <a:avLst>
              <a:gd name="adj" fmla="val 4000"/>
            </a:avLst>
          </a:prstGeom>
          <a:solidFill>
            <a:srgbClr val="F1F5F8"/>
          </a:solidFill>
          <a:ln>
            <a:noFill/>
          </a:ln>
          <a:effectLst/>
        </p:spPr>
        <p:txBody>
          <a:bodyPr rtlCol="0" anchor="ctr"/>
          <a:lstStyle/>
          <a:p>
            <a:pPr algn="ctr"/>
            <a:endParaRPr/>
          </a:p>
        </p:txBody>
      </p:sp>
      <p:sp>
        <p:nvSpPr>
          <p:cNvPr id="21" name="TextBox 20"/>
          <p:cNvSpPr txBox="1"/>
          <p:nvPr/>
        </p:nvSpPr>
        <p:spPr>
          <a:xfrm>
            <a:off x="5394960" y="5468112"/>
            <a:ext cx="5973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How fields are provided</a:t>
            </a:r>
          </a:p>
        </p:txBody>
      </p:sp>
      <p:sp>
        <p:nvSpPr>
          <p:cNvPr id="22" name="TextBox 21"/>
          <p:cNvSpPr txBox="1"/>
          <p:nvPr/>
        </p:nvSpPr>
        <p:spPr>
          <a:xfrm>
            <a:off x="5394960" y="5760720"/>
            <a:ext cx="5973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Derived fields come O(1) from the tgeompoint and its inline STBOX</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Links are generated per request</a:t>
            </a:r>
          </a:p>
        </p:txBody>
      </p:sp>
      <p:sp>
        <p:nvSpPr>
          <p:cNvPr id="23" name="Rectangle 2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5" name="TextBox 2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ig_overview_real.png"/>
          <p:cNvPicPr>
            <a:picLocks noChangeAspect="1"/>
          </p:cNvPicPr>
          <p:nvPr/>
        </p:nvPicPr>
        <p:blipFill>
          <a:blip r:embed="rId3"/>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tIns="0" r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19613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9" name="TextBox 8"/>
          <p:cNvSpPr txBox="1"/>
          <p:nvPr/>
        </p:nvSpPr>
        <p:spPr>
          <a:xfrm>
            <a:off x="1353312" y="195681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3271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Rounded Rectangle 10"/>
          <p:cNvSpPr/>
          <p:nvPr/>
        </p:nvSpPr>
        <p:spPr>
          <a:xfrm>
            <a:off x="1280160" y="23271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2" name="TextBox 11"/>
          <p:cNvSpPr txBox="1"/>
          <p:nvPr/>
        </p:nvSpPr>
        <p:spPr>
          <a:xfrm>
            <a:off x="2139696" y="232257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6929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4" name="Rounded Rectangle 13"/>
          <p:cNvSpPr/>
          <p:nvPr/>
        </p:nvSpPr>
        <p:spPr>
          <a:xfrm>
            <a:off x="1280160" y="269290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5" name="TextBox 14"/>
          <p:cNvSpPr txBox="1"/>
          <p:nvPr/>
        </p:nvSpPr>
        <p:spPr>
          <a:xfrm>
            <a:off x="2359152" y="2688336"/>
            <a:ext cx="924732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0586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7" name="Rounded Rectangle 16"/>
          <p:cNvSpPr/>
          <p:nvPr/>
        </p:nvSpPr>
        <p:spPr>
          <a:xfrm>
            <a:off x="1280160" y="305866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8" name="TextBox 17"/>
          <p:cNvSpPr txBox="1"/>
          <p:nvPr/>
        </p:nvSpPr>
        <p:spPr>
          <a:xfrm>
            <a:off x="2139696" y="3054096"/>
            <a:ext cx="9466783"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42442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0" name="TextBox 19"/>
          <p:cNvSpPr txBox="1"/>
          <p:nvPr/>
        </p:nvSpPr>
        <p:spPr>
          <a:xfrm>
            <a:off x="1353312" y="341985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379018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2" name="TextBox 21"/>
          <p:cNvSpPr txBox="1"/>
          <p:nvPr/>
        </p:nvSpPr>
        <p:spPr>
          <a:xfrm>
            <a:off x="1353312" y="3785615"/>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155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4" name="TextBox 23"/>
          <p:cNvSpPr txBox="1"/>
          <p:nvPr/>
        </p:nvSpPr>
        <p:spPr>
          <a:xfrm>
            <a:off x="1353312" y="415137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5217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6" name="TextBox 25"/>
          <p:cNvSpPr txBox="1"/>
          <p:nvPr/>
        </p:nvSpPr>
        <p:spPr>
          <a:xfrm>
            <a:off x="1353312" y="451713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28" name="TextBox 27"/>
          <p:cNvSpPr txBox="1"/>
          <p:nvPr/>
        </p:nvSpPr>
        <p:spPr>
          <a:xfrm>
            <a:off x="1353312" y="4882896"/>
            <a:ext cx="10253167" cy="292608"/>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   ·   /api   ·   /conformance</a:t>
            </a:r>
          </a:p>
        </p:txBody>
      </p:sp>
      <p:sp>
        <p:nvSpPr>
          <p:cNvPr id="29" name="Rounded Rectangle 28"/>
          <p:cNvSpPr/>
          <p:nvPr/>
        </p:nvSpPr>
        <p:spPr>
          <a:xfrm>
            <a:off x="566928" y="5358384"/>
            <a:ext cx="11057839" cy="969264"/>
          </a:xfrm>
          <a:prstGeom prst="roundRect">
            <a:avLst>
              <a:gd name="adj" fmla="val 4000"/>
            </a:avLst>
          </a:prstGeom>
          <a:solidFill>
            <a:srgbClr val="F1F5F8"/>
          </a:solidFill>
          <a:ln>
            <a:noFill/>
          </a:ln>
          <a:effectLst/>
        </p:spPr>
        <p:txBody>
          <a:bodyPr rtlCol="0" anchor="ctr"/>
          <a:lstStyle/>
          <a:p>
            <a:pPr algn="ctr"/>
            <a:endParaRPr/>
          </a:p>
        </p:txBody>
      </p:sp>
      <p:sp>
        <p:nvSpPr>
          <p:cNvPr id="30" name="TextBox 29"/>
          <p:cNvSpPr txBox="1"/>
          <p:nvPr/>
        </p:nvSpPr>
        <p:spPr>
          <a:xfrm>
            <a:off x="822960" y="5449824"/>
            <a:ext cx="10545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Notes</a:t>
            </a:r>
          </a:p>
        </p:txBody>
      </p:sp>
      <p:sp>
        <p:nvSpPr>
          <p:cNvPr id="31" name="TextBox 30"/>
          <p:cNvSpPr txBox="1"/>
          <p:nvPr/>
        </p:nvSpPr>
        <p:spPr>
          <a:xfrm>
            <a:off x="822960" y="5742432"/>
            <a:ext cx="10545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Every path above is OGC API – Moving Features – Part 1: Core; acceleration returns 501 (not derivable)</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Items query parameters: bbox, datetime, subtrajectory, leaf, limit, page cursor</a:t>
            </a:r>
          </a:p>
        </p:txBody>
      </p:sp>
      <p:sp>
        <p:nvSpPr>
          <p:cNvPr id="32" name="Rectangle 3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4" name="TextBox 3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240280"/>
            <a:ext cx="8229600" cy="365760"/>
          </a:xfrm>
          <a:prstGeom prst="rect">
            <a:avLst/>
          </a:prstGeom>
          <a:noFill/>
        </p:spPr>
        <p:txBody>
          <a:bodyPr wrap="square" lIns="0" tIns="0" rIns="0" bIns="0" anchor="t">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lIns="0" tIns="0" rIns="0" bIns="0" anchor="t">
            <a:noAutofit/>
          </a:bodyPr>
          <a:lstStyle/>
          <a:p>
            <a:pPr algn="l">
              <a:spcBef>
                <a:spcPts val="0"/>
              </a:spcBef>
              <a:spcAft>
                <a:spcPts val="200"/>
              </a:spcAft>
            </a:pPr>
            <a:r>
              <a:rPr sz="1600" b="0" i="0">
                <a:solidFill>
                  <a:srgbClr val="9EB8C8"/>
                </a:solidFill>
                <a:latin typeface="Calibri"/>
              </a:rPr>
              <a:t>List  →  filter  →  retrieve  →  derive  →  write, all over HTTP</a:t>
            </a:r>
          </a:p>
        </p:txBody>
      </p:sp>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5230368" cy="374903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ODEPANEL"/>
          <p:cNvSpPr txBox="1"/>
          <p:nvPr/>
        </p:nvSpPr>
        <p:spPr>
          <a:xfrm>
            <a:off x="6409944" y="2286000"/>
            <a:ext cx="5086807" cy="25603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784848" cy="4251959"/>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tIns="0" r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6373368" cy="42976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6002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tIns="0" r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datetime, subtrajectory, limit and after</a:t>
            </a:r>
          </a:p>
        </p:txBody>
      </p:sp>
      <p:pic>
        <p:nvPicPr>
          <p:cNvPr id="10" name="Picture 9" descr="fig_bbox_real.png"/>
          <p:cNvPicPr>
            <a:picLocks noChangeAspect="1"/>
          </p:cNvPicPr>
          <p:nvPr/>
        </p:nvPicPr>
        <p:blipFill>
          <a:blip r:embed="rId3"/>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2011680"/>
            <a:ext cx="5230368" cy="178308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2026-02-26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tIns="0" r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lIns="0" tIns="0" rIns="0" bIns="0" anchor="t">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WRITES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23036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783080"/>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DELETE</a:t>
            </a:r>
          </a:p>
        </p:txBody>
      </p:sp>
      <p:sp>
        <p:nvSpPr>
          <p:cNvPr id="14" name="TextBox 13"/>
          <p:cNvSpPr txBox="1"/>
          <p:nvPr/>
        </p:nvSpPr>
        <p:spPr>
          <a:xfrm>
            <a:off x="7324344" y="1773936"/>
            <a:ext cx="4300423"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130552"/>
            <a:ext cx="5342839"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measures:  </a:t>
            </a:r>
            <a:r>
              <a:rPr sz="1200">
                <a:solidFill>
                  <a:srgbClr val="1E2B36"/>
                </a:solidFill>
                <a:latin typeface="Calibri"/>
              </a:rPr>
              <a:t>velocity and distance are computed from the geometry and are read-only; change the geometry to change them</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Member delete:  </a:t>
            </a:r>
            <a:r>
              <a:rPr sz="1200">
                <a:solidFill>
                  <a:srgbClr val="1E2B36"/>
                </a:solidFill>
                <a:latin typeface="Calibri"/>
              </a:rPr>
              <a:t>DELETE /…/tgsequence/{id} drops one geometry member by index via deleteTime; DELETE on the item removes the whole feature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30175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"TemporalGeometrySequence"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"id": 1, "type": "MovingPoint",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Rounded Rectangle 10"/>
          <p:cNvSpPr/>
          <p:nvPr/>
        </p:nvSpPr>
        <p:spPr>
          <a:xfrm>
            <a:off x="6281928" y="4160520"/>
            <a:ext cx="5342839" cy="969264"/>
          </a:xfrm>
          <a:prstGeom prst="roundRect">
            <a:avLst>
              <a:gd name="adj" fmla="val 4000"/>
            </a:avLst>
          </a:prstGeom>
          <a:solidFill>
            <a:srgbClr val="F1F5F8"/>
          </a:solidFill>
          <a:ln>
            <a:noFill/>
          </a:ln>
          <a:effectLst/>
        </p:spPr>
        <p:txBody>
          <a:bodyPr rtlCol="0" anchor="ctr"/>
          <a:lstStyle/>
          <a:p>
            <a:pPr algn="ctr"/>
            <a:endParaRPr/>
          </a:p>
        </p:txBody>
      </p:sp>
      <p:sp>
        <p:nvSpPr>
          <p:cNvPr id="12" name="TextBox 11"/>
          <p:cNvSpPr txBox="1"/>
          <p:nvPr/>
        </p:nvSpPr>
        <p:spPr>
          <a:xfrm>
            <a:off x="6537960" y="4251959"/>
            <a:ext cx="4830775"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geometry</a:t>
            </a:r>
          </a:p>
        </p:txBody>
      </p:sp>
      <p:sp>
        <p:nvSpPr>
          <p:cNvPr id="13" name="TextBox 12"/>
          <p:cNvSpPr txBox="1"/>
          <p:nvPr/>
        </p:nvSpPr>
        <p:spPr>
          <a:xfrm>
            <a:off x="6537960" y="4544568"/>
            <a:ext cx="4830775" cy="530352"/>
          </a:xfrm>
          <a:prstGeom prst="rect">
            <a:avLst/>
          </a:prstGeom>
          <a:noFill/>
        </p:spPr>
        <p:txBody>
          <a:bodyPr wrap="square" lIns="0" tIns="0" rIns="0" bIns="0">
            <a:noAutofit/>
          </a:bodyPr>
          <a:lstStyle/>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The temporal geometry is the trajectory itself</a:t>
            </a:r>
          </a:p>
          <a:p>
            <a:pPr>
              <a:lnSpc>
                <a:spcPct val="106000"/>
              </a:lnSpc>
              <a:spcBef>
                <a:spcPts val="0"/>
              </a:spcBef>
              <a:spcAft>
                <a:spcPts val="300"/>
              </a:spcAft>
            </a:pPr>
            <a:r>
              <a:rPr sz="1200" b="1">
                <a:solidFill>
                  <a:srgbClr val="156082"/>
                </a:solidFill>
                <a:latin typeface="Calibri"/>
              </a:rPr>
              <a:t>▸  </a:t>
            </a:r>
            <a:r>
              <a:rPr sz="1200">
                <a:solidFill>
                  <a:srgbClr val="1E2B36"/>
                </a:solidFill>
                <a:latin typeface="Calibri"/>
              </a:rPr>
              <a:t>Returned as MovingFeaturesJSON by asMFJSON</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/collections/ships/items/1/tgsequence/1/velocity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413248" cy="210312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/collections/ships/items/1/tgsequence/1/acceleration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754879"/>
            <a:ext cx="5413248" cy="13716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DEPANEL"/>
          <p:cNvSpPr txBox="1"/>
          <p:nvPr/>
        </p:nvSpPr>
        <p:spPr>
          <a:xfrm>
            <a:off x="694944" y="1965960"/>
            <a:ext cx="5230368" cy="2148839"/>
          </a:xfrm>
          <a:prstGeom prst="rect">
            <a:avLst/>
          </a:prstGeom>
          <a:noFill/>
        </p:spPr>
        <p:txBody>
          <a:bodyPr wrap="square" lIns="0" tIns="0" rIns="0" bIns="0">
            <a:noAutofit/>
          </a:bodyPr>
          <a:lstStyle/>
          <a:p>
            <a:pPr>
              <a:lnSpc>
                <a:spcPct val="102000"/>
              </a:lnSpc>
              <a:spcBef>
                <a:spcPts val="0"/>
              </a:spcBef>
              <a:spcAft>
                <a:spcPts val="0"/>
              </a:spcAft>
            </a:pPr>
            <a:r>
              <a:rPr sz="1200" dirty="0">
                <a:solidFill>
                  <a:srgbClr val="C9E08A"/>
                </a:solidFill>
                <a:latin typeface="Consolas"/>
              </a:rPr>
              <a:t>200</a:t>
            </a:r>
            <a:r>
              <a:rPr sz="1200" dirty="0">
                <a:solidFill>
                  <a:srgbClr val="C2D0DA"/>
                </a:solidFill>
                <a:latin typeface="Consolas"/>
              </a:rPr>
              <a:t> OK</a:t>
            </a:r>
          </a:p>
          <a:p>
            <a:pPr>
              <a:lnSpc>
                <a:spcPct val="102000"/>
              </a:lnSpc>
              <a:spcBef>
                <a:spcPts val="0"/>
              </a:spcBef>
              <a:spcAft>
                <a:spcPts val="0"/>
              </a:spcAft>
            </a:pP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temporalProperties</a:t>
            </a:r>
            <a:r>
              <a:rPr sz="1200" dirty="0">
                <a:solidFill>
                  <a:srgbClr val="6FC3E0"/>
                </a:solidFill>
                <a:latin typeface="Consolas"/>
              </a:rPr>
              <a: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"fuel"</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"L"</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"cargo_temp"</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"Cel"</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 </a:t>
            </a:r>
            <a:r>
              <a:rPr sz="1200" dirty="0">
                <a:solidFill>
                  <a:srgbClr val="6FC3E0"/>
                </a:solidFill>
                <a:latin typeface="Consolas"/>
              </a:rPr>
              <a:t>"name"</a:t>
            </a:r>
            <a:r>
              <a:rPr sz="1200" dirty="0">
                <a:solidFill>
                  <a:srgbClr val="C2D0DA"/>
                </a:solidFill>
                <a:latin typeface="Consolas"/>
              </a:rPr>
              <a:t>: </a:t>
            </a:r>
            <a:r>
              <a:rPr sz="1200" dirty="0">
                <a:solidFill>
                  <a:srgbClr val="E6A36A"/>
                </a:solidFill>
                <a:latin typeface="Consolas"/>
              </a:rPr>
              <a:t>"load"</a:t>
            </a:r>
            <a:r>
              <a:rPr sz="1200" dirty="0">
                <a:solidFill>
                  <a:srgbClr val="C2D0DA"/>
                </a:solidFill>
                <a:latin typeface="Consolas"/>
              </a:rPr>
              <a:t>,  </a:t>
            </a:r>
            <a:r>
              <a:rPr sz="1200" dirty="0">
                <a:solidFill>
                  <a:srgbClr val="6FC3E0"/>
                </a:solidFill>
                <a:latin typeface="Consolas"/>
              </a:rPr>
              <a:t>"type"</a:t>
            </a:r>
            <a:r>
              <a:rPr sz="1200" dirty="0">
                <a:solidFill>
                  <a:srgbClr val="C2D0DA"/>
                </a:solidFill>
                <a:latin typeface="Consolas"/>
              </a:rPr>
              <a:t>: </a:t>
            </a:r>
            <a:r>
              <a:rPr sz="1200" dirty="0">
                <a:solidFill>
                  <a:srgbClr val="E6A36A"/>
                </a:solidFill>
                <a:latin typeface="Consolas"/>
              </a:rPr>
              <a:t>"</a:t>
            </a:r>
            <a:r>
              <a:rPr sz="1200" dirty="0" err="1">
                <a:solidFill>
                  <a:srgbClr val="E6A36A"/>
                </a:solidFill>
                <a:latin typeface="Consolas"/>
              </a:rPr>
              <a:t>TReal</a:t>
            </a:r>
            <a:r>
              <a:rPr sz="1200" dirty="0">
                <a:solidFill>
                  <a:srgbClr val="E6A36A"/>
                </a:solidFill>
                <a:latin typeface="Consolas"/>
              </a:rPr>
              <a:t>"</a:t>
            </a:r>
            <a:r>
              <a:rPr sz="1200" dirty="0">
                <a:solidFill>
                  <a:srgbClr val="C2D0DA"/>
                </a:solidFill>
                <a:latin typeface="Consolas"/>
              </a:rPr>
              <a:t>, </a:t>
            </a:r>
            <a:r>
              <a:rPr sz="1200" dirty="0">
                <a:solidFill>
                  <a:srgbClr val="6FC3E0"/>
                </a:solidFill>
                <a:latin typeface="Consolas"/>
              </a:rPr>
              <a:t>"form"</a:t>
            </a:r>
            <a:r>
              <a:rPr sz="1200" dirty="0">
                <a:solidFill>
                  <a:srgbClr val="C2D0DA"/>
                </a:solidFill>
                <a:latin typeface="Consolas"/>
              </a:rPr>
              <a:t>: </a:t>
            </a:r>
            <a:r>
              <a:rPr sz="1200" dirty="0">
                <a:solidFill>
                  <a:srgbClr val="E6A36A"/>
                </a:solidFill>
                <a:latin typeface="Consolas"/>
              </a:rPr>
              <a:t>"t"</a:t>
            </a: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a:t>
            </a:r>
            <a:r>
              <a:rPr sz="1200" dirty="0" err="1">
                <a:solidFill>
                  <a:srgbClr val="6FC3E0"/>
                </a:solidFill>
                <a:latin typeface="Consolas"/>
              </a:rPr>
              <a:t>numberReturned</a:t>
            </a:r>
            <a:r>
              <a:rPr sz="1200" dirty="0">
                <a:solidFill>
                  <a:srgbClr val="6FC3E0"/>
                </a:solidFill>
                <a:latin typeface="Consolas"/>
              </a:rPr>
              <a:t>"</a:t>
            </a:r>
            <a:r>
              <a:rPr sz="1200" dirty="0">
                <a:solidFill>
                  <a:srgbClr val="C2D0DA"/>
                </a:solidFill>
                <a:latin typeface="Consolas"/>
              </a:rPr>
              <a:t>: </a:t>
            </a:r>
            <a:r>
              <a:rPr sz="1200" dirty="0">
                <a:solidFill>
                  <a:srgbClr val="C9E08A"/>
                </a:solidFill>
                <a:latin typeface="Consolas"/>
              </a:rPr>
              <a:t>3</a:t>
            </a:r>
            <a:r>
              <a:rPr sz="1200" dirty="0">
                <a:solidFill>
                  <a:srgbClr val="C2D0DA"/>
                </a:solidFill>
                <a:latin typeface="Consolas"/>
              </a:rPr>
              <a:t>,</a:t>
            </a:r>
          </a:p>
          <a:p>
            <a:pPr>
              <a:lnSpc>
                <a:spcPct val="102000"/>
              </a:lnSpc>
              <a:spcBef>
                <a:spcPts val="0"/>
              </a:spcBef>
              <a:spcAft>
                <a:spcPts val="0"/>
              </a:spcAft>
            </a:pPr>
            <a:r>
              <a:rPr sz="1200" dirty="0">
                <a:solidFill>
                  <a:srgbClr val="C2D0DA"/>
                </a:solidFill>
                <a:latin typeface="Consolas"/>
              </a:rPr>
              <a:t>  </a:t>
            </a:r>
            <a:r>
              <a:rPr sz="1200" dirty="0">
                <a:solidFill>
                  <a:srgbClr val="6FC3E0"/>
                </a:solidFill>
                <a:latin typeface="Consolas"/>
              </a:rPr>
              <a:t>"links"</a:t>
            </a:r>
            <a:r>
              <a:rPr sz="1200" dirty="0">
                <a:solidFill>
                  <a:srgbClr val="C2D0DA"/>
                </a:solidFill>
                <a:latin typeface="Consolas"/>
              </a:rPr>
              <a:t>: [ { </a:t>
            </a:r>
            <a:r>
              <a:rPr sz="1200" dirty="0">
                <a:solidFill>
                  <a:srgbClr val="6FC3E0"/>
                </a:solidFill>
                <a:latin typeface="Consolas"/>
              </a:rPr>
              <a:t>"</a:t>
            </a:r>
            <a:r>
              <a:rPr sz="1200" dirty="0" err="1">
                <a:solidFill>
                  <a:srgbClr val="6FC3E0"/>
                </a:solidFill>
                <a:latin typeface="Consolas"/>
              </a:rPr>
              <a:t>rel</a:t>
            </a:r>
            <a:r>
              <a:rPr sz="1200" dirty="0">
                <a:solidFill>
                  <a:srgbClr val="6FC3E0"/>
                </a:solidFill>
                <a:latin typeface="Consolas"/>
              </a:rPr>
              <a:t>"</a:t>
            </a:r>
            <a:r>
              <a:rPr sz="1200" dirty="0">
                <a:solidFill>
                  <a:srgbClr val="C2D0DA"/>
                </a:solidFill>
                <a:latin typeface="Consolas"/>
              </a:rPr>
              <a:t>: </a:t>
            </a:r>
            <a:r>
              <a:rPr sz="1200" dirty="0">
                <a:solidFill>
                  <a:srgbClr val="E6A36A"/>
                </a:solidFill>
                <a:latin typeface="Consolas"/>
              </a:rPr>
              <a:t>"self"</a:t>
            </a:r>
            <a:r>
              <a:rPr sz="1200" dirty="0">
                <a:solidFill>
                  <a:srgbClr val="C2D0DA"/>
                </a:solidFill>
                <a:latin typeface="Consolas"/>
              </a:rPr>
              <a:t>, ... } ]</a:t>
            </a:r>
          </a:p>
          <a:p>
            <a:pPr>
              <a:lnSpc>
                <a:spcPct val="102000"/>
              </a:lnSpc>
              <a:spcBef>
                <a:spcPts val="0"/>
              </a:spcBef>
              <a:spcAft>
                <a:spcPts val="0"/>
              </a:spcAft>
            </a:pPr>
            <a:r>
              <a:rPr sz="1200" dirty="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/collections/ships/items/1/tproperties/fuel?leaf=...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DEPANEL"/>
          <p:cNvSpPr txBox="1"/>
          <p:nvPr/>
        </p:nvSpPr>
        <p:spPr>
          <a:xfrm>
            <a:off x="694944" y="4800600"/>
            <a:ext cx="5230368" cy="128016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"fuel"</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"L"</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TBoolean · TText · TInteger · TReal</a:t>
            </a:r>
          </a:p>
        </p:txBody>
      </p:sp>
      <p:sp>
        <p:nvSpPr>
          <p:cNvPr id="15" name="TextBox 14"/>
          <p:cNvSpPr txBox="1"/>
          <p:nvPr/>
        </p:nvSpPr>
        <p:spPr>
          <a:xfrm>
            <a:off x="6281928" y="2377440"/>
            <a:ext cx="5342839" cy="3474720"/>
          </a:xfrm>
          <a:prstGeom prst="rect">
            <a:avLst/>
          </a:prstGeom>
          <a:noFill/>
        </p:spPr>
        <p:txBody>
          <a:bodyPr wrap="square" lIns="0" tIns="0" r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user-supplied attributes — fuel, cargo temperature, load — held as native MobilityDB temporal values</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Writable:  </a:t>
            </a:r>
            <a:r>
              <a:rPr sz="1200">
                <a:solidFill>
                  <a:srgbClr val="1E2B36"/>
                </a:solidFill>
                <a:latin typeface="Calibri"/>
              </a:rPr>
              <a:t>POST creates a property, POST appends values via merge, DELETE removes it</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 datetime:  </a:t>
            </a:r>
            <a:r>
              <a:rPr sz="1200">
                <a:solidFill>
                  <a:srgbClr val="1E2B36"/>
                </a:solidFill>
                <a:latin typeface="Calibri"/>
              </a:rPr>
              <a:t>leaf selects values at given instants (Discrete); datetime clips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914"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50300" y="1700784"/>
            <a:ext cx="3137306" cy="32004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tIns="0" r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SCALE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Streaming Keeps Memory Bounded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2011680"/>
            <a:ext cx="3108960" cy="640080"/>
          </a:xfrm>
          <a:prstGeom prst="rect">
            <a:avLst/>
          </a:prstGeom>
          <a:noFill/>
        </p:spPr>
        <p:txBody>
          <a:bodyPr wrap="square" lIns="0" tIns="0" rIns="0" bIns="0" anchor="t">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lIns="0" tIns="0" rIns="0" bIns="0" anchor="t">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tIns="0" r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22</a:t>
            </a:r>
          </a:p>
        </p:txBody>
      </p:sp>
      <p:sp>
        <p:nvSpPr>
          <p:cNvPr id="23" name="Rounded Rectangle 22"/>
          <p:cNvSpPr/>
          <p:nvPr/>
        </p:nvSpPr>
        <p:spPr>
          <a:xfrm>
            <a:off x="566928" y="4663440"/>
            <a:ext cx="11055096" cy="9601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4818888"/>
            <a:ext cx="10515600" cy="274320"/>
          </a:xfrm>
          <a:prstGeom prst="rect">
            <a:avLst/>
          </a:prstGeom>
          <a:noFill/>
        </p:spPr>
        <p:txBody>
          <a:bodyPr wrap="square" lIns="0" tIns="0" rIns="0" bIns="0" anchor="t">
            <a:noAutofit/>
          </a:bodyPr>
          <a:lstStyle/>
          <a:p>
            <a:pPr algn="l">
              <a:spcBef>
                <a:spcPts val="0"/>
              </a:spcBef>
              <a:spcAft>
                <a:spcPts val="200"/>
              </a:spcAft>
            </a:pPr>
            <a:r>
              <a:rPr sz="1400" b="1" i="0">
                <a:solidFill>
                  <a:srgbClr val="156082"/>
                </a:solidFill>
                <a:latin typeface="Calibri"/>
              </a:rPr>
              <a:t>Why it scales</a:t>
            </a:r>
          </a:p>
        </p:txBody>
      </p:sp>
      <p:sp>
        <p:nvSpPr>
          <p:cNvPr id="25" name="TextBox 24"/>
          <p:cNvSpPr txBox="1"/>
          <p:nvPr/>
        </p:nvSpPr>
        <p:spPr>
          <a:xfrm>
            <a:off x="841248" y="5138928"/>
            <a:ext cx="10515600" cy="457200"/>
          </a:xfrm>
          <a:prstGeom prst="rect">
            <a:avLst/>
          </a:prstGeom>
          <a:noFill/>
        </p:spPr>
        <p:txBody>
          <a:bodyPr wrap="square" lIns="0" tIns="0" rIns="0" bIns="0" anchor="t">
            <a:noAutofit/>
          </a:bodyPr>
          <a:lstStyle/>
          <a:p>
            <a:pPr algn="l">
              <a:spcBef>
                <a:spcPts val="0"/>
              </a:spcBef>
              <a:spcAft>
                <a:spcPts val="200"/>
              </a:spcAft>
            </a:pPr>
            <a:r>
              <a:rPr sz="1300" b="0" i="0">
                <a:solidFill>
                  <a:srgbClr val="1E2B36"/>
                </a:solidFill>
                <a:latin typeface="Calibri"/>
              </a:rPr>
              <a:t>Streaming and keyset pagination keep memory bounded for any collection size, a property of the standard items resource and not of the result size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Opt-in Capabilities Beyond the Standard</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2011680"/>
            <a:ext cx="11057839" cy="4023360"/>
          </a:xfrm>
          <a:prstGeom prst="rect">
            <a:avLst/>
          </a:prstGeom>
          <a:noFill/>
        </p:spPr>
        <p:txBody>
          <a:bodyPr wrap="square" lIns="0" tIns="0" rIns="0" bIns="0">
            <a:noAutofit/>
          </a:bodyPr>
          <a:lstStyle/>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POST  /…/bulk  </a:t>
            </a:r>
            <a:r>
              <a:rPr sz="1600" dirty="0">
                <a:solidFill>
                  <a:srgbClr val="1E2B36"/>
                </a:solidFill>
                <a:latin typeface="Calibri"/>
              </a:rPr>
              <a:t>bulk-insert a batch of (</a:t>
            </a:r>
            <a:r>
              <a:rPr sz="1600" dirty="0" err="1">
                <a:solidFill>
                  <a:srgbClr val="1E2B36"/>
                </a:solidFill>
                <a:latin typeface="Calibri"/>
              </a:rPr>
              <a:t>vehicleId</a:t>
            </a:r>
            <a:r>
              <a:rPr sz="1600" dirty="0">
                <a:solidFill>
                  <a:srgbClr val="1E2B36"/>
                </a:solidFill>
                <a:latin typeface="Calibri"/>
              </a:rPr>
              <a:t>, position, time</a:t>
            </a:r>
            <a:r>
              <a:rPr lang="fr-BE" sz="1600" dirty="0">
                <a:solidFill>
                  <a:srgbClr val="1E2B36"/>
                </a:solidFill>
                <a:latin typeface="Calibri"/>
              </a:rPr>
              <a:t>, …</a:t>
            </a:r>
            <a:r>
              <a:rPr sz="1600" dirty="0">
                <a:solidFill>
                  <a:srgbClr val="1E2B36"/>
                </a:solidFill>
                <a:latin typeface="Calibri"/>
              </a:rPr>
              <a:t>) observations in one request</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GET  /…/export  </a:t>
            </a:r>
            <a:r>
              <a:rPr sz="1600" dirty="0" err="1">
                <a:solidFill>
                  <a:srgbClr val="1E2B36"/>
                </a:solidFill>
                <a:latin typeface="Calibri"/>
              </a:rPr>
              <a:t>lakehouse</a:t>
            </a:r>
            <a:r>
              <a:rPr sz="1600" dirty="0">
                <a:solidFill>
                  <a:srgbClr val="1E2B36"/>
                </a:solidFill>
                <a:latin typeface="Calibri"/>
              </a:rPr>
              <a:t> feed: NDJSON or </a:t>
            </a:r>
            <a:r>
              <a:rPr sz="1600" dirty="0" err="1">
                <a:solidFill>
                  <a:srgbClr val="1E2B36"/>
                </a:solidFill>
                <a:latin typeface="Calibri"/>
              </a:rPr>
              <a:t>GeoParquet</a:t>
            </a:r>
            <a:r>
              <a:rPr sz="1600" dirty="0">
                <a:solidFill>
                  <a:srgbClr val="1E2B36"/>
                </a:solidFill>
                <a:latin typeface="Calibri"/>
              </a:rPr>
              <a:t> with trajectory WKB and a </a:t>
            </a:r>
            <a:r>
              <a:rPr sz="1600" dirty="0" err="1">
                <a:solidFill>
                  <a:srgbClr val="1E2B36"/>
                </a:solidFill>
                <a:latin typeface="Calibri"/>
              </a:rPr>
              <a:t>bbox</a:t>
            </a:r>
            <a:r>
              <a:rPr sz="1600" dirty="0">
                <a:solidFill>
                  <a:srgbClr val="1E2B36"/>
                </a:solidFill>
                <a:latin typeface="Calibri"/>
              </a:rPr>
              <a:t>/time sidecar</a:t>
            </a:r>
          </a:p>
          <a:p>
            <a:pPr>
              <a:lnSpc>
                <a:spcPct val="106000"/>
              </a:lnSpc>
              <a:spcBef>
                <a:spcPts val="0"/>
              </a:spcBef>
              <a:spcAft>
                <a:spcPts val="1600"/>
              </a:spcAft>
            </a:pPr>
            <a:r>
              <a:rPr sz="1600" b="1" dirty="0">
                <a:solidFill>
                  <a:srgbClr val="156082"/>
                </a:solidFill>
                <a:latin typeface="Calibri"/>
              </a:rPr>
              <a:t>▸  </a:t>
            </a:r>
            <a:r>
              <a:rPr sz="1600" b="1" dirty="0">
                <a:solidFill>
                  <a:srgbClr val="0E2841"/>
                </a:solidFill>
                <a:latin typeface="Calibri"/>
              </a:rPr>
              <a:t>PUT  /…/items/{id}  </a:t>
            </a:r>
            <a:r>
              <a:rPr sz="1600" dirty="0">
                <a:solidFill>
                  <a:srgbClr val="1E2B36"/>
                </a:solidFill>
                <a:latin typeface="Calibri"/>
              </a:rPr>
              <a:t>in-place replace of a feature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GeoJSON</a:t>
            </a:r>
            <a:r>
              <a:rPr sz="1600" b="1" dirty="0">
                <a:solidFill>
                  <a:srgbClr val="0E2841"/>
                </a:solidFill>
                <a:latin typeface="Calibri"/>
              </a:rPr>
              <a:t> and </a:t>
            </a:r>
            <a:r>
              <a:rPr sz="1600" b="1" dirty="0" err="1">
                <a:solidFill>
                  <a:srgbClr val="0E2841"/>
                </a:solidFill>
                <a:latin typeface="Calibri"/>
              </a:rPr>
              <a:t>GeoParquet</a:t>
            </a:r>
            <a:r>
              <a:rPr sz="1600" b="1" dirty="0">
                <a:solidFill>
                  <a:srgbClr val="0E2841"/>
                </a:solidFill>
                <a:latin typeface="Calibri"/>
              </a:rPr>
              <a:t>  </a:t>
            </a:r>
            <a:r>
              <a:rPr sz="1600" dirty="0">
                <a:solidFill>
                  <a:srgbClr val="1E2B36"/>
                </a:solidFill>
                <a:latin typeface="Calibri"/>
              </a:rPr>
              <a:t>accepted in and out, alongside the MF-JSON default</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gzip</a:t>
            </a:r>
            <a:r>
              <a:rPr sz="1600" b="1" dirty="0">
                <a:solidFill>
                  <a:srgbClr val="0E2841"/>
                </a:solidFill>
                <a:latin typeface="Calibri"/>
              </a:rPr>
              <a:t> / deflate / </a:t>
            </a:r>
            <a:r>
              <a:rPr sz="1600" b="1" dirty="0" err="1">
                <a:solidFill>
                  <a:srgbClr val="0E2841"/>
                </a:solidFill>
                <a:latin typeface="Calibri"/>
              </a:rPr>
              <a:t>br</a:t>
            </a:r>
            <a:r>
              <a:rPr sz="1600" b="1" dirty="0">
                <a:solidFill>
                  <a:srgbClr val="0E2841"/>
                </a:solidFill>
                <a:latin typeface="Calibri"/>
              </a:rPr>
              <a:t> / </a:t>
            </a:r>
            <a:r>
              <a:rPr sz="1600" b="1" dirty="0" err="1">
                <a:solidFill>
                  <a:srgbClr val="0E2841"/>
                </a:solidFill>
                <a:latin typeface="Calibri"/>
              </a:rPr>
              <a:t>zstd</a:t>
            </a:r>
            <a:r>
              <a:rPr sz="1600" b="1" dirty="0">
                <a:solidFill>
                  <a:srgbClr val="0E2841"/>
                </a:solidFill>
                <a:latin typeface="Calibri"/>
              </a:rPr>
              <a:t>  </a:t>
            </a:r>
            <a:r>
              <a:rPr sz="1600" dirty="0">
                <a:solidFill>
                  <a:srgbClr val="1E2B36"/>
                </a:solidFill>
                <a:latin typeface="Calibri"/>
              </a:rPr>
              <a:t>compressed request and response bodies</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POST / PUT / DELETE  /collections  </a:t>
            </a:r>
            <a:r>
              <a:rPr sz="1600" b="0" dirty="0">
                <a:solidFill>
                  <a:srgbClr val="1E2B36"/>
                </a:solidFill>
                <a:latin typeface="Calibri"/>
              </a:rPr>
              <a:t>create, update and drop a collection and its feature table</a:t>
            </a:r>
          </a:p>
          <a:p>
            <a:pPr>
              <a:lnSpc>
                <a:spcPct val="106000"/>
              </a:lnSpc>
              <a:spcBef>
                <a:spcPts val="0"/>
              </a:spcBef>
              <a:spcAft>
                <a:spcPts val="1600"/>
              </a:spcAft>
            </a:pPr>
            <a:r>
              <a:rPr sz="1600" b="1" dirty="0">
                <a:solidFill>
                  <a:srgbClr val="156082"/>
                </a:solidFill>
                <a:latin typeface="Calibri"/>
              </a:rPr>
              <a:t>▸  </a:t>
            </a:r>
            <a:r>
              <a:rPr sz="1600" b="1" dirty="0" err="1">
                <a:solidFill>
                  <a:srgbClr val="0E2841"/>
                </a:solidFill>
                <a:latin typeface="Calibri"/>
              </a:rPr>
              <a:t>POST / DELETE  /…/tproperties  </a:t>
            </a:r>
            <a:r>
              <a:rPr sz="1600" b="0" dirty="0">
                <a:solidFill>
                  <a:srgbClr val="1E2B36"/>
                </a:solidFill>
                <a:latin typeface="Calibri"/>
              </a:rPr>
              <a:t>store and remove user-supplied TReal / TInt / TText / TBool attributes</a:t>
            </a:r>
          </a:p>
        </p:txBody>
      </p:sp>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EXTENSIONS · NOT IN conformsTo</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Bulk Ingest</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517904"/>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Calibri"/>
              </a:rPr>
              <a:t>POST</a:t>
            </a:r>
          </a:p>
        </p:txBody>
      </p:sp>
      <p:sp>
        <p:nvSpPr>
          <p:cNvPr id="6" name="TextBox 5"/>
          <p:cNvSpPr txBox="1"/>
          <p:nvPr/>
        </p:nvSpPr>
        <p:spPr>
          <a:xfrm>
            <a:off x="1389888" y="1508760"/>
            <a:ext cx="10234879" cy="274320"/>
          </a:xfrm>
          <a:prstGeom prst="rect">
            <a:avLst/>
          </a:prstGeom>
          <a:noFill/>
        </p:spPr>
        <p:txBody>
          <a:bodyPr wrap="square" lIns="0" tIns="0" rIns="0" bIns="0" anchor="ctr">
            <a:noAutofit/>
          </a:bodyPr>
          <a:lstStyle/>
          <a:p>
            <a:pPr algn="l">
              <a:spcBef>
                <a:spcPts val="0"/>
              </a:spcBef>
              <a:spcAft>
                <a:spcPts val="200"/>
              </a:spcAft>
            </a:pPr>
            <a:r>
              <a:rPr sz="1200" b="1" i="0">
                <a:solidFill>
                  <a:srgbClr val="0E2841"/>
                </a:solidFill>
                <a:latin typeface="Consolas"/>
              </a:rPr>
              <a:t>/collections/buses/bulk</a:t>
            </a:r>
          </a:p>
        </p:txBody>
      </p:sp>
      <p:sp>
        <p:nvSpPr>
          <p:cNvPr id="7" name="TextBox 6"/>
          <p:cNvSpPr txBox="1"/>
          <p:nvPr/>
        </p:nvSpPr>
        <p:spPr>
          <a:xfrm>
            <a:off x="566928" y="1847088"/>
            <a:ext cx="10972800" cy="292608"/>
          </a:xfrm>
          <a:prstGeom prst="rect">
            <a:avLst/>
          </a:prstGeom>
          <a:noFill/>
        </p:spPr>
        <p:txBody>
          <a:bodyPr wrap="square" lIns="0" tIns="0" rIns="0" bIns="0" anchor="t">
            <a:noAutofit/>
          </a:bodyPr>
          <a:lstStyle/>
          <a:p>
            <a:pPr algn="l">
              <a:spcBef>
                <a:spcPts val="0"/>
              </a:spcBef>
              <a:spcAft>
                <a:spcPts val="200"/>
              </a:spcAft>
            </a:pPr>
            <a:r>
              <a:rPr sz="1200" b="0" i="1">
                <a:solidFill>
                  <a:srgbClr val="5B6B78"/>
                </a:solidFill>
                <a:latin typeface="Calibri"/>
              </a:rPr>
              <a:t>Every minute a city posts each bus's position as a point and timestamp; one request appends them all.</a:t>
            </a:r>
          </a:p>
        </p:txBody>
      </p:sp>
      <p:sp>
        <p:nvSpPr>
          <p:cNvPr id="8" name="Rounded Rectangle 7"/>
          <p:cNvSpPr/>
          <p:nvPr/>
        </p:nvSpPr>
        <p:spPr>
          <a:xfrm>
            <a:off x="566928" y="2194560"/>
            <a:ext cx="6400800"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DEPANEL"/>
          <p:cNvSpPr txBox="1"/>
          <p:nvPr/>
        </p:nvSpPr>
        <p:spPr>
          <a:xfrm>
            <a:off x="694944" y="2286000"/>
            <a:ext cx="6144768" cy="2286000"/>
          </a:xfrm>
          <a:prstGeom prst="rect">
            <a:avLst/>
          </a:prstGeom>
          <a:noFill/>
        </p:spPr>
        <p:txBody>
          <a:bodyPr wrap="square" lIns="0" tIns="0" rIns="0" bIns="0">
            <a:noAutofit/>
          </a:bodyPr>
          <a:lstStyle/>
          <a:p>
            <a:pPr>
              <a:lnSpc>
                <a:spcPct val="102000"/>
              </a:lnSpc>
              <a:spcBef>
                <a:spcPts val="0"/>
              </a:spcBef>
              <a:spcAft>
                <a:spcPts val="0"/>
              </a:spcAft>
            </a:pPr>
            <a:r>
              <a:rPr sz="1200">
                <a:solidFill>
                  <a:srgbClr val="C2D0DA"/>
                </a:solidFill>
                <a:latin typeface="Consolas"/>
              </a:rPr>
              <a:t>POST /collections/buses/bulk         </a:t>
            </a:r>
            <a:r>
              <a:rPr sz="1200">
                <a:solidFill>
                  <a:srgbClr val="7E94A6"/>
                </a:solidFill>
                <a:latin typeface="Consolas"/>
              </a:rPr>
              <a:t>// every bus, one minute</a:t>
            </a:r>
          </a:p>
          <a:p>
            <a:pPr>
              <a:lnSpc>
                <a:spcPct val="102000"/>
              </a:lnSpc>
              <a:spcBef>
                <a:spcPts val="0"/>
              </a:spcBef>
              <a:spcAft>
                <a:spcPts val="0"/>
              </a:spcAft>
            </a:pPr>
            <a:r>
              <a:rPr sz="1200">
                <a:solidFill>
                  <a:srgbClr val="C2D0DA"/>
                </a:solidFill>
                <a:latin typeface="Consolas"/>
              </a:rPr>
              <a:t>Content-Encoding: gzip</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"bus_42"</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4.3517</a:t>
            </a:r>
            <a:r>
              <a:rPr sz="1200">
                <a:solidFill>
                  <a:srgbClr val="C2D0DA"/>
                </a:solidFill>
                <a:latin typeface="Consolas"/>
              </a:rPr>
              <a:t>, </a:t>
            </a:r>
            <a:r>
              <a:rPr sz="1200">
                <a:solidFill>
                  <a:srgbClr val="C9E08A"/>
                </a:solidFill>
                <a:latin typeface="Consolas"/>
              </a:rPr>
              <a:t>50.8466</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"bus_57"</a:t>
            </a:r>
            <a:r>
              <a:rPr sz="1200">
                <a:solidFill>
                  <a:srgbClr val="C2D0DA"/>
                </a:solidFill>
                <a:latin typeface="Consolas"/>
              </a:rPr>
              <a:t>, </a:t>
            </a:r>
            <a:r>
              <a:rPr sz="1200">
                <a:solidFill>
                  <a:srgbClr val="6FC3E0"/>
                </a:solidFill>
                <a:latin typeface="Consolas"/>
              </a:rPr>
              <a:t>"point"</a:t>
            </a:r>
            <a:r>
              <a:rPr sz="1200">
                <a:solidFill>
                  <a:srgbClr val="C2D0DA"/>
                </a:solidFill>
                <a:latin typeface="Consolas"/>
              </a:rPr>
              <a:t>: [</a:t>
            </a:r>
            <a:r>
              <a:rPr sz="1200">
                <a:solidFill>
                  <a:srgbClr val="C9E08A"/>
                </a:solidFill>
                <a:latin typeface="Consolas"/>
              </a:rPr>
              <a:t>4.3490</a:t>
            </a:r>
            <a:r>
              <a:rPr sz="1200">
                <a:solidFill>
                  <a:srgbClr val="C2D0DA"/>
                </a:solidFill>
                <a:latin typeface="Consolas"/>
              </a:rPr>
              <a:t>, </a:t>
            </a:r>
            <a:r>
              <a:rPr sz="1200">
                <a:solidFill>
                  <a:srgbClr val="C9E08A"/>
                </a:solidFill>
                <a:latin typeface="Consolas"/>
              </a:rPr>
              <a:t>50.8501</a:t>
            </a:r>
            <a:r>
              <a:rPr sz="1200">
                <a:solidFill>
                  <a:srgbClr val="C2D0DA"/>
                </a:solidFill>
                <a:latin typeface="Consolas"/>
              </a:rPr>
              <a:t>], </a:t>
            </a:r>
            <a:r>
              <a:rPr sz="1200">
                <a:solidFill>
                  <a:srgbClr val="6FC3E0"/>
                </a:solidFill>
                <a:latin typeface="Consolas"/>
              </a:rPr>
              <a:t>"t"</a:t>
            </a:r>
            <a:r>
              <a:rPr sz="1200">
                <a:solidFill>
                  <a:srgbClr val="C2D0DA"/>
                </a:solidFill>
                <a:latin typeface="Consolas"/>
              </a:rPr>
              <a:t>: </a:t>
            </a:r>
            <a:r>
              <a:rPr sz="1200">
                <a:solidFill>
                  <a:srgbClr val="E6A36A"/>
                </a:solidFill>
                <a:latin typeface="Consolas"/>
              </a:rPr>
              <a:t>"...T10:00:00Z"</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C9E08A"/>
                </a:solidFill>
                <a:latin typeface="Consolas"/>
              </a:rPr>
              <a:t>812</a:t>
            </a:r>
            <a:r>
              <a:rPr sz="1200">
                <a:solidFill>
                  <a:srgbClr val="C2D0DA"/>
                </a:solidFill>
                <a:latin typeface="Consolas"/>
              </a:rPr>
              <a:t> vehicles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"observations"</a:t>
            </a:r>
            <a:r>
              <a:rPr sz="1200">
                <a:solidFill>
                  <a:srgbClr val="C2D0DA"/>
                </a:solidFill>
                <a:latin typeface="Consolas"/>
              </a:rPr>
              <a:t>: </a:t>
            </a:r>
            <a:r>
              <a:rPr sz="1200">
                <a:solidFill>
                  <a:srgbClr val="C9E08A"/>
                </a:solidFill>
                <a:latin typeface="Consolas"/>
              </a:rPr>
              <a:t>812</a:t>
            </a:r>
            <a:r>
              <a:rPr sz="1200">
                <a:solidFill>
                  <a:srgbClr val="C2D0DA"/>
                </a:solidFill>
                <a:latin typeface="Consolas"/>
              </a:rPr>
              <a:t>, </a:t>
            </a:r>
            <a:r>
              <a:rPr sz="1200">
                <a:solidFill>
                  <a:srgbClr val="6FC3E0"/>
                </a:solidFill>
                <a:latin typeface="Consolas"/>
              </a:rPr>
              <a:t>"featuresCreated"</a:t>
            </a:r>
            <a:r>
              <a:rPr sz="1200">
                <a:solidFill>
                  <a:srgbClr val="C2D0DA"/>
                </a:solidFill>
                <a:latin typeface="Consolas"/>
              </a:rPr>
              <a:t>: </a:t>
            </a:r>
            <a:r>
              <a:rPr sz="1200">
                <a:solidFill>
                  <a:srgbClr val="C9E08A"/>
                </a:solidFill>
                <a:latin typeface="Consolas"/>
              </a:rPr>
              <a:t>12</a:t>
            </a:r>
            <a:r>
              <a:rPr sz="1200">
                <a:solidFill>
                  <a:srgbClr val="C2D0DA"/>
                </a:solidFill>
                <a:latin typeface="Consolas"/>
              </a:rPr>
              <a:t>, </a:t>
            </a:r>
            <a:r>
              <a:rPr sz="1200">
                <a:solidFill>
                  <a:srgbClr val="6FC3E0"/>
                </a:solidFill>
                <a:latin typeface="Consolas"/>
              </a:rPr>
              <a:t>"featuresExtended"</a:t>
            </a:r>
            <a:r>
              <a:rPr sz="1200">
                <a:solidFill>
                  <a:srgbClr val="C2D0DA"/>
                </a:solidFill>
                <a:latin typeface="Consolas"/>
              </a:rPr>
              <a:t>: </a:t>
            </a:r>
            <a:r>
              <a:rPr sz="1200">
                <a:solidFill>
                  <a:srgbClr val="C9E08A"/>
                </a:solidFill>
                <a:latin typeface="Consolas"/>
              </a:rPr>
              <a:t>800</a:t>
            </a:r>
            <a:r>
              <a:rPr sz="1200">
                <a:solidFill>
                  <a:srgbClr val="C2D0DA"/>
                </a:solidFill>
                <a:latin typeface="Consolas"/>
              </a:rPr>
              <a:t> }</a:t>
            </a:r>
          </a:p>
        </p:txBody>
      </p:sp>
      <p:sp>
        <p:nvSpPr>
          <p:cNvPr id="10" name="TextBox 9"/>
          <p:cNvSpPr txBox="1"/>
          <p:nvPr/>
        </p:nvSpPr>
        <p:spPr>
          <a:xfrm>
            <a:off x="7680960" y="2240280"/>
            <a:ext cx="3931920"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ENCODING</a:t>
            </a:r>
          </a:p>
        </p:txBody>
      </p:sp>
      <p:sp>
        <p:nvSpPr>
          <p:cNvPr id="11" name="TextBox 10"/>
          <p:cNvSpPr txBox="1"/>
          <p:nvPr/>
        </p:nvSpPr>
        <p:spPr>
          <a:xfrm>
            <a:off x="7680960" y="2606040"/>
            <a:ext cx="3931920" cy="3108960"/>
          </a:xfrm>
          <a:prstGeom prst="rect">
            <a:avLst/>
          </a:prstGeom>
          <a:noFill/>
        </p:spPr>
        <p:txBody>
          <a:bodyPr wrap="square" lIns="0" tIns="0" r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Formats  </a:t>
            </a:r>
            <a:r>
              <a:rPr sz="1200">
                <a:solidFill>
                  <a:srgbClr val="1E2B36"/>
                </a:solidFill>
                <a:latin typeface="Calibri"/>
              </a:rPr>
              <a:t>the body is GeoJSON or GeoParquet (MF-JSON default), the same records either way</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Compression  </a:t>
            </a:r>
            <a:r>
              <a:rPr sz="1200">
                <a:solidFill>
                  <a:srgbClr val="1E2B36"/>
                </a:solidFill>
                <a:latin typeface="Calibri"/>
              </a:rPr>
              <a:t>gzip / deflate / br / zstd, decoded before parsing</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Append  </a:t>
            </a:r>
            <a:r>
              <a:rPr sz="1200">
                <a:solidFill>
                  <a:srgbClr val="1E2B36"/>
                </a:solidFill>
                <a:latin typeface="Calibri"/>
              </a:rPr>
              <a:t>each record becomes one instant via appendInstant; the batch is atomic</a:t>
            </a:r>
          </a:p>
        </p:txBody>
      </p:sp>
      <p:sp>
        <p:nvSpPr>
          <p:cNvPr id="12" name="TextBox 11"/>
          <p:cNvSpPr txBox="1"/>
          <p:nvPr/>
        </p:nvSpPr>
        <p:spPr>
          <a:xfrm>
            <a:off x="566928" y="4800600"/>
            <a:ext cx="11057839" cy="914400"/>
          </a:xfrm>
          <a:prstGeom prst="rect">
            <a:avLst/>
          </a:prstGeom>
          <a:noFill/>
        </p:spPr>
        <p:txBody>
          <a:bodyPr wrap="square" lIns="0" tIns="0" r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Unknown ids create a moving feature; out-of-order overlaps return 409</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GeoParquet ingest mirrors GET /export, so one file can backfill a whole collection</a:t>
            </a:r>
          </a:p>
        </p:txBody>
      </p:sp>
      <p:sp>
        <p:nvSpPr>
          <p:cNvPr id="13" name="Rectangle 12"/>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5" name="TextBox 14"/>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MULTI-ENGINE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Operational</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shared MEOS types, the MF-JSON / WKB wire format, and a canonical named-function SQL dialect; the same tier fronts transactional databases, streaming engines, and lakehouses</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0346"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77732" y="179222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a:p>
            <a:pPr>
              <a:lnSpc>
                <a:spcPct val="100000"/>
              </a:lnSpc>
              <a:spcAft>
                <a:spcPts val="300"/>
              </a:spcAft>
            </a:pPr>
            <a:r>
              <a:rPr sz="1200" b="1">
                <a:solidFill>
                  <a:srgbClr val="A02B93"/>
                </a:solidFill>
                <a:latin typeface="Calibri"/>
              </a:rPr>
              <a:t>✓ </a:t>
            </a:r>
            <a:r>
              <a:rPr sz="1200">
                <a:solidFill>
                  <a:srgbClr val="1E2B36"/>
                </a:solidFill>
                <a:latin typeface="Calibri"/>
              </a:rPr>
              <a:t>member delete (DELETE)</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00346"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77732" y="4032504"/>
            <a:ext cx="3137306"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tIns="0" r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468880"/>
            <a:ext cx="10058400" cy="914400"/>
          </a:xfrm>
          <a:prstGeom prst="rect">
            <a:avLst/>
          </a:prstGeom>
          <a:noFill/>
        </p:spPr>
        <p:txBody>
          <a:bodyPr wrap="square" lIns="0" tIns="0" rIns="0" bIns="0" anchor="t">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lIns="0" tIns="0" rIns="0" bIns="0" anchor="t">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3"/>
          <a:stretch>
            <a:fillRect/>
          </a:stretch>
        </p:blipFill>
        <p:spPr>
          <a:xfrm>
            <a:off x="10070970" y="4297680"/>
            <a:ext cx="1633349" cy="1737360"/>
          </a:xfrm>
          <a:prstGeom prst="rect">
            <a:avLst/>
          </a:prstGeom>
        </p:spPr>
      </p:pic>
      <p:sp>
        <p:nvSpPr>
          <p:cNvPr id="7" name="TextBox 6"/>
          <p:cNvSpPr txBox="1"/>
          <p:nvPr/>
        </p:nvSpPr>
        <p:spPr>
          <a:xfrm>
            <a:off x="10908792" y="6510528"/>
            <a:ext cx="731520" cy="274320"/>
          </a:xfrm>
          <a:prstGeom prst="rect">
            <a:avLst/>
          </a:prstGeom>
          <a:noFill/>
        </p:spPr>
        <p:txBody>
          <a:bodyPr wrap="none">
            <a:spAutoFit/>
          </a:bodyPr>
          <a:lstStyle/>
          <a:p>
            <a:pPr algn="r"/>
            <a:r>
              <a:rPr sz="1200">
                <a:solidFill>
                  <a:srgbClr val="5B6B78"/>
                </a:solidFill>
              </a:rPr>
              <a:t>30</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15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155448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66928" y="583387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2688" y="148132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1792224"/>
            <a:ext cx="10515600" cy="292608"/>
          </a:xfrm>
          <a:prstGeom prst="rect">
            <a:avLst/>
          </a:prstGeom>
          <a:noFill/>
        </p:spPr>
        <p:txBody>
          <a:bodyPr wrap="none" lIns="0" tIns="0" r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26771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219456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2505456"/>
            <a:ext cx="10515600" cy="292608"/>
          </a:xfrm>
          <a:prstGeom prst="rect">
            <a:avLst/>
          </a:prstGeom>
          <a:noFill/>
        </p:spPr>
        <p:txBody>
          <a:bodyPr wrap="none" lIns="0" tIns="0" r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2980944"/>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2907792"/>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218688"/>
            <a:ext cx="10515600" cy="292608"/>
          </a:xfrm>
          <a:prstGeom prst="rect">
            <a:avLst/>
          </a:prstGeom>
          <a:noFill/>
        </p:spPr>
        <p:txBody>
          <a:bodyPr wrap="none" lIns="0" tIns="0" r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369417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 y="3621024"/>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3931920"/>
            <a:ext cx="10515600" cy="292608"/>
          </a:xfrm>
          <a:prstGeom prst="rect">
            <a:avLst/>
          </a:prstGeom>
          <a:noFill/>
        </p:spPr>
        <p:txBody>
          <a:bodyPr wrap="none" lIns="0" tIns="0" r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31</a:t>
            </a:r>
          </a:p>
        </p:txBody>
      </p:sp>
      <p:sp>
        <p:nvSpPr>
          <p:cNvPr id="20" name="Rectangle 19"/>
          <p:cNvSpPr/>
          <p:nvPr/>
        </p:nvSpPr>
        <p:spPr>
          <a:xfrm>
            <a:off x="566928" y="4407408"/>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4334256"/>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tutorial notebook</a:t>
            </a:r>
          </a:p>
        </p:txBody>
      </p:sp>
      <p:sp>
        <p:nvSpPr>
          <p:cNvPr id="22" name="TextBox 21"/>
          <p:cNvSpPr txBox="1"/>
          <p:nvPr/>
        </p:nvSpPr>
        <p:spPr>
          <a:xfrm>
            <a:off x="932688" y="4645152"/>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https://github.com/MobilityDB/MobilityAPI/blob/master/tutorial/tutorial.ipynb</a:t>
            </a:r>
          </a:p>
        </p:txBody>
      </p:sp>
      <p:sp>
        <p:nvSpPr>
          <p:cNvPr id="20" name="Rectangle 19"/>
          <p:cNvSpPr/>
          <p:nvPr/>
        </p:nvSpPr>
        <p:spPr>
          <a:xfrm>
            <a:off x="566928" y="5120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 y="5047488"/>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MobilityAPI — Python implementation (PyMEOS)</a:t>
            </a:r>
          </a:p>
        </p:txBody>
      </p:sp>
      <p:sp>
        <p:nvSpPr>
          <p:cNvPr id="21" name="TextBox 20"/>
          <p:cNvSpPr txBox="1"/>
          <p:nvPr/>
        </p:nvSpPr>
        <p:spPr>
          <a:xfrm>
            <a:off x="932688" y="5760720"/>
            <a:ext cx="8686800" cy="320040"/>
          </a:xfrm>
          <a:prstGeom prst="rect">
            <a:avLst/>
          </a:prstGeom>
          <a:noFill/>
        </p:spPr>
        <p:txBody>
          <a:bodyPr wrap="square" lIns="0" tIns="0" rIns="0" bIns="0" anchor="t">
            <a:noAutofit/>
          </a:bodyPr>
          <a:lstStyle/>
          <a:p>
            <a:pPr algn="l">
              <a:spcBef>
                <a:spcPts val="0"/>
              </a:spcBef>
              <a:spcAft>
                <a:spcPts val="200"/>
              </a:spcAft>
            </a:pPr>
            <a:r>
              <a:rPr sz="1400" b="1" i="0">
                <a:solidFill>
                  <a:srgbClr val="0E2841"/>
                </a:solidFill>
                <a:latin typeface="Calibri"/>
              </a:rPr>
              <a:t>OGC MF API reference implementation — aistairc/mf-api</a:t>
            </a:r>
          </a:p>
        </p:txBody>
      </p:sp>
      <p:sp>
        <p:nvSpPr>
          <p:cNvPr id="22" name="TextBox 21"/>
          <p:cNvSpPr txBox="1"/>
          <p:nvPr/>
        </p:nvSpPr>
        <p:spPr>
          <a:xfrm>
            <a:off x="932688" y="5358384"/>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https://github.com/MobilityDB/MobilityAPI-Python</a:t>
            </a:r>
          </a:p>
        </p:txBody>
      </p:sp>
      <p:sp>
        <p:nvSpPr>
          <p:cNvPr id="22" name="TextBox 21"/>
          <p:cNvSpPr txBox="1"/>
          <p:nvPr/>
        </p:nvSpPr>
        <p:spPr>
          <a:xfrm>
            <a:off x="932688" y="6071616"/>
            <a:ext cx="10515600" cy="292608"/>
          </a:xfrm>
          <a:prstGeom prst="rect">
            <a:avLst/>
          </a:prstGeom>
          <a:noFill/>
        </p:spPr>
        <p:txBody>
          <a:bodyPr wrap="none" lIns="0" tIns="0" rIns="0" bIns="0">
            <a:noAutofit/>
          </a:bodyPr>
          <a:lstStyle/>
          <a:p>
            <a:pPr algn="l"/>
            <a:r>
              <a:rPr sz="1200" u="none">
                <a:solidFill>
                  <a:srgbClr val="156082"/>
                </a:solidFill>
                <a:latin typeface="Consolas"/>
                <a:hlinkClick r:id="rId7"/>
              </a:rPr>
              <a:t>https://github.com/aistairc/mf-api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ENGINE PROFILE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MobilityDB  ·  PostgreSQL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Transactional serving over a live MobilityDB database</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The reference OGC output every other engine is matched against</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the engine is a configuration choice — a DSN scheme and a build tag select it</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Connector</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pgx pool</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Live server connection; pgx.ErrNoRows maps onto the tier's ErrNoRows.</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server</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Build &amp; deploy</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static binary</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Default build — static and cgo-free; no engine libraries linked.</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default</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SQL dialect</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identity</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Canonical named-function SQL runs as-is; no name or type translation.</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as-is</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Sweet spot</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OLTP + index</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Live transactional reads and writes; GiST / SP-GiST index pushdown.</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live</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The reference engine: the canonical MEOS named-function SQL served verbatim — MobilityDuck and MobilitySpark return this exact OGC output.</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ENGINE PROFILE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MobilityDuck  ·  DuckDB</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Embedded, Parquet-native analytics with no server</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Identical OGC output to PostgreSQL over the same canonical SQL</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the engine is a configuration choice — a DSN scheme and a build tag select it</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Connector</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go-duckdb</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Embedded and in-process via database/sql; selected by a duckdb:// DSN.</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embedded</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Build &amp; deploy</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-tags duckdb</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MobilityDuck and spatial extensions LOADed per connection.</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LOAD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SQL dialect</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identity</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Same canonical SQL as PostgreSQL; trajectory GeoJSON cast to text for a uniform scan.</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as-is</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Sweet spot</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lakehouse</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Parquet-native analytical queries over local files; no database server.</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Parquet</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Same thin tier, same canonical SQL, same Go response assembly — only the connector changes; identical OGC output to PostgreSQL.</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alibri"/>
              </a:rPr>
              <a:t>ENGINE PROFILE</a:t>
            </a:r>
          </a:p>
        </p:txBody>
      </p:sp>
      <p:sp>
        <p:nvSpPr>
          <p:cNvPr id="3" name="TextBox 2"/>
          <p:cNvSpPr txBox="1"/>
          <p:nvPr/>
        </p:nvSpPr>
        <p:spPr>
          <a:xfrm>
            <a:off x="566928" y="603504"/>
            <a:ext cx="11057839" cy="777240"/>
          </a:xfrm>
          <a:prstGeom prst="rect">
            <a:avLst/>
          </a:prstGeom>
          <a:noFill/>
        </p:spPr>
        <p:txBody>
          <a:bodyPr wrap="square" lIns="0" tIns="0" rIns="0" bIns="0" anchor="t">
            <a:noAutofit/>
          </a:bodyPr>
          <a:lstStyle/>
          <a:p>
            <a:pPr algn="l">
              <a:spcBef>
                <a:spcPts val="0"/>
              </a:spcBef>
              <a:spcAft>
                <a:spcPts val="200"/>
              </a:spcAft>
            </a:pPr>
            <a:r>
              <a:rPr sz="3200" b="1" i="0">
                <a:solidFill>
                  <a:srgbClr val="0E2841"/>
                </a:solidFill>
                <a:latin typeface="Calibri Light"/>
              </a:rPr>
              <a:t>MobilitySpark  ·  Apache Spark</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9536" y="1755648"/>
            <a:ext cx="10472623" cy="320040"/>
          </a:xfrm>
          <a:prstGeom prst="rect">
            <a:avLst/>
          </a:prstGeom>
          <a:noFill/>
        </p:spPr>
        <p:txBody>
          <a:bodyPr wrap="square" lIns="0" tIns="0" rIns="0" bIns="0" anchor="t">
            <a:noAutofit/>
          </a:bodyPr>
          <a:lstStyle/>
          <a:p>
            <a:pPr algn="l">
              <a:spcBef>
                <a:spcPts val="0"/>
              </a:spcBef>
              <a:spcAft>
                <a:spcPts val="200"/>
              </a:spcAft>
            </a:pPr>
            <a:r>
              <a:rPr sz="1600" b="1" i="0">
                <a:solidFill>
                  <a:srgbClr val="FFFFFF"/>
                </a:solidFill>
                <a:latin typeface="Calibri"/>
              </a:rPr>
              <a:t>Distributed batch over very large movement histories</a:t>
            </a:r>
          </a:p>
        </p:txBody>
      </p:sp>
      <p:sp>
        <p:nvSpPr>
          <p:cNvPr id="7" name="TextBox 6"/>
          <p:cNvSpPr txBox="1"/>
          <p:nvPr/>
        </p:nvSpPr>
        <p:spPr>
          <a:xfrm>
            <a:off x="859536" y="2139696"/>
            <a:ext cx="10472623" cy="274320"/>
          </a:xfrm>
          <a:prstGeom prst="rect">
            <a:avLst/>
          </a:prstGeom>
          <a:noFill/>
        </p:spPr>
        <p:txBody>
          <a:bodyPr wrap="square" lIns="0" tIns="0" rIns="0" bIns="0" anchor="t">
            <a:noAutofit/>
          </a:bodyPr>
          <a:lstStyle/>
          <a:p>
            <a:pPr algn="l">
              <a:spcBef>
                <a:spcPts val="0"/>
              </a:spcBef>
              <a:spcAft>
                <a:spcPts val="200"/>
              </a:spcAft>
            </a:pPr>
            <a:r>
              <a:rPr sz="1200" b="0" i="0">
                <a:solidFill>
                  <a:srgbClr val="CFE2EC"/>
                </a:solidFill>
                <a:latin typeface="Calibri"/>
              </a:rPr>
              <a:t>The same canonical SQL as PostgreSQL and DuckDB, over Spark Connect</a:t>
            </a:r>
          </a:p>
        </p:txBody>
      </p:sp>
      <p:sp>
        <p:nvSpPr>
          <p:cNvPr id="8" name="TextBox 7"/>
          <p:cNvSpPr txBox="1"/>
          <p:nvPr/>
        </p:nvSpPr>
        <p:spPr>
          <a:xfrm>
            <a:off x="566928" y="2633472"/>
            <a:ext cx="11057839" cy="27432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   the engine is a configuration choice — a DSN scheme and a build tag select it</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Connector</a:t>
            </a:r>
          </a:p>
        </p:txBody>
      </p:sp>
      <p:sp>
        <p:nvSpPr>
          <p:cNvPr id="12" name="TextBox 11"/>
          <p:cNvSpPr txBox="1"/>
          <p:nvPr/>
        </p:nvSpPr>
        <p:spPr>
          <a:xfrm>
            <a:off x="731520"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56082"/>
                </a:solidFill>
                <a:latin typeface="Consolas"/>
              </a:rPr>
              <a:t>Spark Connect</a:t>
            </a:r>
          </a:p>
        </p:txBody>
      </p:sp>
      <p:sp>
        <p:nvSpPr>
          <p:cNvPr id="13" name="TextBox 12"/>
          <p:cNvSpPr txBox="1"/>
          <p:nvPr/>
        </p:nvSpPr>
        <p:spPr>
          <a:xfrm>
            <a:off x="731520"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Selected by a spark:// DSN; compiles against spark-connect-go.</a:t>
            </a:r>
          </a:p>
        </p:txBody>
      </p:sp>
      <p:sp>
        <p:nvSpPr>
          <p:cNvPr id="14" name="TextBox 13"/>
          <p:cNvSpPr txBox="1"/>
          <p:nvPr/>
        </p:nvSpPr>
        <p:spPr>
          <a:xfrm>
            <a:off x="731520"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Connect</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6455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Build &amp; deploy</a:t>
            </a:r>
          </a:p>
        </p:txBody>
      </p:sp>
      <p:sp>
        <p:nvSpPr>
          <p:cNvPr id="18" name="TextBox 17"/>
          <p:cNvSpPr txBox="1"/>
          <p:nvPr/>
        </p:nvSpPr>
        <p:spPr>
          <a:xfrm>
            <a:off x="356455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196B24"/>
                </a:solidFill>
                <a:latin typeface="Consolas"/>
              </a:rPr>
              <a:t>-tags spark</a:t>
            </a:r>
          </a:p>
        </p:txBody>
      </p:sp>
      <p:sp>
        <p:nvSpPr>
          <p:cNvPr id="19" name="TextBox 18"/>
          <p:cNvSpPr txBox="1"/>
          <p:nvPr/>
        </p:nvSpPr>
        <p:spPr>
          <a:xfrm>
            <a:off x="356455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Placeholders inlined — Spark Connect's Sql takes no bind parameters.</a:t>
            </a:r>
          </a:p>
        </p:txBody>
      </p:sp>
      <p:sp>
        <p:nvSpPr>
          <p:cNvPr id="20" name="TextBox 19"/>
          <p:cNvSpPr txBox="1"/>
          <p:nvPr/>
        </p:nvSpPr>
        <p:spPr>
          <a:xfrm>
            <a:off x="356455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no params</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759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SQL dialect</a:t>
            </a:r>
          </a:p>
        </p:txBody>
      </p:sp>
      <p:sp>
        <p:nvSpPr>
          <p:cNvPr id="24" name="TextBox 23"/>
          <p:cNvSpPr txBox="1"/>
          <p:nvPr/>
        </p:nvSpPr>
        <p:spPr>
          <a:xfrm>
            <a:off x="639759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E97132"/>
                </a:solidFill>
                <a:latin typeface="Consolas"/>
              </a:rPr>
              <a:t>identity</a:t>
            </a:r>
          </a:p>
        </p:txBody>
      </p:sp>
      <p:sp>
        <p:nvSpPr>
          <p:cNvPr id="25" name="TextBox 24"/>
          <p:cNvSpPr txBox="1"/>
          <p:nvPr/>
        </p:nvSpPr>
        <p:spPr>
          <a:xfrm>
            <a:off x="639759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The canonical SQL names verbatim, like PostgreSQL and DuckDB; box accessors dispatch stbox vs tbox in one UDF via the WKB type tag.</a:t>
            </a:r>
          </a:p>
        </p:txBody>
      </p:sp>
      <p:sp>
        <p:nvSpPr>
          <p:cNvPr id="26" name="TextBox 25"/>
          <p:cNvSpPr txBox="1"/>
          <p:nvPr/>
        </p:nvSpPr>
        <p:spPr>
          <a:xfrm>
            <a:off x="639759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as-is</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0639" y="3163824"/>
            <a:ext cx="2284399" cy="365760"/>
          </a:xfrm>
          <a:prstGeom prst="rect">
            <a:avLst/>
          </a:prstGeom>
          <a:noFill/>
        </p:spPr>
        <p:txBody>
          <a:bodyPr wrap="square" lIns="0" tIns="0" rIns="0" bIns="0" anchor="ctr">
            <a:noAutofit/>
          </a:bodyPr>
          <a:lstStyle/>
          <a:p>
            <a:pPr algn="l">
              <a:spcBef>
                <a:spcPts val="0"/>
              </a:spcBef>
              <a:spcAft>
                <a:spcPts val="200"/>
              </a:spcAft>
            </a:pPr>
            <a:r>
              <a:rPr sz="1400" b="1" i="0">
                <a:solidFill>
                  <a:srgbClr val="FFFFFF"/>
                </a:solidFill>
                <a:latin typeface="Calibri"/>
              </a:rPr>
              <a:t>Sweet spot</a:t>
            </a:r>
          </a:p>
        </p:txBody>
      </p:sp>
      <p:sp>
        <p:nvSpPr>
          <p:cNvPr id="30" name="TextBox 29"/>
          <p:cNvSpPr txBox="1"/>
          <p:nvPr/>
        </p:nvSpPr>
        <p:spPr>
          <a:xfrm>
            <a:off x="9230639" y="37033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A02B93"/>
                </a:solidFill>
                <a:latin typeface="Consolas"/>
              </a:rPr>
              <a:t>distributed</a:t>
            </a:r>
          </a:p>
        </p:txBody>
      </p:sp>
      <p:sp>
        <p:nvSpPr>
          <p:cNvPr id="31" name="TextBox 30"/>
          <p:cNvSpPr txBox="1"/>
          <p:nvPr/>
        </p:nvSpPr>
        <p:spPr>
          <a:xfrm>
            <a:off x="9230639" y="4041648"/>
            <a:ext cx="2229535" cy="914400"/>
          </a:xfrm>
          <a:prstGeom prst="rect">
            <a:avLst/>
          </a:prstGeom>
          <a:noFill/>
        </p:spPr>
        <p:txBody>
          <a:bodyPr wrap="square" lIns="0" tIns="0" rIns="0" bIns="0" anchor="t">
            <a:noAutofit/>
          </a:bodyPr>
          <a:lstStyle/>
          <a:p>
            <a:pPr algn="l">
              <a:spcBef>
                <a:spcPts val="0"/>
              </a:spcBef>
              <a:spcAft>
                <a:spcPts val="200"/>
              </a:spcAft>
            </a:pPr>
            <a:r>
              <a:rPr sz="1200" b="0" i="0">
                <a:solidFill>
                  <a:srgbClr val="1E2B36"/>
                </a:solidFill>
                <a:latin typeface="Calibri"/>
              </a:rPr>
              <a:t>Batch analytics over very large histories; th3index per-engine spatial indexing.</a:t>
            </a:r>
          </a:p>
        </p:txBody>
      </p:sp>
      <p:sp>
        <p:nvSpPr>
          <p:cNvPr id="32" name="TextBox 31"/>
          <p:cNvSpPr txBox="1"/>
          <p:nvPr/>
        </p:nvSpPr>
        <p:spPr>
          <a:xfrm>
            <a:off x="9230639" y="5074920"/>
            <a:ext cx="2284399" cy="274320"/>
          </a:xfrm>
          <a:prstGeom prst="rect">
            <a:avLst/>
          </a:prstGeom>
          <a:noFill/>
        </p:spPr>
        <p:txBody>
          <a:bodyPr wrap="square" lIns="0" tIns="0" rIns="0" bIns="0" anchor="t">
            <a:noAutofit/>
          </a:bodyPr>
          <a:lstStyle/>
          <a:p>
            <a:pPr algn="l">
              <a:spcBef>
                <a:spcPts val="0"/>
              </a:spcBef>
              <a:spcAft>
                <a:spcPts val="200"/>
              </a:spcAft>
            </a:pPr>
            <a:r>
              <a:rPr sz="1200" b="1" i="0">
                <a:solidFill>
                  <a:srgbClr val="5B6B78"/>
                </a:solidFill>
                <a:latin typeface="Calibri"/>
              </a:rPr>
              <a:t>th3index</a:t>
            </a:r>
          </a:p>
        </p:txBody>
      </p:sp>
      <p:sp>
        <p:nvSpPr>
          <p:cNvPr id="33" name="TextBox 32"/>
          <p:cNvSpPr txBox="1"/>
          <p:nvPr/>
        </p:nvSpPr>
        <p:spPr>
          <a:xfrm>
            <a:off x="566928" y="5669280"/>
            <a:ext cx="11057839" cy="640080"/>
          </a:xfrm>
          <a:prstGeom prst="rect">
            <a:avLst/>
          </a:prstGeom>
          <a:noFill/>
        </p:spPr>
        <p:txBody>
          <a:bodyPr wrap="square" lIns="0" tIns="0" rIns="0" bIns="0" anchor="t">
            <a:noAutofit/>
          </a:bodyPr>
          <a:lstStyle/>
          <a:p>
            <a:pPr algn="ctr">
              <a:spcBef>
                <a:spcPts val="0"/>
              </a:spcBef>
              <a:spcAft>
                <a:spcPts val="200"/>
              </a:spcAft>
            </a:pPr>
            <a:r>
              <a:rPr sz="1200" b="0" i="0">
                <a:solidFill>
                  <a:srgbClr val="5B6B78"/>
                </a:solidFill>
                <a:latin typeface="Calibri"/>
              </a:rPr>
              <a:t>Same thin tier and Go assembly; MobilitySpark registers the canonical SQL names verbatim, so the only per-engine step is inlining the placeholders Spark Connect does not bind.</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510528"/>
            <a:ext cx="7315200" cy="274320"/>
          </a:xfrm>
          <a:prstGeom prst="rect">
            <a:avLst/>
          </a:prstGeom>
          <a:noFill/>
        </p:spPr>
        <p:txBody>
          <a:bodyPr wrap="square" lIns="0" tIns="0" rIns="0" bIns="0" anchor="t">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lIns="0" tIns="0" rIns="0" bIns="0" anchor="t">
            <a:noAutofit/>
          </a:bodyPr>
          <a:lstStyle/>
          <a:p>
            <a:pPr algn="r">
              <a:spcBef>
                <a:spcPts val="0"/>
              </a:spcBef>
              <a:spcAft>
                <a:spcPts val="200"/>
              </a:spcAft>
            </a:pPr>
            <a:r>
              <a:rPr sz="1200" b="0" i="0">
                <a:solidFill>
                  <a:srgbClr val="5B6B78"/>
                </a:solidFill>
                <a:latin typeface="Calibri"/>
              </a:rP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4618</Words>
  <Application>Microsoft Office PowerPoint</Application>
  <PresentationFormat>Widescreen</PresentationFormat>
  <Paragraphs>571</Paragraphs>
  <Slides>28</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User</dc:creator>
  <cp:keywords/>
  <dc:description>generated using python-pptx</dc:description>
  <cp:lastModifiedBy>ZIMANYI Esteban</cp:lastModifiedBy>
  <cp:revision>2</cp:revision>
  <dcterms:created xsi:type="dcterms:W3CDTF">2013-01-27T09:14:16Z</dcterms:created>
  <dcterms:modified xsi:type="dcterms:W3CDTF">2026-05-30T21:19:36Z</dcterms:modified>
  <cp:category/>
</cp:coreProperties>
</file>